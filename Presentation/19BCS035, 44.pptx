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8"/>
  </p:notesMasterIdLst>
  <p:handoutMasterIdLst>
    <p:handoutMasterId r:id="rId49"/>
  </p:handoutMasterIdLst>
  <p:sldIdLst>
    <p:sldId id="256" r:id="rId3"/>
    <p:sldId id="257" r:id="rId4"/>
    <p:sldId id="258" r:id="rId5"/>
    <p:sldId id="319" r:id="rId6"/>
    <p:sldId id="363" r:id="rId7"/>
    <p:sldId id="293" r:id="rId8"/>
    <p:sldId id="320" r:id="rId9"/>
    <p:sldId id="322" r:id="rId10"/>
    <p:sldId id="362" r:id="rId11"/>
    <p:sldId id="365" r:id="rId12"/>
    <p:sldId id="366" r:id="rId13"/>
    <p:sldId id="375" r:id="rId14"/>
    <p:sldId id="343" r:id="rId15"/>
    <p:sldId id="312" r:id="rId16"/>
    <p:sldId id="309" r:id="rId17"/>
    <p:sldId id="314" r:id="rId18"/>
    <p:sldId id="344" r:id="rId19"/>
    <p:sldId id="345" r:id="rId20"/>
    <p:sldId id="347" r:id="rId21"/>
    <p:sldId id="356" r:id="rId22"/>
    <p:sldId id="367" r:id="rId23"/>
    <p:sldId id="315" r:id="rId24"/>
    <p:sldId id="374" r:id="rId25"/>
    <p:sldId id="316" r:id="rId26"/>
    <p:sldId id="317" r:id="rId27"/>
    <p:sldId id="357" r:id="rId28"/>
    <p:sldId id="274" r:id="rId29"/>
    <p:sldId id="327" r:id="rId30"/>
    <p:sldId id="341" r:id="rId31"/>
    <p:sldId id="369" r:id="rId32"/>
    <p:sldId id="348" r:id="rId33"/>
    <p:sldId id="352" r:id="rId34"/>
    <p:sldId id="349" r:id="rId35"/>
    <p:sldId id="353" r:id="rId36"/>
    <p:sldId id="350" r:id="rId37"/>
    <p:sldId id="354" r:id="rId38"/>
    <p:sldId id="355" r:id="rId39"/>
    <p:sldId id="371" r:id="rId40"/>
    <p:sldId id="373" r:id="rId41"/>
    <p:sldId id="372" r:id="rId42"/>
    <p:sldId id="359" r:id="rId43"/>
    <p:sldId id="361" r:id="rId44"/>
    <p:sldId id="342" r:id="rId45"/>
    <p:sldId id="261" r:id="rId46"/>
    <p:sldId id="265"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 A R I H A R A N" initials="HARIHARAN" lastIdx="1" clrIdx="0">
    <p:extLst>
      <p:ext uri="{19B8F6BF-5375-455C-9EA6-DF929625EA0E}">
        <p15:presenceInfo xmlns:p15="http://schemas.microsoft.com/office/powerpoint/2012/main" userId="5deb6febca837fe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4724" autoAdjust="0"/>
    <p:restoredTop sz="95806" autoAdjust="0"/>
  </p:normalViewPr>
  <p:slideViewPr>
    <p:cSldViewPr snapToGrid="0">
      <p:cViewPr varScale="1">
        <p:scale>
          <a:sx n="81" d="100"/>
          <a:sy n="81" d="100"/>
        </p:scale>
        <p:origin x="917"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commentAuthors" Target="commen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Base paper </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Grid Search CV</c:v>
                </c:pt>
              </c:strCache>
            </c:strRef>
          </c:cat>
          <c:val>
            <c:numRef>
              <c:f>Sheet1!$B$2</c:f>
              <c:numCache>
                <c:formatCode>0.00%</c:formatCode>
                <c:ptCount val="1"/>
                <c:pt idx="0">
                  <c:v>0.97519999999999996</c:v>
                </c:pt>
              </c:numCache>
            </c:numRef>
          </c:val>
          <c:extLst>
            <c:ext xmlns:c16="http://schemas.microsoft.com/office/drawing/2014/chart" uri="{C3380CC4-5D6E-409C-BE32-E72D297353CC}">
              <c16:uniqueId val="{00000000-8A6F-4433-BDD6-6D12A28C55E5}"/>
            </c:ext>
          </c:extLst>
        </c:ser>
        <c:ser>
          <c:idx val="1"/>
          <c:order val="1"/>
          <c:tx>
            <c:strRef>
              <c:f>Sheet1!$C$1</c:f>
              <c:strCache>
                <c:ptCount val="1"/>
                <c:pt idx="0">
                  <c:v>Achieved result</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Grid Search CV</c:v>
                </c:pt>
              </c:strCache>
            </c:strRef>
          </c:cat>
          <c:val>
            <c:numRef>
              <c:f>Sheet1!$C$2</c:f>
              <c:numCache>
                <c:formatCode>0.00%</c:formatCode>
                <c:ptCount val="1"/>
                <c:pt idx="0">
                  <c:v>0.98360000000000003</c:v>
                </c:pt>
              </c:numCache>
            </c:numRef>
          </c:val>
          <c:extLst>
            <c:ext xmlns:c16="http://schemas.microsoft.com/office/drawing/2014/chart" uri="{C3380CC4-5D6E-409C-BE32-E72D297353CC}">
              <c16:uniqueId val="{00000001-8A6F-4433-BDD6-6D12A28C55E5}"/>
            </c:ext>
          </c:extLst>
        </c:ser>
        <c:dLbls>
          <c:showLegendKey val="0"/>
          <c:showVal val="0"/>
          <c:showCatName val="0"/>
          <c:showSerName val="0"/>
          <c:showPercent val="0"/>
          <c:showBubbleSize val="0"/>
        </c:dLbls>
        <c:gapWidth val="100"/>
        <c:overlap val="-24"/>
        <c:axId val="1333730448"/>
        <c:axId val="1333721296"/>
      </c:barChart>
      <c:catAx>
        <c:axId val="1333730448"/>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33721296"/>
        <c:crosses val="autoZero"/>
        <c:auto val="1"/>
        <c:lblAlgn val="ctr"/>
        <c:lblOffset val="100"/>
        <c:noMultiLvlLbl val="0"/>
      </c:catAx>
      <c:valAx>
        <c:axId val="1333721296"/>
        <c:scaling>
          <c:orientation val="minMax"/>
          <c:max val="1"/>
          <c:min val="0.95000000000000007"/>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337304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DFDE7CE-B476-4C91-B109-058840148A58}"/>
              </a:ext>
            </a:extLst>
          </p:cNvPr>
          <p:cNvSpPr txBox="1">
            <a:spLocks noGrp="1"/>
          </p:cNvSpPr>
          <p:nvPr>
            <p:ph type="hdr" sz="quarter"/>
          </p:nvPr>
        </p:nvSpPr>
        <p:spPr>
          <a:xfrm>
            <a:off x="0" y="0"/>
            <a:ext cx="2975759" cy="456843"/>
          </a:xfrm>
          <a:prstGeom prst="rect">
            <a:avLst/>
          </a:prstGeom>
          <a:noFill/>
          <a:ln>
            <a:noFill/>
          </a:ln>
        </p:spPr>
        <p:txBody>
          <a:bodyPr vert="horz" wrap="square" lIns="90004" tIns="44997" rIns="90004" bIns="44997" anchor="t" anchorCtr="0" compatLnSpc="1">
            <a:no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b="0" i="0" u="none" strike="noStrike" kern="0" cap="none" spc="0" baseline="0">
                <a:solidFill>
                  <a:srgbClr val="000000"/>
                </a:solidFill>
                <a:uFillTx/>
              </a:defRPr>
            </a:pPr>
            <a:endParaRPr lang="en-IN" sz="1400" b="0" i="0" u="none" strike="noStrike" kern="1200" cap="none" spc="0" baseline="0">
              <a:solidFill>
                <a:srgbClr val="000000"/>
              </a:solidFill>
              <a:uFillTx/>
              <a:latin typeface="Times New Roman" pitchFamily="18"/>
              <a:ea typeface="Microsoft YaHei" pitchFamily="2"/>
              <a:cs typeface="Lucida Sans" pitchFamily="2"/>
            </a:endParaRPr>
          </a:p>
        </p:txBody>
      </p:sp>
      <p:sp>
        <p:nvSpPr>
          <p:cNvPr id="3" name="Date Placeholder 2">
            <a:extLst>
              <a:ext uri="{FF2B5EF4-FFF2-40B4-BE49-F238E27FC236}">
                <a16:creationId xmlns:a16="http://schemas.microsoft.com/office/drawing/2014/main" id="{9F4DC43E-B2CF-49EC-BE08-4AB695D939B5}"/>
              </a:ext>
            </a:extLst>
          </p:cNvPr>
          <p:cNvSpPr txBox="1">
            <a:spLocks noGrp="1"/>
          </p:cNvSpPr>
          <p:nvPr>
            <p:ph type="dt" sz="quarter" idx="1"/>
          </p:nvPr>
        </p:nvSpPr>
        <p:spPr>
          <a:xfrm>
            <a:off x="3881884" y="0"/>
            <a:ext cx="2975759" cy="456843"/>
          </a:xfrm>
          <a:prstGeom prst="rect">
            <a:avLst/>
          </a:prstGeom>
          <a:noFill/>
          <a:ln>
            <a:noFill/>
          </a:ln>
        </p:spPr>
        <p:txBody>
          <a:bodyPr vert="horz" wrap="square" lIns="90004" tIns="44997" rIns="90004" bIns="44997" anchor="t" anchorCtr="0" compatLnSpc="1">
            <a:noAutofit/>
          </a:bodyPr>
          <a:lstStyle/>
          <a:p>
            <a:pPr marL="0" marR="0" lvl="0" indent="0" algn="r"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b="0" i="0" u="none" strike="noStrike" kern="0" cap="none" spc="0" baseline="0">
                <a:solidFill>
                  <a:srgbClr val="000000"/>
                </a:solidFill>
                <a:uFillTx/>
              </a:defRPr>
            </a:pPr>
            <a:endParaRPr lang="en-IN" sz="1400" b="0" i="0" u="none" strike="noStrike" kern="1200" cap="none" spc="0" baseline="0">
              <a:solidFill>
                <a:srgbClr val="000000"/>
              </a:solidFill>
              <a:uFillTx/>
              <a:latin typeface="Times New Roman" pitchFamily="18"/>
              <a:ea typeface="Microsoft YaHei" pitchFamily="2"/>
              <a:cs typeface="Lucida Sans" pitchFamily="2"/>
            </a:endParaRPr>
          </a:p>
        </p:txBody>
      </p:sp>
      <p:sp>
        <p:nvSpPr>
          <p:cNvPr id="4" name="Footer Placeholder 3">
            <a:extLst>
              <a:ext uri="{FF2B5EF4-FFF2-40B4-BE49-F238E27FC236}">
                <a16:creationId xmlns:a16="http://schemas.microsoft.com/office/drawing/2014/main" id="{49EE31A4-1DEE-4F69-BF50-B7FEA671E5A7}"/>
              </a:ext>
            </a:extLst>
          </p:cNvPr>
          <p:cNvSpPr txBox="1">
            <a:spLocks noGrp="1"/>
          </p:cNvSpPr>
          <p:nvPr>
            <p:ph type="ftr" sz="quarter" idx="2"/>
          </p:nvPr>
        </p:nvSpPr>
        <p:spPr>
          <a:xfrm>
            <a:off x="0" y="8686800"/>
            <a:ext cx="2975759" cy="456843"/>
          </a:xfrm>
          <a:prstGeom prst="rect">
            <a:avLst/>
          </a:prstGeom>
          <a:noFill/>
          <a:ln>
            <a:noFill/>
          </a:ln>
        </p:spPr>
        <p:txBody>
          <a:bodyPr vert="horz" wrap="square" lIns="90004" tIns="44997" rIns="90004" bIns="44997" anchor="b" anchorCtr="0" compatLnSpc="1">
            <a:no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b="0" i="0" u="none" strike="noStrike" kern="0" cap="none" spc="0" baseline="0">
                <a:solidFill>
                  <a:srgbClr val="000000"/>
                </a:solidFill>
                <a:uFillTx/>
              </a:defRPr>
            </a:pPr>
            <a:endParaRPr lang="en-IN" sz="1400" b="0" i="0" u="none" strike="noStrike" kern="1200" cap="none" spc="0" baseline="0">
              <a:solidFill>
                <a:srgbClr val="000000"/>
              </a:solidFill>
              <a:uFillTx/>
              <a:latin typeface="Times New Roman" pitchFamily="18"/>
              <a:ea typeface="Microsoft YaHei" pitchFamily="2"/>
              <a:cs typeface="Lucida Sans" pitchFamily="2"/>
            </a:endParaRPr>
          </a:p>
        </p:txBody>
      </p:sp>
      <p:sp>
        <p:nvSpPr>
          <p:cNvPr id="5" name="Slide Number Placeholder 4">
            <a:extLst>
              <a:ext uri="{FF2B5EF4-FFF2-40B4-BE49-F238E27FC236}">
                <a16:creationId xmlns:a16="http://schemas.microsoft.com/office/drawing/2014/main" id="{04F6626E-A87D-4A6A-9E2D-ABDCFD9255ED}"/>
              </a:ext>
            </a:extLst>
          </p:cNvPr>
          <p:cNvSpPr txBox="1">
            <a:spLocks noGrp="1"/>
          </p:cNvSpPr>
          <p:nvPr>
            <p:ph type="sldNum" sz="quarter" idx="3"/>
          </p:nvPr>
        </p:nvSpPr>
        <p:spPr>
          <a:xfrm>
            <a:off x="3881884" y="8686800"/>
            <a:ext cx="2975759" cy="456843"/>
          </a:xfrm>
          <a:prstGeom prst="rect">
            <a:avLst/>
          </a:prstGeom>
          <a:noFill/>
          <a:ln>
            <a:noFill/>
          </a:ln>
        </p:spPr>
        <p:txBody>
          <a:bodyPr vert="horz" wrap="square" lIns="90004" tIns="44997" rIns="90004" bIns="44997" anchor="b" anchorCtr="0" compatLnSpc="1">
            <a:noAutofit/>
          </a:bodyPr>
          <a:lstStyle/>
          <a:p>
            <a:pPr marL="0" marR="0" lvl="0" indent="0" algn="r"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b="0" i="0" u="none" strike="noStrike" kern="0" cap="none" spc="0" baseline="0">
                <a:solidFill>
                  <a:srgbClr val="000000"/>
                </a:solidFill>
                <a:uFillTx/>
              </a:defRPr>
            </a:pPr>
            <a:fld id="{ACB0BEF5-0BF4-49C5-A593-7FB6E8A5D1E8}" type="slidenum">
              <a:t>‹#›</a:t>
            </a:fld>
            <a:endParaRPr lang="en-IN" sz="1400" b="0" i="0" u="none" strike="noStrike" kern="1200" cap="none" spc="0" baseline="0">
              <a:solidFill>
                <a:srgbClr val="000000"/>
              </a:solidFill>
              <a:uFillTx/>
              <a:latin typeface="Times New Roman" pitchFamily="18"/>
              <a:ea typeface="Microsoft YaHei" pitchFamily="2"/>
              <a:cs typeface="Lucida Sans" pitchFamily="2"/>
            </a:endParaRPr>
          </a:p>
        </p:txBody>
      </p:sp>
    </p:spTree>
    <p:extLst>
      <p:ext uri="{BB962C8B-B14F-4D97-AF65-F5344CB8AC3E}">
        <p14:creationId xmlns:p14="http://schemas.microsoft.com/office/powerpoint/2010/main" val="37194583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CE5D26F-944B-4C05-A66B-85F633E1A43D}"/>
              </a:ext>
            </a:extLst>
          </p:cNvPr>
          <p:cNvSpPr>
            <a:spLocks noMove="1" noResize="1"/>
          </p:cNvSpPr>
          <p:nvPr/>
        </p:nvSpPr>
        <p:spPr>
          <a:xfrm>
            <a:off x="0" y="0"/>
            <a:ext cx="6858000" cy="9144000"/>
          </a:xfrm>
          <a:prstGeom prst="rect">
            <a:avLst/>
          </a:prstGeom>
          <a:solidFill>
            <a:srgbClr val="FFFFFF"/>
          </a:solidFill>
          <a:ln cap="flat">
            <a:noFill/>
            <a:prstDash val="solid"/>
          </a:ln>
        </p:spPr>
        <p:txBody>
          <a:bodyPr vert="horz" wrap="square" lIns="90004" tIns="44997" rIns="90004" bIns="44997" anchor="ctr" anchorCtr="1" compatLnSpc="1">
            <a:no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IN" sz="2400" b="0" i="0" u="none" strike="noStrike" kern="1200" cap="none" spc="0" baseline="0">
              <a:solidFill>
                <a:srgbClr val="000000"/>
              </a:solidFill>
              <a:uFillTx/>
              <a:latin typeface="Times New Roman" pitchFamily="18"/>
              <a:ea typeface="Microsoft YaHei" pitchFamily="2"/>
              <a:cs typeface="Lucida Sans" pitchFamily="2"/>
            </a:endParaRPr>
          </a:p>
        </p:txBody>
      </p:sp>
      <p:sp>
        <p:nvSpPr>
          <p:cNvPr id="3" name="Header Placeholder 2">
            <a:extLst>
              <a:ext uri="{FF2B5EF4-FFF2-40B4-BE49-F238E27FC236}">
                <a16:creationId xmlns:a16="http://schemas.microsoft.com/office/drawing/2014/main" id="{6B67874A-83AA-495A-B399-F8279B9EDE79}"/>
              </a:ext>
            </a:extLst>
          </p:cNvPr>
          <p:cNvSpPr txBox="1">
            <a:spLocks noGrp="1"/>
          </p:cNvSpPr>
          <p:nvPr>
            <p:ph type="hdr" sz="quarter"/>
          </p:nvPr>
        </p:nvSpPr>
        <p:spPr>
          <a:xfrm>
            <a:off x="-356" y="0"/>
            <a:ext cx="2971800" cy="458635"/>
          </a:xfrm>
          <a:prstGeom prst="rect">
            <a:avLst/>
          </a:prstGeom>
          <a:noFill/>
          <a:ln>
            <a:noFill/>
          </a:ln>
        </p:spPr>
        <p:txBody>
          <a:bodyPr vert="horz" wrap="square" lIns="90004" tIns="46798" rIns="90004" bIns="46798" anchor="t" anchorCtr="0" compatLnSpc="1">
            <a:noAutofit/>
          </a:bodyPr>
          <a:lstStyle>
            <a:lvl1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i="0" u="none" strike="noStrike" kern="1200" cap="none" spc="0" baseline="0">
                <a:solidFill>
                  <a:srgbClr val="000000"/>
                </a:solidFill>
                <a:uFillTx/>
                <a:latin typeface="Times New Roman" pitchFamily="18"/>
                <a:ea typeface="Microsoft YaHei" pitchFamily="2"/>
                <a:cs typeface="Lucida Sans" pitchFamily="2"/>
              </a:defRPr>
            </a:lvl1pPr>
          </a:lstStyle>
          <a:p>
            <a:pPr lvl="0"/>
            <a:endParaRPr lang="en-US"/>
          </a:p>
        </p:txBody>
      </p:sp>
      <p:sp>
        <p:nvSpPr>
          <p:cNvPr id="4" name="Date Placeholder 3">
            <a:extLst>
              <a:ext uri="{FF2B5EF4-FFF2-40B4-BE49-F238E27FC236}">
                <a16:creationId xmlns:a16="http://schemas.microsoft.com/office/drawing/2014/main" id="{BD4B9706-19E1-4F25-9887-D2D7CEF3B5CD}"/>
              </a:ext>
            </a:extLst>
          </p:cNvPr>
          <p:cNvSpPr txBox="1">
            <a:spLocks noGrp="1"/>
          </p:cNvSpPr>
          <p:nvPr>
            <p:ph type="dt" idx="1"/>
          </p:nvPr>
        </p:nvSpPr>
        <p:spPr>
          <a:xfrm>
            <a:off x="3884398" y="0"/>
            <a:ext cx="2971800" cy="458635"/>
          </a:xfrm>
          <a:prstGeom prst="rect">
            <a:avLst/>
          </a:prstGeom>
          <a:noFill/>
          <a:ln>
            <a:noFill/>
          </a:ln>
        </p:spPr>
        <p:txBody>
          <a:bodyPr vert="horz" wrap="square" lIns="90004" tIns="46798" rIns="90004" bIns="46798" anchor="t" anchorCtr="0" compatLnSpc="1">
            <a:noAutofit/>
          </a:bodyPr>
          <a:lstStyle>
            <a:lvl1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i="0" u="none" strike="noStrike" kern="1200" cap="none" spc="0" baseline="0">
                <a:solidFill>
                  <a:srgbClr val="000000"/>
                </a:solidFill>
                <a:uFillTx/>
                <a:latin typeface="Times New Roman" pitchFamily="18"/>
                <a:ea typeface="Microsoft YaHei" pitchFamily="2"/>
                <a:cs typeface="Lucida Sans" pitchFamily="2"/>
              </a:defRPr>
            </a:lvl1pPr>
          </a:lstStyle>
          <a:p>
            <a:pPr lvl="0"/>
            <a:endParaRPr lang="en-US"/>
          </a:p>
        </p:txBody>
      </p:sp>
      <p:sp>
        <p:nvSpPr>
          <p:cNvPr id="5" name="Slide Image Placeholder 4">
            <a:extLst>
              <a:ext uri="{FF2B5EF4-FFF2-40B4-BE49-F238E27FC236}">
                <a16:creationId xmlns:a16="http://schemas.microsoft.com/office/drawing/2014/main" id="{3A8B5A70-B4E5-4889-BE9F-D9C7504C941B}"/>
              </a:ext>
            </a:extLst>
          </p:cNvPr>
          <p:cNvSpPr>
            <a:spLocks noGrp="1" noRot="1" noChangeAspect="1"/>
          </p:cNvSpPr>
          <p:nvPr>
            <p:ph type="sldImg" idx="2"/>
          </p:nvPr>
        </p:nvSpPr>
        <p:spPr>
          <a:xfrm>
            <a:off x="1371600" y="1142643"/>
            <a:ext cx="4114800" cy="3086282"/>
          </a:xfrm>
          <a:prstGeom prst="rect">
            <a:avLst/>
          </a:prstGeom>
          <a:noFill/>
          <a:ln>
            <a:noFill/>
            <a:prstDash val="solid"/>
          </a:ln>
        </p:spPr>
      </p:sp>
      <p:sp>
        <p:nvSpPr>
          <p:cNvPr id="6" name="Notes Placeholder 5">
            <a:extLst>
              <a:ext uri="{FF2B5EF4-FFF2-40B4-BE49-F238E27FC236}">
                <a16:creationId xmlns:a16="http://schemas.microsoft.com/office/drawing/2014/main" id="{02176306-8CD9-4BE7-A13B-0F22F9B20B27}"/>
              </a:ext>
            </a:extLst>
          </p:cNvPr>
          <p:cNvSpPr txBox="1">
            <a:spLocks noGrp="1"/>
          </p:cNvSpPr>
          <p:nvPr>
            <p:ph type="body" sz="quarter" idx="3"/>
          </p:nvPr>
        </p:nvSpPr>
        <p:spPr>
          <a:xfrm>
            <a:off x="685800" y="4400275"/>
            <a:ext cx="5486400" cy="3600358"/>
          </a:xfrm>
          <a:prstGeom prst="rect">
            <a:avLst/>
          </a:prstGeom>
          <a:noFill/>
          <a:ln>
            <a:noFill/>
          </a:ln>
        </p:spPr>
        <p:txBody>
          <a:bodyPr vert="horz" wrap="square" lIns="0" tIns="0" rIns="0" bIns="0" anchor="t" anchorCtr="0" compatLnSpc="1">
            <a:noAutofit/>
          </a:bodyPr>
          <a:lstStyle/>
          <a:p>
            <a:pPr lvl="0"/>
            <a:endParaRPr lang="en-IN"/>
          </a:p>
        </p:txBody>
      </p:sp>
      <p:sp>
        <p:nvSpPr>
          <p:cNvPr id="7" name="Footer Placeholder 6">
            <a:extLst>
              <a:ext uri="{FF2B5EF4-FFF2-40B4-BE49-F238E27FC236}">
                <a16:creationId xmlns:a16="http://schemas.microsoft.com/office/drawing/2014/main" id="{169C6FF5-D5DC-4003-969E-E49B2E548636}"/>
              </a:ext>
            </a:extLst>
          </p:cNvPr>
          <p:cNvSpPr txBox="1">
            <a:spLocks noGrp="1"/>
          </p:cNvSpPr>
          <p:nvPr>
            <p:ph type="ftr" sz="quarter" idx="4"/>
          </p:nvPr>
        </p:nvSpPr>
        <p:spPr>
          <a:xfrm>
            <a:off x="-356" y="8685364"/>
            <a:ext cx="2971800" cy="458635"/>
          </a:xfrm>
          <a:prstGeom prst="rect">
            <a:avLst/>
          </a:prstGeom>
          <a:noFill/>
          <a:ln>
            <a:noFill/>
          </a:ln>
        </p:spPr>
        <p:txBody>
          <a:bodyPr vert="horz" wrap="square" lIns="90004" tIns="46798" rIns="90004" bIns="46798" anchor="b" anchorCtr="0" compatLnSpc="1">
            <a:noAutofit/>
          </a:bodyPr>
          <a:lstStyle>
            <a:lvl1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i="0" u="none" strike="noStrike" kern="1200" cap="none" spc="0" baseline="0">
                <a:solidFill>
                  <a:srgbClr val="000000"/>
                </a:solidFill>
                <a:uFillTx/>
                <a:latin typeface="Times New Roman" pitchFamily="18"/>
                <a:ea typeface="Microsoft YaHei" pitchFamily="2"/>
                <a:cs typeface="Lucida Sans" pitchFamily="2"/>
              </a:defRPr>
            </a:lvl1pPr>
          </a:lstStyle>
          <a:p>
            <a:pPr lvl="0"/>
            <a:endParaRPr lang="en-US"/>
          </a:p>
        </p:txBody>
      </p:sp>
      <p:sp>
        <p:nvSpPr>
          <p:cNvPr id="8" name="Slide Number Placeholder 7">
            <a:extLst>
              <a:ext uri="{FF2B5EF4-FFF2-40B4-BE49-F238E27FC236}">
                <a16:creationId xmlns:a16="http://schemas.microsoft.com/office/drawing/2014/main" id="{17DE51D5-D239-4585-A576-D75C68E27A07}"/>
              </a:ext>
            </a:extLst>
          </p:cNvPr>
          <p:cNvSpPr txBox="1">
            <a:spLocks noGrp="1"/>
          </p:cNvSpPr>
          <p:nvPr>
            <p:ph type="sldNum" sz="quarter" idx="5"/>
          </p:nvPr>
        </p:nvSpPr>
        <p:spPr>
          <a:xfrm>
            <a:off x="3884398" y="8685364"/>
            <a:ext cx="2971800" cy="458635"/>
          </a:xfrm>
          <a:prstGeom prst="rect">
            <a:avLst/>
          </a:prstGeom>
          <a:noFill/>
          <a:ln>
            <a:noFill/>
          </a:ln>
        </p:spPr>
        <p:txBody>
          <a:bodyPr vert="horz" wrap="square" lIns="90004" tIns="46798" rIns="90004" bIns="46798" anchor="b" anchorCtr="0" compatLnSpc="1">
            <a:noAutofit/>
          </a:bodyPr>
          <a:lstStyle>
            <a:lvl1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i="0" u="none" strike="noStrike" kern="1200" cap="none" spc="0" baseline="0">
                <a:solidFill>
                  <a:srgbClr val="000000"/>
                </a:solidFill>
                <a:uFillTx/>
                <a:latin typeface="Times New Roman" pitchFamily="18"/>
                <a:ea typeface="Microsoft YaHei" pitchFamily="2"/>
                <a:cs typeface="Lucida Sans" pitchFamily="2"/>
              </a:defRPr>
            </a:lvl1pPr>
          </a:lstStyle>
          <a:p>
            <a:pPr lvl="0"/>
            <a:fld id="{31EE7C7D-0CD0-4902-B407-1E04E54AB48E}" type="slidenum">
              <a:t>‹#›</a:t>
            </a:fld>
            <a:endParaRPr lang="en-US"/>
          </a:p>
        </p:txBody>
      </p:sp>
    </p:spTree>
    <p:extLst>
      <p:ext uri="{BB962C8B-B14F-4D97-AF65-F5344CB8AC3E}">
        <p14:creationId xmlns:p14="http://schemas.microsoft.com/office/powerpoint/2010/main" val="3883206013"/>
      </p:ext>
    </p:extLst>
  </p:cSld>
  <p:clrMap bg1="lt1" tx1="dk1" bg2="lt2" tx2="dk2" accent1="accent1" accent2="accent2" accent3="accent3" accent4="accent4" accent5="accent5" accent6="accent6" hlink="hlink" folHlink="folHlink"/>
  <p:notesStyle>
    <a:lvl1pPr marL="0" marR="0" lvl="0" indent="0" algn="l" defTabSz="914400" rtl="0" fontAlgn="auto" hangingPunct="0">
      <a:lnSpc>
        <a:spcPct val="100000"/>
      </a:lnSpc>
      <a:spcBef>
        <a:spcPts val="45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IN" sz="1200" b="0" i="0" u="none" strike="noStrike" kern="0" cap="none" spc="0" baseline="0">
        <a:solidFill>
          <a:srgbClr val="000000"/>
        </a:solidFill>
        <a:highlight>
          <a:scrgbClr r="0" g="0" b="0">
            <a:alpha val="0"/>
          </a:scrgbClr>
        </a:highlight>
        <a:uFillTx/>
        <a:latin typeface="Calibri" pitchFamily="34"/>
        <a:ea typeface="Microsoft YaHei"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F8518C49-B057-456E-88FA-A418CEBD4B85}"/>
              </a:ext>
            </a:extLst>
          </p:cNvPr>
          <p:cNvSpPr txBox="1"/>
          <p:nvPr/>
        </p:nvSpPr>
        <p:spPr>
          <a:xfrm>
            <a:off x="3884398" y="8685364"/>
            <a:ext cx="2971800" cy="458635"/>
          </a:xfrm>
          <a:prstGeom prst="rect">
            <a:avLst/>
          </a:prstGeom>
          <a:noFill/>
          <a:ln cap="flat">
            <a:noFill/>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91A62FA0-286B-4245-B091-D1DF589F0F98}" type="slidenum">
              <a:t>1</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
        <p:nvSpPr>
          <p:cNvPr id="3" name="Slide Image Placeholder 1">
            <a:extLst>
              <a:ext uri="{FF2B5EF4-FFF2-40B4-BE49-F238E27FC236}">
                <a16:creationId xmlns:a16="http://schemas.microsoft.com/office/drawing/2014/main" id="{7571BBE6-4183-40B7-B5FC-2D62AB41C050}"/>
              </a:ext>
            </a:extLst>
          </p:cNvPr>
          <p:cNvSpPr>
            <a:spLocks noGrp="1" noRot="1" noChangeAspect="1"/>
          </p:cNvSpPr>
          <p:nvPr>
            <p:ph type="sldImg"/>
          </p:nvPr>
        </p:nvSpPr>
        <p:spPr>
          <a:xfrm>
            <a:off x="1371600" y="1143000"/>
            <a:ext cx="4114800" cy="3086100"/>
          </a:xfrm>
          <a:solidFill>
            <a:srgbClr val="4472C4"/>
          </a:solidFill>
          <a:ln w="12701" cap="flat">
            <a:solidFill>
              <a:srgbClr val="2F528F"/>
            </a:solidFill>
            <a:prstDash val="solid"/>
            <a:miter/>
          </a:ln>
        </p:spPr>
      </p:sp>
      <p:sp>
        <p:nvSpPr>
          <p:cNvPr id="4" name="Notes Placeholder 2">
            <a:extLst>
              <a:ext uri="{FF2B5EF4-FFF2-40B4-BE49-F238E27FC236}">
                <a16:creationId xmlns:a16="http://schemas.microsoft.com/office/drawing/2014/main" id="{98A7B4A0-FF6F-456A-B075-C888DAFE10E6}"/>
              </a:ext>
            </a:extLst>
          </p:cNvPr>
          <p:cNvSpPr txBox="1">
            <a:spLocks noGrp="1"/>
          </p:cNvSpPr>
          <p:nvPr>
            <p:ph type="body" sz="quarter" idx="1"/>
          </p:nvPr>
        </p:nvSpPr>
        <p:spPr/>
        <p:txBody>
          <a:bodyPr/>
          <a:lstStyle/>
          <a:p>
            <a:endParaRPr lang="en-US" dirty="0"/>
          </a:p>
        </p:txBody>
      </p:sp>
      <p:sp>
        <p:nvSpPr>
          <p:cNvPr id="5" name="Slide Number Placeholder 3">
            <a:extLst>
              <a:ext uri="{FF2B5EF4-FFF2-40B4-BE49-F238E27FC236}">
                <a16:creationId xmlns:a16="http://schemas.microsoft.com/office/drawing/2014/main" id="{A239849B-E1A8-498E-87F7-72F9D36EDBED}"/>
              </a:ext>
            </a:extLst>
          </p:cNvPr>
          <p:cNvSpPr/>
          <p:nvPr/>
        </p:nvSpPr>
        <p:spPr>
          <a:xfrm>
            <a:off x="3884755" y="8685364"/>
            <a:ext cx="2971800" cy="45863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731C018C-CD43-43E6-9A23-776FAACC9A68}" type="slidenum">
              <a:t>1</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C1785B25-4743-435E-8C03-EEBFDD790278}"/>
              </a:ext>
            </a:extLst>
          </p:cNvPr>
          <p:cNvSpPr txBox="1"/>
          <p:nvPr/>
        </p:nvSpPr>
        <p:spPr>
          <a:xfrm>
            <a:off x="3884398" y="8685364"/>
            <a:ext cx="2971800" cy="458635"/>
          </a:xfrm>
          <a:prstGeom prst="rect">
            <a:avLst/>
          </a:prstGeom>
          <a:noFill/>
          <a:ln cap="flat">
            <a:noFill/>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402FC6AD-FA31-41D0-AF45-0687925C4E51}" type="slidenum">
              <a:t>2</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
        <p:nvSpPr>
          <p:cNvPr id="3" name="Slide Image Placeholder 1">
            <a:extLst>
              <a:ext uri="{FF2B5EF4-FFF2-40B4-BE49-F238E27FC236}">
                <a16:creationId xmlns:a16="http://schemas.microsoft.com/office/drawing/2014/main" id="{733EE4F0-3B35-42C7-ABAF-9236B42793BE}"/>
              </a:ext>
            </a:extLst>
          </p:cNvPr>
          <p:cNvSpPr>
            <a:spLocks noGrp="1" noRot="1" noChangeAspect="1"/>
          </p:cNvSpPr>
          <p:nvPr>
            <p:ph type="sldImg"/>
          </p:nvPr>
        </p:nvSpPr>
        <p:spPr>
          <a:xfrm>
            <a:off x="1371600" y="1143000"/>
            <a:ext cx="4114800" cy="3086100"/>
          </a:xfrm>
          <a:solidFill>
            <a:srgbClr val="4472C4"/>
          </a:solidFill>
          <a:ln w="12701" cap="flat">
            <a:solidFill>
              <a:srgbClr val="2F528F"/>
            </a:solidFill>
            <a:prstDash val="solid"/>
            <a:miter/>
          </a:ln>
        </p:spPr>
      </p:sp>
      <p:sp>
        <p:nvSpPr>
          <p:cNvPr id="4" name="Notes Placeholder 2">
            <a:extLst>
              <a:ext uri="{FF2B5EF4-FFF2-40B4-BE49-F238E27FC236}">
                <a16:creationId xmlns:a16="http://schemas.microsoft.com/office/drawing/2014/main" id="{320202CC-9655-4C60-A6FE-E684C06348F9}"/>
              </a:ext>
            </a:extLst>
          </p:cNvPr>
          <p:cNvSpPr txBox="1">
            <a:spLocks noGrp="1"/>
          </p:cNvSpPr>
          <p:nvPr>
            <p:ph type="body" sz="quarter" idx="1"/>
          </p:nvPr>
        </p:nvSpPr>
        <p:spPr/>
        <p:txBody>
          <a:bodyPr/>
          <a:lstStyle/>
          <a:p>
            <a:endParaRPr lang="en-US"/>
          </a:p>
        </p:txBody>
      </p:sp>
      <p:sp>
        <p:nvSpPr>
          <p:cNvPr id="5" name="Slide Number Placeholder 3">
            <a:extLst>
              <a:ext uri="{FF2B5EF4-FFF2-40B4-BE49-F238E27FC236}">
                <a16:creationId xmlns:a16="http://schemas.microsoft.com/office/drawing/2014/main" id="{3D0D4E27-925D-4D7E-A06A-910013DECF3C}"/>
              </a:ext>
            </a:extLst>
          </p:cNvPr>
          <p:cNvSpPr/>
          <p:nvPr/>
        </p:nvSpPr>
        <p:spPr>
          <a:xfrm>
            <a:off x="3884755" y="8685364"/>
            <a:ext cx="2971800" cy="45863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9365C2E6-05C9-4A1F-872C-D1F27C0CBDAD}" type="slidenum">
              <a:t>2</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AAE0397E-B845-4840-80D7-296042B85B5E}"/>
              </a:ext>
            </a:extLst>
          </p:cNvPr>
          <p:cNvSpPr txBox="1"/>
          <p:nvPr/>
        </p:nvSpPr>
        <p:spPr>
          <a:xfrm>
            <a:off x="3884398" y="8685364"/>
            <a:ext cx="2971800" cy="458635"/>
          </a:xfrm>
          <a:prstGeom prst="rect">
            <a:avLst/>
          </a:prstGeom>
          <a:noFill/>
          <a:ln cap="flat">
            <a:noFill/>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4A270D2E-78CA-4B46-B31E-728172E2F193}" type="slidenum">
              <a:t>3</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
        <p:nvSpPr>
          <p:cNvPr id="3" name="Slide Image Placeholder 1">
            <a:extLst>
              <a:ext uri="{FF2B5EF4-FFF2-40B4-BE49-F238E27FC236}">
                <a16:creationId xmlns:a16="http://schemas.microsoft.com/office/drawing/2014/main" id="{10B1CEAB-9141-4B35-9569-234F4DD77EDC}"/>
              </a:ext>
            </a:extLst>
          </p:cNvPr>
          <p:cNvSpPr>
            <a:spLocks noGrp="1" noRot="1" noChangeAspect="1"/>
          </p:cNvSpPr>
          <p:nvPr>
            <p:ph type="sldImg"/>
          </p:nvPr>
        </p:nvSpPr>
        <p:spPr>
          <a:xfrm>
            <a:off x="1371600" y="1143000"/>
            <a:ext cx="4114800" cy="3086100"/>
          </a:xfrm>
          <a:solidFill>
            <a:srgbClr val="4472C4"/>
          </a:solidFill>
          <a:ln w="12701" cap="flat">
            <a:solidFill>
              <a:srgbClr val="2F528F"/>
            </a:solidFill>
            <a:prstDash val="solid"/>
            <a:miter/>
          </a:ln>
        </p:spPr>
      </p:sp>
      <p:sp>
        <p:nvSpPr>
          <p:cNvPr id="4" name="Notes Placeholder 2">
            <a:extLst>
              <a:ext uri="{FF2B5EF4-FFF2-40B4-BE49-F238E27FC236}">
                <a16:creationId xmlns:a16="http://schemas.microsoft.com/office/drawing/2014/main" id="{C59BB456-1791-4C6F-87A6-E2B7B8179C0D}"/>
              </a:ext>
            </a:extLst>
          </p:cNvPr>
          <p:cNvSpPr txBox="1">
            <a:spLocks noGrp="1"/>
          </p:cNvSpPr>
          <p:nvPr>
            <p:ph type="body" sz="quarter" idx="1"/>
          </p:nvPr>
        </p:nvSpPr>
        <p:spPr/>
        <p:txBody>
          <a:bodyPr/>
          <a:lstStyle/>
          <a:p>
            <a:endParaRPr lang="en-US"/>
          </a:p>
        </p:txBody>
      </p:sp>
      <p:sp>
        <p:nvSpPr>
          <p:cNvPr id="5" name="Slide Number Placeholder 3">
            <a:extLst>
              <a:ext uri="{FF2B5EF4-FFF2-40B4-BE49-F238E27FC236}">
                <a16:creationId xmlns:a16="http://schemas.microsoft.com/office/drawing/2014/main" id="{15772B55-C572-4AA4-BDC5-0F81FE328310}"/>
              </a:ext>
            </a:extLst>
          </p:cNvPr>
          <p:cNvSpPr/>
          <p:nvPr/>
        </p:nvSpPr>
        <p:spPr>
          <a:xfrm>
            <a:off x="3884755" y="8685364"/>
            <a:ext cx="2971800" cy="45863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3011325E-3BBB-4092-9C32-56858D1FF1E8}" type="slidenum">
              <a:t>3</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09D56D4B-B01C-4FA5-9464-367BB41758DD}"/>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a:extLst>
              <a:ext uri="{FF2B5EF4-FFF2-40B4-BE49-F238E27FC236}">
                <a16:creationId xmlns:a16="http://schemas.microsoft.com/office/drawing/2014/main" id="{508C8D10-0B8E-4C23-AD65-15F93A2DA58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268" name="Slide Number Placeholder 3">
            <a:extLst>
              <a:ext uri="{FF2B5EF4-FFF2-40B4-BE49-F238E27FC236}">
                <a16:creationId xmlns:a16="http://schemas.microsoft.com/office/drawing/2014/main" id="{F06F6C0F-3E2C-4713-A5E3-E7CD1A31477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DD6F4C0-2CC5-43D0-8E15-D9CF9DF2691D}" type="slidenum">
              <a:rPr lang="en-US" altLang="en-US" sz="1200"/>
              <a:pPr/>
              <a:t>4</a:t>
            </a:fld>
            <a:endParaRPr lang="en-US" altLang="en-US" sz="1200"/>
          </a:p>
        </p:txBody>
      </p:sp>
    </p:spTree>
    <p:extLst>
      <p:ext uri="{BB962C8B-B14F-4D97-AF65-F5344CB8AC3E}">
        <p14:creationId xmlns:p14="http://schemas.microsoft.com/office/powerpoint/2010/main" val="1888132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09D56D4B-B01C-4FA5-9464-367BB41758DD}"/>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a:extLst>
              <a:ext uri="{FF2B5EF4-FFF2-40B4-BE49-F238E27FC236}">
                <a16:creationId xmlns:a16="http://schemas.microsoft.com/office/drawing/2014/main" id="{508C8D10-0B8E-4C23-AD65-15F93A2DA58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268" name="Slide Number Placeholder 3">
            <a:extLst>
              <a:ext uri="{FF2B5EF4-FFF2-40B4-BE49-F238E27FC236}">
                <a16:creationId xmlns:a16="http://schemas.microsoft.com/office/drawing/2014/main" id="{F06F6C0F-3E2C-4713-A5E3-E7CD1A31477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DD6F4C0-2CC5-43D0-8E15-D9CF9DF2691D}" type="slidenum">
              <a:rPr lang="en-US" altLang="en-US" sz="1200"/>
              <a:pPr/>
              <a:t>5</a:t>
            </a:fld>
            <a:endParaRPr lang="en-US" altLang="en-US" sz="1200"/>
          </a:p>
        </p:txBody>
      </p:sp>
    </p:spTree>
    <p:extLst>
      <p:ext uri="{BB962C8B-B14F-4D97-AF65-F5344CB8AC3E}">
        <p14:creationId xmlns:p14="http://schemas.microsoft.com/office/powerpoint/2010/main" val="29506176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09D56D4B-B01C-4FA5-9464-367BB41758DD}"/>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a:extLst>
              <a:ext uri="{FF2B5EF4-FFF2-40B4-BE49-F238E27FC236}">
                <a16:creationId xmlns:a16="http://schemas.microsoft.com/office/drawing/2014/main" id="{508C8D10-0B8E-4C23-AD65-15F93A2DA58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268" name="Slide Number Placeholder 3">
            <a:extLst>
              <a:ext uri="{FF2B5EF4-FFF2-40B4-BE49-F238E27FC236}">
                <a16:creationId xmlns:a16="http://schemas.microsoft.com/office/drawing/2014/main" id="{F06F6C0F-3E2C-4713-A5E3-E7CD1A31477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DD6F4C0-2CC5-43D0-8E15-D9CF9DF2691D}" type="slidenum">
              <a:rPr lang="en-US" altLang="en-US" sz="1200"/>
              <a:pPr/>
              <a:t>6</a:t>
            </a:fld>
            <a:endParaRPr lang="en-US" alt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09D56D4B-B01C-4FA5-9464-367BB41758DD}"/>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a:extLst>
              <a:ext uri="{FF2B5EF4-FFF2-40B4-BE49-F238E27FC236}">
                <a16:creationId xmlns:a16="http://schemas.microsoft.com/office/drawing/2014/main" id="{508C8D10-0B8E-4C23-AD65-15F93A2DA58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268" name="Slide Number Placeholder 3">
            <a:extLst>
              <a:ext uri="{FF2B5EF4-FFF2-40B4-BE49-F238E27FC236}">
                <a16:creationId xmlns:a16="http://schemas.microsoft.com/office/drawing/2014/main" id="{F06F6C0F-3E2C-4713-A5E3-E7CD1A31477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DD6F4C0-2CC5-43D0-8E15-D9CF9DF2691D}" type="slidenum">
              <a:rPr lang="en-US" altLang="en-US" sz="1200"/>
              <a:pPr/>
              <a:t>7</a:t>
            </a:fld>
            <a:endParaRPr lang="en-US" altLang="en-US" sz="1200"/>
          </a:p>
        </p:txBody>
      </p:sp>
    </p:spTree>
    <p:extLst>
      <p:ext uri="{BB962C8B-B14F-4D97-AF65-F5344CB8AC3E}">
        <p14:creationId xmlns:p14="http://schemas.microsoft.com/office/powerpoint/2010/main" val="2445686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09D56D4B-B01C-4FA5-9464-367BB41758DD}"/>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a:extLst>
              <a:ext uri="{FF2B5EF4-FFF2-40B4-BE49-F238E27FC236}">
                <a16:creationId xmlns:a16="http://schemas.microsoft.com/office/drawing/2014/main" id="{508C8D10-0B8E-4C23-AD65-15F93A2DA58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268" name="Slide Number Placeholder 3">
            <a:extLst>
              <a:ext uri="{FF2B5EF4-FFF2-40B4-BE49-F238E27FC236}">
                <a16:creationId xmlns:a16="http://schemas.microsoft.com/office/drawing/2014/main" id="{F06F6C0F-3E2C-4713-A5E3-E7CD1A31477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DD6F4C0-2CC5-43D0-8E15-D9CF9DF2691D}" type="slidenum">
              <a:rPr lang="en-US" altLang="en-US" sz="1200"/>
              <a:pPr/>
              <a:t>8</a:t>
            </a:fld>
            <a:endParaRPr lang="en-US" altLang="en-US" sz="1200"/>
          </a:p>
        </p:txBody>
      </p:sp>
    </p:spTree>
    <p:extLst>
      <p:ext uri="{BB962C8B-B14F-4D97-AF65-F5344CB8AC3E}">
        <p14:creationId xmlns:p14="http://schemas.microsoft.com/office/powerpoint/2010/main" val="21729592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09D56D4B-B01C-4FA5-9464-367BB41758DD}"/>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a:extLst>
              <a:ext uri="{FF2B5EF4-FFF2-40B4-BE49-F238E27FC236}">
                <a16:creationId xmlns:a16="http://schemas.microsoft.com/office/drawing/2014/main" id="{508C8D10-0B8E-4C23-AD65-15F93A2DA58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268" name="Slide Number Placeholder 3">
            <a:extLst>
              <a:ext uri="{FF2B5EF4-FFF2-40B4-BE49-F238E27FC236}">
                <a16:creationId xmlns:a16="http://schemas.microsoft.com/office/drawing/2014/main" id="{F06F6C0F-3E2C-4713-A5E3-E7CD1A31477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DD6F4C0-2CC5-43D0-8E15-D9CF9DF2691D}" type="slidenum">
              <a:rPr lang="en-US" altLang="en-US" sz="1200"/>
              <a:pPr/>
              <a:t>9</a:t>
            </a:fld>
            <a:endParaRPr lang="en-US" altLang="en-US" sz="1200"/>
          </a:p>
        </p:txBody>
      </p:sp>
    </p:spTree>
    <p:extLst>
      <p:ext uri="{BB962C8B-B14F-4D97-AF65-F5344CB8AC3E}">
        <p14:creationId xmlns:p14="http://schemas.microsoft.com/office/powerpoint/2010/main" val="20525214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09D56D4B-B01C-4FA5-9464-367BB41758DD}"/>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a:extLst>
              <a:ext uri="{FF2B5EF4-FFF2-40B4-BE49-F238E27FC236}">
                <a16:creationId xmlns:a16="http://schemas.microsoft.com/office/drawing/2014/main" id="{508C8D10-0B8E-4C23-AD65-15F93A2DA58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268" name="Slide Number Placeholder 3">
            <a:extLst>
              <a:ext uri="{FF2B5EF4-FFF2-40B4-BE49-F238E27FC236}">
                <a16:creationId xmlns:a16="http://schemas.microsoft.com/office/drawing/2014/main" id="{F06F6C0F-3E2C-4713-A5E3-E7CD1A31477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DD6F4C0-2CC5-43D0-8E15-D9CF9DF2691D}" type="slidenum">
              <a:rPr lang="en-US" altLang="en-US" sz="1200"/>
              <a:pPr/>
              <a:t>10</a:t>
            </a:fld>
            <a:endParaRPr lang="en-US" altLang="en-US" sz="1200"/>
          </a:p>
        </p:txBody>
      </p:sp>
    </p:spTree>
    <p:extLst>
      <p:ext uri="{BB962C8B-B14F-4D97-AF65-F5344CB8AC3E}">
        <p14:creationId xmlns:p14="http://schemas.microsoft.com/office/powerpoint/2010/main" val="17500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09D56D4B-B01C-4FA5-9464-367BB41758DD}"/>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a:extLst>
              <a:ext uri="{FF2B5EF4-FFF2-40B4-BE49-F238E27FC236}">
                <a16:creationId xmlns:a16="http://schemas.microsoft.com/office/drawing/2014/main" id="{508C8D10-0B8E-4C23-AD65-15F93A2DA58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268" name="Slide Number Placeholder 3">
            <a:extLst>
              <a:ext uri="{FF2B5EF4-FFF2-40B4-BE49-F238E27FC236}">
                <a16:creationId xmlns:a16="http://schemas.microsoft.com/office/drawing/2014/main" id="{F06F6C0F-3E2C-4713-A5E3-E7CD1A31477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DD6F4C0-2CC5-43D0-8E15-D9CF9DF2691D}" type="slidenum">
              <a:rPr lang="en-US" altLang="en-US" sz="1200"/>
              <a:pPr/>
              <a:t>11</a:t>
            </a:fld>
            <a:endParaRPr lang="en-US" altLang="en-US" sz="1200"/>
          </a:p>
        </p:txBody>
      </p:sp>
    </p:spTree>
    <p:extLst>
      <p:ext uri="{BB962C8B-B14F-4D97-AF65-F5344CB8AC3E}">
        <p14:creationId xmlns:p14="http://schemas.microsoft.com/office/powerpoint/2010/main" val="9088516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09D56D4B-B01C-4FA5-9464-367BB41758DD}"/>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a:extLst>
              <a:ext uri="{FF2B5EF4-FFF2-40B4-BE49-F238E27FC236}">
                <a16:creationId xmlns:a16="http://schemas.microsoft.com/office/drawing/2014/main" id="{508C8D10-0B8E-4C23-AD65-15F93A2DA58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268" name="Slide Number Placeholder 3">
            <a:extLst>
              <a:ext uri="{FF2B5EF4-FFF2-40B4-BE49-F238E27FC236}">
                <a16:creationId xmlns:a16="http://schemas.microsoft.com/office/drawing/2014/main" id="{F06F6C0F-3E2C-4713-A5E3-E7CD1A31477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DD6F4C0-2CC5-43D0-8E15-D9CF9DF2691D}" type="slidenum">
              <a:rPr lang="en-US" altLang="en-US" sz="1200"/>
              <a:pPr/>
              <a:t>12</a:t>
            </a:fld>
            <a:endParaRPr lang="en-US" altLang="en-US" sz="1200"/>
          </a:p>
        </p:txBody>
      </p:sp>
    </p:spTree>
    <p:extLst>
      <p:ext uri="{BB962C8B-B14F-4D97-AF65-F5344CB8AC3E}">
        <p14:creationId xmlns:p14="http://schemas.microsoft.com/office/powerpoint/2010/main" val="3470228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66EA24D6-888E-4BDD-AFA4-01A0CF5F90B1}"/>
              </a:ext>
            </a:extLst>
          </p:cNvPr>
          <p:cNvSpPr txBox="1"/>
          <p:nvPr/>
        </p:nvSpPr>
        <p:spPr>
          <a:xfrm>
            <a:off x="3884398" y="8685364"/>
            <a:ext cx="2971800" cy="458635"/>
          </a:xfrm>
          <a:prstGeom prst="rect">
            <a:avLst/>
          </a:prstGeom>
          <a:noFill/>
          <a:ln cap="flat">
            <a:noFill/>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8389BF9C-4F61-4102-8684-93E0101D5C97}" type="slidenum">
              <a:t>13</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
        <p:nvSpPr>
          <p:cNvPr id="3" name="Slide Image Placeholder 1">
            <a:extLst>
              <a:ext uri="{FF2B5EF4-FFF2-40B4-BE49-F238E27FC236}">
                <a16:creationId xmlns:a16="http://schemas.microsoft.com/office/drawing/2014/main" id="{0E75D65F-A856-4DE5-9E29-92E8DB679ADF}"/>
              </a:ext>
            </a:extLst>
          </p:cNvPr>
          <p:cNvSpPr>
            <a:spLocks noGrp="1" noRot="1" noChangeAspect="1"/>
          </p:cNvSpPr>
          <p:nvPr>
            <p:ph type="sldImg"/>
          </p:nvPr>
        </p:nvSpPr>
        <p:spPr>
          <a:xfrm>
            <a:off x="1371600" y="1143000"/>
            <a:ext cx="4114800" cy="3086100"/>
          </a:xfrm>
          <a:solidFill>
            <a:srgbClr val="4472C4"/>
          </a:solidFill>
          <a:ln w="12701" cap="flat">
            <a:solidFill>
              <a:srgbClr val="2F528F"/>
            </a:solidFill>
            <a:prstDash val="solid"/>
            <a:miter/>
          </a:ln>
        </p:spPr>
      </p:sp>
      <p:sp>
        <p:nvSpPr>
          <p:cNvPr id="4" name="Notes Placeholder 2">
            <a:extLst>
              <a:ext uri="{FF2B5EF4-FFF2-40B4-BE49-F238E27FC236}">
                <a16:creationId xmlns:a16="http://schemas.microsoft.com/office/drawing/2014/main" id="{831974CE-88A9-4F57-B5E6-C037FA49E22B}"/>
              </a:ext>
            </a:extLst>
          </p:cNvPr>
          <p:cNvSpPr txBox="1">
            <a:spLocks noGrp="1"/>
          </p:cNvSpPr>
          <p:nvPr>
            <p:ph type="body" sz="quarter" idx="1"/>
          </p:nvPr>
        </p:nvSpPr>
        <p:spPr/>
        <p:txBody>
          <a:bodyPr/>
          <a:lstStyle/>
          <a:p>
            <a:endParaRPr lang="en-US"/>
          </a:p>
        </p:txBody>
      </p:sp>
      <p:sp>
        <p:nvSpPr>
          <p:cNvPr id="5" name="Slide Number Placeholder 3">
            <a:extLst>
              <a:ext uri="{FF2B5EF4-FFF2-40B4-BE49-F238E27FC236}">
                <a16:creationId xmlns:a16="http://schemas.microsoft.com/office/drawing/2014/main" id="{43544EEF-51DE-4E6B-8D88-311AED8E8B3A}"/>
              </a:ext>
            </a:extLst>
          </p:cNvPr>
          <p:cNvSpPr/>
          <p:nvPr/>
        </p:nvSpPr>
        <p:spPr>
          <a:xfrm>
            <a:off x="3884755" y="8685364"/>
            <a:ext cx="2971800" cy="45863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043DEE4F-7D99-4B5F-8C54-1F01E5744D48}" type="slidenum">
              <a:t>13</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Tree>
    <p:extLst>
      <p:ext uri="{BB962C8B-B14F-4D97-AF65-F5344CB8AC3E}">
        <p14:creationId xmlns:p14="http://schemas.microsoft.com/office/powerpoint/2010/main" val="10908308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672A9975-9308-4159-93A4-15FD74A01295}"/>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a:extLst>
              <a:ext uri="{FF2B5EF4-FFF2-40B4-BE49-F238E27FC236}">
                <a16:creationId xmlns:a16="http://schemas.microsoft.com/office/drawing/2014/main" id="{C1204151-C702-467B-82F6-F339F7E6E06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5844" name="Slide Number Placeholder 3">
            <a:extLst>
              <a:ext uri="{FF2B5EF4-FFF2-40B4-BE49-F238E27FC236}">
                <a16:creationId xmlns:a16="http://schemas.microsoft.com/office/drawing/2014/main" id="{122625A6-31C1-449C-A756-EA8E875AA1B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58DAF38-A5C5-4E78-91C5-426F34772BD3}" type="slidenum">
              <a:rPr lang="en-US" altLang="en-US" sz="1200"/>
              <a:pPr/>
              <a:t>14</a:t>
            </a:fld>
            <a:endParaRPr lang="en-US" alt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684F6E2C-4085-4C90-8D62-B0D7D40EB5CD}"/>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5BE454C4-BBE1-4B7E-B246-63E092190EA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7892" name="Slide Number Placeholder 3">
            <a:extLst>
              <a:ext uri="{FF2B5EF4-FFF2-40B4-BE49-F238E27FC236}">
                <a16:creationId xmlns:a16="http://schemas.microsoft.com/office/drawing/2014/main" id="{CAF89371-76FF-4B71-AD23-A441CFDE263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628F56A-D0C1-4675-83E2-6A7FB13AAC37}" type="slidenum">
              <a:rPr lang="en-US" altLang="en-US" sz="1200"/>
              <a:pPr/>
              <a:t>15</a:t>
            </a:fld>
            <a:endParaRPr lang="en-US" alt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684F6E2C-4085-4C90-8D62-B0D7D40EB5CD}"/>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5BE454C4-BBE1-4B7E-B246-63E092190EA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7892" name="Slide Number Placeholder 3">
            <a:extLst>
              <a:ext uri="{FF2B5EF4-FFF2-40B4-BE49-F238E27FC236}">
                <a16:creationId xmlns:a16="http://schemas.microsoft.com/office/drawing/2014/main" id="{CAF89371-76FF-4B71-AD23-A441CFDE263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628F56A-D0C1-4675-83E2-6A7FB13AAC37}" type="slidenum">
              <a:rPr lang="en-US" altLang="en-US" sz="1200"/>
              <a:pPr/>
              <a:t>16</a:t>
            </a:fld>
            <a:endParaRPr lang="en-US" altLang="en-US" sz="1200"/>
          </a:p>
        </p:txBody>
      </p:sp>
    </p:spTree>
    <p:extLst>
      <p:ext uri="{BB962C8B-B14F-4D97-AF65-F5344CB8AC3E}">
        <p14:creationId xmlns:p14="http://schemas.microsoft.com/office/powerpoint/2010/main" val="41389318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684F6E2C-4085-4C90-8D62-B0D7D40EB5CD}"/>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5BE454C4-BBE1-4B7E-B246-63E092190EA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7892" name="Slide Number Placeholder 3">
            <a:extLst>
              <a:ext uri="{FF2B5EF4-FFF2-40B4-BE49-F238E27FC236}">
                <a16:creationId xmlns:a16="http://schemas.microsoft.com/office/drawing/2014/main" id="{CAF89371-76FF-4B71-AD23-A441CFDE263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628F56A-D0C1-4675-83E2-6A7FB13AAC37}" type="slidenum">
              <a:rPr lang="en-US" altLang="en-US" sz="1200"/>
              <a:pPr/>
              <a:t>17</a:t>
            </a:fld>
            <a:endParaRPr lang="en-US" altLang="en-US" sz="1200"/>
          </a:p>
        </p:txBody>
      </p:sp>
    </p:spTree>
    <p:extLst>
      <p:ext uri="{BB962C8B-B14F-4D97-AF65-F5344CB8AC3E}">
        <p14:creationId xmlns:p14="http://schemas.microsoft.com/office/powerpoint/2010/main" val="8116026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684F6E2C-4085-4C90-8D62-B0D7D40EB5CD}"/>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5BE454C4-BBE1-4B7E-B246-63E092190EA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7892" name="Slide Number Placeholder 3">
            <a:extLst>
              <a:ext uri="{FF2B5EF4-FFF2-40B4-BE49-F238E27FC236}">
                <a16:creationId xmlns:a16="http://schemas.microsoft.com/office/drawing/2014/main" id="{CAF89371-76FF-4B71-AD23-A441CFDE263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628F56A-D0C1-4675-83E2-6A7FB13AAC37}" type="slidenum">
              <a:rPr lang="en-US" altLang="en-US" sz="1200"/>
              <a:pPr/>
              <a:t>18</a:t>
            </a:fld>
            <a:endParaRPr lang="en-US" altLang="en-US" sz="1200"/>
          </a:p>
        </p:txBody>
      </p:sp>
    </p:spTree>
    <p:extLst>
      <p:ext uri="{BB962C8B-B14F-4D97-AF65-F5344CB8AC3E}">
        <p14:creationId xmlns:p14="http://schemas.microsoft.com/office/powerpoint/2010/main" val="4805691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684F6E2C-4085-4C90-8D62-B0D7D40EB5CD}"/>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5BE454C4-BBE1-4B7E-B246-63E092190EA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7892" name="Slide Number Placeholder 3">
            <a:extLst>
              <a:ext uri="{FF2B5EF4-FFF2-40B4-BE49-F238E27FC236}">
                <a16:creationId xmlns:a16="http://schemas.microsoft.com/office/drawing/2014/main" id="{CAF89371-76FF-4B71-AD23-A441CFDE263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628F56A-D0C1-4675-83E2-6A7FB13AAC37}" type="slidenum">
              <a:rPr lang="en-US" altLang="en-US" sz="1200"/>
              <a:pPr/>
              <a:t>19</a:t>
            </a:fld>
            <a:endParaRPr lang="en-US" altLang="en-US" sz="1200"/>
          </a:p>
        </p:txBody>
      </p:sp>
    </p:spTree>
    <p:extLst>
      <p:ext uri="{BB962C8B-B14F-4D97-AF65-F5344CB8AC3E}">
        <p14:creationId xmlns:p14="http://schemas.microsoft.com/office/powerpoint/2010/main" val="700570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684F6E2C-4085-4C90-8D62-B0D7D40EB5CD}"/>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5BE454C4-BBE1-4B7E-B246-63E092190EA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7892" name="Slide Number Placeholder 3">
            <a:extLst>
              <a:ext uri="{FF2B5EF4-FFF2-40B4-BE49-F238E27FC236}">
                <a16:creationId xmlns:a16="http://schemas.microsoft.com/office/drawing/2014/main" id="{CAF89371-76FF-4B71-AD23-A441CFDE263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628F56A-D0C1-4675-83E2-6A7FB13AAC37}" type="slidenum">
              <a:rPr lang="en-US" altLang="en-US" sz="1200"/>
              <a:pPr/>
              <a:t>20</a:t>
            </a:fld>
            <a:endParaRPr lang="en-US" altLang="en-US" sz="1200"/>
          </a:p>
        </p:txBody>
      </p:sp>
    </p:spTree>
    <p:extLst>
      <p:ext uri="{BB962C8B-B14F-4D97-AF65-F5344CB8AC3E}">
        <p14:creationId xmlns:p14="http://schemas.microsoft.com/office/powerpoint/2010/main" val="40584054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684F6E2C-4085-4C90-8D62-B0D7D40EB5CD}"/>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5BE454C4-BBE1-4B7E-B246-63E092190EA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7892" name="Slide Number Placeholder 3">
            <a:extLst>
              <a:ext uri="{FF2B5EF4-FFF2-40B4-BE49-F238E27FC236}">
                <a16:creationId xmlns:a16="http://schemas.microsoft.com/office/drawing/2014/main" id="{CAF89371-76FF-4B71-AD23-A441CFDE263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628F56A-D0C1-4675-83E2-6A7FB13AAC37}" type="slidenum">
              <a:rPr lang="en-US" altLang="en-US" sz="1200"/>
              <a:pPr/>
              <a:t>21</a:t>
            </a:fld>
            <a:endParaRPr lang="en-US" altLang="en-US" sz="1200"/>
          </a:p>
        </p:txBody>
      </p:sp>
    </p:spTree>
    <p:extLst>
      <p:ext uri="{BB962C8B-B14F-4D97-AF65-F5344CB8AC3E}">
        <p14:creationId xmlns:p14="http://schemas.microsoft.com/office/powerpoint/2010/main" val="26145104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684F6E2C-4085-4C90-8D62-B0D7D40EB5CD}"/>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5BE454C4-BBE1-4B7E-B246-63E092190EA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7892" name="Slide Number Placeholder 3">
            <a:extLst>
              <a:ext uri="{FF2B5EF4-FFF2-40B4-BE49-F238E27FC236}">
                <a16:creationId xmlns:a16="http://schemas.microsoft.com/office/drawing/2014/main" id="{CAF89371-76FF-4B71-AD23-A441CFDE263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628F56A-D0C1-4675-83E2-6A7FB13AAC37}" type="slidenum">
              <a:rPr lang="en-US" altLang="en-US" sz="1200"/>
              <a:pPr/>
              <a:t>22</a:t>
            </a:fld>
            <a:endParaRPr lang="en-US" altLang="en-US" sz="1200"/>
          </a:p>
        </p:txBody>
      </p:sp>
    </p:spTree>
    <p:extLst>
      <p:ext uri="{BB962C8B-B14F-4D97-AF65-F5344CB8AC3E}">
        <p14:creationId xmlns:p14="http://schemas.microsoft.com/office/powerpoint/2010/main" val="18685129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684F6E2C-4085-4C90-8D62-B0D7D40EB5CD}"/>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5BE454C4-BBE1-4B7E-B246-63E092190EA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7892" name="Slide Number Placeholder 3">
            <a:extLst>
              <a:ext uri="{FF2B5EF4-FFF2-40B4-BE49-F238E27FC236}">
                <a16:creationId xmlns:a16="http://schemas.microsoft.com/office/drawing/2014/main" id="{CAF89371-76FF-4B71-AD23-A441CFDE263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628F56A-D0C1-4675-83E2-6A7FB13AAC37}" type="slidenum">
              <a:rPr lang="en-US" altLang="en-US" sz="1200"/>
              <a:pPr/>
              <a:t>23</a:t>
            </a:fld>
            <a:endParaRPr lang="en-US" altLang="en-US" sz="1200"/>
          </a:p>
        </p:txBody>
      </p:sp>
    </p:spTree>
    <p:extLst>
      <p:ext uri="{BB962C8B-B14F-4D97-AF65-F5344CB8AC3E}">
        <p14:creationId xmlns:p14="http://schemas.microsoft.com/office/powerpoint/2010/main" val="21048192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684F6E2C-4085-4C90-8D62-B0D7D40EB5CD}"/>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5BE454C4-BBE1-4B7E-B246-63E092190EA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7892" name="Slide Number Placeholder 3">
            <a:extLst>
              <a:ext uri="{FF2B5EF4-FFF2-40B4-BE49-F238E27FC236}">
                <a16:creationId xmlns:a16="http://schemas.microsoft.com/office/drawing/2014/main" id="{CAF89371-76FF-4B71-AD23-A441CFDE263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628F56A-D0C1-4675-83E2-6A7FB13AAC37}" type="slidenum">
              <a:rPr lang="en-US" altLang="en-US" sz="1200"/>
              <a:pPr/>
              <a:t>24</a:t>
            </a:fld>
            <a:endParaRPr lang="en-US" altLang="en-US" sz="1200"/>
          </a:p>
        </p:txBody>
      </p:sp>
    </p:spTree>
    <p:extLst>
      <p:ext uri="{BB962C8B-B14F-4D97-AF65-F5344CB8AC3E}">
        <p14:creationId xmlns:p14="http://schemas.microsoft.com/office/powerpoint/2010/main" val="32945470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684F6E2C-4085-4C90-8D62-B0D7D40EB5CD}"/>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5BE454C4-BBE1-4B7E-B246-63E092190EA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7892" name="Slide Number Placeholder 3">
            <a:extLst>
              <a:ext uri="{FF2B5EF4-FFF2-40B4-BE49-F238E27FC236}">
                <a16:creationId xmlns:a16="http://schemas.microsoft.com/office/drawing/2014/main" id="{CAF89371-76FF-4B71-AD23-A441CFDE263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628F56A-D0C1-4675-83E2-6A7FB13AAC37}" type="slidenum">
              <a:rPr lang="en-US" altLang="en-US" sz="1200"/>
              <a:pPr/>
              <a:t>25</a:t>
            </a:fld>
            <a:endParaRPr lang="en-US" altLang="en-US" sz="1200"/>
          </a:p>
        </p:txBody>
      </p:sp>
    </p:spTree>
    <p:extLst>
      <p:ext uri="{BB962C8B-B14F-4D97-AF65-F5344CB8AC3E}">
        <p14:creationId xmlns:p14="http://schemas.microsoft.com/office/powerpoint/2010/main" val="4440047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684F6E2C-4085-4C90-8D62-B0D7D40EB5CD}"/>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5BE454C4-BBE1-4B7E-B246-63E092190EA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7892" name="Slide Number Placeholder 3">
            <a:extLst>
              <a:ext uri="{FF2B5EF4-FFF2-40B4-BE49-F238E27FC236}">
                <a16:creationId xmlns:a16="http://schemas.microsoft.com/office/drawing/2014/main" id="{CAF89371-76FF-4B71-AD23-A441CFDE263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628F56A-D0C1-4675-83E2-6A7FB13AAC37}" type="slidenum">
              <a:rPr lang="en-US" altLang="en-US" sz="1200"/>
              <a:pPr/>
              <a:t>26</a:t>
            </a:fld>
            <a:endParaRPr lang="en-US" altLang="en-US" sz="1200"/>
          </a:p>
        </p:txBody>
      </p:sp>
    </p:spTree>
    <p:extLst>
      <p:ext uri="{BB962C8B-B14F-4D97-AF65-F5344CB8AC3E}">
        <p14:creationId xmlns:p14="http://schemas.microsoft.com/office/powerpoint/2010/main" val="35436481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ED250759-F7A3-4956-A4C6-4827AB0439D5}"/>
              </a:ext>
            </a:extLst>
          </p:cNvPr>
          <p:cNvSpPr txBox="1"/>
          <p:nvPr/>
        </p:nvSpPr>
        <p:spPr>
          <a:xfrm>
            <a:off x="3884398" y="8685364"/>
            <a:ext cx="2971800" cy="458635"/>
          </a:xfrm>
          <a:prstGeom prst="rect">
            <a:avLst/>
          </a:prstGeom>
          <a:noFill/>
          <a:ln cap="flat">
            <a:noFill/>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D9D41DE6-25CE-456A-BE24-FACE3E35CE99}" type="slidenum">
              <a:t>27</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
        <p:nvSpPr>
          <p:cNvPr id="3" name="Slide Image Placeholder 1">
            <a:extLst>
              <a:ext uri="{FF2B5EF4-FFF2-40B4-BE49-F238E27FC236}">
                <a16:creationId xmlns:a16="http://schemas.microsoft.com/office/drawing/2014/main" id="{411A1079-733D-48B8-9014-BF97205286F8}"/>
              </a:ext>
            </a:extLst>
          </p:cNvPr>
          <p:cNvSpPr>
            <a:spLocks noGrp="1" noRot="1" noChangeAspect="1"/>
          </p:cNvSpPr>
          <p:nvPr>
            <p:ph type="sldImg"/>
          </p:nvPr>
        </p:nvSpPr>
        <p:spPr>
          <a:xfrm>
            <a:off x="1371600" y="1143000"/>
            <a:ext cx="4114800" cy="3086100"/>
          </a:xfrm>
          <a:solidFill>
            <a:srgbClr val="4472C4"/>
          </a:solidFill>
          <a:ln w="12701" cap="flat">
            <a:solidFill>
              <a:srgbClr val="2F528F"/>
            </a:solidFill>
            <a:prstDash val="solid"/>
            <a:miter/>
          </a:ln>
        </p:spPr>
      </p:sp>
      <p:sp>
        <p:nvSpPr>
          <p:cNvPr id="4" name="Notes Placeholder 2">
            <a:extLst>
              <a:ext uri="{FF2B5EF4-FFF2-40B4-BE49-F238E27FC236}">
                <a16:creationId xmlns:a16="http://schemas.microsoft.com/office/drawing/2014/main" id="{F60F0F39-C46B-401E-A32C-5C1A4A215E2A}"/>
              </a:ext>
            </a:extLst>
          </p:cNvPr>
          <p:cNvSpPr txBox="1">
            <a:spLocks noGrp="1"/>
          </p:cNvSpPr>
          <p:nvPr>
            <p:ph type="body" sz="quarter" idx="1"/>
          </p:nvPr>
        </p:nvSpPr>
        <p:spPr/>
        <p:txBody>
          <a:bodyPr/>
          <a:lstStyle/>
          <a:p>
            <a:endParaRPr lang="en-US"/>
          </a:p>
        </p:txBody>
      </p:sp>
      <p:sp>
        <p:nvSpPr>
          <p:cNvPr id="5" name="Slide Number Placeholder 3">
            <a:extLst>
              <a:ext uri="{FF2B5EF4-FFF2-40B4-BE49-F238E27FC236}">
                <a16:creationId xmlns:a16="http://schemas.microsoft.com/office/drawing/2014/main" id="{1E4802F6-B8F0-4A1F-AD4E-E95D18019162}"/>
              </a:ext>
            </a:extLst>
          </p:cNvPr>
          <p:cNvSpPr/>
          <p:nvPr/>
        </p:nvSpPr>
        <p:spPr>
          <a:xfrm>
            <a:off x="3884755" y="8685364"/>
            <a:ext cx="2971800" cy="45863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091B58E4-4FDA-4D1F-80C2-A074A8C3851C}" type="slidenum">
              <a:t>27</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Tree>
    <p:extLst>
      <p:ext uri="{BB962C8B-B14F-4D97-AF65-F5344CB8AC3E}">
        <p14:creationId xmlns:p14="http://schemas.microsoft.com/office/powerpoint/2010/main" val="3335641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ED250759-F7A3-4956-A4C6-4827AB0439D5}"/>
              </a:ext>
            </a:extLst>
          </p:cNvPr>
          <p:cNvSpPr txBox="1"/>
          <p:nvPr/>
        </p:nvSpPr>
        <p:spPr>
          <a:xfrm>
            <a:off x="3884398" y="8685364"/>
            <a:ext cx="2971800" cy="458635"/>
          </a:xfrm>
          <a:prstGeom prst="rect">
            <a:avLst/>
          </a:prstGeom>
          <a:noFill/>
          <a:ln cap="flat">
            <a:noFill/>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D9D41DE6-25CE-456A-BE24-FACE3E35CE99}" type="slidenum">
              <a:t>28</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
        <p:nvSpPr>
          <p:cNvPr id="3" name="Slide Image Placeholder 1">
            <a:extLst>
              <a:ext uri="{FF2B5EF4-FFF2-40B4-BE49-F238E27FC236}">
                <a16:creationId xmlns:a16="http://schemas.microsoft.com/office/drawing/2014/main" id="{411A1079-733D-48B8-9014-BF97205286F8}"/>
              </a:ext>
            </a:extLst>
          </p:cNvPr>
          <p:cNvSpPr>
            <a:spLocks noGrp="1" noRot="1" noChangeAspect="1"/>
          </p:cNvSpPr>
          <p:nvPr>
            <p:ph type="sldImg"/>
          </p:nvPr>
        </p:nvSpPr>
        <p:spPr>
          <a:xfrm>
            <a:off x="1371600" y="1143000"/>
            <a:ext cx="4114800" cy="3086100"/>
          </a:xfrm>
          <a:solidFill>
            <a:srgbClr val="4472C4"/>
          </a:solidFill>
          <a:ln w="12701" cap="flat">
            <a:solidFill>
              <a:srgbClr val="2F528F"/>
            </a:solidFill>
            <a:prstDash val="solid"/>
            <a:miter/>
          </a:ln>
        </p:spPr>
      </p:sp>
      <p:sp>
        <p:nvSpPr>
          <p:cNvPr id="4" name="Notes Placeholder 2">
            <a:extLst>
              <a:ext uri="{FF2B5EF4-FFF2-40B4-BE49-F238E27FC236}">
                <a16:creationId xmlns:a16="http://schemas.microsoft.com/office/drawing/2014/main" id="{F60F0F39-C46B-401E-A32C-5C1A4A215E2A}"/>
              </a:ext>
            </a:extLst>
          </p:cNvPr>
          <p:cNvSpPr txBox="1">
            <a:spLocks noGrp="1"/>
          </p:cNvSpPr>
          <p:nvPr>
            <p:ph type="body" sz="quarter" idx="1"/>
          </p:nvPr>
        </p:nvSpPr>
        <p:spPr/>
        <p:txBody>
          <a:bodyPr/>
          <a:lstStyle/>
          <a:p>
            <a:endParaRPr lang="en-US"/>
          </a:p>
        </p:txBody>
      </p:sp>
      <p:sp>
        <p:nvSpPr>
          <p:cNvPr id="5" name="Slide Number Placeholder 3">
            <a:extLst>
              <a:ext uri="{FF2B5EF4-FFF2-40B4-BE49-F238E27FC236}">
                <a16:creationId xmlns:a16="http://schemas.microsoft.com/office/drawing/2014/main" id="{1E4802F6-B8F0-4A1F-AD4E-E95D18019162}"/>
              </a:ext>
            </a:extLst>
          </p:cNvPr>
          <p:cNvSpPr/>
          <p:nvPr/>
        </p:nvSpPr>
        <p:spPr>
          <a:xfrm>
            <a:off x="3884755" y="8685364"/>
            <a:ext cx="2971800" cy="45863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091B58E4-4FDA-4D1F-80C2-A074A8C3851C}" type="slidenum">
              <a:t>28</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Tree>
    <p:extLst>
      <p:ext uri="{BB962C8B-B14F-4D97-AF65-F5344CB8AC3E}">
        <p14:creationId xmlns:p14="http://schemas.microsoft.com/office/powerpoint/2010/main" val="3414311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ED250759-F7A3-4956-A4C6-4827AB0439D5}"/>
              </a:ext>
            </a:extLst>
          </p:cNvPr>
          <p:cNvSpPr txBox="1"/>
          <p:nvPr/>
        </p:nvSpPr>
        <p:spPr>
          <a:xfrm>
            <a:off x="3884398" y="8685364"/>
            <a:ext cx="2971800" cy="458635"/>
          </a:xfrm>
          <a:prstGeom prst="rect">
            <a:avLst/>
          </a:prstGeom>
          <a:noFill/>
          <a:ln cap="flat">
            <a:noFill/>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D9D41DE6-25CE-456A-BE24-FACE3E35CE99}" type="slidenum">
              <a:t>29</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
        <p:nvSpPr>
          <p:cNvPr id="3" name="Slide Image Placeholder 1">
            <a:extLst>
              <a:ext uri="{FF2B5EF4-FFF2-40B4-BE49-F238E27FC236}">
                <a16:creationId xmlns:a16="http://schemas.microsoft.com/office/drawing/2014/main" id="{411A1079-733D-48B8-9014-BF97205286F8}"/>
              </a:ext>
            </a:extLst>
          </p:cNvPr>
          <p:cNvSpPr>
            <a:spLocks noGrp="1" noRot="1" noChangeAspect="1"/>
          </p:cNvSpPr>
          <p:nvPr>
            <p:ph type="sldImg"/>
          </p:nvPr>
        </p:nvSpPr>
        <p:spPr>
          <a:xfrm>
            <a:off x="1371600" y="1143000"/>
            <a:ext cx="4114800" cy="3086100"/>
          </a:xfrm>
          <a:solidFill>
            <a:srgbClr val="4472C4"/>
          </a:solidFill>
          <a:ln w="12701" cap="flat">
            <a:solidFill>
              <a:srgbClr val="2F528F"/>
            </a:solidFill>
            <a:prstDash val="solid"/>
            <a:miter/>
          </a:ln>
        </p:spPr>
      </p:sp>
      <p:sp>
        <p:nvSpPr>
          <p:cNvPr id="4" name="Notes Placeholder 2">
            <a:extLst>
              <a:ext uri="{FF2B5EF4-FFF2-40B4-BE49-F238E27FC236}">
                <a16:creationId xmlns:a16="http://schemas.microsoft.com/office/drawing/2014/main" id="{F60F0F39-C46B-401E-A32C-5C1A4A215E2A}"/>
              </a:ext>
            </a:extLst>
          </p:cNvPr>
          <p:cNvSpPr txBox="1">
            <a:spLocks noGrp="1"/>
          </p:cNvSpPr>
          <p:nvPr>
            <p:ph type="body" sz="quarter" idx="1"/>
          </p:nvPr>
        </p:nvSpPr>
        <p:spPr/>
        <p:txBody>
          <a:bodyPr/>
          <a:lstStyle/>
          <a:p>
            <a:endParaRPr lang="en-US"/>
          </a:p>
        </p:txBody>
      </p:sp>
      <p:sp>
        <p:nvSpPr>
          <p:cNvPr id="5" name="Slide Number Placeholder 3">
            <a:extLst>
              <a:ext uri="{FF2B5EF4-FFF2-40B4-BE49-F238E27FC236}">
                <a16:creationId xmlns:a16="http://schemas.microsoft.com/office/drawing/2014/main" id="{1E4802F6-B8F0-4A1F-AD4E-E95D18019162}"/>
              </a:ext>
            </a:extLst>
          </p:cNvPr>
          <p:cNvSpPr/>
          <p:nvPr/>
        </p:nvSpPr>
        <p:spPr>
          <a:xfrm>
            <a:off x="3884755" y="8685364"/>
            <a:ext cx="2971800" cy="45863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091B58E4-4FDA-4D1F-80C2-A074A8C3851C}" type="slidenum">
              <a:t>29</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Tree>
    <p:extLst>
      <p:ext uri="{BB962C8B-B14F-4D97-AF65-F5344CB8AC3E}">
        <p14:creationId xmlns:p14="http://schemas.microsoft.com/office/powerpoint/2010/main" val="36034980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ED250759-F7A3-4956-A4C6-4827AB0439D5}"/>
              </a:ext>
            </a:extLst>
          </p:cNvPr>
          <p:cNvSpPr txBox="1"/>
          <p:nvPr/>
        </p:nvSpPr>
        <p:spPr>
          <a:xfrm>
            <a:off x="3884398" y="8685364"/>
            <a:ext cx="2971800" cy="458635"/>
          </a:xfrm>
          <a:prstGeom prst="rect">
            <a:avLst/>
          </a:prstGeom>
          <a:noFill/>
          <a:ln cap="flat">
            <a:noFill/>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D9D41DE6-25CE-456A-BE24-FACE3E35CE99}" type="slidenum">
              <a:t>30</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
        <p:nvSpPr>
          <p:cNvPr id="3" name="Slide Image Placeholder 1">
            <a:extLst>
              <a:ext uri="{FF2B5EF4-FFF2-40B4-BE49-F238E27FC236}">
                <a16:creationId xmlns:a16="http://schemas.microsoft.com/office/drawing/2014/main" id="{411A1079-733D-48B8-9014-BF97205286F8}"/>
              </a:ext>
            </a:extLst>
          </p:cNvPr>
          <p:cNvSpPr>
            <a:spLocks noGrp="1" noRot="1" noChangeAspect="1"/>
          </p:cNvSpPr>
          <p:nvPr>
            <p:ph type="sldImg"/>
          </p:nvPr>
        </p:nvSpPr>
        <p:spPr>
          <a:xfrm>
            <a:off x="1371600" y="1143000"/>
            <a:ext cx="4114800" cy="3086100"/>
          </a:xfrm>
          <a:solidFill>
            <a:srgbClr val="4472C4"/>
          </a:solidFill>
          <a:ln w="12701" cap="flat">
            <a:solidFill>
              <a:srgbClr val="2F528F"/>
            </a:solidFill>
            <a:prstDash val="solid"/>
            <a:miter/>
          </a:ln>
        </p:spPr>
      </p:sp>
      <p:sp>
        <p:nvSpPr>
          <p:cNvPr id="4" name="Notes Placeholder 2">
            <a:extLst>
              <a:ext uri="{FF2B5EF4-FFF2-40B4-BE49-F238E27FC236}">
                <a16:creationId xmlns:a16="http://schemas.microsoft.com/office/drawing/2014/main" id="{F60F0F39-C46B-401E-A32C-5C1A4A215E2A}"/>
              </a:ext>
            </a:extLst>
          </p:cNvPr>
          <p:cNvSpPr txBox="1">
            <a:spLocks noGrp="1"/>
          </p:cNvSpPr>
          <p:nvPr>
            <p:ph type="body" sz="quarter" idx="1"/>
          </p:nvPr>
        </p:nvSpPr>
        <p:spPr/>
        <p:txBody>
          <a:bodyPr/>
          <a:lstStyle/>
          <a:p>
            <a:endParaRPr lang="en-US"/>
          </a:p>
        </p:txBody>
      </p:sp>
      <p:sp>
        <p:nvSpPr>
          <p:cNvPr id="5" name="Slide Number Placeholder 3">
            <a:extLst>
              <a:ext uri="{FF2B5EF4-FFF2-40B4-BE49-F238E27FC236}">
                <a16:creationId xmlns:a16="http://schemas.microsoft.com/office/drawing/2014/main" id="{1E4802F6-B8F0-4A1F-AD4E-E95D18019162}"/>
              </a:ext>
            </a:extLst>
          </p:cNvPr>
          <p:cNvSpPr/>
          <p:nvPr/>
        </p:nvSpPr>
        <p:spPr>
          <a:xfrm>
            <a:off x="3884755" y="8685364"/>
            <a:ext cx="2971800" cy="45863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091B58E4-4FDA-4D1F-80C2-A074A8C3851C}" type="slidenum">
              <a:t>30</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Tree>
    <p:extLst>
      <p:ext uri="{BB962C8B-B14F-4D97-AF65-F5344CB8AC3E}">
        <p14:creationId xmlns:p14="http://schemas.microsoft.com/office/powerpoint/2010/main" val="30507641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ED250759-F7A3-4956-A4C6-4827AB0439D5}"/>
              </a:ext>
            </a:extLst>
          </p:cNvPr>
          <p:cNvSpPr txBox="1"/>
          <p:nvPr/>
        </p:nvSpPr>
        <p:spPr>
          <a:xfrm>
            <a:off x="3884398" y="8685364"/>
            <a:ext cx="2971800" cy="458635"/>
          </a:xfrm>
          <a:prstGeom prst="rect">
            <a:avLst/>
          </a:prstGeom>
          <a:noFill/>
          <a:ln cap="flat">
            <a:noFill/>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D9D41DE6-25CE-456A-BE24-FACE3E35CE99}" type="slidenum">
              <a:t>31</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
        <p:nvSpPr>
          <p:cNvPr id="3" name="Slide Image Placeholder 1">
            <a:extLst>
              <a:ext uri="{FF2B5EF4-FFF2-40B4-BE49-F238E27FC236}">
                <a16:creationId xmlns:a16="http://schemas.microsoft.com/office/drawing/2014/main" id="{411A1079-733D-48B8-9014-BF97205286F8}"/>
              </a:ext>
            </a:extLst>
          </p:cNvPr>
          <p:cNvSpPr>
            <a:spLocks noGrp="1" noRot="1" noChangeAspect="1"/>
          </p:cNvSpPr>
          <p:nvPr>
            <p:ph type="sldImg"/>
          </p:nvPr>
        </p:nvSpPr>
        <p:spPr>
          <a:xfrm>
            <a:off x="1371600" y="1143000"/>
            <a:ext cx="4114800" cy="3086100"/>
          </a:xfrm>
          <a:solidFill>
            <a:srgbClr val="4472C4"/>
          </a:solidFill>
          <a:ln w="12701" cap="flat">
            <a:solidFill>
              <a:srgbClr val="2F528F"/>
            </a:solidFill>
            <a:prstDash val="solid"/>
            <a:miter/>
          </a:ln>
        </p:spPr>
      </p:sp>
      <p:sp>
        <p:nvSpPr>
          <p:cNvPr id="4" name="Notes Placeholder 2">
            <a:extLst>
              <a:ext uri="{FF2B5EF4-FFF2-40B4-BE49-F238E27FC236}">
                <a16:creationId xmlns:a16="http://schemas.microsoft.com/office/drawing/2014/main" id="{F60F0F39-C46B-401E-A32C-5C1A4A215E2A}"/>
              </a:ext>
            </a:extLst>
          </p:cNvPr>
          <p:cNvSpPr txBox="1">
            <a:spLocks noGrp="1"/>
          </p:cNvSpPr>
          <p:nvPr>
            <p:ph type="body" sz="quarter" idx="1"/>
          </p:nvPr>
        </p:nvSpPr>
        <p:spPr/>
        <p:txBody>
          <a:bodyPr/>
          <a:lstStyle/>
          <a:p>
            <a:endParaRPr lang="en-US"/>
          </a:p>
        </p:txBody>
      </p:sp>
      <p:sp>
        <p:nvSpPr>
          <p:cNvPr id="5" name="Slide Number Placeholder 3">
            <a:extLst>
              <a:ext uri="{FF2B5EF4-FFF2-40B4-BE49-F238E27FC236}">
                <a16:creationId xmlns:a16="http://schemas.microsoft.com/office/drawing/2014/main" id="{1E4802F6-B8F0-4A1F-AD4E-E95D18019162}"/>
              </a:ext>
            </a:extLst>
          </p:cNvPr>
          <p:cNvSpPr/>
          <p:nvPr/>
        </p:nvSpPr>
        <p:spPr>
          <a:xfrm>
            <a:off x="3884755" y="8685364"/>
            <a:ext cx="2971800" cy="45863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091B58E4-4FDA-4D1F-80C2-A074A8C3851C}" type="slidenum">
              <a:t>31</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Tree>
    <p:extLst>
      <p:ext uri="{BB962C8B-B14F-4D97-AF65-F5344CB8AC3E}">
        <p14:creationId xmlns:p14="http://schemas.microsoft.com/office/powerpoint/2010/main" val="16232190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ED250759-F7A3-4956-A4C6-4827AB0439D5}"/>
              </a:ext>
            </a:extLst>
          </p:cNvPr>
          <p:cNvSpPr txBox="1"/>
          <p:nvPr/>
        </p:nvSpPr>
        <p:spPr>
          <a:xfrm>
            <a:off x="3884398" y="8685364"/>
            <a:ext cx="2971800" cy="458635"/>
          </a:xfrm>
          <a:prstGeom prst="rect">
            <a:avLst/>
          </a:prstGeom>
          <a:noFill/>
          <a:ln cap="flat">
            <a:noFill/>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D9D41DE6-25CE-456A-BE24-FACE3E35CE99}" type="slidenum">
              <a:t>32</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
        <p:nvSpPr>
          <p:cNvPr id="3" name="Slide Image Placeholder 1">
            <a:extLst>
              <a:ext uri="{FF2B5EF4-FFF2-40B4-BE49-F238E27FC236}">
                <a16:creationId xmlns:a16="http://schemas.microsoft.com/office/drawing/2014/main" id="{411A1079-733D-48B8-9014-BF97205286F8}"/>
              </a:ext>
            </a:extLst>
          </p:cNvPr>
          <p:cNvSpPr>
            <a:spLocks noGrp="1" noRot="1" noChangeAspect="1"/>
          </p:cNvSpPr>
          <p:nvPr>
            <p:ph type="sldImg"/>
          </p:nvPr>
        </p:nvSpPr>
        <p:spPr>
          <a:xfrm>
            <a:off x="1371600" y="1143000"/>
            <a:ext cx="4114800" cy="3086100"/>
          </a:xfrm>
          <a:solidFill>
            <a:srgbClr val="4472C4"/>
          </a:solidFill>
          <a:ln w="12701" cap="flat">
            <a:solidFill>
              <a:srgbClr val="2F528F"/>
            </a:solidFill>
            <a:prstDash val="solid"/>
            <a:miter/>
          </a:ln>
        </p:spPr>
      </p:sp>
      <p:sp>
        <p:nvSpPr>
          <p:cNvPr id="4" name="Notes Placeholder 2">
            <a:extLst>
              <a:ext uri="{FF2B5EF4-FFF2-40B4-BE49-F238E27FC236}">
                <a16:creationId xmlns:a16="http://schemas.microsoft.com/office/drawing/2014/main" id="{F60F0F39-C46B-401E-A32C-5C1A4A215E2A}"/>
              </a:ext>
            </a:extLst>
          </p:cNvPr>
          <p:cNvSpPr txBox="1">
            <a:spLocks noGrp="1"/>
          </p:cNvSpPr>
          <p:nvPr>
            <p:ph type="body" sz="quarter" idx="1"/>
          </p:nvPr>
        </p:nvSpPr>
        <p:spPr/>
        <p:txBody>
          <a:bodyPr/>
          <a:lstStyle/>
          <a:p>
            <a:endParaRPr lang="en-US"/>
          </a:p>
        </p:txBody>
      </p:sp>
      <p:sp>
        <p:nvSpPr>
          <p:cNvPr id="5" name="Slide Number Placeholder 3">
            <a:extLst>
              <a:ext uri="{FF2B5EF4-FFF2-40B4-BE49-F238E27FC236}">
                <a16:creationId xmlns:a16="http://schemas.microsoft.com/office/drawing/2014/main" id="{1E4802F6-B8F0-4A1F-AD4E-E95D18019162}"/>
              </a:ext>
            </a:extLst>
          </p:cNvPr>
          <p:cNvSpPr/>
          <p:nvPr/>
        </p:nvSpPr>
        <p:spPr>
          <a:xfrm>
            <a:off x="3884755" y="8685364"/>
            <a:ext cx="2971800" cy="45863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091B58E4-4FDA-4D1F-80C2-A074A8C3851C}" type="slidenum">
              <a:t>32</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Tree>
    <p:extLst>
      <p:ext uri="{BB962C8B-B14F-4D97-AF65-F5344CB8AC3E}">
        <p14:creationId xmlns:p14="http://schemas.microsoft.com/office/powerpoint/2010/main" val="39452202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ED250759-F7A3-4956-A4C6-4827AB0439D5}"/>
              </a:ext>
            </a:extLst>
          </p:cNvPr>
          <p:cNvSpPr txBox="1"/>
          <p:nvPr/>
        </p:nvSpPr>
        <p:spPr>
          <a:xfrm>
            <a:off x="3884398" y="8685364"/>
            <a:ext cx="2971800" cy="458635"/>
          </a:xfrm>
          <a:prstGeom prst="rect">
            <a:avLst/>
          </a:prstGeom>
          <a:noFill/>
          <a:ln cap="flat">
            <a:noFill/>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D9D41DE6-25CE-456A-BE24-FACE3E35CE99}" type="slidenum">
              <a:t>33</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
        <p:nvSpPr>
          <p:cNvPr id="3" name="Slide Image Placeholder 1">
            <a:extLst>
              <a:ext uri="{FF2B5EF4-FFF2-40B4-BE49-F238E27FC236}">
                <a16:creationId xmlns:a16="http://schemas.microsoft.com/office/drawing/2014/main" id="{411A1079-733D-48B8-9014-BF97205286F8}"/>
              </a:ext>
            </a:extLst>
          </p:cNvPr>
          <p:cNvSpPr>
            <a:spLocks noGrp="1" noRot="1" noChangeAspect="1"/>
          </p:cNvSpPr>
          <p:nvPr>
            <p:ph type="sldImg"/>
          </p:nvPr>
        </p:nvSpPr>
        <p:spPr>
          <a:xfrm>
            <a:off x="1371600" y="1143000"/>
            <a:ext cx="4114800" cy="3086100"/>
          </a:xfrm>
          <a:solidFill>
            <a:srgbClr val="4472C4"/>
          </a:solidFill>
          <a:ln w="12701" cap="flat">
            <a:solidFill>
              <a:srgbClr val="2F528F"/>
            </a:solidFill>
            <a:prstDash val="solid"/>
            <a:miter/>
          </a:ln>
        </p:spPr>
      </p:sp>
      <p:sp>
        <p:nvSpPr>
          <p:cNvPr id="4" name="Notes Placeholder 2">
            <a:extLst>
              <a:ext uri="{FF2B5EF4-FFF2-40B4-BE49-F238E27FC236}">
                <a16:creationId xmlns:a16="http://schemas.microsoft.com/office/drawing/2014/main" id="{F60F0F39-C46B-401E-A32C-5C1A4A215E2A}"/>
              </a:ext>
            </a:extLst>
          </p:cNvPr>
          <p:cNvSpPr txBox="1">
            <a:spLocks noGrp="1"/>
          </p:cNvSpPr>
          <p:nvPr>
            <p:ph type="body" sz="quarter" idx="1"/>
          </p:nvPr>
        </p:nvSpPr>
        <p:spPr/>
        <p:txBody>
          <a:bodyPr/>
          <a:lstStyle/>
          <a:p>
            <a:endParaRPr lang="en-US"/>
          </a:p>
        </p:txBody>
      </p:sp>
      <p:sp>
        <p:nvSpPr>
          <p:cNvPr id="5" name="Slide Number Placeholder 3">
            <a:extLst>
              <a:ext uri="{FF2B5EF4-FFF2-40B4-BE49-F238E27FC236}">
                <a16:creationId xmlns:a16="http://schemas.microsoft.com/office/drawing/2014/main" id="{1E4802F6-B8F0-4A1F-AD4E-E95D18019162}"/>
              </a:ext>
            </a:extLst>
          </p:cNvPr>
          <p:cNvSpPr/>
          <p:nvPr/>
        </p:nvSpPr>
        <p:spPr>
          <a:xfrm>
            <a:off x="3884755" y="8685364"/>
            <a:ext cx="2971800" cy="45863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091B58E4-4FDA-4D1F-80C2-A074A8C3851C}" type="slidenum">
              <a:t>33</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Tree>
    <p:extLst>
      <p:ext uri="{BB962C8B-B14F-4D97-AF65-F5344CB8AC3E}">
        <p14:creationId xmlns:p14="http://schemas.microsoft.com/office/powerpoint/2010/main" val="3848120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ED250759-F7A3-4956-A4C6-4827AB0439D5}"/>
              </a:ext>
            </a:extLst>
          </p:cNvPr>
          <p:cNvSpPr txBox="1"/>
          <p:nvPr/>
        </p:nvSpPr>
        <p:spPr>
          <a:xfrm>
            <a:off x="3884398" y="8685364"/>
            <a:ext cx="2971800" cy="458635"/>
          </a:xfrm>
          <a:prstGeom prst="rect">
            <a:avLst/>
          </a:prstGeom>
          <a:noFill/>
          <a:ln cap="flat">
            <a:noFill/>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D9D41DE6-25CE-456A-BE24-FACE3E35CE99}" type="slidenum">
              <a:t>34</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
        <p:nvSpPr>
          <p:cNvPr id="3" name="Slide Image Placeholder 1">
            <a:extLst>
              <a:ext uri="{FF2B5EF4-FFF2-40B4-BE49-F238E27FC236}">
                <a16:creationId xmlns:a16="http://schemas.microsoft.com/office/drawing/2014/main" id="{411A1079-733D-48B8-9014-BF97205286F8}"/>
              </a:ext>
            </a:extLst>
          </p:cNvPr>
          <p:cNvSpPr>
            <a:spLocks noGrp="1" noRot="1" noChangeAspect="1"/>
          </p:cNvSpPr>
          <p:nvPr>
            <p:ph type="sldImg"/>
          </p:nvPr>
        </p:nvSpPr>
        <p:spPr>
          <a:xfrm>
            <a:off x="1371600" y="1143000"/>
            <a:ext cx="4114800" cy="3086100"/>
          </a:xfrm>
          <a:solidFill>
            <a:srgbClr val="4472C4"/>
          </a:solidFill>
          <a:ln w="12701" cap="flat">
            <a:solidFill>
              <a:srgbClr val="2F528F"/>
            </a:solidFill>
            <a:prstDash val="solid"/>
            <a:miter/>
          </a:ln>
        </p:spPr>
      </p:sp>
      <p:sp>
        <p:nvSpPr>
          <p:cNvPr id="4" name="Notes Placeholder 2">
            <a:extLst>
              <a:ext uri="{FF2B5EF4-FFF2-40B4-BE49-F238E27FC236}">
                <a16:creationId xmlns:a16="http://schemas.microsoft.com/office/drawing/2014/main" id="{F60F0F39-C46B-401E-A32C-5C1A4A215E2A}"/>
              </a:ext>
            </a:extLst>
          </p:cNvPr>
          <p:cNvSpPr txBox="1">
            <a:spLocks noGrp="1"/>
          </p:cNvSpPr>
          <p:nvPr>
            <p:ph type="body" sz="quarter" idx="1"/>
          </p:nvPr>
        </p:nvSpPr>
        <p:spPr/>
        <p:txBody>
          <a:bodyPr/>
          <a:lstStyle/>
          <a:p>
            <a:endParaRPr lang="en-US"/>
          </a:p>
        </p:txBody>
      </p:sp>
      <p:sp>
        <p:nvSpPr>
          <p:cNvPr id="5" name="Slide Number Placeholder 3">
            <a:extLst>
              <a:ext uri="{FF2B5EF4-FFF2-40B4-BE49-F238E27FC236}">
                <a16:creationId xmlns:a16="http://schemas.microsoft.com/office/drawing/2014/main" id="{1E4802F6-B8F0-4A1F-AD4E-E95D18019162}"/>
              </a:ext>
            </a:extLst>
          </p:cNvPr>
          <p:cNvSpPr/>
          <p:nvPr/>
        </p:nvSpPr>
        <p:spPr>
          <a:xfrm>
            <a:off x="3884755" y="8685364"/>
            <a:ext cx="2971800" cy="45863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091B58E4-4FDA-4D1F-80C2-A074A8C3851C}" type="slidenum">
              <a:t>34</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Tree>
    <p:extLst>
      <p:ext uri="{BB962C8B-B14F-4D97-AF65-F5344CB8AC3E}">
        <p14:creationId xmlns:p14="http://schemas.microsoft.com/office/powerpoint/2010/main" val="2186573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ED250759-F7A3-4956-A4C6-4827AB0439D5}"/>
              </a:ext>
            </a:extLst>
          </p:cNvPr>
          <p:cNvSpPr txBox="1"/>
          <p:nvPr/>
        </p:nvSpPr>
        <p:spPr>
          <a:xfrm>
            <a:off x="3884398" y="8685364"/>
            <a:ext cx="2971800" cy="458635"/>
          </a:xfrm>
          <a:prstGeom prst="rect">
            <a:avLst/>
          </a:prstGeom>
          <a:noFill/>
          <a:ln cap="flat">
            <a:noFill/>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D9D41DE6-25CE-456A-BE24-FACE3E35CE99}" type="slidenum">
              <a:t>35</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
        <p:nvSpPr>
          <p:cNvPr id="3" name="Slide Image Placeholder 1">
            <a:extLst>
              <a:ext uri="{FF2B5EF4-FFF2-40B4-BE49-F238E27FC236}">
                <a16:creationId xmlns:a16="http://schemas.microsoft.com/office/drawing/2014/main" id="{411A1079-733D-48B8-9014-BF97205286F8}"/>
              </a:ext>
            </a:extLst>
          </p:cNvPr>
          <p:cNvSpPr>
            <a:spLocks noGrp="1" noRot="1" noChangeAspect="1"/>
          </p:cNvSpPr>
          <p:nvPr>
            <p:ph type="sldImg"/>
          </p:nvPr>
        </p:nvSpPr>
        <p:spPr>
          <a:xfrm>
            <a:off x="1371600" y="1143000"/>
            <a:ext cx="4114800" cy="3086100"/>
          </a:xfrm>
          <a:solidFill>
            <a:srgbClr val="4472C4"/>
          </a:solidFill>
          <a:ln w="12701" cap="flat">
            <a:solidFill>
              <a:srgbClr val="2F528F"/>
            </a:solidFill>
            <a:prstDash val="solid"/>
            <a:miter/>
          </a:ln>
        </p:spPr>
      </p:sp>
      <p:sp>
        <p:nvSpPr>
          <p:cNvPr id="4" name="Notes Placeholder 2">
            <a:extLst>
              <a:ext uri="{FF2B5EF4-FFF2-40B4-BE49-F238E27FC236}">
                <a16:creationId xmlns:a16="http://schemas.microsoft.com/office/drawing/2014/main" id="{F60F0F39-C46B-401E-A32C-5C1A4A215E2A}"/>
              </a:ext>
            </a:extLst>
          </p:cNvPr>
          <p:cNvSpPr txBox="1">
            <a:spLocks noGrp="1"/>
          </p:cNvSpPr>
          <p:nvPr>
            <p:ph type="body" sz="quarter" idx="1"/>
          </p:nvPr>
        </p:nvSpPr>
        <p:spPr/>
        <p:txBody>
          <a:bodyPr/>
          <a:lstStyle/>
          <a:p>
            <a:endParaRPr lang="en-US"/>
          </a:p>
        </p:txBody>
      </p:sp>
      <p:sp>
        <p:nvSpPr>
          <p:cNvPr id="5" name="Slide Number Placeholder 3">
            <a:extLst>
              <a:ext uri="{FF2B5EF4-FFF2-40B4-BE49-F238E27FC236}">
                <a16:creationId xmlns:a16="http://schemas.microsoft.com/office/drawing/2014/main" id="{1E4802F6-B8F0-4A1F-AD4E-E95D18019162}"/>
              </a:ext>
            </a:extLst>
          </p:cNvPr>
          <p:cNvSpPr/>
          <p:nvPr/>
        </p:nvSpPr>
        <p:spPr>
          <a:xfrm>
            <a:off x="3884755" y="8685364"/>
            <a:ext cx="2971800" cy="45863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091B58E4-4FDA-4D1F-80C2-A074A8C3851C}" type="slidenum">
              <a:t>35</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Tree>
    <p:extLst>
      <p:ext uri="{BB962C8B-B14F-4D97-AF65-F5344CB8AC3E}">
        <p14:creationId xmlns:p14="http://schemas.microsoft.com/office/powerpoint/2010/main" val="32108773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ED250759-F7A3-4956-A4C6-4827AB0439D5}"/>
              </a:ext>
            </a:extLst>
          </p:cNvPr>
          <p:cNvSpPr txBox="1"/>
          <p:nvPr/>
        </p:nvSpPr>
        <p:spPr>
          <a:xfrm>
            <a:off x="3884398" y="8685364"/>
            <a:ext cx="2971800" cy="458635"/>
          </a:xfrm>
          <a:prstGeom prst="rect">
            <a:avLst/>
          </a:prstGeom>
          <a:noFill/>
          <a:ln cap="flat">
            <a:noFill/>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D9D41DE6-25CE-456A-BE24-FACE3E35CE99}" type="slidenum">
              <a:t>36</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
        <p:nvSpPr>
          <p:cNvPr id="3" name="Slide Image Placeholder 1">
            <a:extLst>
              <a:ext uri="{FF2B5EF4-FFF2-40B4-BE49-F238E27FC236}">
                <a16:creationId xmlns:a16="http://schemas.microsoft.com/office/drawing/2014/main" id="{411A1079-733D-48B8-9014-BF97205286F8}"/>
              </a:ext>
            </a:extLst>
          </p:cNvPr>
          <p:cNvSpPr>
            <a:spLocks noGrp="1" noRot="1" noChangeAspect="1"/>
          </p:cNvSpPr>
          <p:nvPr>
            <p:ph type="sldImg"/>
          </p:nvPr>
        </p:nvSpPr>
        <p:spPr>
          <a:xfrm>
            <a:off x="1371600" y="1143000"/>
            <a:ext cx="4114800" cy="3086100"/>
          </a:xfrm>
          <a:solidFill>
            <a:srgbClr val="4472C4"/>
          </a:solidFill>
          <a:ln w="12701" cap="flat">
            <a:solidFill>
              <a:srgbClr val="2F528F"/>
            </a:solidFill>
            <a:prstDash val="solid"/>
            <a:miter/>
          </a:ln>
        </p:spPr>
      </p:sp>
      <p:sp>
        <p:nvSpPr>
          <p:cNvPr id="4" name="Notes Placeholder 2">
            <a:extLst>
              <a:ext uri="{FF2B5EF4-FFF2-40B4-BE49-F238E27FC236}">
                <a16:creationId xmlns:a16="http://schemas.microsoft.com/office/drawing/2014/main" id="{F60F0F39-C46B-401E-A32C-5C1A4A215E2A}"/>
              </a:ext>
            </a:extLst>
          </p:cNvPr>
          <p:cNvSpPr txBox="1">
            <a:spLocks noGrp="1"/>
          </p:cNvSpPr>
          <p:nvPr>
            <p:ph type="body" sz="quarter" idx="1"/>
          </p:nvPr>
        </p:nvSpPr>
        <p:spPr/>
        <p:txBody>
          <a:bodyPr/>
          <a:lstStyle/>
          <a:p>
            <a:endParaRPr lang="en-US"/>
          </a:p>
        </p:txBody>
      </p:sp>
      <p:sp>
        <p:nvSpPr>
          <p:cNvPr id="5" name="Slide Number Placeholder 3">
            <a:extLst>
              <a:ext uri="{FF2B5EF4-FFF2-40B4-BE49-F238E27FC236}">
                <a16:creationId xmlns:a16="http://schemas.microsoft.com/office/drawing/2014/main" id="{1E4802F6-B8F0-4A1F-AD4E-E95D18019162}"/>
              </a:ext>
            </a:extLst>
          </p:cNvPr>
          <p:cNvSpPr/>
          <p:nvPr/>
        </p:nvSpPr>
        <p:spPr>
          <a:xfrm>
            <a:off x="3884755" y="8685364"/>
            <a:ext cx="2971800" cy="45863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091B58E4-4FDA-4D1F-80C2-A074A8C3851C}" type="slidenum">
              <a:t>36</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Tree>
    <p:extLst>
      <p:ext uri="{BB962C8B-B14F-4D97-AF65-F5344CB8AC3E}">
        <p14:creationId xmlns:p14="http://schemas.microsoft.com/office/powerpoint/2010/main" val="1448655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ED250759-F7A3-4956-A4C6-4827AB0439D5}"/>
              </a:ext>
            </a:extLst>
          </p:cNvPr>
          <p:cNvSpPr txBox="1"/>
          <p:nvPr/>
        </p:nvSpPr>
        <p:spPr>
          <a:xfrm>
            <a:off x="3884398" y="8685364"/>
            <a:ext cx="2971800" cy="458635"/>
          </a:xfrm>
          <a:prstGeom prst="rect">
            <a:avLst/>
          </a:prstGeom>
          <a:noFill/>
          <a:ln cap="flat">
            <a:noFill/>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D9D41DE6-25CE-456A-BE24-FACE3E35CE99}" type="slidenum">
              <a:t>37</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
        <p:nvSpPr>
          <p:cNvPr id="3" name="Slide Image Placeholder 1">
            <a:extLst>
              <a:ext uri="{FF2B5EF4-FFF2-40B4-BE49-F238E27FC236}">
                <a16:creationId xmlns:a16="http://schemas.microsoft.com/office/drawing/2014/main" id="{411A1079-733D-48B8-9014-BF97205286F8}"/>
              </a:ext>
            </a:extLst>
          </p:cNvPr>
          <p:cNvSpPr>
            <a:spLocks noGrp="1" noRot="1" noChangeAspect="1"/>
          </p:cNvSpPr>
          <p:nvPr>
            <p:ph type="sldImg"/>
          </p:nvPr>
        </p:nvSpPr>
        <p:spPr>
          <a:xfrm>
            <a:off x="1371600" y="1143000"/>
            <a:ext cx="4114800" cy="3086100"/>
          </a:xfrm>
          <a:solidFill>
            <a:srgbClr val="4472C4"/>
          </a:solidFill>
          <a:ln w="12701" cap="flat">
            <a:solidFill>
              <a:srgbClr val="2F528F"/>
            </a:solidFill>
            <a:prstDash val="solid"/>
            <a:miter/>
          </a:ln>
        </p:spPr>
      </p:sp>
      <p:sp>
        <p:nvSpPr>
          <p:cNvPr id="4" name="Notes Placeholder 2">
            <a:extLst>
              <a:ext uri="{FF2B5EF4-FFF2-40B4-BE49-F238E27FC236}">
                <a16:creationId xmlns:a16="http://schemas.microsoft.com/office/drawing/2014/main" id="{F60F0F39-C46B-401E-A32C-5C1A4A215E2A}"/>
              </a:ext>
            </a:extLst>
          </p:cNvPr>
          <p:cNvSpPr txBox="1">
            <a:spLocks noGrp="1"/>
          </p:cNvSpPr>
          <p:nvPr>
            <p:ph type="body" sz="quarter" idx="1"/>
          </p:nvPr>
        </p:nvSpPr>
        <p:spPr/>
        <p:txBody>
          <a:bodyPr/>
          <a:lstStyle/>
          <a:p>
            <a:endParaRPr lang="en-US"/>
          </a:p>
        </p:txBody>
      </p:sp>
      <p:sp>
        <p:nvSpPr>
          <p:cNvPr id="5" name="Slide Number Placeholder 3">
            <a:extLst>
              <a:ext uri="{FF2B5EF4-FFF2-40B4-BE49-F238E27FC236}">
                <a16:creationId xmlns:a16="http://schemas.microsoft.com/office/drawing/2014/main" id="{1E4802F6-B8F0-4A1F-AD4E-E95D18019162}"/>
              </a:ext>
            </a:extLst>
          </p:cNvPr>
          <p:cNvSpPr/>
          <p:nvPr/>
        </p:nvSpPr>
        <p:spPr>
          <a:xfrm>
            <a:off x="3884755" y="8685364"/>
            <a:ext cx="2971800" cy="45863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091B58E4-4FDA-4D1F-80C2-A074A8C3851C}" type="slidenum">
              <a:t>37</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Tree>
    <p:extLst>
      <p:ext uri="{BB962C8B-B14F-4D97-AF65-F5344CB8AC3E}">
        <p14:creationId xmlns:p14="http://schemas.microsoft.com/office/powerpoint/2010/main" val="11766782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ED250759-F7A3-4956-A4C6-4827AB0439D5}"/>
              </a:ext>
            </a:extLst>
          </p:cNvPr>
          <p:cNvSpPr txBox="1"/>
          <p:nvPr/>
        </p:nvSpPr>
        <p:spPr>
          <a:xfrm>
            <a:off x="3884398" y="8685364"/>
            <a:ext cx="2971800" cy="458635"/>
          </a:xfrm>
          <a:prstGeom prst="rect">
            <a:avLst/>
          </a:prstGeom>
          <a:noFill/>
          <a:ln cap="flat">
            <a:noFill/>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D9D41DE6-25CE-456A-BE24-FACE3E35CE99}" type="slidenum">
              <a:t>38</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
        <p:nvSpPr>
          <p:cNvPr id="3" name="Slide Image Placeholder 1">
            <a:extLst>
              <a:ext uri="{FF2B5EF4-FFF2-40B4-BE49-F238E27FC236}">
                <a16:creationId xmlns:a16="http://schemas.microsoft.com/office/drawing/2014/main" id="{411A1079-733D-48B8-9014-BF97205286F8}"/>
              </a:ext>
            </a:extLst>
          </p:cNvPr>
          <p:cNvSpPr>
            <a:spLocks noGrp="1" noRot="1" noChangeAspect="1"/>
          </p:cNvSpPr>
          <p:nvPr>
            <p:ph type="sldImg"/>
          </p:nvPr>
        </p:nvSpPr>
        <p:spPr>
          <a:xfrm>
            <a:off x="1371600" y="1143000"/>
            <a:ext cx="4114800" cy="3086100"/>
          </a:xfrm>
          <a:solidFill>
            <a:srgbClr val="4472C4"/>
          </a:solidFill>
          <a:ln w="12701" cap="flat">
            <a:solidFill>
              <a:srgbClr val="2F528F"/>
            </a:solidFill>
            <a:prstDash val="solid"/>
            <a:miter/>
          </a:ln>
        </p:spPr>
      </p:sp>
      <p:sp>
        <p:nvSpPr>
          <p:cNvPr id="4" name="Notes Placeholder 2">
            <a:extLst>
              <a:ext uri="{FF2B5EF4-FFF2-40B4-BE49-F238E27FC236}">
                <a16:creationId xmlns:a16="http://schemas.microsoft.com/office/drawing/2014/main" id="{F60F0F39-C46B-401E-A32C-5C1A4A215E2A}"/>
              </a:ext>
            </a:extLst>
          </p:cNvPr>
          <p:cNvSpPr txBox="1">
            <a:spLocks noGrp="1"/>
          </p:cNvSpPr>
          <p:nvPr>
            <p:ph type="body" sz="quarter" idx="1"/>
          </p:nvPr>
        </p:nvSpPr>
        <p:spPr/>
        <p:txBody>
          <a:bodyPr/>
          <a:lstStyle/>
          <a:p>
            <a:endParaRPr lang="en-US"/>
          </a:p>
        </p:txBody>
      </p:sp>
      <p:sp>
        <p:nvSpPr>
          <p:cNvPr id="5" name="Slide Number Placeholder 3">
            <a:extLst>
              <a:ext uri="{FF2B5EF4-FFF2-40B4-BE49-F238E27FC236}">
                <a16:creationId xmlns:a16="http://schemas.microsoft.com/office/drawing/2014/main" id="{1E4802F6-B8F0-4A1F-AD4E-E95D18019162}"/>
              </a:ext>
            </a:extLst>
          </p:cNvPr>
          <p:cNvSpPr/>
          <p:nvPr/>
        </p:nvSpPr>
        <p:spPr>
          <a:xfrm>
            <a:off x="3884755" y="8685364"/>
            <a:ext cx="2971800" cy="45863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091B58E4-4FDA-4D1F-80C2-A074A8C3851C}" type="slidenum">
              <a:t>38</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Tree>
    <p:extLst>
      <p:ext uri="{BB962C8B-B14F-4D97-AF65-F5344CB8AC3E}">
        <p14:creationId xmlns:p14="http://schemas.microsoft.com/office/powerpoint/2010/main" val="30092495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ED250759-F7A3-4956-A4C6-4827AB0439D5}"/>
              </a:ext>
            </a:extLst>
          </p:cNvPr>
          <p:cNvSpPr txBox="1"/>
          <p:nvPr/>
        </p:nvSpPr>
        <p:spPr>
          <a:xfrm>
            <a:off x="3884398" y="8685364"/>
            <a:ext cx="2971800" cy="458635"/>
          </a:xfrm>
          <a:prstGeom prst="rect">
            <a:avLst/>
          </a:prstGeom>
          <a:noFill/>
          <a:ln cap="flat">
            <a:noFill/>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D9D41DE6-25CE-456A-BE24-FACE3E35CE99}" type="slidenum">
              <a:t>39</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
        <p:nvSpPr>
          <p:cNvPr id="3" name="Slide Image Placeholder 1">
            <a:extLst>
              <a:ext uri="{FF2B5EF4-FFF2-40B4-BE49-F238E27FC236}">
                <a16:creationId xmlns:a16="http://schemas.microsoft.com/office/drawing/2014/main" id="{411A1079-733D-48B8-9014-BF97205286F8}"/>
              </a:ext>
            </a:extLst>
          </p:cNvPr>
          <p:cNvSpPr>
            <a:spLocks noGrp="1" noRot="1" noChangeAspect="1"/>
          </p:cNvSpPr>
          <p:nvPr>
            <p:ph type="sldImg"/>
          </p:nvPr>
        </p:nvSpPr>
        <p:spPr>
          <a:xfrm>
            <a:off x="1371600" y="1143000"/>
            <a:ext cx="4114800" cy="3086100"/>
          </a:xfrm>
          <a:solidFill>
            <a:srgbClr val="4472C4"/>
          </a:solidFill>
          <a:ln w="12701" cap="flat">
            <a:solidFill>
              <a:srgbClr val="2F528F"/>
            </a:solidFill>
            <a:prstDash val="solid"/>
            <a:miter/>
          </a:ln>
        </p:spPr>
      </p:sp>
      <p:sp>
        <p:nvSpPr>
          <p:cNvPr id="4" name="Notes Placeholder 2">
            <a:extLst>
              <a:ext uri="{FF2B5EF4-FFF2-40B4-BE49-F238E27FC236}">
                <a16:creationId xmlns:a16="http://schemas.microsoft.com/office/drawing/2014/main" id="{F60F0F39-C46B-401E-A32C-5C1A4A215E2A}"/>
              </a:ext>
            </a:extLst>
          </p:cNvPr>
          <p:cNvSpPr txBox="1">
            <a:spLocks noGrp="1"/>
          </p:cNvSpPr>
          <p:nvPr>
            <p:ph type="body" sz="quarter" idx="1"/>
          </p:nvPr>
        </p:nvSpPr>
        <p:spPr/>
        <p:txBody>
          <a:bodyPr/>
          <a:lstStyle/>
          <a:p>
            <a:endParaRPr lang="en-US"/>
          </a:p>
        </p:txBody>
      </p:sp>
      <p:sp>
        <p:nvSpPr>
          <p:cNvPr id="5" name="Slide Number Placeholder 3">
            <a:extLst>
              <a:ext uri="{FF2B5EF4-FFF2-40B4-BE49-F238E27FC236}">
                <a16:creationId xmlns:a16="http://schemas.microsoft.com/office/drawing/2014/main" id="{1E4802F6-B8F0-4A1F-AD4E-E95D18019162}"/>
              </a:ext>
            </a:extLst>
          </p:cNvPr>
          <p:cNvSpPr/>
          <p:nvPr/>
        </p:nvSpPr>
        <p:spPr>
          <a:xfrm>
            <a:off x="3884755" y="8685364"/>
            <a:ext cx="2971800" cy="45863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091B58E4-4FDA-4D1F-80C2-A074A8C3851C}" type="slidenum">
              <a:t>39</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Tree>
    <p:extLst>
      <p:ext uri="{BB962C8B-B14F-4D97-AF65-F5344CB8AC3E}">
        <p14:creationId xmlns:p14="http://schemas.microsoft.com/office/powerpoint/2010/main" val="233623032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ED250759-F7A3-4956-A4C6-4827AB0439D5}"/>
              </a:ext>
            </a:extLst>
          </p:cNvPr>
          <p:cNvSpPr txBox="1"/>
          <p:nvPr/>
        </p:nvSpPr>
        <p:spPr>
          <a:xfrm>
            <a:off x="3884398" y="8685364"/>
            <a:ext cx="2971800" cy="458635"/>
          </a:xfrm>
          <a:prstGeom prst="rect">
            <a:avLst/>
          </a:prstGeom>
          <a:noFill/>
          <a:ln cap="flat">
            <a:noFill/>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D9D41DE6-25CE-456A-BE24-FACE3E35CE99}" type="slidenum">
              <a:t>40</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
        <p:nvSpPr>
          <p:cNvPr id="3" name="Slide Image Placeholder 1">
            <a:extLst>
              <a:ext uri="{FF2B5EF4-FFF2-40B4-BE49-F238E27FC236}">
                <a16:creationId xmlns:a16="http://schemas.microsoft.com/office/drawing/2014/main" id="{411A1079-733D-48B8-9014-BF97205286F8}"/>
              </a:ext>
            </a:extLst>
          </p:cNvPr>
          <p:cNvSpPr>
            <a:spLocks noGrp="1" noRot="1" noChangeAspect="1"/>
          </p:cNvSpPr>
          <p:nvPr>
            <p:ph type="sldImg"/>
          </p:nvPr>
        </p:nvSpPr>
        <p:spPr>
          <a:xfrm>
            <a:off x="1371600" y="1143000"/>
            <a:ext cx="4114800" cy="3086100"/>
          </a:xfrm>
          <a:solidFill>
            <a:srgbClr val="4472C4"/>
          </a:solidFill>
          <a:ln w="12701" cap="flat">
            <a:solidFill>
              <a:srgbClr val="2F528F"/>
            </a:solidFill>
            <a:prstDash val="solid"/>
            <a:miter/>
          </a:ln>
        </p:spPr>
      </p:sp>
      <p:sp>
        <p:nvSpPr>
          <p:cNvPr id="4" name="Notes Placeholder 2">
            <a:extLst>
              <a:ext uri="{FF2B5EF4-FFF2-40B4-BE49-F238E27FC236}">
                <a16:creationId xmlns:a16="http://schemas.microsoft.com/office/drawing/2014/main" id="{F60F0F39-C46B-401E-A32C-5C1A4A215E2A}"/>
              </a:ext>
            </a:extLst>
          </p:cNvPr>
          <p:cNvSpPr txBox="1">
            <a:spLocks noGrp="1"/>
          </p:cNvSpPr>
          <p:nvPr>
            <p:ph type="body" sz="quarter" idx="1"/>
          </p:nvPr>
        </p:nvSpPr>
        <p:spPr/>
        <p:txBody>
          <a:bodyPr/>
          <a:lstStyle/>
          <a:p>
            <a:endParaRPr lang="en-US"/>
          </a:p>
        </p:txBody>
      </p:sp>
      <p:sp>
        <p:nvSpPr>
          <p:cNvPr id="5" name="Slide Number Placeholder 3">
            <a:extLst>
              <a:ext uri="{FF2B5EF4-FFF2-40B4-BE49-F238E27FC236}">
                <a16:creationId xmlns:a16="http://schemas.microsoft.com/office/drawing/2014/main" id="{1E4802F6-B8F0-4A1F-AD4E-E95D18019162}"/>
              </a:ext>
            </a:extLst>
          </p:cNvPr>
          <p:cNvSpPr/>
          <p:nvPr/>
        </p:nvSpPr>
        <p:spPr>
          <a:xfrm>
            <a:off x="3884755" y="8685364"/>
            <a:ext cx="2971800" cy="45863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091B58E4-4FDA-4D1F-80C2-A074A8C3851C}" type="slidenum">
              <a:t>40</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Tree>
    <p:extLst>
      <p:ext uri="{BB962C8B-B14F-4D97-AF65-F5344CB8AC3E}">
        <p14:creationId xmlns:p14="http://schemas.microsoft.com/office/powerpoint/2010/main" val="42341092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ED250759-F7A3-4956-A4C6-4827AB0439D5}"/>
              </a:ext>
            </a:extLst>
          </p:cNvPr>
          <p:cNvSpPr txBox="1"/>
          <p:nvPr/>
        </p:nvSpPr>
        <p:spPr>
          <a:xfrm>
            <a:off x="3884398" y="8685364"/>
            <a:ext cx="2971800" cy="458635"/>
          </a:xfrm>
          <a:prstGeom prst="rect">
            <a:avLst/>
          </a:prstGeom>
          <a:noFill/>
          <a:ln cap="flat">
            <a:noFill/>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D9D41DE6-25CE-456A-BE24-FACE3E35CE99}" type="slidenum">
              <a:t>41</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
        <p:nvSpPr>
          <p:cNvPr id="3" name="Slide Image Placeholder 1">
            <a:extLst>
              <a:ext uri="{FF2B5EF4-FFF2-40B4-BE49-F238E27FC236}">
                <a16:creationId xmlns:a16="http://schemas.microsoft.com/office/drawing/2014/main" id="{411A1079-733D-48B8-9014-BF97205286F8}"/>
              </a:ext>
            </a:extLst>
          </p:cNvPr>
          <p:cNvSpPr>
            <a:spLocks noGrp="1" noRot="1" noChangeAspect="1"/>
          </p:cNvSpPr>
          <p:nvPr>
            <p:ph type="sldImg"/>
          </p:nvPr>
        </p:nvSpPr>
        <p:spPr>
          <a:xfrm>
            <a:off x="1371600" y="1143000"/>
            <a:ext cx="4114800" cy="3086100"/>
          </a:xfrm>
          <a:solidFill>
            <a:srgbClr val="4472C4"/>
          </a:solidFill>
          <a:ln w="12701" cap="flat">
            <a:solidFill>
              <a:srgbClr val="2F528F"/>
            </a:solidFill>
            <a:prstDash val="solid"/>
            <a:miter/>
          </a:ln>
        </p:spPr>
      </p:sp>
      <p:sp>
        <p:nvSpPr>
          <p:cNvPr id="4" name="Notes Placeholder 2">
            <a:extLst>
              <a:ext uri="{FF2B5EF4-FFF2-40B4-BE49-F238E27FC236}">
                <a16:creationId xmlns:a16="http://schemas.microsoft.com/office/drawing/2014/main" id="{F60F0F39-C46B-401E-A32C-5C1A4A215E2A}"/>
              </a:ext>
            </a:extLst>
          </p:cNvPr>
          <p:cNvSpPr txBox="1">
            <a:spLocks noGrp="1"/>
          </p:cNvSpPr>
          <p:nvPr>
            <p:ph type="body" sz="quarter" idx="1"/>
          </p:nvPr>
        </p:nvSpPr>
        <p:spPr/>
        <p:txBody>
          <a:bodyPr/>
          <a:lstStyle/>
          <a:p>
            <a:endParaRPr lang="en-US"/>
          </a:p>
        </p:txBody>
      </p:sp>
      <p:sp>
        <p:nvSpPr>
          <p:cNvPr id="5" name="Slide Number Placeholder 3">
            <a:extLst>
              <a:ext uri="{FF2B5EF4-FFF2-40B4-BE49-F238E27FC236}">
                <a16:creationId xmlns:a16="http://schemas.microsoft.com/office/drawing/2014/main" id="{1E4802F6-B8F0-4A1F-AD4E-E95D18019162}"/>
              </a:ext>
            </a:extLst>
          </p:cNvPr>
          <p:cNvSpPr/>
          <p:nvPr/>
        </p:nvSpPr>
        <p:spPr>
          <a:xfrm>
            <a:off x="3884755" y="8685364"/>
            <a:ext cx="2971800" cy="45863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091B58E4-4FDA-4D1F-80C2-A074A8C3851C}" type="slidenum">
              <a:t>41</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Tree>
    <p:extLst>
      <p:ext uri="{BB962C8B-B14F-4D97-AF65-F5344CB8AC3E}">
        <p14:creationId xmlns:p14="http://schemas.microsoft.com/office/powerpoint/2010/main" val="31780562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ED250759-F7A3-4956-A4C6-4827AB0439D5}"/>
              </a:ext>
            </a:extLst>
          </p:cNvPr>
          <p:cNvSpPr txBox="1"/>
          <p:nvPr/>
        </p:nvSpPr>
        <p:spPr>
          <a:xfrm>
            <a:off x="3884398" y="8685364"/>
            <a:ext cx="2971800" cy="458635"/>
          </a:xfrm>
          <a:prstGeom prst="rect">
            <a:avLst/>
          </a:prstGeom>
          <a:noFill/>
          <a:ln cap="flat">
            <a:noFill/>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D9D41DE6-25CE-456A-BE24-FACE3E35CE99}" type="slidenum">
              <a:t>42</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
        <p:nvSpPr>
          <p:cNvPr id="3" name="Slide Image Placeholder 1">
            <a:extLst>
              <a:ext uri="{FF2B5EF4-FFF2-40B4-BE49-F238E27FC236}">
                <a16:creationId xmlns:a16="http://schemas.microsoft.com/office/drawing/2014/main" id="{411A1079-733D-48B8-9014-BF97205286F8}"/>
              </a:ext>
            </a:extLst>
          </p:cNvPr>
          <p:cNvSpPr>
            <a:spLocks noGrp="1" noRot="1" noChangeAspect="1"/>
          </p:cNvSpPr>
          <p:nvPr>
            <p:ph type="sldImg"/>
          </p:nvPr>
        </p:nvSpPr>
        <p:spPr>
          <a:xfrm>
            <a:off x="1371600" y="1143000"/>
            <a:ext cx="4114800" cy="3086100"/>
          </a:xfrm>
          <a:solidFill>
            <a:srgbClr val="4472C4"/>
          </a:solidFill>
          <a:ln w="12701" cap="flat">
            <a:solidFill>
              <a:srgbClr val="2F528F"/>
            </a:solidFill>
            <a:prstDash val="solid"/>
            <a:miter/>
          </a:ln>
        </p:spPr>
      </p:sp>
      <p:sp>
        <p:nvSpPr>
          <p:cNvPr id="4" name="Notes Placeholder 2">
            <a:extLst>
              <a:ext uri="{FF2B5EF4-FFF2-40B4-BE49-F238E27FC236}">
                <a16:creationId xmlns:a16="http://schemas.microsoft.com/office/drawing/2014/main" id="{F60F0F39-C46B-401E-A32C-5C1A4A215E2A}"/>
              </a:ext>
            </a:extLst>
          </p:cNvPr>
          <p:cNvSpPr txBox="1">
            <a:spLocks noGrp="1"/>
          </p:cNvSpPr>
          <p:nvPr>
            <p:ph type="body" sz="quarter" idx="1"/>
          </p:nvPr>
        </p:nvSpPr>
        <p:spPr/>
        <p:txBody>
          <a:bodyPr/>
          <a:lstStyle/>
          <a:p>
            <a:endParaRPr lang="en-US"/>
          </a:p>
        </p:txBody>
      </p:sp>
      <p:sp>
        <p:nvSpPr>
          <p:cNvPr id="5" name="Slide Number Placeholder 3">
            <a:extLst>
              <a:ext uri="{FF2B5EF4-FFF2-40B4-BE49-F238E27FC236}">
                <a16:creationId xmlns:a16="http://schemas.microsoft.com/office/drawing/2014/main" id="{1E4802F6-B8F0-4A1F-AD4E-E95D18019162}"/>
              </a:ext>
            </a:extLst>
          </p:cNvPr>
          <p:cNvSpPr/>
          <p:nvPr/>
        </p:nvSpPr>
        <p:spPr>
          <a:xfrm>
            <a:off x="3884755" y="8685364"/>
            <a:ext cx="2971800" cy="45863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091B58E4-4FDA-4D1F-80C2-A074A8C3851C}" type="slidenum">
              <a:t>42</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Tree>
    <p:extLst>
      <p:ext uri="{BB962C8B-B14F-4D97-AF65-F5344CB8AC3E}">
        <p14:creationId xmlns:p14="http://schemas.microsoft.com/office/powerpoint/2010/main" val="31020971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684F6E2C-4085-4C90-8D62-B0D7D40EB5CD}"/>
              </a:ext>
            </a:extLst>
          </p:cNvPr>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5BE454C4-BBE1-4B7E-B246-63E092190EA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7892" name="Slide Number Placeholder 3">
            <a:extLst>
              <a:ext uri="{FF2B5EF4-FFF2-40B4-BE49-F238E27FC236}">
                <a16:creationId xmlns:a16="http://schemas.microsoft.com/office/drawing/2014/main" id="{CAF89371-76FF-4B71-AD23-A441CFDE263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628F56A-D0C1-4675-83E2-6A7FB13AAC37}" type="slidenum">
              <a:rPr lang="en-US" altLang="en-US" sz="1200"/>
              <a:pPr/>
              <a:t>43</a:t>
            </a:fld>
            <a:endParaRPr lang="en-US" altLang="en-US" sz="1200"/>
          </a:p>
        </p:txBody>
      </p:sp>
    </p:spTree>
    <p:extLst>
      <p:ext uri="{BB962C8B-B14F-4D97-AF65-F5344CB8AC3E}">
        <p14:creationId xmlns:p14="http://schemas.microsoft.com/office/powerpoint/2010/main" val="221330271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7C6F2749-89A6-4D46-BDAF-04DEF617DA8E}"/>
              </a:ext>
            </a:extLst>
          </p:cNvPr>
          <p:cNvSpPr txBox="1"/>
          <p:nvPr/>
        </p:nvSpPr>
        <p:spPr>
          <a:xfrm>
            <a:off x="3884398" y="8685364"/>
            <a:ext cx="2971800" cy="458635"/>
          </a:xfrm>
          <a:prstGeom prst="rect">
            <a:avLst/>
          </a:prstGeom>
          <a:noFill/>
          <a:ln cap="flat">
            <a:noFill/>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066A2900-7C5F-41F8-B3DD-82182F0E8A38}" type="slidenum">
              <a:t>44</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
        <p:nvSpPr>
          <p:cNvPr id="3" name="Slide Image Placeholder 1">
            <a:extLst>
              <a:ext uri="{FF2B5EF4-FFF2-40B4-BE49-F238E27FC236}">
                <a16:creationId xmlns:a16="http://schemas.microsoft.com/office/drawing/2014/main" id="{55FA714A-5B3A-48E9-BD36-95CF2C07F6AC}"/>
              </a:ext>
            </a:extLst>
          </p:cNvPr>
          <p:cNvSpPr>
            <a:spLocks noGrp="1" noRot="1" noChangeAspect="1"/>
          </p:cNvSpPr>
          <p:nvPr>
            <p:ph type="sldImg"/>
          </p:nvPr>
        </p:nvSpPr>
        <p:spPr>
          <a:xfrm>
            <a:off x="1371600" y="1143000"/>
            <a:ext cx="4114800" cy="3086100"/>
          </a:xfrm>
          <a:solidFill>
            <a:srgbClr val="4472C4"/>
          </a:solidFill>
          <a:ln w="12701" cap="flat">
            <a:solidFill>
              <a:srgbClr val="2F528F"/>
            </a:solidFill>
            <a:prstDash val="solid"/>
            <a:miter/>
          </a:ln>
        </p:spPr>
      </p:sp>
      <p:sp>
        <p:nvSpPr>
          <p:cNvPr id="4" name="Notes Placeholder 2">
            <a:extLst>
              <a:ext uri="{FF2B5EF4-FFF2-40B4-BE49-F238E27FC236}">
                <a16:creationId xmlns:a16="http://schemas.microsoft.com/office/drawing/2014/main" id="{42FB7DD7-AC50-417B-813D-66F4DB48BC5F}"/>
              </a:ext>
            </a:extLst>
          </p:cNvPr>
          <p:cNvSpPr txBox="1">
            <a:spLocks noGrp="1"/>
          </p:cNvSpPr>
          <p:nvPr>
            <p:ph type="body" sz="quarter" idx="1"/>
          </p:nvPr>
        </p:nvSpPr>
        <p:spPr/>
        <p:txBody>
          <a:bodyPr/>
          <a:lstStyle/>
          <a:p>
            <a:endParaRPr lang="en-US"/>
          </a:p>
        </p:txBody>
      </p:sp>
      <p:sp>
        <p:nvSpPr>
          <p:cNvPr id="5" name="Slide Number Placeholder 3">
            <a:extLst>
              <a:ext uri="{FF2B5EF4-FFF2-40B4-BE49-F238E27FC236}">
                <a16:creationId xmlns:a16="http://schemas.microsoft.com/office/drawing/2014/main" id="{CA8DA0FF-DCBE-48C8-95F4-25B6839B9F89}"/>
              </a:ext>
            </a:extLst>
          </p:cNvPr>
          <p:cNvSpPr/>
          <p:nvPr/>
        </p:nvSpPr>
        <p:spPr>
          <a:xfrm>
            <a:off x="3884755" y="8685364"/>
            <a:ext cx="2971800" cy="45863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EE18CE2D-E9CE-406F-AF9B-8263FA76C2A8}" type="slidenum">
              <a:t>44</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7C6F2749-89A6-4D46-BDAF-04DEF617DA8E}"/>
              </a:ext>
            </a:extLst>
          </p:cNvPr>
          <p:cNvSpPr txBox="1"/>
          <p:nvPr/>
        </p:nvSpPr>
        <p:spPr>
          <a:xfrm>
            <a:off x="3884398" y="8685364"/>
            <a:ext cx="2971800" cy="458635"/>
          </a:xfrm>
          <a:prstGeom prst="rect">
            <a:avLst/>
          </a:prstGeom>
          <a:noFill/>
          <a:ln cap="flat">
            <a:noFill/>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066A2900-7C5F-41F8-B3DD-82182F0E8A38}" type="slidenum">
              <a:t>45</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
        <p:nvSpPr>
          <p:cNvPr id="3" name="Slide Image Placeholder 1">
            <a:extLst>
              <a:ext uri="{FF2B5EF4-FFF2-40B4-BE49-F238E27FC236}">
                <a16:creationId xmlns:a16="http://schemas.microsoft.com/office/drawing/2014/main" id="{55FA714A-5B3A-48E9-BD36-95CF2C07F6AC}"/>
              </a:ext>
            </a:extLst>
          </p:cNvPr>
          <p:cNvSpPr>
            <a:spLocks noGrp="1" noRot="1" noChangeAspect="1"/>
          </p:cNvSpPr>
          <p:nvPr>
            <p:ph type="sldImg"/>
          </p:nvPr>
        </p:nvSpPr>
        <p:spPr>
          <a:xfrm>
            <a:off x="1371600" y="1143000"/>
            <a:ext cx="4114800" cy="3086100"/>
          </a:xfrm>
          <a:solidFill>
            <a:srgbClr val="4472C4"/>
          </a:solidFill>
          <a:ln w="12701" cap="flat">
            <a:solidFill>
              <a:srgbClr val="2F528F"/>
            </a:solidFill>
            <a:prstDash val="solid"/>
            <a:miter/>
          </a:ln>
        </p:spPr>
      </p:sp>
      <p:sp>
        <p:nvSpPr>
          <p:cNvPr id="4" name="Notes Placeholder 2">
            <a:extLst>
              <a:ext uri="{FF2B5EF4-FFF2-40B4-BE49-F238E27FC236}">
                <a16:creationId xmlns:a16="http://schemas.microsoft.com/office/drawing/2014/main" id="{42FB7DD7-AC50-417B-813D-66F4DB48BC5F}"/>
              </a:ext>
            </a:extLst>
          </p:cNvPr>
          <p:cNvSpPr txBox="1">
            <a:spLocks noGrp="1"/>
          </p:cNvSpPr>
          <p:nvPr>
            <p:ph type="body" sz="quarter" idx="1"/>
          </p:nvPr>
        </p:nvSpPr>
        <p:spPr/>
        <p:txBody>
          <a:bodyPr/>
          <a:lstStyle/>
          <a:p>
            <a:endParaRPr lang="en-US"/>
          </a:p>
        </p:txBody>
      </p:sp>
      <p:sp>
        <p:nvSpPr>
          <p:cNvPr id="5" name="Slide Number Placeholder 3">
            <a:extLst>
              <a:ext uri="{FF2B5EF4-FFF2-40B4-BE49-F238E27FC236}">
                <a16:creationId xmlns:a16="http://schemas.microsoft.com/office/drawing/2014/main" id="{CA8DA0FF-DCBE-48C8-95F4-25B6839B9F89}"/>
              </a:ext>
            </a:extLst>
          </p:cNvPr>
          <p:cNvSpPr/>
          <p:nvPr/>
        </p:nvSpPr>
        <p:spPr>
          <a:xfrm>
            <a:off x="3884755" y="8685364"/>
            <a:ext cx="2971800" cy="45863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EE18CE2D-E9CE-406F-AF9B-8263FA76C2A8}" type="slidenum">
              <a:t>45</a:t>
            </a:fld>
            <a:endParaRPr lang="en-US" sz="1200" b="0" i="0" u="none" strike="noStrike" kern="1200" cap="none" spc="0" baseline="0">
              <a:solidFill>
                <a:srgbClr val="000000"/>
              </a:solidFill>
              <a:uFillTx/>
              <a:latin typeface="Times New Roman" pitchFamily="18"/>
              <a:ea typeface="Microsoft YaHei" pitchFamily="2"/>
              <a:cs typeface="Lucida Sans" pitchFamily="2"/>
            </a:endParaRPr>
          </a:p>
        </p:txBody>
      </p:sp>
    </p:spTree>
    <p:extLst>
      <p:ext uri="{BB962C8B-B14F-4D97-AF65-F5344CB8AC3E}">
        <p14:creationId xmlns:p14="http://schemas.microsoft.com/office/powerpoint/2010/main" val="3098240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5AF61-13F2-4FD8-A188-F05FF3D3BB78}"/>
              </a:ext>
            </a:extLst>
          </p:cNvPr>
          <p:cNvSpPr txBox="1">
            <a:spLocks noGrp="1"/>
          </p:cNvSpPr>
          <p:nvPr>
            <p:ph type="ctrTitle"/>
          </p:nvPr>
        </p:nvSpPr>
        <p:spPr>
          <a:xfrm>
            <a:off x="1143000" y="1122361"/>
            <a:ext cx="6858000" cy="2387598"/>
          </a:xfrm>
        </p:spPr>
        <p:txBody>
          <a:bodyPr anchor="b"/>
          <a:lstStyle>
            <a:lvl1pPr>
              <a:defRPr lang="en-US" sz="6000"/>
            </a:lvl1pPr>
          </a:lstStyle>
          <a:p>
            <a:pPr lvl="0"/>
            <a:r>
              <a:rPr lang="en-US"/>
              <a:t>Click to edit Master title style</a:t>
            </a:r>
          </a:p>
        </p:txBody>
      </p:sp>
      <p:sp>
        <p:nvSpPr>
          <p:cNvPr id="3" name="Subtitle 2">
            <a:extLst>
              <a:ext uri="{FF2B5EF4-FFF2-40B4-BE49-F238E27FC236}">
                <a16:creationId xmlns:a16="http://schemas.microsoft.com/office/drawing/2014/main" id="{6705E328-12D0-43DD-BB97-612261538936}"/>
              </a:ext>
            </a:extLst>
          </p:cNvPr>
          <p:cNvSpPr txBox="1">
            <a:spLocks noGrp="1"/>
          </p:cNvSpPr>
          <p:nvPr>
            <p:ph type="subTitle" idx="1"/>
          </p:nvPr>
        </p:nvSpPr>
        <p:spPr>
          <a:xfrm>
            <a:off x="1143000" y="3602041"/>
            <a:ext cx="6858000" cy="1655758"/>
          </a:xfrm>
        </p:spPr>
        <p:txBody>
          <a:bodyPr anchorCtr="1"/>
          <a:lstStyle>
            <a:lvl1pPr algn="ctr">
              <a:defRPr sz="2400"/>
            </a:lvl1pPr>
          </a:lstStyle>
          <a:p>
            <a:pPr lvl="0"/>
            <a:r>
              <a:rPr lang="en-US"/>
              <a:t>Click to edit Master subtitle style</a:t>
            </a:r>
          </a:p>
        </p:txBody>
      </p:sp>
      <p:sp>
        <p:nvSpPr>
          <p:cNvPr id="4" name="Date Placeholder 3">
            <a:extLst>
              <a:ext uri="{FF2B5EF4-FFF2-40B4-BE49-F238E27FC236}">
                <a16:creationId xmlns:a16="http://schemas.microsoft.com/office/drawing/2014/main" id="{D75F4508-3239-4381-AEE3-FEEFD16BD80A}"/>
              </a:ext>
            </a:extLst>
          </p:cNvPr>
          <p:cNvSpPr txBox="1">
            <a:spLocks noGrp="1"/>
          </p:cNvSpPr>
          <p:nvPr>
            <p:ph type="dt" sz="half" idx="7"/>
          </p:nvPr>
        </p:nvSpPr>
        <p:spPr/>
        <p:txBody>
          <a:bodyPr/>
          <a:lstStyle>
            <a:lvl1pPr>
              <a:defRPr/>
            </a:lvl1pPr>
          </a:lstStyle>
          <a:p>
            <a:pPr lvl="0"/>
            <a:fld id="{A87BD8BA-E4C0-4282-9FED-1583824022F8}" type="datetime1">
              <a:rPr lang="en-US"/>
              <a:pPr lvl="0"/>
              <a:t>4/18/2023</a:t>
            </a:fld>
            <a:endParaRPr lang="en-US"/>
          </a:p>
        </p:txBody>
      </p:sp>
      <p:sp>
        <p:nvSpPr>
          <p:cNvPr id="5" name="Footer Placeholder 4">
            <a:extLst>
              <a:ext uri="{FF2B5EF4-FFF2-40B4-BE49-F238E27FC236}">
                <a16:creationId xmlns:a16="http://schemas.microsoft.com/office/drawing/2014/main" id="{0FB7F11E-FE02-4B57-8D21-1A23CC61A5B1}"/>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7CBE110D-1223-40B7-A66D-38804347F787}"/>
              </a:ext>
            </a:extLst>
          </p:cNvPr>
          <p:cNvSpPr txBox="1">
            <a:spLocks noGrp="1"/>
          </p:cNvSpPr>
          <p:nvPr>
            <p:ph type="sldNum" sz="quarter" idx="8"/>
          </p:nvPr>
        </p:nvSpPr>
        <p:spPr/>
        <p:txBody>
          <a:bodyPr/>
          <a:lstStyle>
            <a:lvl1pPr>
              <a:defRPr/>
            </a:lvl1pPr>
          </a:lstStyle>
          <a:p>
            <a:pPr lvl="0"/>
            <a:fld id="{78C1C566-4161-4E61-B1CC-515E39640A26}" type="slidenum">
              <a:t>‹#›</a:t>
            </a:fld>
            <a:endParaRPr lang="en-US"/>
          </a:p>
        </p:txBody>
      </p:sp>
    </p:spTree>
    <p:extLst>
      <p:ext uri="{BB962C8B-B14F-4D97-AF65-F5344CB8AC3E}">
        <p14:creationId xmlns:p14="http://schemas.microsoft.com/office/powerpoint/2010/main" val="1702249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45B5B-9A9C-4696-A409-3D9B04C42C81}"/>
              </a:ext>
            </a:extLst>
          </p:cNvPr>
          <p:cNvSpPr txBox="1">
            <a:spLocks noGrp="1"/>
          </p:cNvSpPr>
          <p:nvPr>
            <p:ph type="title"/>
          </p:nvPr>
        </p:nvSpPr>
        <p:spPr/>
        <p:txBody>
          <a:bodyPr/>
          <a:lstStyle>
            <a:lvl1pPr>
              <a:defRPr lang="en-US"/>
            </a:lvl1pPr>
          </a:lstStyle>
          <a:p>
            <a:pPr lvl="0"/>
            <a:r>
              <a:rPr lang="en-US"/>
              <a:t>Click to edit Master title style</a:t>
            </a:r>
          </a:p>
        </p:txBody>
      </p:sp>
      <p:sp>
        <p:nvSpPr>
          <p:cNvPr id="3" name="Content Placeholder 2">
            <a:extLst>
              <a:ext uri="{FF2B5EF4-FFF2-40B4-BE49-F238E27FC236}">
                <a16:creationId xmlns:a16="http://schemas.microsoft.com/office/drawing/2014/main" id="{6B069039-10B6-4A02-9155-1F5D31927C2A}"/>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11F5F9-FD9D-452B-86B3-C73110ECC374}"/>
              </a:ext>
            </a:extLst>
          </p:cNvPr>
          <p:cNvSpPr txBox="1">
            <a:spLocks noGrp="1"/>
          </p:cNvSpPr>
          <p:nvPr>
            <p:ph type="dt" sz="half" idx="7"/>
          </p:nvPr>
        </p:nvSpPr>
        <p:spPr/>
        <p:txBody>
          <a:bodyPr/>
          <a:lstStyle>
            <a:lvl1pPr>
              <a:defRPr/>
            </a:lvl1pPr>
          </a:lstStyle>
          <a:p>
            <a:pPr lvl="0"/>
            <a:fld id="{69B1C7A4-6745-4C91-B0C5-8EBAE1DB0C7C}" type="datetime1">
              <a:rPr lang="en-US"/>
              <a:pPr lvl="0"/>
              <a:t>4/18/2023</a:t>
            </a:fld>
            <a:endParaRPr lang="en-US"/>
          </a:p>
        </p:txBody>
      </p:sp>
      <p:sp>
        <p:nvSpPr>
          <p:cNvPr id="5" name="Footer Placeholder 4">
            <a:extLst>
              <a:ext uri="{FF2B5EF4-FFF2-40B4-BE49-F238E27FC236}">
                <a16:creationId xmlns:a16="http://schemas.microsoft.com/office/drawing/2014/main" id="{1AEC0891-0A39-4589-AE57-6BD4C79C34B3}"/>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ADF04254-F5E8-444D-9B6B-431AC398FA58}"/>
              </a:ext>
            </a:extLst>
          </p:cNvPr>
          <p:cNvSpPr txBox="1">
            <a:spLocks noGrp="1"/>
          </p:cNvSpPr>
          <p:nvPr>
            <p:ph type="sldNum" sz="quarter" idx="8"/>
          </p:nvPr>
        </p:nvSpPr>
        <p:spPr/>
        <p:txBody>
          <a:bodyPr/>
          <a:lstStyle>
            <a:lvl1pPr>
              <a:defRPr/>
            </a:lvl1pPr>
          </a:lstStyle>
          <a:p>
            <a:pPr lvl="0"/>
            <a:fld id="{3A412BD2-7818-43E0-A6C6-0C476FCFD55B}" type="slidenum">
              <a:t>‹#›</a:t>
            </a:fld>
            <a:endParaRPr lang="en-US"/>
          </a:p>
        </p:txBody>
      </p:sp>
    </p:spTree>
    <p:extLst>
      <p:ext uri="{BB962C8B-B14F-4D97-AF65-F5344CB8AC3E}">
        <p14:creationId xmlns:p14="http://schemas.microsoft.com/office/powerpoint/2010/main" val="661252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A7BA2-5382-4D2F-915A-AF7EA037C2CE}"/>
              </a:ext>
            </a:extLst>
          </p:cNvPr>
          <p:cNvSpPr txBox="1">
            <a:spLocks noGrp="1"/>
          </p:cNvSpPr>
          <p:nvPr>
            <p:ph type="title"/>
          </p:nvPr>
        </p:nvSpPr>
        <p:spPr>
          <a:xfrm>
            <a:off x="623885" y="1709735"/>
            <a:ext cx="7886700" cy="2852735"/>
          </a:xfrm>
        </p:spPr>
        <p:txBody>
          <a:bodyPr anchor="b"/>
          <a:lstStyle>
            <a:lvl1pPr>
              <a:defRPr lang="en-US" sz="6000"/>
            </a:lvl1pPr>
          </a:lstStyle>
          <a:p>
            <a:pPr lvl="0"/>
            <a:r>
              <a:rPr lang="en-US"/>
              <a:t>Click to edit Master title style</a:t>
            </a:r>
          </a:p>
        </p:txBody>
      </p:sp>
      <p:sp>
        <p:nvSpPr>
          <p:cNvPr id="3" name="Text Placeholder 2">
            <a:extLst>
              <a:ext uri="{FF2B5EF4-FFF2-40B4-BE49-F238E27FC236}">
                <a16:creationId xmlns:a16="http://schemas.microsoft.com/office/drawing/2014/main" id="{7BBAA9D1-52D9-4A51-AD1A-C08327D0B3CF}"/>
              </a:ext>
            </a:extLst>
          </p:cNvPr>
          <p:cNvSpPr txBox="1">
            <a:spLocks noGrp="1"/>
          </p:cNvSpPr>
          <p:nvPr>
            <p:ph type="body" idx="1"/>
          </p:nvPr>
        </p:nvSpPr>
        <p:spPr>
          <a:xfrm>
            <a:off x="623885" y="4589465"/>
            <a:ext cx="7886700" cy="1500182"/>
          </a:xfrm>
        </p:spPr>
        <p:txBody>
          <a:bodyPr/>
          <a:lstStyle>
            <a:lvl1pPr>
              <a:defRPr sz="2400">
                <a:solidFill>
                  <a:srgbClr val="898989"/>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C154B441-FD1C-41D7-9451-793E1B70F597}"/>
              </a:ext>
            </a:extLst>
          </p:cNvPr>
          <p:cNvSpPr txBox="1">
            <a:spLocks noGrp="1"/>
          </p:cNvSpPr>
          <p:nvPr>
            <p:ph type="dt" sz="half" idx="7"/>
          </p:nvPr>
        </p:nvSpPr>
        <p:spPr/>
        <p:txBody>
          <a:bodyPr/>
          <a:lstStyle>
            <a:lvl1pPr>
              <a:defRPr/>
            </a:lvl1pPr>
          </a:lstStyle>
          <a:p>
            <a:pPr lvl="0"/>
            <a:fld id="{1E164493-67D7-4C43-9714-9C0D23FB08EE}" type="datetime1">
              <a:rPr lang="en-US"/>
              <a:pPr lvl="0"/>
              <a:t>4/18/2023</a:t>
            </a:fld>
            <a:endParaRPr lang="en-US"/>
          </a:p>
        </p:txBody>
      </p:sp>
      <p:sp>
        <p:nvSpPr>
          <p:cNvPr id="5" name="Footer Placeholder 4">
            <a:extLst>
              <a:ext uri="{FF2B5EF4-FFF2-40B4-BE49-F238E27FC236}">
                <a16:creationId xmlns:a16="http://schemas.microsoft.com/office/drawing/2014/main" id="{58A88249-2187-4845-A6F8-06F35552FAC0}"/>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D1A416A3-4406-4481-9A8D-27649F038DB2}"/>
              </a:ext>
            </a:extLst>
          </p:cNvPr>
          <p:cNvSpPr txBox="1">
            <a:spLocks noGrp="1"/>
          </p:cNvSpPr>
          <p:nvPr>
            <p:ph type="sldNum" sz="quarter" idx="8"/>
          </p:nvPr>
        </p:nvSpPr>
        <p:spPr/>
        <p:txBody>
          <a:bodyPr/>
          <a:lstStyle>
            <a:lvl1pPr>
              <a:defRPr/>
            </a:lvl1pPr>
          </a:lstStyle>
          <a:p>
            <a:pPr lvl="0"/>
            <a:fld id="{CAAD58B7-7ADD-4018-B8CA-83783D8F7947}" type="slidenum">
              <a:t>‹#›</a:t>
            </a:fld>
            <a:endParaRPr lang="en-US"/>
          </a:p>
        </p:txBody>
      </p:sp>
    </p:spTree>
    <p:extLst>
      <p:ext uri="{BB962C8B-B14F-4D97-AF65-F5344CB8AC3E}">
        <p14:creationId xmlns:p14="http://schemas.microsoft.com/office/powerpoint/2010/main" val="355582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920C5-A939-4438-9475-6A3C1157E517}"/>
              </a:ext>
            </a:extLst>
          </p:cNvPr>
          <p:cNvSpPr txBox="1">
            <a:spLocks noGrp="1"/>
          </p:cNvSpPr>
          <p:nvPr>
            <p:ph type="title"/>
          </p:nvPr>
        </p:nvSpPr>
        <p:spPr/>
        <p:txBody>
          <a:bodyPr/>
          <a:lstStyle>
            <a:lvl1pPr>
              <a:defRPr lang="en-US"/>
            </a:lvl1pPr>
          </a:lstStyle>
          <a:p>
            <a:pPr lvl="0"/>
            <a:r>
              <a:rPr lang="en-US"/>
              <a:t>Click to edit Master title style</a:t>
            </a:r>
          </a:p>
        </p:txBody>
      </p:sp>
      <p:sp>
        <p:nvSpPr>
          <p:cNvPr id="3" name="Content Placeholder 2">
            <a:extLst>
              <a:ext uri="{FF2B5EF4-FFF2-40B4-BE49-F238E27FC236}">
                <a16:creationId xmlns:a16="http://schemas.microsoft.com/office/drawing/2014/main" id="{1328244F-F980-4ADA-A1FC-7005450F0A90}"/>
              </a:ext>
            </a:extLst>
          </p:cNvPr>
          <p:cNvSpPr txBox="1">
            <a:spLocks noGrp="1"/>
          </p:cNvSpPr>
          <p:nvPr>
            <p:ph idx="1"/>
          </p:nvPr>
        </p:nvSpPr>
        <p:spPr>
          <a:xfrm>
            <a:off x="685800" y="1981203"/>
            <a:ext cx="3810003" cy="4114800"/>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5462A5-5152-4A98-AC37-021D018119AB}"/>
              </a:ext>
            </a:extLst>
          </p:cNvPr>
          <p:cNvSpPr txBox="1">
            <a:spLocks noGrp="1"/>
          </p:cNvSpPr>
          <p:nvPr>
            <p:ph idx="2"/>
          </p:nvPr>
        </p:nvSpPr>
        <p:spPr>
          <a:xfrm>
            <a:off x="4648196" y="1981203"/>
            <a:ext cx="3810003" cy="4114800"/>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2A2206-111B-4BDB-AB52-6609A94FA705}"/>
              </a:ext>
            </a:extLst>
          </p:cNvPr>
          <p:cNvSpPr txBox="1">
            <a:spLocks noGrp="1"/>
          </p:cNvSpPr>
          <p:nvPr>
            <p:ph type="dt" sz="half" idx="7"/>
          </p:nvPr>
        </p:nvSpPr>
        <p:spPr/>
        <p:txBody>
          <a:bodyPr/>
          <a:lstStyle>
            <a:lvl1pPr>
              <a:defRPr/>
            </a:lvl1pPr>
          </a:lstStyle>
          <a:p>
            <a:pPr lvl="0"/>
            <a:fld id="{66259B3A-72E7-4450-ABE6-65B4C6E34EC5}" type="datetime1">
              <a:rPr lang="en-US"/>
              <a:pPr lvl="0"/>
              <a:t>4/18/2023</a:t>
            </a:fld>
            <a:endParaRPr lang="en-US"/>
          </a:p>
        </p:txBody>
      </p:sp>
      <p:sp>
        <p:nvSpPr>
          <p:cNvPr id="6" name="Footer Placeholder 5">
            <a:extLst>
              <a:ext uri="{FF2B5EF4-FFF2-40B4-BE49-F238E27FC236}">
                <a16:creationId xmlns:a16="http://schemas.microsoft.com/office/drawing/2014/main" id="{33459CAB-2FDA-4BE0-9890-0CB6D0B345B1}"/>
              </a:ext>
            </a:extLst>
          </p:cNvPr>
          <p:cNvSpPr txBox="1">
            <a:spLocks noGrp="1"/>
          </p:cNvSpPr>
          <p:nvPr>
            <p:ph type="ftr" sz="quarter" idx="9"/>
          </p:nvPr>
        </p:nvSpPr>
        <p:spPr/>
        <p:txBody>
          <a:bodyPr/>
          <a:lstStyle>
            <a:lvl1pPr>
              <a:defRPr/>
            </a:lvl1pPr>
          </a:lstStyle>
          <a:p>
            <a:pPr lvl="0"/>
            <a:endParaRPr lang="en-US"/>
          </a:p>
        </p:txBody>
      </p:sp>
      <p:sp>
        <p:nvSpPr>
          <p:cNvPr id="7" name="Slide Number Placeholder 6">
            <a:extLst>
              <a:ext uri="{FF2B5EF4-FFF2-40B4-BE49-F238E27FC236}">
                <a16:creationId xmlns:a16="http://schemas.microsoft.com/office/drawing/2014/main" id="{73E47A9A-6C00-43D6-9BCB-21A15C7002A8}"/>
              </a:ext>
            </a:extLst>
          </p:cNvPr>
          <p:cNvSpPr txBox="1">
            <a:spLocks noGrp="1"/>
          </p:cNvSpPr>
          <p:nvPr>
            <p:ph type="sldNum" sz="quarter" idx="8"/>
          </p:nvPr>
        </p:nvSpPr>
        <p:spPr/>
        <p:txBody>
          <a:bodyPr/>
          <a:lstStyle>
            <a:lvl1pPr>
              <a:defRPr/>
            </a:lvl1pPr>
          </a:lstStyle>
          <a:p>
            <a:pPr lvl="0"/>
            <a:fld id="{5336B83E-773F-4AA4-9C2C-FD6A81016165}" type="slidenum">
              <a:t>‹#›</a:t>
            </a:fld>
            <a:endParaRPr lang="en-US"/>
          </a:p>
        </p:txBody>
      </p:sp>
    </p:spTree>
    <p:extLst>
      <p:ext uri="{BB962C8B-B14F-4D97-AF65-F5344CB8AC3E}">
        <p14:creationId xmlns:p14="http://schemas.microsoft.com/office/powerpoint/2010/main" val="3906526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CAABE-01B7-4EEA-8A75-DBD819C61347}"/>
              </a:ext>
            </a:extLst>
          </p:cNvPr>
          <p:cNvSpPr txBox="1">
            <a:spLocks noGrp="1"/>
          </p:cNvSpPr>
          <p:nvPr>
            <p:ph type="title"/>
          </p:nvPr>
        </p:nvSpPr>
        <p:spPr>
          <a:xfrm>
            <a:off x="630241" y="365129"/>
            <a:ext cx="7886700" cy="1325559"/>
          </a:xfrm>
        </p:spPr>
        <p:txBody>
          <a:bodyPr/>
          <a:lstStyle>
            <a:lvl1pPr>
              <a:defRPr lang="en-US"/>
            </a:lvl1pPr>
          </a:lstStyle>
          <a:p>
            <a:pPr lvl="0"/>
            <a:r>
              <a:rPr lang="en-US"/>
              <a:t>Click to edit Master title style</a:t>
            </a:r>
          </a:p>
        </p:txBody>
      </p:sp>
      <p:sp>
        <p:nvSpPr>
          <p:cNvPr id="3" name="Text Placeholder 2">
            <a:extLst>
              <a:ext uri="{FF2B5EF4-FFF2-40B4-BE49-F238E27FC236}">
                <a16:creationId xmlns:a16="http://schemas.microsoft.com/office/drawing/2014/main" id="{40E6E565-70DC-46A1-BA0F-7FDA2B04F2FE}"/>
              </a:ext>
            </a:extLst>
          </p:cNvPr>
          <p:cNvSpPr txBox="1">
            <a:spLocks noGrp="1"/>
          </p:cNvSpPr>
          <p:nvPr>
            <p:ph type="body" idx="1"/>
          </p:nvPr>
        </p:nvSpPr>
        <p:spPr>
          <a:xfrm>
            <a:off x="630241" y="1681160"/>
            <a:ext cx="3868734" cy="823910"/>
          </a:xfrm>
        </p:spPr>
        <p:txBody>
          <a:bodyPr anchor="b"/>
          <a:lstStyle>
            <a:lvl1pPr>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F933C6A5-142E-4762-91D4-331885AC0EDC}"/>
              </a:ext>
            </a:extLst>
          </p:cNvPr>
          <p:cNvSpPr txBox="1">
            <a:spLocks noGrp="1"/>
          </p:cNvSpPr>
          <p:nvPr>
            <p:ph idx="2"/>
          </p:nvPr>
        </p:nvSpPr>
        <p:spPr>
          <a:xfrm>
            <a:off x="630241" y="2505071"/>
            <a:ext cx="3868734"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040E93-F8F3-4D39-9573-5C643B282EC8}"/>
              </a:ext>
            </a:extLst>
          </p:cNvPr>
          <p:cNvSpPr txBox="1">
            <a:spLocks noGrp="1"/>
          </p:cNvSpPr>
          <p:nvPr>
            <p:ph type="body" idx="3"/>
          </p:nvPr>
        </p:nvSpPr>
        <p:spPr>
          <a:xfrm>
            <a:off x="4629149" y="1681160"/>
            <a:ext cx="3887791" cy="823910"/>
          </a:xfrm>
        </p:spPr>
        <p:txBody>
          <a:bodyPr anchor="b"/>
          <a:lstStyle>
            <a:lvl1pPr>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F3FFA752-0D25-4373-99F6-1032B3F5B5AC}"/>
              </a:ext>
            </a:extLst>
          </p:cNvPr>
          <p:cNvSpPr txBox="1">
            <a:spLocks noGrp="1"/>
          </p:cNvSpPr>
          <p:nvPr>
            <p:ph idx="4"/>
          </p:nvPr>
        </p:nvSpPr>
        <p:spPr>
          <a:xfrm>
            <a:off x="4629149" y="2505071"/>
            <a:ext cx="3887791"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D8453E-D79A-41B8-8A09-94100E53746B}"/>
              </a:ext>
            </a:extLst>
          </p:cNvPr>
          <p:cNvSpPr txBox="1">
            <a:spLocks noGrp="1"/>
          </p:cNvSpPr>
          <p:nvPr>
            <p:ph type="dt" sz="half" idx="7"/>
          </p:nvPr>
        </p:nvSpPr>
        <p:spPr/>
        <p:txBody>
          <a:bodyPr/>
          <a:lstStyle>
            <a:lvl1pPr>
              <a:defRPr/>
            </a:lvl1pPr>
          </a:lstStyle>
          <a:p>
            <a:pPr lvl="0"/>
            <a:fld id="{6D6C9325-8731-4966-A0E1-39222B08CA87}" type="datetime1">
              <a:rPr lang="en-US"/>
              <a:pPr lvl="0"/>
              <a:t>4/18/2023</a:t>
            </a:fld>
            <a:endParaRPr lang="en-US"/>
          </a:p>
        </p:txBody>
      </p:sp>
      <p:sp>
        <p:nvSpPr>
          <p:cNvPr id="8" name="Footer Placeholder 7">
            <a:extLst>
              <a:ext uri="{FF2B5EF4-FFF2-40B4-BE49-F238E27FC236}">
                <a16:creationId xmlns:a16="http://schemas.microsoft.com/office/drawing/2014/main" id="{36079915-90B7-4FBB-BC38-4AB0225B7B73}"/>
              </a:ext>
            </a:extLst>
          </p:cNvPr>
          <p:cNvSpPr txBox="1">
            <a:spLocks noGrp="1"/>
          </p:cNvSpPr>
          <p:nvPr>
            <p:ph type="ftr" sz="quarter" idx="9"/>
          </p:nvPr>
        </p:nvSpPr>
        <p:spPr/>
        <p:txBody>
          <a:bodyPr/>
          <a:lstStyle>
            <a:lvl1pPr>
              <a:defRPr/>
            </a:lvl1pPr>
          </a:lstStyle>
          <a:p>
            <a:pPr lvl="0"/>
            <a:endParaRPr lang="en-US"/>
          </a:p>
        </p:txBody>
      </p:sp>
      <p:sp>
        <p:nvSpPr>
          <p:cNvPr id="9" name="Slide Number Placeholder 8">
            <a:extLst>
              <a:ext uri="{FF2B5EF4-FFF2-40B4-BE49-F238E27FC236}">
                <a16:creationId xmlns:a16="http://schemas.microsoft.com/office/drawing/2014/main" id="{9FE5053D-EA5D-42D8-9222-9351500F47BE}"/>
              </a:ext>
            </a:extLst>
          </p:cNvPr>
          <p:cNvSpPr txBox="1">
            <a:spLocks noGrp="1"/>
          </p:cNvSpPr>
          <p:nvPr>
            <p:ph type="sldNum" sz="quarter" idx="8"/>
          </p:nvPr>
        </p:nvSpPr>
        <p:spPr/>
        <p:txBody>
          <a:bodyPr/>
          <a:lstStyle>
            <a:lvl1pPr>
              <a:defRPr/>
            </a:lvl1pPr>
          </a:lstStyle>
          <a:p>
            <a:pPr lvl="0"/>
            <a:fld id="{AD5FDBCD-8DBF-45C7-8262-CD4E346E7D42}" type="slidenum">
              <a:t>‹#›</a:t>
            </a:fld>
            <a:endParaRPr lang="en-US"/>
          </a:p>
        </p:txBody>
      </p:sp>
    </p:spTree>
    <p:extLst>
      <p:ext uri="{BB962C8B-B14F-4D97-AF65-F5344CB8AC3E}">
        <p14:creationId xmlns:p14="http://schemas.microsoft.com/office/powerpoint/2010/main" val="1590123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6370E-B85B-4423-92CD-5535069F9615}"/>
              </a:ext>
            </a:extLst>
          </p:cNvPr>
          <p:cNvSpPr txBox="1">
            <a:spLocks noGrp="1"/>
          </p:cNvSpPr>
          <p:nvPr>
            <p:ph type="title"/>
          </p:nvPr>
        </p:nvSpPr>
        <p:spPr/>
        <p:txBody>
          <a:bodyPr/>
          <a:lstStyle>
            <a:lvl1pPr>
              <a:defRPr lang="en-US"/>
            </a:lvl1pPr>
          </a:lstStyle>
          <a:p>
            <a:pPr lvl="0"/>
            <a:r>
              <a:rPr lang="en-US"/>
              <a:t>Click to edit Master title style</a:t>
            </a:r>
          </a:p>
        </p:txBody>
      </p:sp>
      <p:sp>
        <p:nvSpPr>
          <p:cNvPr id="3" name="Date Placeholder 2">
            <a:extLst>
              <a:ext uri="{FF2B5EF4-FFF2-40B4-BE49-F238E27FC236}">
                <a16:creationId xmlns:a16="http://schemas.microsoft.com/office/drawing/2014/main" id="{B2C45BC2-DBC1-416E-9AB2-974914CAAE07}"/>
              </a:ext>
            </a:extLst>
          </p:cNvPr>
          <p:cNvSpPr txBox="1">
            <a:spLocks noGrp="1"/>
          </p:cNvSpPr>
          <p:nvPr>
            <p:ph type="dt" sz="half" idx="7"/>
          </p:nvPr>
        </p:nvSpPr>
        <p:spPr/>
        <p:txBody>
          <a:bodyPr/>
          <a:lstStyle>
            <a:lvl1pPr>
              <a:defRPr/>
            </a:lvl1pPr>
          </a:lstStyle>
          <a:p>
            <a:pPr lvl="0"/>
            <a:fld id="{47002F5C-4DE6-4D32-AF40-A720481D2D02}" type="datetime1">
              <a:rPr lang="en-US"/>
              <a:pPr lvl="0"/>
              <a:t>4/18/2023</a:t>
            </a:fld>
            <a:endParaRPr lang="en-US"/>
          </a:p>
        </p:txBody>
      </p:sp>
      <p:sp>
        <p:nvSpPr>
          <p:cNvPr id="4" name="Footer Placeholder 3">
            <a:extLst>
              <a:ext uri="{FF2B5EF4-FFF2-40B4-BE49-F238E27FC236}">
                <a16:creationId xmlns:a16="http://schemas.microsoft.com/office/drawing/2014/main" id="{FF731F39-1D34-41F0-8B7B-7881428CE4BE}"/>
              </a:ext>
            </a:extLst>
          </p:cNvPr>
          <p:cNvSpPr txBox="1">
            <a:spLocks noGrp="1"/>
          </p:cNvSpPr>
          <p:nvPr>
            <p:ph type="ftr" sz="quarter" idx="9"/>
          </p:nvPr>
        </p:nvSpPr>
        <p:spPr/>
        <p:txBody>
          <a:bodyPr/>
          <a:lstStyle>
            <a:lvl1pPr>
              <a:defRPr/>
            </a:lvl1pPr>
          </a:lstStyle>
          <a:p>
            <a:pPr lvl="0"/>
            <a:endParaRPr lang="en-US"/>
          </a:p>
        </p:txBody>
      </p:sp>
      <p:sp>
        <p:nvSpPr>
          <p:cNvPr id="5" name="Slide Number Placeholder 4">
            <a:extLst>
              <a:ext uri="{FF2B5EF4-FFF2-40B4-BE49-F238E27FC236}">
                <a16:creationId xmlns:a16="http://schemas.microsoft.com/office/drawing/2014/main" id="{60BEDB7F-DDA7-4645-A7C7-5439394AB76A}"/>
              </a:ext>
            </a:extLst>
          </p:cNvPr>
          <p:cNvSpPr txBox="1">
            <a:spLocks noGrp="1"/>
          </p:cNvSpPr>
          <p:nvPr>
            <p:ph type="sldNum" sz="quarter" idx="8"/>
          </p:nvPr>
        </p:nvSpPr>
        <p:spPr/>
        <p:txBody>
          <a:bodyPr/>
          <a:lstStyle>
            <a:lvl1pPr>
              <a:defRPr/>
            </a:lvl1pPr>
          </a:lstStyle>
          <a:p>
            <a:pPr lvl="0"/>
            <a:fld id="{12744EE2-00AB-4765-9FC3-DE4C0882F4E9}" type="slidenum">
              <a:t>‹#›</a:t>
            </a:fld>
            <a:endParaRPr lang="en-US"/>
          </a:p>
        </p:txBody>
      </p:sp>
    </p:spTree>
    <p:extLst>
      <p:ext uri="{BB962C8B-B14F-4D97-AF65-F5344CB8AC3E}">
        <p14:creationId xmlns:p14="http://schemas.microsoft.com/office/powerpoint/2010/main" val="1284011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6D45E0-5AD6-4D0A-82B9-7375A82E96C9}"/>
              </a:ext>
            </a:extLst>
          </p:cNvPr>
          <p:cNvSpPr txBox="1">
            <a:spLocks noGrp="1"/>
          </p:cNvSpPr>
          <p:nvPr>
            <p:ph type="dt" sz="half" idx="7"/>
          </p:nvPr>
        </p:nvSpPr>
        <p:spPr/>
        <p:txBody>
          <a:bodyPr/>
          <a:lstStyle>
            <a:lvl1pPr>
              <a:defRPr/>
            </a:lvl1pPr>
          </a:lstStyle>
          <a:p>
            <a:pPr lvl="0"/>
            <a:fld id="{4C54FA80-BF27-4A29-A907-A4CE8DA6D0A6}" type="datetime1">
              <a:rPr lang="en-US"/>
              <a:pPr lvl="0"/>
              <a:t>4/18/2023</a:t>
            </a:fld>
            <a:endParaRPr lang="en-US"/>
          </a:p>
        </p:txBody>
      </p:sp>
      <p:sp>
        <p:nvSpPr>
          <p:cNvPr id="3" name="Footer Placeholder 2">
            <a:extLst>
              <a:ext uri="{FF2B5EF4-FFF2-40B4-BE49-F238E27FC236}">
                <a16:creationId xmlns:a16="http://schemas.microsoft.com/office/drawing/2014/main" id="{1E1C3DFD-C306-4866-AFA8-9FD5AC31373D}"/>
              </a:ext>
            </a:extLst>
          </p:cNvPr>
          <p:cNvSpPr txBox="1">
            <a:spLocks noGrp="1"/>
          </p:cNvSpPr>
          <p:nvPr>
            <p:ph type="ftr" sz="quarter" idx="9"/>
          </p:nvPr>
        </p:nvSpPr>
        <p:spPr/>
        <p:txBody>
          <a:bodyPr/>
          <a:lstStyle>
            <a:lvl1pPr>
              <a:defRPr/>
            </a:lvl1pPr>
          </a:lstStyle>
          <a:p>
            <a:pPr lvl="0"/>
            <a:endParaRPr lang="en-US"/>
          </a:p>
        </p:txBody>
      </p:sp>
      <p:sp>
        <p:nvSpPr>
          <p:cNvPr id="4" name="Slide Number Placeholder 3">
            <a:extLst>
              <a:ext uri="{FF2B5EF4-FFF2-40B4-BE49-F238E27FC236}">
                <a16:creationId xmlns:a16="http://schemas.microsoft.com/office/drawing/2014/main" id="{35EB8924-2682-41FD-A74A-616354CCD49B}"/>
              </a:ext>
            </a:extLst>
          </p:cNvPr>
          <p:cNvSpPr txBox="1">
            <a:spLocks noGrp="1"/>
          </p:cNvSpPr>
          <p:nvPr>
            <p:ph type="sldNum" sz="quarter" idx="8"/>
          </p:nvPr>
        </p:nvSpPr>
        <p:spPr/>
        <p:txBody>
          <a:bodyPr/>
          <a:lstStyle>
            <a:lvl1pPr>
              <a:defRPr/>
            </a:lvl1pPr>
          </a:lstStyle>
          <a:p>
            <a:pPr lvl="0"/>
            <a:fld id="{61909CBD-BD0D-456A-90D7-D30FF05A626E}" type="slidenum">
              <a:t>‹#›</a:t>
            </a:fld>
            <a:endParaRPr lang="en-US"/>
          </a:p>
        </p:txBody>
      </p:sp>
    </p:spTree>
    <p:extLst>
      <p:ext uri="{BB962C8B-B14F-4D97-AF65-F5344CB8AC3E}">
        <p14:creationId xmlns:p14="http://schemas.microsoft.com/office/powerpoint/2010/main" val="4256570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37014-541D-43B9-8418-D16B2B030343}"/>
              </a:ext>
            </a:extLst>
          </p:cNvPr>
          <p:cNvSpPr txBox="1">
            <a:spLocks noGrp="1"/>
          </p:cNvSpPr>
          <p:nvPr>
            <p:ph type="title"/>
          </p:nvPr>
        </p:nvSpPr>
        <p:spPr>
          <a:xfrm>
            <a:off x="630241" y="457200"/>
            <a:ext cx="2949570" cy="1600200"/>
          </a:xfrm>
        </p:spPr>
        <p:txBody>
          <a:bodyPr anchor="b"/>
          <a:lstStyle>
            <a:lvl1pPr>
              <a:defRPr lang="en-US" sz="3200"/>
            </a:lvl1pPr>
          </a:lstStyle>
          <a:p>
            <a:pPr lvl="0"/>
            <a:r>
              <a:rPr lang="en-US"/>
              <a:t>Click to edit Master title style</a:t>
            </a:r>
          </a:p>
        </p:txBody>
      </p:sp>
      <p:sp>
        <p:nvSpPr>
          <p:cNvPr id="3" name="Content Placeholder 2">
            <a:extLst>
              <a:ext uri="{FF2B5EF4-FFF2-40B4-BE49-F238E27FC236}">
                <a16:creationId xmlns:a16="http://schemas.microsoft.com/office/drawing/2014/main" id="{88D53F4D-5412-4092-BF61-42C6A99F35BA}"/>
              </a:ext>
            </a:extLst>
          </p:cNvPr>
          <p:cNvSpPr txBox="1">
            <a:spLocks noGrp="1"/>
          </p:cNvSpPr>
          <p:nvPr>
            <p:ph idx="1"/>
          </p:nvPr>
        </p:nvSpPr>
        <p:spPr>
          <a:xfrm>
            <a:off x="3887791" y="987423"/>
            <a:ext cx="4629149" cy="4873623"/>
          </a:xfrm>
        </p:spPr>
        <p:txBody>
          <a:bodyPr/>
          <a:lstStyle>
            <a:lvl1pPr>
              <a:defRPr/>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DFC9DA8-2769-4967-931F-FD3F86F62602}"/>
              </a:ext>
            </a:extLst>
          </p:cNvPr>
          <p:cNvSpPr txBox="1">
            <a:spLocks noGrp="1"/>
          </p:cNvSpPr>
          <p:nvPr>
            <p:ph type="body" idx="2"/>
          </p:nvPr>
        </p:nvSpPr>
        <p:spPr>
          <a:xfrm>
            <a:off x="630241" y="2057400"/>
            <a:ext cx="2949570" cy="3811584"/>
          </a:xfrm>
        </p:spPr>
        <p:txBody>
          <a:bodyPr/>
          <a:lstStyle>
            <a:lvl1pPr>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73151125-C127-4593-9E29-B675F24E3F3E}"/>
              </a:ext>
            </a:extLst>
          </p:cNvPr>
          <p:cNvSpPr txBox="1">
            <a:spLocks noGrp="1"/>
          </p:cNvSpPr>
          <p:nvPr>
            <p:ph type="dt" sz="half" idx="7"/>
          </p:nvPr>
        </p:nvSpPr>
        <p:spPr/>
        <p:txBody>
          <a:bodyPr/>
          <a:lstStyle>
            <a:lvl1pPr>
              <a:defRPr/>
            </a:lvl1pPr>
          </a:lstStyle>
          <a:p>
            <a:pPr lvl="0"/>
            <a:fld id="{86433F7F-3841-45EA-A070-EB17DB50C5E2}" type="datetime1">
              <a:rPr lang="en-US"/>
              <a:pPr lvl="0"/>
              <a:t>4/18/2023</a:t>
            </a:fld>
            <a:endParaRPr lang="en-US"/>
          </a:p>
        </p:txBody>
      </p:sp>
      <p:sp>
        <p:nvSpPr>
          <p:cNvPr id="6" name="Footer Placeholder 5">
            <a:extLst>
              <a:ext uri="{FF2B5EF4-FFF2-40B4-BE49-F238E27FC236}">
                <a16:creationId xmlns:a16="http://schemas.microsoft.com/office/drawing/2014/main" id="{A6A6289C-77E9-4243-8C04-67334D0F186D}"/>
              </a:ext>
            </a:extLst>
          </p:cNvPr>
          <p:cNvSpPr txBox="1">
            <a:spLocks noGrp="1"/>
          </p:cNvSpPr>
          <p:nvPr>
            <p:ph type="ftr" sz="quarter" idx="9"/>
          </p:nvPr>
        </p:nvSpPr>
        <p:spPr/>
        <p:txBody>
          <a:bodyPr/>
          <a:lstStyle>
            <a:lvl1pPr>
              <a:defRPr/>
            </a:lvl1pPr>
          </a:lstStyle>
          <a:p>
            <a:pPr lvl="0"/>
            <a:endParaRPr lang="en-US"/>
          </a:p>
        </p:txBody>
      </p:sp>
      <p:sp>
        <p:nvSpPr>
          <p:cNvPr id="7" name="Slide Number Placeholder 6">
            <a:extLst>
              <a:ext uri="{FF2B5EF4-FFF2-40B4-BE49-F238E27FC236}">
                <a16:creationId xmlns:a16="http://schemas.microsoft.com/office/drawing/2014/main" id="{8E540C53-78A2-47E5-BABB-DEB44638264F}"/>
              </a:ext>
            </a:extLst>
          </p:cNvPr>
          <p:cNvSpPr txBox="1">
            <a:spLocks noGrp="1"/>
          </p:cNvSpPr>
          <p:nvPr>
            <p:ph type="sldNum" sz="quarter" idx="8"/>
          </p:nvPr>
        </p:nvSpPr>
        <p:spPr/>
        <p:txBody>
          <a:bodyPr/>
          <a:lstStyle>
            <a:lvl1pPr>
              <a:defRPr/>
            </a:lvl1pPr>
          </a:lstStyle>
          <a:p>
            <a:pPr lvl="0"/>
            <a:fld id="{24D469CD-681E-4AA2-AAE3-1886F519614B}" type="slidenum">
              <a:t>‹#›</a:t>
            </a:fld>
            <a:endParaRPr lang="en-US"/>
          </a:p>
        </p:txBody>
      </p:sp>
    </p:spTree>
    <p:extLst>
      <p:ext uri="{BB962C8B-B14F-4D97-AF65-F5344CB8AC3E}">
        <p14:creationId xmlns:p14="http://schemas.microsoft.com/office/powerpoint/2010/main" val="4086490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A6816-B42D-42D4-9D7C-F3E5C73AEEA0}"/>
              </a:ext>
            </a:extLst>
          </p:cNvPr>
          <p:cNvSpPr txBox="1">
            <a:spLocks noGrp="1"/>
          </p:cNvSpPr>
          <p:nvPr>
            <p:ph type="title"/>
          </p:nvPr>
        </p:nvSpPr>
        <p:spPr>
          <a:xfrm>
            <a:off x="630241" y="457200"/>
            <a:ext cx="2949570" cy="1600200"/>
          </a:xfrm>
        </p:spPr>
        <p:txBody>
          <a:bodyPr anchor="b"/>
          <a:lstStyle>
            <a:lvl1pPr>
              <a:defRPr lang="en-US" sz="3200"/>
            </a:lvl1pPr>
          </a:lstStyle>
          <a:p>
            <a:pPr lvl="0"/>
            <a:r>
              <a:rPr lang="en-US"/>
              <a:t>Click to edit Master title style</a:t>
            </a:r>
          </a:p>
        </p:txBody>
      </p:sp>
      <p:sp>
        <p:nvSpPr>
          <p:cNvPr id="3" name="Picture Placeholder 2">
            <a:extLst>
              <a:ext uri="{FF2B5EF4-FFF2-40B4-BE49-F238E27FC236}">
                <a16:creationId xmlns:a16="http://schemas.microsoft.com/office/drawing/2014/main" id="{C691EF9B-8FDC-480D-9F58-0E6AFA863B91}"/>
              </a:ext>
            </a:extLst>
          </p:cNvPr>
          <p:cNvSpPr txBox="1">
            <a:spLocks noGrp="1"/>
          </p:cNvSpPr>
          <p:nvPr>
            <p:ph type="pic" idx="1"/>
          </p:nvPr>
        </p:nvSpPr>
        <p:spPr>
          <a:xfrm>
            <a:off x="3887791" y="987423"/>
            <a:ext cx="4629149" cy="4873623"/>
          </a:xfrm>
        </p:spPr>
        <p:txBody>
          <a:bodyPr/>
          <a:lstStyle>
            <a:lvl1pPr>
              <a:defRPr/>
            </a:lvl1pPr>
          </a:lstStyle>
          <a:p>
            <a:pPr lvl="0"/>
            <a:endParaRPr lang="en-US"/>
          </a:p>
        </p:txBody>
      </p:sp>
      <p:sp>
        <p:nvSpPr>
          <p:cNvPr id="4" name="Text Placeholder 3">
            <a:extLst>
              <a:ext uri="{FF2B5EF4-FFF2-40B4-BE49-F238E27FC236}">
                <a16:creationId xmlns:a16="http://schemas.microsoft.com/office/drawing/2014/main" id="{79601E76-195E-4381-8FB4-58C7D864A9B9}"/>
              </a:ext>
            </a:extLst>
          </p:cNvPr>
          <p:cNvSpPr txBox="1">
            <a:spLocks noGrp="1"/>
          </p:cNvSpPr>
          <p:nvPr>
            <p:ph type="body" idx="2"/>
          </p:nvPr>
        </p:nvSpPr>
        <p:spPr>
          <a:xfrm>
            <a:off x="630241" y="2057400"/>
            <a:ext cx="2949570" cy="3811584"/>
          </a:xfrm>
        </p:spPr>
        <p:txBody>
          <a:bodyPr/>
          <a:lstStyle>
            <a:lvl1pPr>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8AFF2618-22DE-43E9-9799-7E2133456FD3}"/>
              </a:ext>
            </a:extLst>
          </p:cNvPr>
          <p:cNvSpPr txBox="1">
            <a:spLocks noGrp="1"/>
          </p:cNvSpPr>
          <p:nvPr>
            <p:ph type="dt" sz="half" idx="7"/>
          </p:nvPr>
        </p:nvSpPr>
        <p:spPr/>
        <p:txBody>
          <a:bodyPr/>
          <a:lstStyle>
            <a:lvl1pPr>
              <a:defRPr/>
            </a:lvl1pPr>
          </a:lstStyle>
          <a:p>
            <a:pPr lvl="0"/>
            <a:fld id="{3552479B-719F-40C9-94EA-0D1069A013B9}" type="datetime1">
              <a:rPr lang="en-US"/>
              <a:pPr lvl="0"/>
              <a:t>4/18/2023</a:t>
            </a:fld>
            <a:endParaRPr lang="en-US"/>
          </a:p>
        </p:txBody>
      </p:sp>
      <p:sp>
        <p:nvSpPr>
          <p:cNvPr id="6" name="Footer Placeholder 5">
            <a:extLst>
              <a:ext uri="{FF2B5EF4-FFF2-40B4-BE49-F238E27FC236}">
                <a16:creationId xmlns:a16="http://schemas.microsoft.com/office/drawing/2014/main" id="{D32181A6-B9CE-498F-92EA-9B5F5C9BC428}"/>
              </a:ext>
            </a:extLst>
          </p:cNvPr>
          <p:cNvSpPr txBox="1">
            <a:spLocks noGrp="1"/>
          </p:cNvSpPr>
          <p:nvPr>
            <p:ph type="ftr" sz="quarter" idx="9"/>
          </p:nvPr>
        </p:nvSpPr>
        <p:spPr/>
        <p:txBody>
          <a:bodyPr/>
          <a:lstStyle>
            <a:lvl1pPr>
              <a:defRPr/>
            </a:lvl1pPr>
          </a:lstStyle>
          <a:p>
            <a:pPr lvl="0"/>
            <a:endParaRPr lang="en-US"/>
          </a:p>
        </p:txBody>
      </p:sp>
      <p:sp>
        <p:nvSpPr>
          <p:cNvPr id="7" name="Slide Number Placeholder 6">
            <a:extLst>
              <a:ext uri="{FF2B5EF4-FFF2-40B4-BE49-F238E27FC236}">
                <a16:creationId xmlns:a16="http://schemas.microsoft.com/office/drawing/2014/main" id="{A4421CD9-167B-4E05-A32D-F7E7D9965D1E}"/>
              </a:ext>
            </a:extLst>
          </p:cNvPr>
          <p:cNvSpPr txBox="1">
            <a:spLocks noGrp="1"/>
          </p:cNvSpPr>
          <p:nvPr>
            <p:ph type="sldNum" sz="quarter" idx="8"/>
          </p:nvPr>
        </p:nvSpPr>
        <p:spPr/>
        <p:txBody>
          <a:bodyPr/>
          <a:lstStyle>
            <a:lvl1pPr>
              <a:defRPr/>
            </a:lvl1pPr>
          </a:lstStyle>
          <a:p>
            <a:pPr lvl="0"/>
            <a:fld id="{AB7FA1B0-F0A1-4A50-A38D-5CF8C2D6B4E7}" type="slidenum">
              <a:t>‹#›</a:t>
            </a:fld>
            <a:endParaRPr lang="en-US"/>
          </a:p>
        </p:txBody>
      </p:sp>
    </p:spTree>
    <p:extLst>
      <p:ext uri="{BB962C8B-B14F-4D97-AF65-F5344CB8AC3E}">
        <p14:creationId xmlns:p14="http://schemas.microsoft.com/office/powerpoint/2010/main" val="139648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09F9E-6259-4265-B854-11610F12F51D}"/>
              </a:ext>
            </a:extLst>
          </p:cNvPr>
          <p:cNvSpPr txBox="1">
            <a:spLocks noGrp="1"/>
          </p:cNvSpPr>
          <p:nvPr>
            <p:ph type="title"/>
          </p:nvPr>
        </p:nvSpPr>
        <p:spPr/>
        <p:txBody>
          <a:bodyPr/>
          <a:lstStyle>
            <a:lvl1pPr>
              <a:defRPr lang="en-US"/>
            </a:lvl1pPr>
          </a:lstStyle>
          <a:p>
            <a:pPr lvl="0"/>
            <a:r>
              <a:rPr lang="en-US"/>
              <a:t>Click to edit Master title style</a:t>
            </a:r>
          </a:p>
        </p:txBody>
      </p:sp>
      <p:sp>
        <p:nvSpPr>
          <p:cNvPr id="3" name="Vertical Text Placeholder 2">
            <a:extLst>
              <a:ext uri="{FF2B5EF4-FFF2-40B4-BE49-F238E27FC236}">
                <a16:creationId xmlns:a16="http://schemas.microsoft.com/office/drawing/2014/main" id="{B1595BCA-1884-4124-9FE5-7A9AB00C8A81}"/>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6C6874-0827-47B0-B4C4-CEDB8BC547E5}"/>
              </a:ext>
            </a:extLst>
          </p:cNvPr>
          <p:cNvSpPr txBox="1">
            <a:spLocks noGrp="1"/>
          </p:cNvSpPr>
          <p:nvPr>
            <p:ph type="dt" sz="half" idx="7"/>
          </p:nvPr>
        </p:nvSpPr>
        <p:spPr/>
        <p:txBody>
          <a:bodyPr/>
          <a:lstStyle>
            <a:lvl1pPr>
              <a:defRPr/>
            </a:lvl1pPr>
          </a:lstStyle>
          <a:p>
            <a:pPr lvl="0"/>
            <a:fld id="{2902E277-C5CE-4944-822A-EA17E4F00FB4}" type="datetime1">
              <a:rPr lang="en-US"/>
              <a:pPr lvl="0"/>
              <a:t>4/18/2023</a:t>
            </a:fld>
            <a:endParaRPr lang="en-US"/>
          </a:p>
        </p:txBody>
      </p:sp>
      <p:sp>
        <p:nvSpPr>
          <p:cNvPr id="5" name="Footer Placeholder 4">
            <a:extLst>
              <a:ext uri="{FF2B5EF4-FFF2-40B4-BE49-F238E27FC236}">
                <a16:creationId xmlns:a16="http://schemas.microsoft.com/office/drawing/2014/main" id="{EE7B726D-B791-4338-92BF-2367285B4F2C}"/>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B330BF92-1583-49C2-BEAB-B81CB3D9DA9C}"/>
              </a:ext>
            </a:extLst>
          </p:cNvPr>
          <p:cNvSpPr txBox="1">
            <a:spLocks noGrp="1"/>
          </p:cNvSpPr>
          <p:nvPr>
            <p:ph type="sldNum" sz="quarter" idx="8"/>
          </p:nvPr>
        </p:nvSpPr>
        <p:spPr/>
        <p:txBody>
          <a:bodyPr/>
          <a:lstStyle>
            <a:lvl1pPr>
              <a:defRPr/>
            </a:lvl1pPr>
          </a:lstStyle>
          <a:p>
            <a:pPr lvl="0"/>
            <a:fld id="{F02F3ADF-E804-4ACE-A0FD-D28161B27A46}" type="slidenum">
              <a:t>‹#›</a:t>
            </a:fld>
            <a:endParaRPr lang="en-US"/>
          </a:p>
        </p:txBody>
      </p:sp>
    </p:spTree>
    <p:extLst>
      <p:ext uri="{BB962C8B-B14F-4D97-AF65-F5344CB8AC3E}">
        <p14:creationId xmlns:p14="http://schemas.microsoft.com/office/powerpoint/2010/main" val="824285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9EA0FF-9BF4-4A58-AFB0-C5181C4BAB82}"/>
              </a:ext>
            </a:extLst>
          </p:cNvPr>
          <p:cNvSpPr txBox="1">
            <a:spLocks noGrp="1"/>
          </p:cNvSpPr>
          <p:nvPr>
            <p:ph type="title" orient="vert"/>
          </p:nvPr>
        </p:nvSpPr>
        <p:spPr>
          <a:xfrm>
            <a:off x="6515099" y="609603"/>
            <a:ext cx="1943100" cy="5486400"/>
          </a:xfrm>
        </p:spPr>
        <p:txBody>
          <a:bodyPr vert="eaVert"/>
          <a:lstStyle>
            <a:lvl1pPr>
              <a:defRPr lang="en-US"/>
            </a:lvl1pPr>
          </a:lstStyle>
          <a:p>
            <a:pPr lvl="0"/>
            <a:r>
              <a:rPr lang="en-US"/>
              <a:t>Click to edit Master title style</a:t>
            </a:r>
          </a:p>
        </p:txBody>
      </p:sp>
      <p:sp>
        <p:nvSpPr>
          <p:cNvPr id="3" name="Vertical Text Placeholder 2">
            <a:extLst>
              <a:ext uri="{FF2B5EF4-FFF2-40B4-BE49-F238E27FC236}">
                <a16:creationId xmlns:a16="http://schemas.microsoft.com/office/drawing/2014/main" id="{D75ACA52-5E7C-44D0-A35D-88F29A29B203}"/>
              </a:ext>
            </a:extLst>
          </p:cNvPr>
          <p:cNvSpPr txBox="1">
            <a:spLocks noGrp="1"/>
          </p:cNvSpPr>
          <p:nvPr>
            <p:ph type="body" orient="vert" idx="1"/>
          </p:nvPr>
        </p:nvSpPr>
        <p:spPr>
          <a:xfrm>
            <a:off x="685800" y="609603"/>
            <a:ext cx="5676896" cy="5486400"/>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480761-272E-44E5-B582-C46BE9A70976}"/>
              </a:ext>
            </a:extLst>
          </p:cNvPr>
          <p:cNvSpPr txBox="1">
            <a:spLocks noGrp="1"/>
          </p:cNvSpPr>
          <p:nvPr>
            <p:ph type="dt" sz="half" idx="7"/>
          </p:nvPr>
        </p:nvSpPr>
        <p:spPr/>
        <p:txBody>
          <a:bodyPr/>
          <a:lstStyle>
            <a:lvl1pPr>
              <a:defRPr/>
            </a:lvl1pPr>
          </a:lstStyle>
          <a:p>
            <a:pPr lvl="0"/>
            <a:fld id="{F3EA485A-DAB1-48DA-BC54-09639C51CF01}" type="datetime1">
              <a:rPr lang="en-US"/>
              <a:pPr lvl="0"/>
              <a:t>4/18/2023</a:t>
            </a:fld>
            <a:endParaRPr lang="en-US"/>
          </a:p>
        </p:txBody>
      </p:sp>
      <p:sp>
        <p:nvSpPr>
          <p:cNvPr id="5" name="Footer Placeholder 4">
            <a:extLst>
              <a:ext uri="{FF2B5EF4-FFF2-40B4-BE49-F238E27FC236}">
                <a16:creationId xmlns:a16="http://schemas.microsoft.com/office/drawing/2014/main" id="{C440C4E6-F5A5-472C-B3CB-38E90B62EAF9}"/>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CC2F6C7E-5225-4FA2-8D92-5E301A126EC8}"/>
              </a:ext>
            </a:extLst>
          </p:cNvPr>
          <p:cNvSpPr txBox="1">
            <a:spLocks noGrp="1"/>
          </p:cNvSpPr>
          <p:nvPr>
            <p:ph type="sldNum" sz="quarter" idx="8"/>
          </p:nvPr>
        </p:nvSpPr>
        <p:spPr/>
        <p:txBody>
          <a:bodyPr/>
          <a:lstStyle>
            <a:lvl1pPr>
              <a:defRPr/>
            </a:lvl1pPr>
          </a:lstStyle>
          <a:p>
            <a:pPr lvl="0"/>
            <a:fld id="{5A85FEF3-4820-4D70-A478-C3D26DE3347D}" type="slidenum">
              <a:t>‹#›</a:t>
            </a:fld>
            <a:endParaRPr lang="en-US"/>
          </a:p>
        </p:txBody>
      </p:sp>
    </p:spTree>
    <p:extLst>
      <p:ext uri="{BB962C8B-B14F-4D97-AF65-F5344CB8AC3E}">
        <p14:creationId xmlns:p14="http://schemas.microsoft.com/office/powerpoint/2010/main" val="3870529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D660E-47BD-4C28-B41F-EAEA6F40DEC6}"/>
              </a:ext>
            </a:extLst>
          </p:cNvPr>
          <p:cNvSpPr txBox="1">
            <a:spLocks noGrp="1"/>
          </p:cNvSpPr>
          <p:nvPr>
            <p:ph type="ctrTitle"/>
          </p:nvPr>
        </p:nvSpPr>
        <p:spPr>
          <a:xfrm>
            <a:off x="1143000" y="1122361"/>
            <a:ext cx="6858000" cy="2387598"/>
          </a:xfrm>
        </p:spPr>
        <p:txBody>
          <a:bodyPr anchor="b"/>
          <a:lstStyle>
            <a:lvl1pPr>
              <a:defRPr lang="en-US" sz="6000"/>
            </a:lvl1pPr>
          </a:lstStyle>
          <a:p>
            <a:pPr lvl="0"/>
            <a:r>
              <a:rPr lang="en-US"/>
              <a:t>Click to edit Master title style</a:t>
            </a:r>
          </a:p>
        </p:txBody>
      </p:sp>
      <p:sp>
        <p:nvSpPr>
          <p:cNvPr id="3" name="Subtitle 2">
            <a:extLst>
              <a:ext uri="{FF2B5EF4-FFF2-40B4-BE49-F238E27FC236}">
                <a16:creationId xmlns:a16="http://schemas.microsoft.com/office/drawing/2014/main" id="{3648E2BA-A411-4E07-BE75-1D1231804F4D}"/>
              </a:ext>
            </a:extLst>
          </p:cNvPr>
          <p:cNvSpPr txBox="1">
            <a:spLocks noGrp="1"/>
          </p:cNvSpPr>
          <p:nvPr>
            <p:ph type="subTitle" idx="1"/>
          </p:nvPr>
        </p:nvSpPr>
        <p:spPr>
          <a:xfrm>
            <a:off x="1143000" y="3602041"/>
            <a:ext cx="6858000" cy="1655758"/>
          </a:xfrm>
        </p:spPr>
        <p:txBody>
          <a:bodyPr anchorCtr="1"/>
          <a:lstStyle>
            <a:lvl1pPr algn="ctr">
              <a:defRPr sz="2400"/>
            </a:lvl1pPr>
          </a:lstStyle>
          <a:p>
            <a:pPr lvl="0"/>
            <a:r>
              <a:rPr lang="en-US"/>
              <a:t>Click to edit Master subtitle style</a:t>
            </a:r>
          </a:p>
        </p:txBody>
      </p:sp>
      <p:sp>
        <p:nvSpPr>
          <p:cNvPr id="4" name="Date Placeholder 3">
            <a:extLst>
              <a:ext uri="{FF2B5EF4-FFF2-40B4-BE49-F238E27FC236}">
                <a16:creationId xmlns:a16="http://schemas.microsoft.com/office/drawing/2014/main" id="{0687FEA2-7ADA-4DFF-8AAA-770F42EAF48E}"/>
              </a:ext>
            </a:extLst>
          </p:cNvPr>
          <p:cNvSpPr txBox="1">
            <a:spLocks noGrp="1"/>
          </p:cNvSpPr>
          <p:nvPr>
            <p:ph type="dt" sz="half" idx="7"/>
          </p:nvPr>
        </p:nvSpPr>
        <p:spPr/>
        <p:txBody>
          <a:bodyPr/>
          <a:lstStyle>
            <a:lvl1pPr>
              <a:defRPr/>
            </a:lvl1pPr>
          </a:lstStyle>
          <a:p>
            <a:pPr lvl="0"/>
            <a:fld id="{95ECFE5A-F2F9-49FF-88CB-3144215EEBEE}" type="datetime1">
              <a:rPr lang="en-US"/>
              <a:pPr lvl="0"/>
              <a:t>4/18/2023</a:t>
            </a:fld>
            <a:endParaRPr lang="en-US"/>
          </a:p>
        </p:txBody>
      </p:sp>
      <p:sp>
        <p:nvSpPr>
          <p:cNvPr id="5" name="Slide Number Placeholder 4">
            <a:extLst>
              <a:ext uri="{FF2B5EF4-FFF2-40B4-BE49-F238E27FC236}">
                <a16:creationId xmlns:a16="http://schemas.microsoft.com/office/drawing/2014/main" id="{CA478271-6754-4228-86A1-A3EECB200147}"/>
              </a:ext>
            </a:extLst>
          </p:cNvPr>
          <p:cNvSpPr txBox="1">
            <a:spLocks noGrp="1"/>
          </p:cNvSpPr>
          <p:nvPr>
            <p:ph type="sldNum" sz="quarter" idx="8"/>
          </p:nvPr>
        </p:nvSpPr>
        <p:spPr/>
        <p:txBody>
          <a:bodyPr/>
          <a:lstStyle>
            <a:lvl1pPr>
              <a:defRPr/>
            </a:lvl1pPr>
          </a:lstStyle>
          <a:p>
            <a:pPr lvl="0"/>
            <a:fld id="{BB16EBB5-ABB8-4240-87C6-891EC6C6072D}" type="slidenum">
              <a:t>‹#›</a:t>
            </a:fld>
            <a:endParaRPr lang="en-US"/>
          </a:p>
        </p:txBody>
      </p:sp>
    </p:spTree>
    <p:extLst>
      <p:ext uri="{BB962C8B-B14F-4D97-AF65-F5344CB8AC3E}">
        <p14:creationId xmlns:p14="http://schemas.microsoft.com/office/powerpoint/2010/main" val="39475712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EF181-8970-48F0-AC23-B9E4CFE289D9}"/>
              </a:ext>
            </a:extLst>
          </p:cNvPr>
          <p:cNvSpPr txBox="1">
            <a:spLocks noGrp="1"/>
          </p:cNvSpPr>
          <p:nvPr>
            <p:ph type="title"/>
          </p:nvPr>
        </p:nvSpPr>
        <p:spPr/>
        <p:txBody>
          <a:bodyPr/>
          <a:lstStyle>
            <a:lvl1pPr>
              <a:defRPr lang="en-US"/>
            </a:lvl1pPr>
          </a:lstStyle>
          <a:p>
            <a:pPr lvl="0"/>
            <a:r>
              <a:rPr lang="en-US"/>
              <a:t>Click to edit Master title style</a:t>
            </a:r>
          </a:p>
        </p:txBody>
      </p:sp>
      <p:sp>
        <p:nvSpPr>
          <p:cNvPr id="3" name="Content Placeholder 2">
            <a:extLst>
              <a:ext uri="{FF2B5EF4-FFF2-40B4-BE49-F238E27FC236}">
                <a16:creationId xmlns:a16="http://schemas.microsoft.com/office/drawing/2014/main" id="{B3B4BC5A-6381-48B7-B86B-1D8AAC720828}"/>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B138EF-AAF3-41F4-8E45-16F252C503F6}"/>
              </a:ext>
            </a:extLst>
          </p:cNvPr>
          <p:cNvSpPr txBox="1">
            <a:spLocks noGrp="1"/>
          </p:cNvSpPr>
          <p:nvPr>
            <p:ph type="dt" sz="half" idx="7"/>
          </p:nvPr>
        </p:nvSpPr>
        <p:spPr/>
        <p:txBody>
          <a:bodyPr/>
          <a:lstStyle>
            <a:lvl1pPr>
              <a:defRPr/>
            </a:lvl1pPr>
          </a:lstStyle>
          <a:p>
            <a:pPr lvl="0"/>
            <a:fld id="{C8EEE732-1758-4EB1-A1BB-92101516FB5E}" type="datetime1">
              <a:rPr lang="en-US"/>
              <a:pPr lvl="0"/>
              <a:t>4/18/2023</a:t>
            </a:fld>
            <a:endParaRPr lang="en-US"/>
          </a:p>
        </p:txBody>
      </p:sp>
      <p:sp>
        <p:nvSpPr>
          <p:cNvPr id="5" name="Slide Number Placeholder 4">
            <a:extLst>
              <a:ext uri="{FF2B5EF4-FFF2-40B4-BE49-F238E27FC236}">
                <a16:creationId xmlns:a16="http://schemas.microsoft.com/office/drawing/2014/main" id="{6D6BCA91-6912-4A16-9091-A58D00243C9D}"/>
              </a:ext>
            </a:extLst>
          </p:cNvPr>
          <p:cNvSpPr txBox="1">
            <a:spLocks noGrp="1"/>
          </p:cNvSpPr>
          <p:nvPr>
            <p:ph type="sldNum" sz="quarter" idx="8"/>
          </p:nvPr>
        </p:nvSpPr>
        <p:spPr/>
        <p:txBody>
          <a:bodyPr/>
          <a:lstStyle>
            <a:lvl1pPr>
              <a:defRPr/>
            </a:lvl1pPr>
          </a:lstStyle>
          <a:p>
            <a:pPr lvl="0"/>
            <a:fld id="{C39838FF-6CBC-4E76-AA21-1C9E22681AF0}" type="slidenum">
              <a:t>‹#›</a:t>
            </a:fld>
            <a:endParaRPr lang="en-US"/>
          </a:p>
        </p:txBody>
      </p:sp>
    </p:spTree>
    <p:extLst>
      <p:ext uri="{BB962C8B-B14F-4D97-AF65-F5344CB8AC3E}">
        <p14:creationId xmlns:p14="http://schemas.microsoft.com/office/powerpoint/2010/main" val="8998988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9FF52-BCE3-4F40-B3F1-F87730104451}"/>
              </a:ext>
            </a:extLst>
          </p:cNvPr>
          <p:cNvSpPr txBox="1">
            <a:spLocks noGrp="1"/>
          </p:cNvSpPr>
          <p:nvPr>
            <p:ph type="title"/>
          </p:nvPr>
        </p:nvSpPr>
        <p:spPr>
          <a:xfrm>
            <a:off x="623885" y="1709735"/>
            <a:ext cx="7886700" cy="2852735"/>
          </a:xfrm>
        </p:spPr>
        <p:txBody>
          <a:bodyPr anchor="b"/>
          <a:lstStyle>
            <a:lvl1pPr>
              <a:defRPr lang="en-US" sz="6000"/>
            </a:lvl1pPr>
          </a:lstStyle>
          <a:p>
            <a:pPr lvl="0"/>
            <a:r>
              <a:rPr lang="en-US"/>
              <a:t>Click to edit Master title style</a:t>
            </a:r>
          </a:p>
        </p:txBody>
      </p:sp>
      <p:sp>
        <p:nvSpPr>
          <p:cNvPr id="3" name="Text Placeholder 2">
            <a:extLst>
              <a:ext uri="{FF2B5EF4-FFF2-40B4-BE49-F238E27FC236}">
                <a16:creationId xmlns:a16="http://schemas.microsoft.com/office/drawing/2014/main" id="{7D974FA3-FA98-487B-97D5-EA24916209A2}"/>
              </a:ext>
            </a:extLst>
          </p:cNvPr>
          <p:cNvSpPr txBox="1">
            <a:spLocks noGrp="1"/>
          </p:cNvSpPr>
          <p:nvPr>
            <p:ph type="body" idx="1"/>
          </p:nvPr>
        </p:nvSpPr>
        <p:spPr>
          <a:xfrm>
            <a:off x="623885" y="4589465"/>
            <a:ext cx="7886700" cy="1500182"/>
          </a:xfrm>
        </p:spPr>
        <p:txBody>
          <a:bodyPr/>
          <a:lstStyle>
            <a:lvl1pPr>
              <a:defRPr sz="2400">
                <a:solidFill>
                  <a:srgbClr val="898989"/>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1BDA514D-DAE4-4582-8164-7C5B54083E81}"/>
              </a:ext>
            </a:extLst>
          </p:cNvPr>
          <p:cNvSpPr txBox="1">
            <a:spLocks noGrp="1"/>
          </p:cNvSpPr>
          <p:nvPr>
            <p:ph type="dt" sz="half" idx="7"/>
          </p:nvPr>
        </p:nvSpPr>
        <p:spPr/>
        <p:txBody>
          <a:bodyPr/>
          <a:lstStyle>
            <a:lvl1pPr>
              <a:defRPr/>
            </a:lvl1pPr>
          </a:lstStyle>
          <a:p>
            <a:pPr lvl="0"/>
            <a:fld id="{BB510B25-D5F0-4D91-B0A9-E9811E1F50A2}" type="datetime1">
              <a:rPr lang="en-US"/>
              <a:pPr lvl="0"/>
              <a:t>4/18/2023</a:t>
            </a:fld>
            <a:endParaRPr lang="en-US"/>
          </a:p>
        </p:txBody>
      </p:sp>
      <p:sp>
        <p:nvSpPr>
          <p:cNvPr id="5" name="Slide Number Placeholder 4">
            <a:extLst>
              <a:ext uri="{FF2B5EF4-FFF2-40B4-BE49-F238E27FC236}">
                <a16:creationId xmlns:a16="http://schemas.microsoft.com/office/drawing/2014/main" id="{362AB40B-FF04-4940-AFF1-0F5F42033CFF}"/>
              </a:ext>
            </a:extLst>
          </p:cNvPr>
          <p:cNvSpPr txBox="1">
            <a:spLocks noGrp="1"/>
          </p:cNvSpPr>
          <p:nvPr>
            <p:ph type="sldNum" sz="quarter" idx="8"/>
          </p:nvPr>
        </p:nvSpPr>
        <p:spPr/>
        <p:txBody>
          <a:bodyPr/>
          <a:lstStyle>
            <a:lvl1pPr>
              <a:defRPr/>
            </a:lvl1pPr>
          </a:lstStyle>
          <a:p>
            <a:pPr lvl="0"/>
            <a:fld id="{2B5868C2-0A90-4814-9792-6E24B39E9F51}" type="slidenum">
              <a:t>‹#›</a:t>
            </a:fld>
            <a:endParaRPr lang="en-US"/>
          </a:p>
        </p:txBody>
      </p:sp>
    </p:spTree>
    <p:extLst>
      <p:ext uri="{BB962C8B-B14F-4D97-AF65-F5344CB8AC3E}">
        <p14:creationId xmlns:p14="http://schemas.microsoft.com/office/powerpoint/2010/main" val="2702365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3C0FA-415A-470A-864E-EAF962881AA1}"/>
              </a:ext>
            </a:extLst>
          </p:cNvPr>
          <p:cNvSpPr txBox="1">
            <a:spLocks noGrp="1"/>
          </p:cNvSpPr>
          <p:nvPr>
            <p:ph type="title"/>
          </p:nvPr>
        </p:nvSpPr>
        <p:spPr/>
        <p:txBody>
          <a:bodyPr/>
          <a:lstStyle>
            <a:lvl1pPr>
              <a:defRPr lang="en-US"/>
            </a:lvl1pPr>
          </a:lstStyle>
          <a:p>
            <a:pPr lvl="0"/>
            <a:r>
              <a:rPr lang="en-US"/>
              <a:t>Click to edit Master title style</a:t>
            </a:r>
          </a:p>
        </p:txBody>
      </p:sp>
      <p:sp>
        <p:nvSpPr>
          <p:cNvPr id="3" name="Content Placeholder 2">
            <a:extLst>
              <a:ext uri="{FF2B5EF4-FFF2-40B4-BE49-F238E27FC236}">
                <a16:creationId xmlns:a16="http://schemas.microsoft.com/office/drawing/2014/main" id="{507A492F-5CC5-49AB-9A3D-409B553AF1FB}"/>
              </a:ext>
            </a:extLst>
          </p:cNvPr>
          <p:cNvSpPr txBox="1">
            <a:spLocks noGrp="1"/>
          </p:cNvSpPr>
          <p:nvPr>
            <p:ph idx="1"/>
          </p:nvPr>
        </p:nvSpPr>
        <p:spPr>
          <a:xfrm>
            <a:off x="685800" y="1981203"/>
            <a:ext cx="3810003" cy="4114800"/>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48EFBA-7616-4694-BCF6-10CA8F4F2B30}"/>
              </a:ext>
            </a:extLst>
          </p:cNvPr>
          <p:cNvSpPr txBox="1">
            <a:spLocks noGrp="1"/>
          </p:cNvSpPr>
          <p:nvPr>
            <p:ph idx="2"/>
          </p:nvPr>
        </p:nvSpPr>
        <p:spPr>
          <a:xfrm>
            <a:off x="4648196" y="1981203"/>
            <a:ext cx="3810003" cy="4114800"/>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647CFB-AA08-455E-B897-E7FCCFF48F76}"/>
              </a:ext>
            </a:extLst>
          </p:cNvPr>
          <p:cNvSpPr txBox="1">
            <a:spLocks noGrp="1"/>
          </p:cNvSpPr>
          <p:nvPr>
            <p:ph type="dt" sz="half" idx="7"/>
          </p:nvPr>
        </p:nvSpPr>
        <p:spPr/>
        <p:txBody>
          <a:bodyPr/>
          <a:lstStyle>
            <a:lvl1pPr>
              <a:defRPr/>
            </a:lvl1pPr>
          </a:lstStyle>
          <a:p>
            <a:pPr lvl="0"/>
            <a:fld id="{7E04D7B1-84AE-4414-8388-A23F291B8132}" type="datetime1">
              <a:rPr lang="en-US"/>
              <a:pPr lvl="0"/>
              <a:t>4/18/2023</a:t>
            </a:fld>
            <a:endParaRPr lang="en-US"/>
          </a:p>
        </p:txBody>
      </p:sp>
      <p:sp>
        <p:nvSpPr>
          <p:cNvPr id="6" name="Slide Number Placeholder 5">
            <a:extLst>
              <a:ext uri="{FF2B5EF4-FFF2-40B4-BE49-F238E27FC236}">
                <a16:creationId xmlns:a16="http://schemas.microsoft.com/office/drawing/2014/main" id="{E0DDBF26-F0BE-4337-AD69-D33137647479}"/>
              </a:ext>
            </a:extLst>
          </p:cNvPr>
          <p:cNvSpPr txBox="1">
            <a:spLocks noGrp="1"/>
          </p:cNvSpPr>
          <p:nvPr>
            <p:ph type="sldNum" sz="quarter" idx="8"/>
          </p:nvPr>
        </p:nvSpPr>
        <p:spPr/>
        <p:txBody>
          <a:bodyPr/>
          <a:lstStyle>
            <a:lvl1pPr>
              <a:defRPr/>
            </a:lvl1pPr>
          </a:lstStyle>
          <a:p>
            <a:pPr lvl="0"/>
            <a:fld id="{F352A3C0-42AE-41C1-B632-BF899D34B845}" type="slidenum">
              <a:t>‹#›</a:t>
            </a:fld>
            <a:endParaRPr lang="en-US"/>
          </a:p>
        </p:txBody>
      </p:sp>
    </p:spTree>
    <p:extLst>
      <p:ext uri="{BB962C8B-B14F-4D97-AF65-F5344CB8AC3E}">
        <p14:creationId xmlns:p14="http://schemas.microsoft.com/office/powerpoint/2010/main" val="22260409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0A01C-024F-4D7F-A973-99BF773ADB34}"/>
              </a:ext>
            </a:extLst>
          </p:cNvPr>
          <p:cNvSpPr txBox="1">
            <a:spLocks noGrp="1"/>
          </p:cNvSpPr>
          <p:nvPr>
            <p:ph type="title"/>
          </p:nvPr>
        </p:nvSpPr>
        <p:spPr>
          <a:xfrm>
            <a:off x="630241" y="365129"/>
            <a:ext cx="7886700" cy="1325559"/>
          </a:xfrm>
        </p:spPr>
        <p:txBody>
          <a:bodyPr/>
          <a:lstStyle>
            <a:lvl1pPr>
              <a:defRPr lang="en-US"/>
            </a:lvl1pPr>
          </a:lstStyle>
          <a:p>
            <a:pPr lvl="0"/>
            <a:r>
              <a:rPr lang="en-US"/>
              <a:t>Click to edit Master title style</a:t>
            </a:r>
          </a:p>
        </p:txBody>
      </p:sp>
      <p:sp>
        <p:nvSpPr>
          <p:cNvPr id="3" name="Text Placeholder 2">
            <a:extLst>
              <a:ext uri="{FF2B5EF4-FFF2-40B4-BE49-F238E27FC236}">
                <a16:creationId xmlns:a16="http://schemas.microsoft.com/office/drawing/2014/main" id="{CDD77597-6439-479D-A8ED-6FE95C247162}"/>
              </a:ext>
            </a:extLst>
          </p:cNvPr>
          <p:cNvSpPr txBox="1">
            <a:spLocks noGrp="1"/>
          </p:cNvSpPr>
          <p:nvPr>
            <p:ph type="body" idx="1"/>
          </p:nvPr>
        </p:nvSpPr>
        <p:spPr>
          <a:xfrm>
            <a:off x="630241" y="1681160"/>
            <a:ext cx="3868734" cy="823910"/>
          </a:xfrm>
        </p:spPr>
        <p:txBody>
          <a:bodyPr anchor="b"/>
          <a:lstStyle>
            <a:lvl1pPr>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6B8E50A2-E529-4FF0-B416-BD36305F4DDE}"/>
              </a:ext>
            </a:extLst>
          </p:cNvPr>
          <p:cNvSpPr txBox="1">
            <a:spLocks noGrp="1"/>
          </p:cNvSpPr>
          <p:nvPr>
            <p:ph idx="2"/>
          </p:nvPr>
        </p:nvSpPr>
        <p:spPr>
          <a:xfrm>
            <a:off x="630241" y="2505071"/>
            <a:ext cx="3868734"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B24D11-3BF4-44EC-9CC1-0FE1AB488E1D}"/>
              </a:ext>
            </a:extLst>
          </p:cNvPr>
          <p:cNvSpPr txBox="1">
            <a:spLocks noGrp="1"/>
          </p:cNvSpPr>
          <p:nvPr>
            <p:ph type="body" idx="3"/>
          </p:nvPr>
        </p:nvSpPr>
        <p:spPr>
          <a:xfrm>
            <a:off x="4629149" y="1681160"/>
            <a:ext cx="3887791" cy="823910"/>
          </a:xfrm>
        </p:spPr>
        <p:txBody>
          <a:bodyPr anchor="b"/>
          <a:lstStyle>
            <a:lvl1pPr>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C8A7D376-7006-420C-B7DB-36E3380CBD67}"/>
              </a:ext>
            </a:extLst>
          </p:cNvPr>
          <p:cNvSpPr txBox="1">
            <a:spLocks noGrp="1"/>
          </p:cNvSpPr>
          <p:nvPr>
            <p:ph idx="4"/>
          </p:nvPr>
        </p:nvSpPr>
        <p:spPr>
          <a:xfrm>
            <a:off x="4629149" y="2505071"/>
            <a:ext cx="3887791"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855592-0157-4567-81E8-135D28525591}"/>
              </a:ext>
            </a:extLst>
          </p:cNvPr>
          <p:cNvSpPr txBox="1">
            <a:spLocks noGrp="1"/>
          </p:cNvSpPr>
          <p:nvPr>
            <p:ph type="dt" sz="half" idx="7"/>
          </p:nvPr>
        </p:nvSpPr>
        <p:spPr/>
        <p:txBody>
          <a:bodyPr/>
          <a:lstStyle>
            <a:lvl1pPr>
              <a:defRPr/>
            </a:lvl1pPr>
          </a:lstStyle>
          <a:p>
            <a:pPr lvl="0"/>
            <a:fld id="{385316E8-A9E1-4653-B603-98B511E5EC6F}" type="datetime1">
              <a:rPr lang="en-US"/>
              <a:pPr lvl="0"/>
              <a:t>4/18/2023</a:t>
            </a:fld>
            <a:endParaRPr lang="en-US"/>
          </a:p>
        </p:txBody>
      </p:sp>
      <p:sp>
        <p:nvSpPr>
          <p:cNvPr id="8" name="Slide Number Placeholder 7">
            <a:extLst>
              <a:ext uri="{FF2B5EF4-FFF2-40B4-BE49-F238E27FC236}">
                <a16:creationId xmlns:a16="http://schemas.microsoft.com/office/drawing/2014/main" id="{E4174A7C-1B7F-460F-B346-4FEF2DABBA19}"/>
              </a:ext>
            </a:extLst>
          </p:cNvPr>
          <p:cNvSpPr txBox="1">
            <a:spLocks noGrp="1"/>
          </p:cNvSpPr>
          <p:nvPr>
            <p:ph type="sldNum" sz="quarter" idx="8"/>
          </p:nvPr>
        </p:nvSpPr>
        <p:spPr/>
        <p:txBody>
          <a:bodyPr/>
          <a:lstStyle>
            <a:lvl1pPr>
              <a:defRPr/>
            </a:lvl1pPr>
          </a:lstStyle>
          <a:p>
            <a:pPr lvl="0"/>
            <a:fld id="{56AA8529-CBAE-4E87-9D73-1701A07EA8EC}" type="slidenum">
              <a:t>‹#›</a:t>
            </a:fld>
            <a:endParaRPr lang="en-US"/>
          </a:p>
        </p:txBody>
      </p:sp>
    </p:spTree>
    <p:extLst>
      <p:ext uri="{BB962C8B-B14F-4D97-AF65-F5344CB8AC3E}">
        <p14:creationId xmlns:p14="http://schemas.microsoft.com/office/powerpoint/2010/main" val="8168321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C0C89-6FD3-47B1-B4A7-B9881344CE1E}"/>
              </a:ext>
            </a:extLst>
          </p:cNvPr>
          <p:cNvSpPr txBox="1">
            <a:spLocks noGrp="1"/>
          </p:cNvSpPr>
          <p:nvPr>
            <p:ph type="title"/>
          </p:nvPr>
        </p:nvSpPr>
        <p:spPr/>
        <p:txBody>
          <a:bodyPr/>
          <a:lstStyle>
            <a:lvl1pPr>
              <a:defRPr lang="en-US"/>
            </a:lvl1pPr>
          </a:lstStyle>
          <a:p>
            <a:pPr lvl="0"/>
            <a:r>
              <a:rPr lang="en-US"/>
              <a:t>Click to edit Master title style</a:t>
            </a:r>
          </a:p>
        </p:txBody>
      </p:sp>
      <p:sp>
        <p:nvSpPr>
          <p:cNvPr id="3" name="Date Placeholder 2">
            <a:extLst>
              <a:ext uri="{FF2B5EF4-FFF2-40B4-BE49-F238E27FC236}">
                <a16:creationId xmlns:a16="http://schemas.microsoft.com/office/drawing/2014/main" id="{ACB9D41E-8717-4401-A91C-3DD7D0A1812F}"/>
              </a:ext>
            </a:extLst>
          </p:cNvPr>
          <p:cNvSpPr txBox="1">
            <a:spLocks noGrp="1"/>
          </p:cNvSpPr>
          <p:nvPr>
            <p:ph type="dt" sz="half" idx="7"/>
          </p:nvPr>
        </p:nvSpPr>
        <p:spPr/>
        <p:txBody>
          <a:bodyPr/>
          <a:lstStyle>
            <a:lvl1pPr>
              <a:defRPr/>
            </a:lvl1pPr>
          </a:lstStyle>
          <a:p>
            <a:pPr lvl="0"/>
            <a:fld id="{7D81A234-4FD5-4A05-93BC-1E7B44992701}" type="datetime1">
              <a:rPr lang="en-US"/>
              <a:pPr lvl="0"/>
              <a:t>4/18/2023</a:t>
            </a:fld>
            <a:endParaRPr lang="en-US"/>
          </a:p>
        </p:txBody>
      </p:sp>
      <p:sp>
        <p:nvSpPr>
          <p:cNvPr id="4" name="Slide Number Placeholder 3">
            <a:extLst>
              <a:ext uri="{FF2B5EF4-FFF2-40B4-BE49-F238E27FC236}">
                <a16:creationId xmlns:a16="http://schemas.microsoft.com/office/drawing/2014/main" id="{F7C8278D-E035-4FE0-AB7E-E67492E46612}"/>
              </a:ext>
            </a:extLst>
          </p:cNvPr>
          <p:cNvSpPr txBox="1">
            <a:spLocks noGrp="1"/>
          </p:cNvSpPr>
          <p:nvPr>
            <p:ph type="sldNum" sz="quarter" idx="8"/>
          </p:nvPr>
        </p:nvSpPr>
        <p:spPr/>
        <p:txBody>
          <a:bodyPr/>
          <a:lstStyle>
            <a:lvl1pPr>
              <a:defRPr/>
            </a:lvl1pPr>
          </a:lstStyle>
          <a:p>
            <a:pPr lvl="0"/>
            <a:fld id="{C161ECA7-000C-470F-A20F-05CF69B3A2F3}" type="slidenum">
              <a:t>‹#›</a:t>
            </a:fld>
            <a:endParaRPr lang="en-US"/>
          </a:p>
        </p:txBody>
      </p:sp>
    </p:spTree>
    <p:extLst>
      <p:ext uri="{BB962C8B-B14F-4D97-AF65-F5344CB8AC3E}">
        <p14:creationId xmlns:p14="http://schemas.microsoft.com/office/powerpoint/2010/main" val="23004478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FF3CF0-FEDC-4734-8B9B-93DB8BAAECE9}"/>
              </a:ext>
            </a:extLst>
          </p:cNvPr>
          <p:cNvSpPr txBox="1">
            <a:spLocks noGrp="1"/>
          </p:cNvSpPr>
          <p:nvPr>
            <p:ph type="dt" sz="half" idx="7"/>
          </p:nvPr>
        </p:nvSpPr>
        <p:spPr/>
        <p:txBody>
          <a:bodyPr/>
          <a:lstStyle>
            <a:lvl1pPr>
              <a:defRPr/>
            </a:lvl1pPr>
          </a:lstStyle>
          <a:p>
            <a:pPr lvl="0"/>
            <a:fld id="{E3083139-B0BE-4A6D-8F19-57D48AB593C5}" type="datetime1">
              <a:rPr lang="en-US"/>
              <a:pPr lvl="0"/>
              <a:t>4/18/2023</a:t>
            </a:fld>
            <a:endParaRPr lang="en-US"/>
          </a:p>
        </p:txBody>
      </p:sp>
      <p:sp>
        <p:nvSpPr>
          <p:cNvPr id="3" name="Slide Number Placeholder 2">
            <a:extLst>
              <a:ext uri="{FF2B5EF4-FFF2-40B4-BE49-F238E27FC236}">
                <a16:creationId xmlns:a16="http://schemas.microsoft.com/office/drawing/2014/main" id="{0F79E7E6-70E8-469F-B328-3B20DE47A43F}"/>
              </a:ext>
            </a:extLst>
          </p:cNvPr>
          <p:cNvSpPr txBox="1">
            <a:spLocks noGrp="1"/>
          </p:cNvSpPr>
          <p:nvPr>
            <p:ph type="sldNum" sz="quarter" idx="8"/>
          </p:nvPr>
        </p:nvSpPr>
        <p:spPr/>
        <p:txBody>
          <a:bodyPr/>
          <a:lstStyle>
            <a:lvl1pPr>
              <a:defRPr/>
            </a:lvl1pPr>
          </a:lstStyle>
          <a:p>
            <a:pPr lvl="0"/>
            <a:fld id="{7B4A2497-3FAF-4701-B68D-9A187F922E99}" type="slidenum">
              <a:t>‹#›</a:t>
            </a:fld>
            <a:endParaRPr lang="en-US"/>
          </a:p>
        </p:txBody>
      </p:sp>
    </p:spTree>
    <p:extLst>
      <p:ext uri="{BB962C8B-B14F-4D97-AF65-F5344CB8AC3E}">
        <p14:creationId xmlns:p14="http://schemas.microsoft.com/office/powerpoint/2010/main" val="2026687463"/>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C29B3-E939-4D6E-B735-51374B962480}"/>
              </a:ext>
            </a:extLst>
          </p:cNvPr>
          <p:cNvSpPr txBox="1">
            <a:spLocks noGrp="1"/>
          </p:cNvSpPr>
          <p:nvPr>
            <p:ph type="title"/>
          </p:nvPr>
        </p:nvSpPr>
        <p:spPr>
          <a:xfrm>
            <a:off x="630241" y="457200"/>
            <a:ext cx="2949570" cy="1600200"/>
          </a:xfrm>
        </p:spPr>
        <p:txBody>
          <a:bodyPr anchor="b"/>
          <a:lstStyle>
            <a:lvl1pPr>
              <a:defRPr lang="en-US" sz="3200"/>
            </a:lvl1pPr>
          </a:lstStyle>
          <a:p>
            <a:pPr lvl="0"/>
            <a:r>
              <a:rPr lang="en-US"/>
              <a:t>Click to edit Master title style</a:t>
            </a:r>
          </a:p>
        </p:txBody>
      </p:sp>
      <p:sp>
        <p:nvSpPr>
          <p:cNvPr id="3" name="Content Placeholder 2">
            <a:extLst>
              <a:ext uri="{FF2B5EF4-FFF2-40B4-BE49-F238E27FC236}">
                <a16:creationId xmlns:a16="http://schemas.microsoft.com/office/drawing/2014/main" id="{86BF2947-2C07-4BBA-9451-9D858EA6FC71}"/>
              </a:ext>
            </a:extLst>
          </p:cNvPr>
          <p:cNvSpPr txBox="1">
            <a:spLocks noGrp="1"/>
          </p:cNvSpPr>
          <p:nvPr>
            <p:ph idx="1"/>
          </p:nvPr>
        </p:nvSpPr>
        <p:spPr>
          <a:xfrm>
            <a:off x="3887791" y="987423"/>
            <a:ext cx="4629149" cy="4873623"/>
          </a:xfrm>
        </p:spPr>
        <p:txBody>
          <a:bodyPr/>
          <a:lstStyle>
            <a:lvl1pPr>
              <a:defRPr/>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00CA1FE-5BD1-4A15-B750-48371900868C}"/>
              </a:ext>
            </a:extLst>
          </p:cNvPr>
          <p:cNvSpPr txBox="1">
            <a:spLocks noGrp="1"/>
          </p:cNvSpPr>
          <p:nvPr>
            <p:ph type="body" idx="2"/>
          </p:nvPr>
        </p:nvSpPr>
        <p:spPr>
          <a:xfrm>
            <a:off x="630241" y="2057400"/>
            <a:ext cx="2949570" cy="3811584"/>
          </a:xfrm>
        </p:spPr>
        <p:txBody>
          <a:bodyPr/>
          <a:lstStyle>
            <a:lvl1pPr>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75BC7BDB-BED8-4F68-BFF7-82ECA8A9B9B2}"/>
              </a:ext>
            </a:extLst>
          </p:cNvPr>
          <p:cNvSpPr txBox="1">
            <a:spLocks noGrp="1"/>
          </p:cNvSpPr>
          <p:nvPr>
            <p:ph type="dt" sz="half" idx="7"/>
          </p:nvPr>
        </p:nvSpPr>
        <p:spPr/>
        <p:txBody>
          <a:bodyPr/>
          <a:lstStyle>
            <a:lvl1pPr>
              <a:defRPr/>
            </a:lvl1pPr>
          </a:lstStyle>
          <a:p>
            <a:pPr lvl="0"/>
            <a:fld id="{B1CDF910-D6F1-4964-9406-D847699F84DD}" type="datetime1">
              <a:rPr lang="en-US"/>
              <a:pPr lvl="0"/>
              <a:t>4/18/2023</a:t>
            </a:fld>
            <a:endParaRPr lang="en-US"/>
          </a:p>
        </p:txBody>
      </p:sp>
      <p:sp>
        <p:nvSpPr>
          <p:cNvPr id="6" name="Slide Number Placeholder 5">
            <a:extLst>
              <a:ext uri="{FF2B5EF4-FFF2-40B4-BE49-F238E27FC236}">
                <a16:creationId xmlns:a16="http://schemas.microsoft.com/office/drawing/2014/main" id="{D7595129-14BF-4218-BB7F-088AC79EB6A2}"/>
              </a:ext>
            </a:extLst>
          </p:cNvPr>
          <p:cNvSpPr txBox="1">
            <a:spLocks noGrp="1"/>
          </p:cNvSpPr>
          <p:nvPr>
            <p:ph type="sldNum" sz="quarter" idx="8"/>
          </p:nvPr>
        </p:nvSpPr>
        <p:spPr/>
        <p:txBody>
          <a:bodyPr/>
          <a:lstStyle>
            <a:lvl1pPr>
              <a:defRPr/>
            </a:lvl1pPr>
          </a:lstStyle>
          <a:p>
            <a:pPr lvl="0"/>
            <a:fld id="{D9ACF2A8-6209-4622-A1FA-3FE4FFB1A7C3}" type="slidenum">
              <a:t>‹#›</a:t>
            </a:fld>
            <a:endParaRPr lang="en-US"/>
          </a:p>
        </p:txBody>
      </p:sp>
    </p:spTree>
    <p:extLst>
      <p:ext uri="{BB962C8B-B14F-4D97-AF65-F5344CB8AC3E}">
        <p14:creationId xmlns:p14="http://schemas.microsoft.com/office/powerpoint/2010/main" val="33426935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37095-FFCC-420B-9617-180A34AAB03B}"/>
              </a:ext>
            </a:extLst>
          </p:cNvPr>
          <p:cNvSpPr txBox="1">
            <a:spLocks noGrp="1"/>
          </p:cNvSpPr>
          <p:nvPr>
            <p:ph type="title"/>
          </p:nvPr>
        </p:nvSpPr>
        <p:spPr>
          <a:xfrm>
            <a:off x="630241" y="457200"/>
            <a:ext cx="2949570" cy="1600200"/>
          </a:xfrm>
        </p:spPr>
        <p:txBody>
          <a:bodyPr anchor="b"/>
          <a:lstStyle>
            <a:lvl1pPr>
              <a:defRPr lang="en-US" sz="3200"/>
            </a:lvl1pPr>
          </a:lstStyle>
          <a:p>
            <a:pPr lvl="0"/>
            <a:r>
              <a:rPr lang="en-US"/>
              <a:t>Click to edit Master title style</a:t>
            </a:r>
          </a:p>
        </p:txBody>
      </p:sp>
      <p:sp>
        <p:nvSpPr>
          <p:cNvPr id="3" name="Picture Placeholder 2">
            <a:extLst>
              <a:ext uri="{FF2B5EF4-FFF2-40B4-BE49-F238E27FC236}">
                <a16:creationId xmlns:a16="http://schemas.microsoft.com/office/drawing/2014/main" id="{6C5CBFF9-08D2-4DF1-8D3A-96B5EF949693}"/>
              </a:ext>
            </a:extLst>
          </p:cNvPr>
          <p:cNvSpPr txBox="1">
            <a:spLocks noGrp="1"/>
          </p:cNvSpPr>
          <p:nvPr>
            <p:ph type="pic" idx="1"/>
          </p:nvPr>
        </p:nvSpPr>
        <p:spPr>
          <a:xfrm>
            <a:off x="3887791" y="987423"/>
            <a:ext cx="4629149" cy="4873623"/>
          </a:xfrm>
        </p:spPr>
        <p:txBody>
          <a:bodyPr/>
          <a:lstStyle>
            <a:lvl1pPr>
              <a:defRPr/>
            </a:lvl1pPr>
          </a:lstStyle>
          <a:p>
            <a:pPr lvl="0"/>
            <a:endParaRPr lang="en-US"/>
          </a:p>
        </p:txBody>
      </p:sp>
      <p:sp>
        <p:nvSpPr>
          <p:cNvPr id="4" name="Text Placeholder 3">
            <a:extLst>
              <a:ext uri="{FF2B5EF4-FFF2-40B4-BE49-F238E27FC236}">
                <a16:creationId xmlns:a16="http://schemas.microsoft.com/office/drawing/2014/main" id="{91252402-11ED-487D-B69E-4A453B01392F}"/>
              </a:ext>
            </a:extLst>
          </p:cNvPr>
          <p:cNvSpPr txBox="1">
            <a:spLocks noGrp="1"/>
          </p:cNvSpPr>
          <p:nvPr>
            <p:ph type="body" idx="2"/>
          </p:nvPr>
        </p:nvSpPr>
        <p:spPr>
          <a:xfrm>
            <a:off x="630241" y="2057400"/>
            <a:ext cx="2949570" cy="3811584"/>
          </a:xfrm>
        </p:spPr>
        <p:txBody>
          <a:bodyPr/>
          <a:lstStyle>
            <a:lvl1pPr>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84DDC7FD-BA54-4F03-B769-BCB6C76B6E35}"/>
              </a:ext>
            </a:extLst>
          </p:cNvPr>
          <p:cNvSpPr txBox="1">
            <a:spLocks noGrp="1"/>
          </p:cNvSpPr>
          <p:nvPr>
            <p:ph type="dt" sz="half" idx="7"/>
          </p:nvPr>
        </p:nvSpPr>
        <p:spPr/>
        <p:txBody>
          <a:bodyPr/>
          <a:lstStyle>
            <a:lvl1pPr>
              <a:defRPr/>
            </a:lvl1pPr>
          </a:lstStyle>
          <a:p>
            <a:pPr lvl="0"/>
            <a:fld id="{3ECF54E0-9DF4-4B02-9636-5A4F304D8D32}" type="datetime1">
              <a:rPr lang="en-US"/>
              <a:pPr lvl="0"/>
              <a:t>4/18/2023</a:t>
            </a:fld>
            <a:endParaRPr lang="en-US"/>
          </a:p>
        </p:txBody>
      </p:sp>
      <p:sp>
        <p:nvSpPr>
          <p:cNvPr id="6" name="Slide Number Placeholder 5">
            <a:extLst>
              <a:ext uri="{FF2B5EF4-FFF2-40B4-BE49-F238E27FC236}">
                <a16:creationId xmlns:a16="http://schemas.microsoft.com/office/drawing/2014/main" id="{2E3BE2F7-3C68-4736-A72D-C4EB5B7D57A3}"/>
              </a:ext>
            </a:extLst>
          </p:cNvPr>
          <p:cNvSpPr txBox="1">
            <a:spLocks noGrp="1"/>
          </p:cNvSpPr>
          <p:nvPr>
            <p:ph type="sldNum" sz="quarter" idx="8"/>
          </p:nvPr>
        </p:nvSpPr>
        <p:spPr/>
        <p:txBody>
          <a:bodyPr/>
          <a:lstStyle>
            <a:lvl1pPr>
              <a:defRPr/>
            </a:lvl1pPr>
          </a:lstStyle>
          <a:p>
            <a:pPr lvl="0"/>
            <a:fld id="{728E39B0-3940-4654-8CCA-6CBE0298E612}" type="slidenum">
              <a:t>‹#›</a:t>
            </a:fld>
            <a:endParaRPr lang="en-US"/>
          </a:p>
        </p:txBody>
      </p:sp>
    </p:spTree>
    <p:extLst>
      <p:ext uri="{BB962C8B-B14F-4D97-AF65-F5344CB8AC3E}">
        <p14:creationId xmlns:p14="http://schemas.microsoft.com/office/powerpoint/2010/main" val="38793332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7972E-DEA4-46B5-9329-DD49E441FF1A}"/>
              </a:ext>
            </a:extLst>
          </p:cNvPr>
          <p:cNvSpPr txBox="1">
            <a:spLocks noGrp="1"/>
          </p:cNvSpPr>
          <p:nvPr>
            <p:ph type="title"/>
          </p:nvPr>
        </p:nvSpPr>
        <p:spPr/>
        <p:txBody>
          <a:bodyPr/>
          <a:lstStyle>
            <a:lvl1pPr>
              <a:defRPr lang="en-US"/>
            </a:lvl1pPr>
          </a:lstStyle>
          <a:p>
            <a:pPr lvl="0"/>
            <a:r>
              <a:rPr lang="en-US"/>
              <a:t>Click to edit Master title style</a:t>
            </a:r>
          </a:p>
        </p:txBody>
      </p:sp>
      <p:sp>
        <p:nvSpPr>
          <p:cNvPr id="3" name="Vertical Text Placeholder 2">
            <a:extLst>
              <a:ext uri="{FF2B5EF4-FFF2-40B4-BE49-F238E27FC236}">
                <a16:creationId xmlns:a16="http://schemas.microsoft.com/office/drawing/2014/main" id="{B36F28C3-FE39-43A9-BC7A-C114CA66F848}"/>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F7E46C-06C8-4945-960C-3DE5850FD623}"/>
              </a:ext>
            </a:extLst>
          </p:cNvPr>
          <p:cNvSpPr txBox="1">
            <a:spLocks noGrp="1"/>
          </p:cNvSpPr>
          <p:nvPr>
            <p:ph type="dt" sz="half" idx="7"/>
          </p:nvPr>
        </p:nvSpPr>
        <p:spPr/>
        <p:txBody>
          <a:bodyPr/>
          <a:lstStyle>
            <a:lvl1pPr>
              <a:defRPr/>
            </a:lvl1pPr>
          </a:lstStyle>
          <a:p>
            <a:pPr lvl="0"/>
            <a:fld id="{9BA4F6CF-5869-4C33-8D88-BB17C51EEED7}" type="datetime1">
              <a:rPr lang="en-US"/>
              <a:pPr lvl="0"/>
              <a:t>4/18/2023</a:t>
            </a:fld>
            <a:endParaRPr lang="en-US"/>
          </a:p>
        </p:txBody>
      </p:sp>
      <p:sp>
        <p:nvSpPr>
          <p:cNvPr id="5" name="Slide Number Placeholder 4">
            <a:extLst>
              <a:ext uri="{FF2B5EF4-FFF2-40B4-BE49-F238E27FC236}">
                <a16:creationId xmlns:a16="http://schemas.microsoft.com/office/drawing/2014/main" id="{1A08B0AF-4099-4DAA-BCA9-5F0C39BF9AB4}"/>
              </a:ext>
            </a:extLst>
          </p:cNvPr>
          <p:cNvSpPr txBox="1">
            <a:spLocks noGrp="1"/>
          </p:cNvSpPr>
          <p:nvPr>
            <p:ph type="sldNum" sz="quarter" idx="8"/>
          </p:nvPr>
        </p:nvSpPr>
        <p:spPr/>
        <p:txBody>
          <a:bodyPr/>
          <a:lstStyle>
            <a:lvl1pPr>
              <a:defRPr/>
            </a:lvl1pPr>
          </a:lstStyle>
          <a:p>
            <a:pPr lvl="0"/>
            <a:fld id="{F5927776-573E-4338-BA7F-E836BDC2A714}" type="slidenum">
              <a:t>‹#›</a:t>
            </a:fld>
            <a:endParaRPr lang="en-US"/>
          </a:p>
        </p:txBody>
      </p:sp>
    </p:spTree>
    <p:extLst>
      <p:ext uri="{BB962C8B-B14F-4D97-AF65-F5344CB8AC3E}">
        <p14:creationId xmlns:p14="http://schemas.microsoft.com/office/powerpoint/2010/main" val="7205836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FB2A4E-90E8-4059-B110-198E415BCB19}"/>
              </a:ext>
            </a:extLst>
          </p:cNvPr>
          <p:cNvSpPr txBox="1">
            <a:spLocks noGrp="1"/>
          </p:cNvSpPr>
          <p:nvPr>
            <p:ph type="title" orient="vert"/>
          </p:nvPr>
        </p:nvSpPr>
        <p:spPr>
          <a:xfrm>
            <a:off x="6515099" y="609603"/>
            <a:ext cx="1943100" cy="5486400"/>
          </a:xfrm>
        </p:spPr>
        <p:txBody>
          <a:bodyPr vert="eaVert"/>
          <a:lstStyle>
            <a:lvl1pPr>
              <a:defRPr lang="en-US"/>
            </a:lvl1pPr>
          </a:lstStyle>
          <a:p>
            <a:pPr lvl="0"/>
            <a:r>
              <a:rPr lang="en-US"/>
              <a:t>Click to edit Master title style</a:t>
            </a:r>
          </a:p>
        </p:txBody>
      </p:sp>
      <p:sp>
        <p:nvSpPr>
          <p:cNvPr id="3" name="Vertical Text Placeholder 2">
            <a:extLst>
              <a:ext uri="{FF2B5EF4-FFF2-40B4-BE49-F238E27FC236}">
                <a16:creationId xmlns:a16="http://schemas.microsoft.com/office/drawing/2014/main" id="{2363BA56-E9C3-4C88-B2CE-69874411BAA0}"/>
              </a:ext>
            </a:extLst>
          </p:cNvPr>
          <p:cNvSpPr txBox="1">
            <a:spLocks noGrp="1"/>
          </p:cNvSpPr>
          <p:nvPr>
            <p:ph type="body" orient="vert" idx="1"/>
          </p:nvPr>
        </p:nvSpPr>
        <p:spPr>
          <a:xfrm>
            <a:off x="685800" y="609603"/>
            <a:ext cx="5676896" cy="5486400"/>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82E667-A776-48B0-83D4-4249C2CFDD59}"/>
              </a:ext>
            </a:extLst>
          </p:cNvPr>
          <p:cNvSpPr txBox="1">
            <a:spLocks noGrp="1"/>
          </p:cNvSpPr>
          <p:nvPr>
            <p:ph type="dt" sz="half" idx="7"/>
          </p:nvPr>
        </p:nvSpPr>
        <p:spPr/>
        <p:txBody>
          <a:bodyPr/>
          <a:lstStyle>
            <a:lvl1pPr>
              <a:defRPr/>
            </a:lvl1pPr>
          </a:lstStyle>
          <a:p>
            <a:pPr lvl="0"/>
            <a:fld id="{F4349C99-4DD8-4F0D-8035-66E22922102F}" type="datetime1">
              <a:rPr lang="en-US"/>
              <a:pPr lvl="0"/>
              <a:t>4/18/2023</a:t>
            </a:fld>
            <a:endParaRPr lang="en-US"/>
          </a:p>
        </p:txBody>
      </p:sp>
      <p:sp>
        <p:nvSpPr>
          <p:cNvPr id="5" name="Slide Number Placeholder 4">
            <a:extLst>
              <a:ext uri="{FF2B5EF4-FFF2-40B4-BE49-F238E27FC236}">
                <a16:creationId xmlns:a16="http://schemas.microsoft.com/office/drawing/2014/main" id="{6A58AEBE-BBB7-40BD-8366-AE1FA2C86D57}"/>
              </a:ext>
            </a:extLst>
          </p:cNvPr>
          <p:cNvSpPr txBox="1">
            <a:spLocks noGrp="1"/>
          </p:cNvSpPr>
          <p:nvPr>
            <p:ph type="sldNum" sz="quarter" idx="8"/>
          </p:nvPr>
        </p:nvSpPr>
        <p:spPr/>
        <p:txBody>
          <a:bodyPr/>
          <a:lstStyle>
            <a:lvl1pPr>
              <a:defRPr/>
            </a:lvl1pPr>
          </a:lstStyle>
          <a:p>
            <a:pPr lvl="0"/>
            <a:fld id="{54624DAE-425F-463A-AA17-A19FD255983C}" type="slidenum">
              <a:t>‹#›</a:t>
            </a:fld>
            <a:endParaRPr lang="en-US"/>
          </a:p>
        </p:txBody>
      </p:sp>
    </p:spTree>
    <p:extLst>
      <p:ext uri="{BB962C8B-B14F-4D97-AF65-F5344CB8AC3E}">
        <p14:creationId xmlns:p14="http://schemas.microsoft.com/office/powerpoint/2010/main" val="134424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6D6F5">
            <a:alpha val="55000"/>
          </a:srgb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B730CA-B124-4CE8-B150-87211F8F9A6E}"/>
              </a:ext>
            </a:extLst>
          </p:cNvPr>
          <p:cNvSpPr txBox="1">
            <a:spLocks noGrp="1"/>
          </p:cNvSpPr>
          <p:nvPr>
            <p:ph type="title"/>
          </p:nvPr>
        </p:nvSpPr>
        <p:spPr>
          <a:xfrm>
            <a:off x="685800" y="609118"/>
            <a:ext cx="7772400" cy="1143000"/>
          </a:xfrm>
          <a:prstGeom prst="rect">
            <a:avLst/>
          </a:prstGeom>
          <a:noFill/>
          <a:ln>
            <a:noFill/>
          </a:ln>
        </p:spPr>
        <p:txBody>
          <a:bodyPr vert="horz" wrap="square" lIns="90004" tIns="46798" rIns="90004" bIns="46798" anchor="ctr" anchorCtr="1" compatLnSpc="1">
            <a:noAutofit/>
          </a:bodyPr>
          <a:lstStyle/>
          <a:p>
            <a:pPr lvl="0"/>
            <a:endParaRPr lang="en-IN"/>
          </a:p>
        </p:txBody>
      </p:sp>
      <p:sp>
        <p:nvSpPr>
          <p:cNvPr id="3" name="Text Placeholder 2">
            <a:extLst>
              <a:ext uri="{FF2B5EF4-FFF2-40B4-BE49-F238E27FC236}">
                <a16:creationId xmlns:a16="http://schemas.microsoft.com/office/drawing/2014/main" id="{2FFCC096-3D00-46AE-B887-3DC95650DD52}"/>
              </a:ext>
            </a:extLst>
          </p:cNvPr>
          <p:cNvSpPr txBox="1">
            <a:spLocks noGrp="1"/>
          </p:cNvSpPr>
          <p:nvPr>
            <p:ph type="body" idx="1"/>
          </p:nvPr>
        </p:nvSpPr>
        <p:spPr>
          <a:xfrm>
            <a:off x="685800" y="1981084"/>
            <a:ext cx="7772400" cy="4114800"/>
          </a:xfrm>
          <a:prstGeom prst="rect">
            <a:avLst/>
          </a:prstGeom>
          <a:noFill/>
          <a:ln>
            <a:noFill/>
          </a:ln>
        </p:spPr>
        <p:txBody>
          <a:bodyPr vert="horz" wrap="square" lIns="90004" tIns="46798" rIns="90004" bIns="46798"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4A6ACA-184D-4A9A-9E52-7E155F124D13}"/>
              </a:ext>
            </a:extLst>
          </p:cNvPr>
          <p:cNvSpPr txBox="1">
            <a:spLocks noGrp="1"/>
          </p:cNvSpPr>
          <p:nvPr>
            <p:ph type="dt" sz="half" idx="2"/>
          </p:nvPr>
        </p:nvSpPr>
        <p:spPr>
          <a:xfrm>
            <a:off x="685800" y="6248515"/>
            <a:ext cx="1905115" cy="457200"/>
          </a:xfrm>
          <a:prstGeom prst="rect">
            <a:avLst/>
          </a:prstGeom>
          <a:noFill/>
          <a:ln>
            <a:noFill/>
          </a:ln>
        </p:spPr>
        <p:txBody>
          <a:bodyPr vert="horz" wrap="square" lIns="90004" tIns="46798" rIns="90004" bIns="46798" anchor="t" anchorCtr="0" compatLnSpc="1">
            <a:noAutofit/>
          </a:bodyPr>
          <a:lstStyle>
            <a:lvl1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400" b="0" i="0" u="none" strike="noStrike" kern="1200" cap="none" spc="0" baseline="0">
                <a:solidFill>
                  <a:srgbClr val="000000"/>
                </a:solidFill>
                <a:uFillTx/>
                <a:latin typeface="Times New Roman" pitchFamily="18"/>
                <a:ea typeface="Microsoft YaHei" pitchFamily="2"/>
                <a:cs typeface="Lucida Sans" pitchFamily="2"/>
              </a:defRPr>
            </a:lvl1pPr>
          </a:lstStyle>
          <a:p>
            <a:pPr lvl="0"/>
            <a:fld id="{D6DCC17B-BC83-48F1-845E-EE985661DFEE}" type="datetime1">
              <a:rPr lang="en-US"/>
              <a:pPr lvl="0"/>
              <a:t>4/18/2023</a:t>
            </a:fld>
            <a:endParaRPr lang="en-US"/>
          </a:p>
        </p:txBody>
      </p:sp>
      <p:sp>
        <p:nvSpPr>
          <p:cNvPr id="5" name="Footer Placeholder 4">
            <a:extLst>
              <a:ext uri="{FF2B5EF4-FFF2-40B4-BE49-F238E27FC236}">
                <a16:creationId xmlns:a16="http://schemas.microsoft.com/office/drawing/2014/main" id="{7E24422F-65EF-4B34-83E5-8B50A264B104}"/>
              </a:ext>
            </a:extLst>
          </p:cNvPr>
          <p:cNvSpPr txBox="1">
            <a:spLocks noGrp="1"/>
          </p:cNvSpPr>
          <p:nvPr>
            <p:ph type="ftr" sz="quarter" idx="3"/>
          </p:nvPr>
        </p:nvSpPr>
        <p:spPr>
          <a:xfrm>
            <a:off x="3124075" y="6248515"/>
            <a:ext cx="2895840" cy="457200"/>
          </a:xfrm>
          <a:prstGeom prst="rect">
            <a:avLst/>
          </a:prstGeom>
          <a:noFill/>
          <a:ln>
            <a:noFill/>
          </a:ln>
        </p:spPr>
        <p:txBody>
          <a:bodyPr vert="horz" wrap="square" lIns="90004" tIns="46798" rIns="90004" bIns="46798" anchor="t" anchorCtr="0" compatLnSpc="1">
            <a:noAutofit/>
          </a:bodyPr>
          <a:lstStyle>
            <a:lvl1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400" b="0" i="0" u="none" strike="noStrike" kern="1200" cap="none" spc="0" baseline="0">
                <a:solidFill>
                  <a:srgbClr val="000000"/>
                </a:solidFill>
                <a:uFillTx/>
                <a:latin typeface="Times New Roman" pitchFamily="18"/>
                <a:ea typeface="Microsoft YaHei" pitchFamily="2"/>
                <a:cs typeface="Lucida Sans" pitchFamily="2"/>
              </a:defRPr>
            </a:lvl1pPr>
          </a:lstStyle>
          <a:p>
            <a:pPr lvl="0"/>
            <a:endParaRPr lang="en-US"/>
          </a:p>
        </p:txBody>
      </p:sp>
      <p:sp>
        <p:nvSpPr>
          <p:cNvPr id="6" name="Slide Number Placeholder 5">
            <a:extLst>
              <a:ext uri="{FF2B5EF4-FFF2-40B4-BE49-F238E27FC236}">
                <a16:creationId xmlns:a16="http://schemas.microsoft.com/office/drawing/2014/main" id="{BB40F867-1C44-4A0C-A658-292D2154C9A7}"/>
              </a:ext>
            </a:extLst>
          </p:cNvPr>
          <p:cNvSpPr txBox="1">
            <a:spLocks noGrp="1"/>
          </p:cNvSpPr>
          <p:nvPr>
            <p:ph type="sldNum" sz="quarter" idx="4"/>
          </p:nvPr>
        </p:nvSpPr>
        <p:spPr>
          <a:xfrm>
            <a:off x="6553084" y="6248515"/>
            <a:ext cx="1905115" cy="457200"/>
          </a:xfrm>
          <a:prstGeom prst="rect">
            <a:avLst/>
          </a:prstGeom>
          <a:noFill/>
          <a:ln>
            <a:noFill/>
          </a:ln>
        </p:spPr>
        <p:txBody>
          <a:bodyPr vert="horz" wrap="square" lIns="90004" tIns="46798" rIns="90004" bIns="46798" anchor="t" anchorCtr="0" compatLnSpc="1">
            <a:noAutofit/>
          </a:bodyPr>
          <a:lstStyle>
            <a:lvl1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400" b="0" i="0" u="none" strike="noStrike" kern="1200" cap="none" spc="0" baseline="0">
                <a:solidFill>
                  <a:srgbClr val="000000"/>
                </a:solidFill>
                <a:uFillTx/>
                <a:latin typeface="Times New Roman" pitchFamily="18"/>
                <a:ea typeface="Microsoft YaHei" pitchFamily="2"/>
                <a:cs typeface="Lucida Sans" pitchFamily="2"/>
              </a:defRPr>
            </a:lvl1pPr>
          </a:lstStyle>
          <a:p>
            <a:pPr lvl="0"/>
            <a:fld id="{4E332048-EC2F-4E13-9CAF-F0EED932BDAD}" type="slidenum">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0" marR="0" lvl="0" indent="0" algn="ctr"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IN" sz="4400" b="0" i="0" u="none" strike="noStrike" kern="0" cap="none" spc="0" baseline="0">
          <a:solidFill>
            <a:srgbClr val="000000"/>
          </a:solidFill>
          <a:highlight>
            <a:scrgbClr r="0" g="0" b="0">
              <a:alpha val="0"/>
            </a:scrgbClr>
          </a:highlight>
          <a:uFillTx/>
          <a:latin typeface="Times New Roman" pitchFamily="18"/>
          <a:ea typeface="Microsoft YaHei" pitchFamily="2"/>
        </a:defRPr>
      </a:lvl1pPr>
    </p:titleStyle>
    <p:bodyStyle>
      <a:lvl1pPr marL="0" marR="0" lvl="0" indent="0" algn="l" defTabSz="914400" rtl="0" fontAlgn="auto" hangingPunct="0">
        <a:lnSpc>
          <a:spcPct val="100000"/>
        </a:lnSpc>
        <a:spcBef>
          <a:spcPts val="800"/>
        </a:spcBef>
        <a:spcAft>
          <a:spcPts val="0"/>
        </a:spcAft>
        <a:buNone/>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i="0" u="none" strike="noStrike" kern="0" cap="none" spc="0" baseline="0">
          <a:solidFill>
            <a:srgbClr val="000000"/>
          </a:solidFill>
          <a:highlight>
            <a:scrgbClr r="0" g="0" b="0">
              <a:alpha val="0"/>
            </a:scrgbClr>
          </a:highlight>
          <a:uFillTx/>
          <a:latin typeface="Times New Roman" pitchFamily="18"/>
          <a:ea typeface="Microsoft YaHei" pitchFamily="2"/>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D6D6F5">
            <a:alpha val="55000"/>
          </a:srgb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40E17C-894A-4378-905D-C46FDB6A8EF8}"/>
              </a:ext>
            </a:extLst>
          </p:cNvPr>
          <p:cNvSpPr txBox="1">
            <a:spLocks noGrp="1"/>
          </p:cNvSpPr>
          <p:nvPr>
            <p:ph type="title"/>
          </p:nvPr>
        </p:nvSpPr>
        <p:spPr>
          <a:xfrm>
            <a:off x="685800" y="609118"/>
            <a:ext cx="7772400" cy="1143000"/>
          </a:xfrm>
          <a:prstGeom prst="rect">
            <a:avLst/>
          </a:prstGeom>
          <a:noFill/>
          <a:ln>
            <a:noFill/>
          </a:ln>
        </p:spPr>
        <p:txBody>
          <a:bodyPr vert="horz" wrap="square" lIns="90004" tIns="46798" rIns="90004" bIns="46798" anchor="ctr" anchorCtr="1" compatLnSpc="1">
            <a:noAutofit/>
          </a:bodyPr>
          <a:lstStyle/>
          <a:p>
            <a:pPr lvl="0"/>
            <a:endParaRPr lang="en-IN"/>
          </a:p>
        </p:txBody>
      </p:sp>
      <p:sp>
        <p:nvSpPr>
          <p:cNvPr id="3" name="Text Placeholder 2">
            <a:extLst>
              <a:ext uri="{FF2B5EF4-FFF2-40B4-BE49-F238E27FC236}">
                <a16:creationId xmlns:a16="http://schemas.microsoft.com/office/drawing/2014/main" id="{C07FDD10-7DBE-4A47-9831-C057210EDAC5}"/>
              </a:ext>
            </a:extLst>
          </p:cNvPr>
          <p:cNvSpPr txBox="1">
            <a:spLocks noGrp="1"/>
          </p:cNvSpPr>
          <p:nvPr>
            <p:ph type="body" idx="1"/>
          </p:nvPr>
        </p:nvSpPr>
        <p:spPr>
          <a:xfrm>
            <a:off x="685800" y="1981084"/>
            <a:ext cx="7772400" cy="4114800"/>
          </a:xfrm>
          <a:prstGeom prst="rect">
            <a:avLst/>
          </a:prstGeom>
          <a:noFill/>
          <a:ln>
            <a:noFill/>
          </a:ln>
        </p:spPr>
        <p:txBody>
          <a:bodyPr vert="horz" wrap="square" lIns="90004" tIns="46798" rIns="90004" bIns="46798"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90AFC6-6184-474E-B772-1700853799A6}"/>
              </a:ext>
            </a:extLst>
          </p:cNvPr>
          <p:cNvSpPr txBox="1">
            <a:spLocks noGrp="1"/>
          </p:cNvSpPr>
          <p:nvPr>
            <p:ph type="dt" sz="half" idx="2"/>
          </p:nvPr>
        </p:nvSpPr>
        <p:spPr>
          <a:xfrm>
            <a:off x="685800" y="6248515"/>
            <a:ext cx="1905115" cy="457200"/>
          </a:xfrm>
          <a:prstGeom prst="rect">
            <a:avLst/>
          </a:prstGeom>
          <a:noFill/>
          <a:ln>
            <a:noFill/>
          </a:ln>
        </p:spPr>
        <p:txBody>
          <a:bodyPr vert="horz" wrap="square" lIns="90004" tIns="46798" rIns="90004" bIns="46798" anchor="t" anchorCtr="0" compatLnSpc="1">
            <a:noAutofit/>
          </a:bodyPr>
          <a:lstStyle>
            <a:lvl1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400" b="0" i="0" u="none" strike="noStrike" kern="1200" cap="none" spc="0" baseline="0">
                <a:solidFill>
                  <a:srgbClr val="000000"/>
                </a:solidFill>
                <a:uFillTx/>
                <a:latin typeface="Times New Roman" pitchFamily="18"/>
                <a:ea typeface="Microsoft YaHei" pitchFamily="2"/>
                <a:cs typeface="Lucida Sans" pitchFamily="2"/>
              </a:defRPr>
            </a:lvl1pPr>
          </a:lstStyle>
          <a:p>
            <a:pPr lvl="0"/>
            <a:fld id="{50D2D739-78EF-4977-B423-AD90984F1108}" type="datetime1">
              <a:rPr lang="en-US"/>
              <a:pPr lvl="0"/>
              <a:t>4/18/2023</a:t>
            </a:fld>
            <a:endParaRPr lang="en-US"/>
          </a:p>
        </p:txBody>
      </p:sp>
      <p:sp>
        <p:nvSpPr>
          <p:cNvPr id="5" name="Slide Number Placeholder 4">
            <a:extLst>
              <a:ext uri="{FF2B5EF4-FFF2-40B4-BE49-F238E27FC236}">
                <a16:creationId xmlns:a16="http://schemas.microsoft.com/office/drawing/2014/main" id="{2983BEE2-E103-4E15-A3E6-F7CDE3C60C49}"/>
              </a:ext>
            </a:extLst>
          </p:cNvPr>
          <p:cNvSpPr txBox="1">
            <a:spLocks noGrp="1"/>
          </p:cNvSpPr>
          <p:nvPr>
            <p:ph type="sldNum" sz="quarter" idx="4"/>
          </p:nvPr>
        </p:nvSpPr>
        <p:spPr>
          <a:xfrm>
            <a:off x="6553084" y="6248515"/>
            <a:ext cx="1905115" cy="457200"/>
          </a:xfrm>
          <a:prstGeom prst="rect">
            <a:avLst/>
          </a:prstGeom>
          <a:noFill/>
          <a:ln>
            <a:noFill/>
          </a:ln>
        </p:spPr>
        <p:txBody>
          <a:bodyPr vert="horz" wrap="square" lIns="90004" tIns="46798" rIns="90004" bIns="46798" anchor="t" anchorCtr="0" compatLnSpc="1">
            <a:noAutofit/>
          </a:bodyPr>
          <a:lstStyle>
            <a:lvl1pPr marL="0" marR="0" lvl="0" indent="0" algn="r"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400" b="0" i="0" u="none" strike="noStrike" kern="1200" cap="none" spc="0" baseline="0">
                <a:solidFill>
                  <a:srgbClr val="000000"/>
                </a:solidFill>
                <a:uFillTx/>
                <a:latin typeface="Times New Roman" pitchFamily="18"/>
                <a:ea typeface="Microsoft YaHei" pitchFamily="2"/>
                <a:cs typeface="Lucida Sans" pitchFamily="2"/>
              </a:defRPr>
            </a:lvl1pPr>
          </a:lstStyle>
          <a:p>
            <a:pPr lvl="0"/>
            <a:fld id="{428A2DA0-CAB5-4F99-A01C-DB2AC973015E}" type="slidenum">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marL="0" marR="0" lvl="0" indent="0" algn="ctr"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IN" sz="4400" b="0" i="0" u="none" strike="noStrike" kern="1200" cap="none" spc="0" baseline="0">
          <a:solidFill>
            <a:srgbClr val="000000"/>
          </a:solidFill>
          <a:highlight>
            <a:scrgbClr r="0" g="0" b="0">
              <a:alpha val="0"/>
            </a:scrgbClr>
          </a:highlight>
          <a:uFillTx/>
          <a:latin typeface="Times New Roman" pitchFamily="18"/>
          <a:ea typeface="Microsoft YaHei" pitchFamily="2"/>
        </a:defRPr>
      </a:lvl1pPr>
    </p:titleStyle>
    <p:bodyStyle>
      <a:lvl1pPr marL="0" marR="0" lvl="0" indent="0" algn="l" defTabSz="914400" rtl="0" fontAlgn="auto" hangingPunct="0">
        <a:lnSpc>
          <a:spcPct val="100000"/>
        </a:lnSpc>
        <a:spcBef>
          <a:spcPts val="800"/>
        </a:spcBef>
        <a:spcAft>
          <a:spcPts val="0"/>
        </a:spcAft>
        <a:buNone/>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i="0" u="none" strike="noStrike" kern="1200" cap="none" spc="0" baseline="0">
          <a:solidFill>
            <a:srgbClr val="000000"/>
          </a:solidFill>
          <a:highlight>
            <a:scrgbClr r="0" g="0" b="0">
              <a:alpha val="0"/>
            </a:scrgbClr>
          </a:highlight>
          <a:uFillTx/>
          <a:latin typeface="Times New Roman" pitchFamily="18"/>
          <a:ea typeface="Microsoft YaHei" pitchFamily="2"/>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18.xml"/><Relationship Id="rId5" Type="http://schemas.openxmlformats.org/officeDocument/2006/relationships/image" Target="../media/image4.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18.xml"/><Relationship Id="rId5" Type="http://schemas.openxmlformats.org/officeDocument/2006/relationships/hyperlink" Target="https://en.wikipedia.org/wiki/One-way_analysis_of_variance" TargetMode="Externa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1.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3.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7.xml"/><Relationship Id="rId1" Type="http://schemas.openxmlformats.org/officeDocument/2006/relationships/slideLayout" Target="../slideLayouts/slideLayout18.xml"/><Relationship Id="rId5" Type="http://schemas.openxmlformats.org/officeDocument/2006/relationships/image" Target="../media/image5.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8.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9.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0.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1.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2.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3.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4.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5.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6.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7.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18.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9.xml"/><Relationship Id="rId1" Type="http://schemas.openxmlformats.org/officeDocument/2006/relationships/slideLayout" Target="../slideLayouts/slideLayout18.xml"/><Relationship Id="rId5" Type="http://schemas.openxmlformats.org/officeDocument/2006/relationships/chart" Target="../charts/chart1.xml"/><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0.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1.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2.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3.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4.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5.xml"/><Relationship Id="rId1" Type="http://schemas.openxmlformats.org/officeDocument/2006/relationships/slideLayout" Target="../slideLayouts/slideLayout18.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PowerPoint Presentation">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98EF1009-3914-413E-B251-168BBC959207}"/>
              </a:ext>
            </a:extLst>
          </p:cNvPr>
          <p:cNvPicPr>
            <a:picLocks noChangeAspect="1"/>
          </p:cNvPicPr>
          <p:nvPr/>
        </p:nvPicPr>
        <p:blipFill>
          <a:blip r:embed="rId3">
            <a:lum/>
            <a:alphaModFix/>
          </a:blip>
          <a:srcRect/>
          <a:stretch>
            <a:fillRect/>
          </a:stretch>
        </p:blipFill>
        <p:spPr>
          <a:xfrm>
            <a:off x="0" y="6553084"/>
            <a:ext cx="9144000" cy="308161"/>
          </a:xfrm>
          <a:prstGeom prst="rect">
            <a:avLst/>
          </a:prstGeom>
          <a:noFill/>
          <a:ln cap="flat">
            <a:noFill/>
          </a:ln>
        </p:spPr>
      </p:pic>
      <p:sp>
        <p:nvSpPr>
          <p:cNvPr id="3" name="Text Box 4">
            <a:extLst>
              <a:ext uri="{FF2B5EF4-FFF2-40B4-BE49-F238E27FC236}">
                <a16:creationId xmlns:a16="http://schemas.microsoft.com/office/drawing/2014/main" id="{39B109B5-D96D-4BF9-9B38-65A031710136}"/>
              </a:ext>
            </a:extLst>
          </p:cNvPr>
          <p:cNvSpPr/>
          <p:nvPr/>
        </p:nvSpPr>
        <p:spPr>
          <a:xfrm>
            <a:off x="2299322" y="6550203"/>
            <a:ext cx="4545363" cy="307082"/>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a:effectLst>
            <a:outerShdw dist="17819" dir="2700000" algn="tl">
              <a:srgbClr val="000000"/>
            </a:outerShdw>
          </a:effectLst>
        </p:spPr>
        <p:txBody>
          <a:bodyPr vert="horz" wrap="non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1400" b="1" i="0" u="none" strike="noStrike" kern="1200" cap="none" spc="0" baseline="0">
                <a:solidFill>
                  <a:srgbClr val="47FFD1"/>
                </a:solidFill>
                <a:uFillTx/>
                <a:latin typeface="Comic Sans MS" pitchFamily="66"/>
                <a:ea typeface="Microsoft YaHei" pitchFamily="2"/>
                <a:cs typeface="Lucida Sans" pitchFamily="2"/>
              </a:rPr>
              <a:t>Department of Computer Science and Engineering</a:t>
            </a:r>
          </a:p>
        </p:txBody>
      </p:sp>
      <p:pic>
        <p:nvPicPr>
          <p:cNvPr id="4" name="Picture 2">
            <a:extLst>
              <a:ext uri="{FF2B5EF4-FFF2-40B4-BE49-F238E27FC236}">
                <a16:creationId xmlns:a16="http://schemas.microsoft.com/office/drawing/2014/main" id="{852EF15D-88A1-4290-BB8D-A9F7E5712CBE}"/>
              </a:ext>
            </a:extLst>
          </p:cNvPr>
          <p:cNvPicPr>
            <a:picLocks noChangeAspect="1"/>
          </p:cNvPicPr>
          <p:nvPr/>
        </p:nvPicPr>
        <p:blipFill>
          <a:blip r:embed="rId3">
            <a:lum/>
            <a:alphaModFix/>
          </a:blip>
          <a:srcRect/>
          <a:stretch>
            <a:fillRect/>
          </a:stretch>
        </p:blipFill>
        <p:spPr>
          <a:xfrm>
            <a:off x="0" y="0"/>
            <a:ext cx="9144000" cy="609484"/>
          </a:xfrm>
          <a:prstGeom prst="rect">
            <a:avLst/>
          </a:prstGeom>
          <a:noFill/>
          <a:ln cap="flat">
            <a:noFill/>
          </a:ln>
        </p:spPr>
      </p:pic>
      <p:sp>
        <p:nvSpPr>
          <p:cNvPr id="5" name="Rectangle: Rounded Corners 3">
            <a:extLst>
              <a:ext uri="{FF2B5EF4-FFF2-40B4-BE49-F238E27FC236}">
                <a16:creationId xmlns:a16="http://schemas.microsoft.com/office/drawing/2014/main" id="{5D911F1A-C72E-4649-9F6D-AB6EC936775C}"/>
              </a:ext>
            </a:extLst>
          </p:cNvPr>
          <p:cNvSpPr/>
          <p:nvPr/>
        </p:nvSpPr>
        <p:spPr>
          <a:xfrm>
            <a:off x="8550362" y="6553084"/>
            <a:ext cx="593637" cy="306360"/>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0066"/>
          </a:solidFill>
          <a:ln w="12600" cap="flat">
            <a:solidFill>
              <a:srgbClr val="000000"/>
            </a:solidFill>
            <a:prstDash val="solid"/>
            <a:miter/>
          </a:ln>
        </p:spPr>
        <p:txBody>
          <a:bodyPr vert="horz" wrap="square" lIns="90004" tIns="46798" rIns="90004" bIns="46798" anchor="ctr" anchorCtr="1" compatLnSpc="1">
            <a:normAutofit fontScale="92500" lnSpcReduction="20000"/>
          </a:bodyPr>
          <a:lstStyle/>
          <a:p>
            <a:pPr marL="0" marR="0" lvl="0" indent="0" algn="ctr" defTabSz="914400" rtl="0" fontAlgn="auto" hangingPunct="1">
              <a:lnSpc>
                <a:spcPct val="8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9C774A13-BD7B-4B22-918F-E96F63FC3C52}" type="slidenum">
              <a:t>1</a:t>
            </a:fld>
            <a:endParaRPr lang="en-US" sz="1400" b="1" i="0" u="none" strike="noStrike" kern="1200" cap="none" spc="0" baseline="0">
              <a:solidFill>
                <a:srgbClr val="FFFFFF"/>
              </a:solidFill>
              <a:uFillTx/>
              <a:latin typeface="Comic Sans MS" pitchFamily="66"/>
              <a:ea typeface="Microsoft YaHei" pitchFamily="2"/>
              <a:cs typeface="Lucida Sans" pitchFamily="2"/>
            </a:endParaRPr>
          </a:p>
        </p:txBody>
      </p:sp>
      <p:sp>
        <p:nvSpPr>
          <p:cNvPr id="6" name="Date Placeholder 7">
            <a:extLst>
              <a:ext uri="{FF2B5EF4-FFF2-40B4-BE49-F238E27FC236}">
                <a16:creationId xmlns:a16="http://schemas.microsoft.com/office/drawing/2014/main" id="{2585E6C7-9D87-4D8C-A6F6-690DE3E0F9C8}"/>
              </a:ext>
            </a:extLst>
          </p:cNvPr>
          <p:cNvSpPr/>
          <p:nvPr/>
        </p:nvSpPr>
        <p:spPr>
          <a:xfrm>
            <a:off x="0" y="6564239"/>
            <a:ext cx="1447915" cy="41291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norm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B3E0D8B1-3BEB-4627-9A85-11F0EDD23EE0}" type="datetime1">
              <a:rPr lang="en-US" sz="1400" b="1" i="0" u="none" strike="noStrike" kern="1200" cap="none" spc="0" baseline="0">
                <a:solidFill>
                  <a:srgbClr val="FF0066"/>
                </a:solidFill>
                <a:uFillTx/>
                <a:latin typeface="Arial Rounded MT Bold" pitchFamily="34"/>
                <a:ea typeface="Microsoft YaHei" pitchFamily="2"/>
                <a:cs typeface="Lucida Sans" pitchFamily="2"/>
              </a:rPr>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t>4/18/2023</a:t>
            </a:fld>
            <a:endParaRPr lang="en-US" sz="1400" b="1" i="0" u="none" strike="noStrike" kern="1200" cap="none" spc="0" baseline="0">
              <a:solidFill>
                <a:srgbClr val="FF0066"/>
              </a:solidFill>
              <a:uFillTx/>
              <a:latin typeface="Arial Rounded MT Bold" pitchFamily="34"/>
              <a:ea typeface="Microsoft YaHei" pitchFamily="2"/>
              <a:cs typeface="Lucida Sans" pitchFamily="2"/>
            </a:endParaRPr>
          </a:p>
        </p:txBody>
      </p:sp>
      <p:sp>
        <p:nvSpPr>
          <p:cNvPr id="7" name="TextBox 8">
            <a:extLst>
              <a:ext uri="{FF2B5EF4-FFF2-40B4-BE49-F238E27FC236}">
                <a16:creationId xmlns:a16="http://schemas.microsoft.com/office/drawing/2014/main" id="{331B18C6-713D-44DA-9FE0-2E3FF11CE53E}"/>
              </a:ext>
            </a:extLst>
          </p:cNvPr>
          <p:cNvSpPr/>
          <p:nvPr/>
        </p:nvSpPr>
        <p:spPr>
          <a:xfrm>
            <a:off x="919081" y="0"/>
            <a:ext cx="7305836" cy="47483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500" b="1" i="0" u="none" strike="noStrike" kern="1200" cap="none" spc="0" baseline="0">
                <a:solidFill>
                  <a:srgbClr val="47FFD1"/>
                </a:solidFill>
                <a:uFillTx/>
                <a:latin typeface="Comic Sans MS" pitchFamily="66"/>
                <a:ea typeface="Microsoft YaHei" pitchFamily="2"/>
                <a:cs typeface="Lucida Sans" pitchFamily="2"/>
              </a:rPr>
              <a:t>Mepco Schlenk Engineering College </a:t>
            </a:r>
            <a:r>
              <a:rPr lang="en-US" sz="1800" b="1" i="0" u="none" strike="noStrike" kern="1200" cap="none" spc="0" baseline="0">
                <a:solidFill>
                  <a:srgbClr val="47FFD1"/>
                </a:solidFill>
                <a:uFillTx/>
                <a:latin typeface="Comic Sans MS" pitchFamily="66"/>
                <a:ea typeface="Microsoft YaHei" pitchFamily="2"/>
                <a:cs typeface="Lucida Sans" pitchFamily="2"/>
              </a:rPr>
              <a:t>(Autonomous)</a:t>
            </a:r>
          </a:p>
        </p:txBody>
      </p:sp>
      <p:sp>
        <p:nvSpPr>
          <p:cNvPr id="8" name="Oval 11">
            <a:extLst>
              <a:ext uri="{FF2B5EF4-FFF2-40B4-BE49-F238E27FC236}">
                <a16:creationId xmlns:a16="http://schemas.microsoft.com/office/drawing/2014/main" id="{B6F1FEC1-7E22-41E2-9853-881857F3DD54}"/>
              </a:ext>
            </a:extLst>
          </p:cNvPr>
          <p:cNvSpPr/>
          <p:nvPr/>
        </p:nvSpPr>
        <p:spPr>
          <a:xfrm>
            <a:off x="8354881" y="20519"/>
            <a:ext cx="777962" cy="777962"/>
          </a:xfrm>
          <a:custGeom>
            <a:avLst/>
            <a:gdLst>
              <a:gd name="f0" fmla="val 10800000"/>
              <a:gd name="f1" fmla="val 5400000"/>
              <a:gd name="f2" fmla="val 180"/>
              <a:gd name="f3" fmla="val w"/>
              <a:gd name="f4" fmla="val h"/>
              <a:gd name="f5" fmla="val 0"/>
              <a:gd name="f6" fmla="val 21600"/>
              <a:gd name="f7" fmla="*/ 5419351 1 1725033"/>
              <a:gd name="f8" fmla="*/ 10800 10800 1"/>
              <a:gd name="f9" fmla="+- 0 0 360"/>
              <a:gd name="f10" fmla="val 10800"/>
              <a:gd name="f11" fmla="+- 0 0 0"/>
              <a:gd name="f12" fmla="*/ f3 1 21600"/>
              <a:gd name="f13" fmla="*/ f4 1 21600"/>
              <a:gd name="f14" fmla="*/ 0 f7 1"/>
              <a:gd name="f15" fmla="*/ f5 f0 1"/>
              <a:gd name="f16" fmla="*/ f9 f0 1"/>
              <a:gd name="f17" fmla="+- f6 0 f5"/>
              <a:gd name="f18" fmla="*/ f11 f0 1"/>
              <a:gd name="f19" fmla="*/ f14 1 f2"/>
              <a:gd name="f20" fmla="*/ f15 1 f2"/>
              <a:gd name="f21" fmla="*/ f16 1 f2"/>
              <a:gd name="f22" fmla="*/ f17 1 21600"/>
              <a:gd name="f23" fmla="*/ f18 1 f2"/>
              <a:gd name="f24" fmla="+- 0 0 f19"/>
              <a:gd name="f25" fmla="+- f20 0 f1"/>
              <a:gd name="f26" fmla="+- f21 0 f1"/>
              <a:gd name="f27" fmla="*/ 3163 f22 1"/>
              <a:gd name="f28" fmla="*/ 18437 f22 1"/>
              <a:gd name="f29" fmla="*/ 10800 f22 1"/>
              <a:gd name="f30" fmla="*/ 0 f22 1"/>
              <a:gd name="f31" fmla="*/ 21600 f22 1"/>
              <a:gd name="f32" fmla="+- f23 0 f1"/>
              <a:gd name="f33" fmla="*/ f24 f0 1"/>
              <a:gd name="f34" fmla="+- f26 0 f25"/>
              <a:gd name="f35" fmla="*/ f29 1 f22"/>
              <a:gd name="f36" fmla="*/ f30 1 f22"/>
              <a:gd name="f37" fmla="*/ f27 1 f22"/>
              <a:gd name="f38" fmla="*/ f28 1 f22"/>
              <a:gd name="f39" fmla="*/ f31 1 f22"/>
              <a:gd name="f40" fmla="*/ f33 1 f7"/>
              <a:gd name="f41" fmla="*/ f37 f12 1"/>
              <a:gd name="f42" fmla="*/ f38 f12 1"/>
              <a:gd name="f43" fmla="*/ f38 f13 1"/>
              <a:gd name="f44" fmla="*/ f37 f13 1"/>
              <a:gd name="f45" fmla="*/ f35 f12 1"/>
              <a:gd name="f46" fmla="*/ f36 f13 1"/>
              <a:gd name="f47" fmla="*/ f36 f12 1"/>
              <a:gd name="f48" fmla="*/ f35 f13 1"/>
              <a:gd name="f49" fmla="*/ f39 f13 1"/>
              <a:gd name="f50" fmla="*/ f39 f12 1"/>
              <a:gd name="f51" fmla="+- f40 0 f1"/>
              <a:gd name="f52" fmla="+- f51 f1 0"/>
              <a:gd name="f53" fmla="*/ f52 f7 1"/>
              <a:gd name="f54" fmla="*/ f53 1 f0"/>
              <a:gd name="f55" fmla="+- 0 0 f54"/>
              <a:gd name="f56" fmla="+- 0 0 f55"/>
              <a:gd name="f57" fmla="*/ f56 f0 1"/>
              <a:gd name="f58" fmla="*/ f57 1 f7"/>
              <a:gd name="f59" fmla="+- f58 0 f1"/>
              <a:gd name="f60" fmla="cos 1 f59"/>
              <a:gd name="f61" fmla="sin 1 f59"/>
              <a:gd name="f62" fmla="+- 0 0 f60"/>
              <a:gd name="f63" fmla="+- 0 0 f61"/>
              <a:gd name="f64" fmla="+- 0 0 f62"/>
              <a:gd name="f65" fmla="+- 0 0 f63"/>
              <a:gd name="f66" fmla="val f64"/>
              <a:gd name="f67" fmla="val f65"/>
              <a:gd name="f68" fmla="+- 0 0 f66"/>
              <a:gd name="f69" fmla="+- 0 0 f67"/>
              <a:gd name="f70" fmla="*/ 10800 f68 1"/>
              <a:gd name="f71" fmla="*/ 10800 f69 1"/>
              <a:gd name="f72" fmla="*/ f70 f70 1"/>
              <a:gd name="f73" fmla="*/ f71 f71 1"/>
              <a:gd name="f74" fmla="+- f72 f73 0"/>
              <a:gd name="f75" fmla="sqrt f74"/>
              <a:gd name="f76" fmla="*/ f8 1 f75"/>
              <a:gd name="f77" fmla="*/ f68 f76 1"/>
              <a:gd name="f78" fmla="*/ f69 f76 1"/>
              <a:gd name="f79" fmla="+- 10800 0 f77"/>
              <a:gd name="f80" fmla="+- 10800 0 f78"/>
            </a:gdLst>
            <a:ahLst/>
            <a:cxnLst>
              <a:cxn ang="3cd4">
                <a:pos x="hc" y="t"/>
              </a:cxn>
              <a:cxn ang="0">
                <a:pos x="r" y="vc"/>
              </a:cxn>
              <a:cxn ang="cd4">
                <a:pos x="hc" y="b"/>
              </a:cxn>
              <a:cxn ang="cd2">
                <a:pos x="l" y="vc"/>
              </a:cxn>
              <a:cxn ang="f32">
                <a:pos x="f45" y="f46"/>
              </a:cxn>
              <a:cxn ang="f32">
                <a:pos x="f41" y="f44"/>
              </a:cxn>
              <a:cxn ang="f32">
                <a:pos x="f47" y="f48"/>
              </a:cxn>
              <a:cxn ang="f32">
                <a:pos x="f41" y="f43"/>
              </a:cxn>
              <a:cxn ang="f32">
                <a:pos x="f45" y="f49"/>
              </a:cxn>
              <a:cxn ang="f32">
                <a:pos x="f42" y="f43"/>
              </a:cxn>
              <a:cxn ang="f32">
                <a:pos x="f50" y="f48"/>
              </a:cxn>
              <a:cxn ang="f32">
                <a:pos x="f42" y="f44"/>
              </a:cxn>
            </a:cxnLst>
            <a:rect l="f41" t="f44" r="f42" b="f43"/>
            <a:pathLst>
              <a:path w="21600" h="21600">
                <a:moveTo>
                  <a:pt x="f79" y="f80"/>
                </a:moveTo>
                <a:arcTo wR="f10" hR="f10" stAng="f25" swAng="f34"/>
                <a:close/>
              </a:path>
            </a:pathLst>
          </a:custGeom>
          <a:solidFill>
            <a:srgbClr val="FFFFFF"/>
          </a:solidFill>
          <a:ln w="12600" cap="flat">
            <a:solidFill>
              <a:srgbClr val="BCBCBC"/>
            </a:solidFill>
            <a:prstDash val="solid"/>
            <a:miter/>
          </a:ln>
        </p:spPr>
        <p:txBody>
          <a:bodyPr vert="horz" wrap="square" lIns="90004" tIns="46798" rIns="90004" bIns="46798" anchor="ctr" anchorCtr="0" compatLnSpc="1">
            <a:no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IN" sz="2400" b="0" i="0" u="none" strike="noStrike" kern="1200" cap="none" spc="0" baseline="0">
              <a:solidFill>
                <a:srgbClr val="000000"/>
              </a:solidFill>
              <a:uFillTx/>
              <a:latin typeface="Times New Roman" pitchFamily="18"/>
              <a:ea typeface="Microsoft YaHei" pitchFamily="2"/>
              <a:cs typeface="Lucida Sans" pitchFamily="2"/>
            </a:endParaRPr>
          </a:p>
        </p:txBody>
      </p:sp>
      <p:pic>
        <p:nvPicPr>
          <p:cNvPr id="9" name="Picture 10" descr="A picture containing text, sign, watch&#10;&#10;Description automatically generated">
            <a:extLst>
              <a:ext uri="{FF2B5EF4-FFF2-40B4-BE49-F238E27FC236}">
                <a16:creationId xmlns:a16="http://schemas.microsoft.com/office/drawing/2014/main" id="{5592E590-67FC-484B-9FD7-5813103F4D43}"/>
              </a:ext>
            </a:extLst>
          </p:cNvPr>
          <p:cNvPicPr>
            <a:picLocks noChangeAspect="1"/>
          </p:cNvPicPr>
          <p:nvPr/>
        </p:nvPicPr>
        <p:blipFill>
          <a:blip r:embed="rId4">
            <a:lum/>
            <a:alphaModFix/>
          </a:blip>
          <a:srcRect/>
          <a:stretch>
            <a:fillRect/>
          </a:stretch>
        </p:blipFill>
        <p:spPr>
          <a:xfrm>
            <a:off x="8381875" y="47521"/>
            <a:ext cx="731876" cy="714603"/>
          </a:xfrm>
          <a:prstGeom prst="rect">
            <a:avLst/>
          </a:prstGeom>
          <a:noFill/>
          <a:ln cap="flat">
            <a:noFill/>
          </a:ln>
        </p:spPr>
      </p:pic>
      <p:sp>
        <p:nvSpPr>
          <p:cNvPr id="10" name="TextBox 1">
            <a:extLst>
              <a:ext uri="{FF2B5EF4-FFF2-40B4-BE49-F238E27FC236}">
                <a16:creationId xmlns:a16="http://schemas.microsoft.com/office/drawing/2014/main" id="{B1256597-E2DD-472E-B959-5C4578B3596A}"/>
              </a:ext>
            </a:extLst>
          </p:cNvPr>
          <p:cNvSpPr/>
          <p:nvPr/>
        </p:nvSpPr>
        <p:spPr>
          <a:xfrm>
            <a:off x="609484" y="2503444"/>
            <a:ext cx="7745397" cy="1248672"/>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1" compatLnSpc="1">
            <a:spAutoFit/>
          </a:bodyPr>
          <a:lstStyle/>
          <a:p>
            <a:pPr marL="0" marR="0" lvl="0" indent="0" algn="ctr"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GB" sz="2500" b="1" i="0" u="none" strike="noStrike" kern="1200" cap="none" spc="0" baseline="0" dirty="0">
                <a:solidFill>
                  <a:srgbClr val="000000"/>
                </a:solidFill>
                <a:uFillTx/>
                <a:latin typeface="Verdana" pitchFamily="34"/>
                <a:ea typeface="Verdana" pitchFamily="34"/>
                <a:cs typeface="Verdana" pitchFamily="34"/>
              </a:rPr>
              <a:t>Prediction of heart disease using calibration of hyper parameter optimization</a:t>
            </a:r>
          </a:p>
        </p:txBody>
      </p:sp>
      <p:sp>
        <p:nvSpPr>
          <p:cNvPr id="11" name="TextBox 10">
            <a:extLst>
              <a:ext uri="{FF2B5EF4-FFF2-40B4-BE49-F238E27FC236}">
                <a16:creationId xmlns:a16="http://schemas.microsoft.com/office/drawing/2014/main" id="{AE993BF6-8F21-455F-8383-32FC14244185}"/>
              </a:ext>
            </a:extLst>
          </p:cNvPr>
          <p:cNvSpPr/>
          <p:nvPr/>
        </p:nvSpPr>
        <p:spPr>
          <a:xfrm>
            <a:off x="3219446" y="5181603"/>
            <a:ext cx="5780553" cy="648510"/>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r"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1800" b="1" i="0" u="none" strike="noStrike" kern="0" cap="none" spc="0" baseline="0" dirty="0">
                <a:solidFill>
                  <a:srgbClr val="000000"/>
                </a:solidFill>
                <a:uFillTx/>
                <a:latin typeface="Verdana" pitchFamily="34"/>
                <a:ea typeface="Verdana" pitchFamily="34"/>
                <a:cs typeface="Verdana" pitchFamily="34"/>
              </a:rPr>
              <a:t>Anto Nidhish M </a:t>
            </a:r>
            <a:r>
              <a:rPr lang="en-US" sz="1800" b="1" i="0" u="none" strike="noStrike" kern="1200" cap="none" spc="0" baseline="0" dirty="0">
                <a:solidFill>
                  <a:srgbClr val="000000"/>
                </a:solidFill>
                <a:uFillTx/>
                <a:latin typeface="Verdana" pitchFamily="34"/>
                <a:ea typeface="Verdana" pitchFamily="34"/>
                <a:cs typeface="Verdana" pitchFamily="34"/>
              </a:rPr>
              <a:t>(Reg. No. : 201904019)</a:t>
            </a:r>
          </a:p>
          <a:p>
            <a:pPr marL="0" marR="0" lvl="0" indent="0" algn="r"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1800" b="1" i="0" u="none" strike="noStrike" kern="1200" cap="none" spc="0" baseline="0" dirty="0">
                <a:solidFill>
                  <a:srgbClr val="000000"/>
                </a:solidFill>
                <a:uFillTx/>
                <a:latin typeface="Verdana" pitchFamily="34"/>
                <a:ea typeface="Verdana" pitchFamily="34"/>
                <a:cs typeface="Verdana" pitchFamily="34"/>
              </a:rPr>
              <a:t>Hariharan C (Reg. No. : 201904048)</a:t>
            </a:r>
          </a:p>
        </p:txBody>
      </p:sp>
      <p:sp>
        <p:nvSpPr>
          <p:cNvPr id="12" name="TextBox 1">
            <a:extLst>
              <a:ext uri="{FF2B5EF4-FFF2-40B4-BE49-F238E27FC236}">
                <a16:creationId xmlns:a16="http://schemas.microsoft.com/office/drawing/2014/main" id="{0A39477C-CD8B-464E-AA73-4A5FAEBFCA06}"/>
              </a:ext>
            </a:extLst>
          </p:cNvPr>
          <p:cNvSpPr txBox="1">
            <a:spLocks noChangeArrowheads="1"/>
          </p:cNvSpPr>
          <p:nvPr/>
        </p:nvSpPr>
        <p:spPr bwMode="auto">
          <a:xfrm>
            <a:off x="144001" y="5151845"/>
            <a:ext cx="36210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b="1" dirty="0"/>
              <a:t>Guided By:</a:t>
            </a:r>
          </a:p>
          <a:p>
            <a:pPr>
              <a:spcBef>
                <a:spcPct val="0"/>
              </a:spcBef>
              <a:buFontTx/>
              <a:buNone/>
            </a:pPr>
            <a:r>
              <a:rPr lang="en-US" altLang="en-US" sz="2000" b="1" dirty="0"/>
              <a:t>           </a:t>
            </a:r>
            <a:r>
              <a:rPr lang="en-US" altLang="en-US" sz="2000" b="1" dirty="0" err="1"/>
              <a:t>Dr.N.Balaganesh</a:t>
            </a:r>
            <a:endParaRPr lang="en-US" altLang="en-US" sz="20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page2">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1FD03A5B-B119-4F09-BF8F-260F7E0CF57C}"/>
              </a:ext>
            </a:extLst>
          </p:cNvPr>
          <p:cNvPicPr>
            <a:picLocks noChangeAspect="1"/>
          </p:cNvPicPr>
          <p:nvPr/>
        </p:nvPicPr>
        <p:blipFill>
          <a:blip r:embed="rId3">
            <a:lum/>
            <a:alphaModFix/>
          </a:blip>
          <a:srcRect/>
          <a:stretch>
            <a:fillRect/>
          </a:stretch>
        </p:blipFill>
        <p:spPr>
          <a:xfrm>
            <a:off x="0" y="6553084"/>
            <a:ext cx="9144000" cy="308161"/>
          </a:xfrm>
          <a:prstGeom prst="rect">
            <a:avLst/>
          </a:prstGeom>
          <a:noFill/>
          <a:ln cap="flat">
            <a:noFill/>
          </a:ln>
        </p:spPr>
      </p:pic>
      <p:sp>
        <p:nvSpPr>
          <p:cNvPr id="3" name="Text Box 4">
            <a:extLst>
              <a:ext uri="{FF2B5EF4-FFF2-40B4-BE49-F238E27FC236}">
                <a16:creationId xmlns:a16="http://schemas.microsoft.com/office/drawing/2014/main" id="{5061300D-BBA8-4D53-8BCB-93F537D69AA6}"/>
              </a:ext>
            </a:extLst>
          </p:cNvPr>
          <p:cNvSpPr/>
          <p:nvPr/>
        </p:nvSpPr>
        <p:spPr>
          <a:xfrm>
            <a:off x="2299322" y="6550203"/>
            <a:ext cx="4545363" cy="307082"/>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a:effectLst>
            <a:outerShdw dist="17819" dir="2700000" algn="tl">
              <a:srgbClr val="000000"/>
            </a:outerShdw>
          </a:effectLst>
        </p:spPr>
        <p:txBody>
          <a:bodyPr vert="horz" wrap="non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1400" b="1" i="0" u="none" strike="noStrike" kern="1200" cap="none" spc="0" baseline="0">
                <a:solidFill>
                  <a:srgbClr val="47FFD1"/>
                </a:solidFill>
                <a:uFillTx/>
                <a:latin typeface="Comic Sans MS" pitchFamily="66"/>
                <a:ea typeface="Microsoft YaHei" pitchFamily="2"/>
                <a:cs typeface="Lucida Sans" pitchFamily="2"/>
              </a:rPr>
              <a:t>Department of Computer Science and Engineering</a:t>
            </a:r>
          </a:p>
        </p:txBody>
      </p:sp>
      <p:pic>
        <p:nvPicPr>
          <p:cNvPr id="4" name="Picture 2">
            <a:extLst>
              <a:ext uri="{FF2B5EF4-FFF2-40B4-BE49-F238E27FC236}">
                <a16:creationId xmlns:a16="http://schemas.microsoft.com/office/drawing/2014/main" id="{BDD981F8-F8D8-4226-A65A-1BDD360C5B6B}"/>
              </a:ext>
            </a:extLst>
          </p:cNvPr>
          <p:cNvPicPr>
            <a:picLocks noChangeAspect="1"/>
          </p:cNvPicPr>
          <p:nvPr/>
        </p:nvPicPr>
        <p:blipFill>
          <a:blip r:embed="rId3">
            <a:lum/>
            <a:alphaModFix/>
          </a:blip>
          <a:srcRect/>
          <a:stretch>
            <a:fillRect/>
          </a:stretch>
        </p:blipFill>
        <p:spPr>
          <a:xfrm>
            <a:off x="0" y="0"/>
            <a:ext cx="9144000" cy="609484"/>
          </a:xfrm>
          <a:prstGeom prst="rect">
            <a:avLst/>
          </a:prstGeom>
          <a:noFill/>
          <a:ln cap="flat">
            <a:noFill/>
          </a:ln>
        </p:spPr>
      </p:pic>
      <p:sp>
        <p:nvSpPr>
          <p:cNvPr id="5" name="Rectangle: Rounded Corners 3">
            <a:extLst>
              <a:ext uri="{FF2B5EF4-FFF2-40B4-BE49-F238E27FC236}">
                <a16:creationId xmlns:a16="http://schemas.microsoft.com/office/drawing/2014/main" id="{EEBBD6D3-0456-49F2-A6DC-267A695F8801}"/>
              </a:ext>
            </a:extLst>
          </p:cNvPr>
          <p:cNvSpPr/>
          <p:nvPr/>
        </p:nvSpPr>
        <p:spPr>
          <a:xfrm>
            <a:off x="8550362" y="6553084"/>
            <a:ext cx="593637" cy="306360"/>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0066"/>
          </a:solidFill>
          <a:ln w="12600" cap="flat">
            <a:solidFill>
              <a:srgbClr val="000000"/>
            </a:solidFill>
            <a:prstDash val="solid"/>
            <a:miter/>
          </a:ln>
        </p:spPr>
        <p:txBody>
          <a:bodyPr vert="horz" wrap="square" lIns="90004" tIns="46798" rIns="90004" bIns="46798" anchor="ctr" anchorCtr="1" compatLnSpc="1">
            <a:normAutofit fontScale="92500" lnSpcReduction="20000"/>
          </a:bodyPr>
          <a:lstStyle/>
          <a:p>
            <a:pPr marL="0" marR="0" lvl="0" indent="0" algn="ctr" defTabSz="914400" rtl="0" fontAlgn="auto" hangingPunct="1">
              <a:lnSpc>
                <a:spcPct val="8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47D20AFF-C8DA-41AB-A448-4C9D1B31E5DD}" type="slidenum">
              <a:t>2</a:t>
            </a:fld>
            <a:endParaRPr lang="en-US" sz="1400" b="1" i="0" u="none" strike="noStrike" kern="1200" cap="none" spc="0" baseline="0">
              <a:solidFill>
                <a:srgbClr val="FFFFFF"/>
              </a:solidFill>
              <a:uFillTx/>
              <a:latin typeface="Comic Sans MS" pitchFamily="66"/>
              <a:ea typeface="Microsoft YaHei" pitchFamily="2"/>
              <a:cs typeface="Lucida Sans" pitchFamily="2"/>
            </a:endParaRPr>
          </a:p>
        </p:txBody>
      </p:sp>
      <p:sp>
        <p:nvSpPr>
          <p:cNvPr id="6" name="Date Placeholder 7">
            <a:extLst>
              <a:ext uri="{FF2B5EF4-FFF2-40B4-BE49-F238E27FC236}">
                <a16:creationId xmlns:a16="http://schemas.microsoft.com/office/drawing/2014/main" id="{1C919CEA-7054-4BBF-89E4-A8E6FFDA54E6}"/>
              </a:ext>
            </a:extLst>
          </p:cNvPr>
          <p:cNvSpPr/>
          <p:nvPr/>
        </p:nvSpPr>
        <p:spPr>
          <a:xfrm>
            <a:off x="0" y="6564239"/>
            <a:ext cx="1447915" cy="41291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norm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6AE51CFA-C76F-4093-93E6-CC68426544A9}" type="datetime1">
              <a:rPr lang="en-US" sz="1400" b="1" i="0" u="none" strike="noStrike" kern="1200" cap="none" spc="0" baseline="0">
                <a:solidFill>
                  <a:srgbClr val="FF0066"/>
                </a:solidFill>
                <a:uFillTx/>
                <a:latin typeface="Arial Rounded MT Bold" pitchFamily="34"/>
                <a:ea typeface="Microsoft YaHei" pitchFamily="2"/>
                <a:cs typeface="Lucida Sans" pitchFamily="2"/>
              </a:rPr>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t>4/18/2023</a:t>
            </a:fld>
            <a:endParaRPr lang="en-US" sz="1400" b="1" i="0" u="none" strike="noStrike" kern="1200" cap="none" spc="0" baseline="0">
              <a:solidFill>
                <a:srgbClr val="FF0066"/>
              </a:solidFill>
              <a:uFillTx/>
              <a:latin typeface="Arial Rounded MT Bold" pitchFamily="34"/>
              <a:ea typeface="Microsoft YaHei" pitchFamily="2"/>
              <a:cs typeface="Lucida Sans" pitchFamily="2"/>
            </a:endParaRPr>
          </a:p>
        </p:txBody>
      </p:sp>
      <p:sp>
        <p:nvSpPr>
          <p:cNvPr id="7" name="TextBox 8">
            <a:extLst>
              <a:ext uri="{FF2B5EF4-FFF2-40B4-BE49-F238E27FC236}">
                <a16:creationId xmlns:a16="http://schemas.microsoft.com/office/drawing/2014/main" id="{B844DE17-606E-408B-A207-275CEB3E4632}"/>
              </a:ext>
            </a:extLst>
          </p:cNvPr>
          <p:cNvSpPr/>
          <p:nvPr/>
        </p:nvSpPr>
        <p:spPr>
          <a:xfrm>
            <a:off x="919081" y="0"/>
            <a:ext cx="7305836" cy="47483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500" b="1" i="0" u="none" strike="noStrike" kern="1200" cap="none" spc="0" baseline="0">
                <a:solidFill>
                  <a:srgbClr val="47FFD1"/>
                </a:solidFill>
                <a:uFillTx/>
                <a:latin typeface="Comic Sans MS" pitchFamily="66"/>
                <a:ea typeface="Microsoft YaHei" pitchFamily="2"/>
                <a:cs typeface="Lucida Sans" pitchFamily="2"/>
              </a:rPr>
              <a:t>Mepco Schlenk Engineering College </a:t>
            </a:r>
            <a:r>
              <a:rPr lang="en-US" sz="1800" b="1" i="0" u="none" strike="noStrike" kern="1200" cap="none" spc="0" baseline="0">
                <a:solidFill>
                  <a:srgbClr val="47FFD1"/>
                </a:solidFill>
                <a:uFillTx/>
                <a:latin typeface="Comic Sans MS" pitchFamily="66"/>
                <a:ea typeface="Microsoft YaHei" pitchFamily="2"/>
                <a:cs typeface="Lucida Sans" pitchFamily="2"/>
              </a:rPr>
              <a:t>(Autonomous)</a:t>
            </a:r>
          </a:p>
        </p:txBody>
      </p:sp>
      <p:sp>
        <p:nvSpPr>
          <p:cNvPr id="8" name="Oval 11">
            <a:extLst>
              <a:ext uri="{FF2B5EF4-FFF2-40B4-BE49-F238E27FC236}">
                <a16:creationId xmlns:a16="http://schemas.microsoft.com/office/drawing/2014/main" id="{F65DC1D0-189C-44AE-BB13-8D36B8F7E07C}"/>
              </a:ext>
            </a:extLst>
          </p:cNvPr>
          <p:cNvSpPr/>
          <p:nvPr/>
        </p:nvSpPr>
        <p:spPr>
          <a:xfrm>
            <a:off x="8354881" y="20519"/>
            <a:ext cx="777962" cy="777962"/>
          </a:xfrm>
          <a:custGeom>
            <a:avLst/>
            <a:gdLst>
              <a:gd name="f0" fmla="val 10800000"/>
              <a:gd name="f1" fmla="val 5400000"/>
              <a:gd name="f2" fmla="val 180"/>
              <a:gd name="f3" fmla="val w"/>
              <a:gd name="f4" fmla="val h"/>
              <a:gd name="f5" fmla="val 0"/>
              <a:gd name="f6" fmla="val 21600"/>
              <a:gd name="f7" fmla="*/ 5419351 1 1725033"/>
              <a:gd name="f8" fmla="*/ 10800 10800 1"/>
              <a:gd name="f9" fmla="+- 0 0 360"/>
              <a:gd name="f10" fmla="val 10800"/>
              <a:gd name="f11" fmla="+- 0 0 0"/>
              <a:gd name="f12" fmla="*/ f3 1 21600"/>
              <a:gd name="f13" fmla="*/ f4 1 21600"/>
              <a:gd name="f14" fmla="*/ 0 f7 1"/>
              <a:gd name="f15" fmla="*/ f5 f0 1"/>
              <a:gd name="f16" fmla="*/ f9 f0 1"/>
              <a:gd name="f17" fmla="+- f6 0 f5"/>
              <a:gd name="f18" fmla="*/ f11 f0 1"/>
              <a:gd name="f19" fmla="*/ f14 1 f2"/>
              <a:gd name="f20" fmla="*/ f15 1 f2"/>
              <a:gd name="f21" fmla="*/ f16 1 f2"/>
              <a:gd name="f22" fmla="*/ f17 1 21600"/>
              <a:gd name="f23" fmla="*/ f18 1 f2"/>
              <a:gd name="f24" fmla="+- 0 0 f19"/>
              <a:gd name="f25" fmla="+- f20 0 f1"/>
              <a:gd name="f26" fmla="+- f21 0 f1"/>
              <a:gd name="f27" fmla="*/ 3163 f22 1"/>
              <a:gd name="f28" fmla="*/ 18437 f22 1"/>
              <a:gd name="f29" fmla="*/ 10800 f22 1"/>
              <a:gd name="f30" fmla="*/ 0 f22 1"/>
              <a:gd name="f31" fmla="*/ 21600 f22 1"/>
              <a:gd name="f32" fmla="+- f23 0 f1"/>
              <a:gd name="f33" fmla="*/ f24 f0 1"/>
              <a:gd name="f34" fmla="+- f26 0 f25"/>
              <a:gd name="f35" fmla="*/ f29 1 f22"/>
              <a:gd name="f36" fmla="*/ f30 1 f22"/>
              <a:gd name="f37" fmla="*/ f27 1 f22"/>
              <a:gd name="f38" fmla="*/ f28 1 f22"/>
              <a:gd name="f39" fmla="*/ f31 1 f22"/>
              <a:gd name="f40" fmla="*/ f33 1 f7"/>
              <a:gd name="f41" fmla="*/ f37 f12 1"/>
              <a:gd name="f42" fmla="*/ f38 f12 1"/>
              <a:gd name="f43" fmla="*/ f38 f13 1"/>
              <a:gd name="f44" fmla="*/ f37 f13 1"/>
              <a:gd name="f45" fmla="*/ f35 f12 1"/>
              <a:gd name="f46" fmla="*/ f36 f13 1"/>
              <a:gd name="f47" fmla="*/ f36 f12 1"/>
              <a:gd name="f48" fmla="*/ f35 f13 1"/>
              <a:gd name="f49" fmla="*/ f39 f13 1"/>
              <a:gd name="f50" fmla="*/ f39 f12 1"/>
              <a:gd name="f51" fmla="+- f40 0 f1"/>
              <a:gd name="f52" fmla="+- f51 f1 0"/>
              <a:gd name="f53" fmla="*/ f52 f7 1"/>
              <a:gd name="f54" fmla="*/ f53 1 f0"/>
              <a:gd name="f55" fmla="+- 0 0 f54"/>
              <a:gd name="f56" fmla="+- 0 0 f55"/>
              <a:gd name="f57" fmla="*/ f56 f0 1"/>
              <a:gd name="f58" fmla="*/ f57 1 f7"/>
              <a:gd name="f59" fmla="+- f58 0 f1"/>
              <a:gd name="f60" fmla="cos 1 f59"/>
              <a:gd name="f61" fmla="sin 1 f59"/>
              <a:gd name="f62" fmla="+- 0 0 f60"/>
              <a:gd name="f63" fmla="+- 0 0 f61"/>
              <a:gd name="f64" fmla="+- 0 0 f62"/>
              <a:gd name="f65" fmla="+- 0 0 f63"/>
              <a:gd name="f66" fmla="val f64"/>
              <a:gd name="f67" fmla="val f65"/>
              <a:gd name="f68" fmla="+- 0 0 f66"/>
              <a:gd name="f69" fmla="+- 0 0 f67"/>
              <a:gd name="f70" fmla="*/ 10800 f68 1"/>
              <a:gd name="f71" fmla="*/ 10800 f69 1"/>
              <a:gd name="f72" fmla="*/ f70 f70 1"/>
              <a:gd name="f73" fmla="*/ f71 f71 1"/>
              <a:gd name="f74" fmla="+- f72 f73 0"/>
              <a:gd name="f75" fmla="sqrt f74"/>
              <a:gd name="f76" fmla="*/ f8 1 f75"/>
              <a:gd name="f77" fmla="*/ f68 f76 1"/>
              <a:gd name="f78" fmla="*/ f69 f76 1"/>
              <a:gd name="f79" fmla="+- 10800 0 f77"/>
              <a:gd name="f80" fmla="+- 10800 0 f78"/>
            </a:gdLst>
            <a:ahLst/>
            <a:cxnLst>
              <a:cxn ang="3cd4">
                <a:pos x="hc" y="t"/>
              </a:cxn>
              <a:cxn ang="0">
                <a:pos x="r" y="vc"/>
              </a:cxn>
              <a:cxn ang="cd4">
                <a:pos x="hc" y="b"/>
              </a:cxn>
              <a:cxn ang="cd2">
                <a:pos x="l" y="vc"/>
              </a:cxn>
              <a:cxn ang="f32">
                <a:pos x="f45" y="f46"/>
              </a:cxn>
              <a:cxn ang="f32">
                <a:pos x="f41" y="f44"/>
              </a:cxn>
              <a:cxn ang="f32">
                <a:pos x="f47" y="f48"/>
              </a:cxn>
              <a:cxn ang="f32">
                <a:pos x="f41" y="f43"/>
              </a:cxn>
              <a:cxn ang="f32">
                <a:pos x="f45" y="f49"/>
              </a:cxn>
              <a:cxn ang="f32">
                <a:pos x="f42" y="f43"/>
              </a:cxn>
              <a:cxn ang="f32">
                <a:pos x="f50" y="f48"/>
              </a:cxn>
              <a:cxn ang="f32">
                <a:pos x="f42" y="f44"/>
              </a:cxn>
            </a:cxnLst>
            <a:rect l="f41" t="f44" r="f42" b="f43"/>
            <a:pathLst>
              <a:path w="21600" h="21600">
                <a:moveTo>
                  <a:pt x="f79" y="f80"/>
                </a:moveTo>
                <a:arcTo wR="f10" hR="f10" stAng="f25" swAng="f34"/>
                <a:close/>
              </a:path>
            </a:pathLst>
          </a:custGeom>
          <a:solidFill>
            <a:srgbClr val="FFFFFF"/>
          </a:solidFill>
          <a:ln w="12600" cap="flat">
            <a:solidFill>
              <a:srgbClr val="BCBCBC"/>
            </a:solidFill>
            <a:prstDash val="solid"/>
            <a:miter/>
          </a:ln>
        </p:spPr>
        <p:txBody>
          <a:bodyPr vert="horz" wrap="square" lIns="90004" tIns="46798" rIns="90004" bIns="46798" anchor="ctr" anchorCtr="0" compatLnSpc="1">
            <a:no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IN" sz="2400" b="0" i="0" u="none" strike="noStrike" kern="1200" cap="none" spc="0" baseline="0">
              <a:solidFill>
                <a:srgbClr val="000000"/>
              </a:solidFill>
              <a:uFillTx/>
              <a:latin typeface="Times New Roman" pitchFamily="18"/>
              <a:ea typeface="Microsoft YaHei" pitchFamily="2"/>
              <a:cs typeface="Lucida Sans" pitchFamily="2"/>
            </a:endParaRPr>
          </a:p>
        </p:txBody>
      </p:sp>
      <p:pic>
        <p:nvPicPr>
          <p:cNvPr id="9" name="Picture 10" descr="A picture containing text, sign, watch&#10;&#10;Description automatically generated">
            <a:extLst>
              <a:ext uri="{FF2B5EF4-FFF2-40B4-BE49-F238E27FC236}">
                <a16:creationId xmlns:a16="http://schemas.microsoft.com/office/drawing/2014/main" id="{F8E3B318-58E8-4FC6-9867-C4E85BF05D47}"/>
              </a:ext>
            </a:extLst>
          </p:cNvPr>
          <p:cNvPicPr>
            <a:picLocks noChangeAspect="1"/>
          </p:cNvPicPr>
          <p:nvPr/>
        </p:nvPicPr>
        <p:blipFill>
          <a:blip r:embed="rId4">
            <a:lum/>
            <a:alphaModFix/>
          </a:blip>
          <a:srcRect/>
          <a:stretch>
            <a:fillRect/>
          </a:stretch>
        </p:blipFill>
        <p:spPr>
          <a:xfrm>
            <a:off x="8381875" y="47521"/>
            <a:ext cx="731876" cy="714603"/>
          </a:xfrm>
          <a:prstGeom prst="rect">
            <a:avLst/>
          </a:prstGeom>
          <a:noFill/>
          <a:ln cap="flat">
            <a:noFill/>
          </a:ln>
        </p:spPr>
      </p:pic>
      <p:sp>
        <p:nvSpPr>
          <p:cNvPr id="10" name="TextBox 1">
            <a:extLst>
              <a:ext uri="{FF2B5EF4-FFF2-40B4-BE49-F238E27FC236}">
                <a16:creationId xmlns:a16="http://schemas.microsoft.com/office/drawing/2014/main" id="{6B1BA7CE-EA58-4C87-90F8-CBC31CBCC3C1}"/>
              </a:ext>
            </a:extLst>
          </p:cNvPr>
          <p:cNvSpPr/>
          <p:nvPr/>
        </p:nvSpPr>
        <p:spPr>
          <a:xfrm>
            <a:off x="2781361" y="2311478"/>
            <a:ext cx="3581275" cy="463842"/>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ctr"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400" b="1" i="0" u="sng" strike="noStrike" kern="1200" cap="none" spc="0" baseline="0" dirty="0">
                <a:solidFill>
                  <a:srgbClr val="000000"/>
                </a:solidFill>
                <a:uFillTx/>
                <a:latin typeface="Calibri (Body)"/>
                <a:ea typeface="Verdana" pitchFamily="34"/>
                <a:cs typeface="Verdana" pitchFamily="34"/>
              </a:rPr>
              <a:t>Problem statement  </a:t>
            </a:r>
          </a:p>
        </p:txBody>
      </p:sp>
      <p:sp>
        <p:nvSpPr>
          <p:cNvPr id="11" name="TextBox 1">
            <a:extLst>
              <a:ext uri="{FF2B5EF4-FFF2-40B4-BE49-F238E27FC236}">
                <a16:creationId xmlns:a16="http://schemas.microsoft.com/office/drawing/2014/main" id="{D670A759-129E-44A9-9747-A2C3290A4046}"/>
              </a:ext>
            </a:extLst>
          </p:cNvPr>
          <p:cNvSpPr/>
          <p:nvPr/>
        </p:nvSpPr>
        <p:spPr>
          <a:xfrm>
            <a:off x="840597" y="2763171"/>
            <a:ext cx="7462802" cy="1510282"/>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lvl="0" algn="just"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000" dirty="0">
                <a:latin typeface="Calibri (Body)"/>
                <a:cs typeface="Arial" panose="020B0604020202020204" pitchFamily="34" charset="0"/>
              </a:rPr>
              <a:t>	</a:t>
            </a:r>
            <a:r>
              <a:rPr lang="en-US" dirty="0">
                <a:latin typeface="Calibri (Body)"/>
                <a:cs typeface="Arial" panose="020B0604020202020204" pitchFamily="34" charset="0"/>
              </a:rPr>
              <a:t>Coronary artery disease prediction is considered to be one of the most challenging tasks in the health care industries. Hyperparameters are set by the machine learning engineer before training and they play a major role in performance of the model. Selecting the best hyperparameter boosts the performance of the Machine Learning model.</a:t>
            </a:r>
            <a:endParaRPr lang="en-US" sz="2000" b="0" i="0" u="none" strike="noStrike" kern="1200" cap="none" spc="0" baseline="0" dirty="0">
              <a:solidFill>
                <a:srgbClr val="000000"/>
              </a:solidFill>
              <a:uFillTx/>
              <a:latin typeface="Calibri (Body)"/>
              <a:ea typeface="Verdana" pitchFamily="34"/>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page3">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6B260D4F-8467-495E-AF31-3F3D6890CDFA}"/>
              </a:ext>
            </a:extLst>
          </p:cNvPr>
          <p:cNvPicPr>
            <a:picLocks noChangeAspect="1"/>
          </p:cNvPicPr>
          <p:nvPr/>
        </p:nvPicPr>
        <p:blipFill>
          <a:blip r:embed="rId3">
            <a:lum/>
            <a:alphaModFix/>
          </a:blip>
          <a:srcRect/>
          <a:stretch>
            <a:fillRect/>
          </a:stretch>
        </p:blipFill>
        <p:spPr>
          <a:xfrm>
            <a:off x="0" y="6553084"/>
            <a:ext cx="9144000" cy="308161"/>
          </a:xfrm>
          <a:prstGeom prst="rect">
            <a:avLst/>
          </a:prstGeom>
          <a:noFill/>
          <a:ln cap="flat">
            <a:noFill/>
          </a:ln>
        </p:spPr>
      </p:pic>
      <p:sp>
        <p:nvSpPr>
          <p:cNvPr id="3" name="Text Box 4">
            <a:extLst>
              <a:ext uri="{FF2B5EF4-FFF2-40B4-BE49-F238E27FC236}">
                <a16:creationId xmlns:a16="http://schemas.microsoft.com/office/drawing/2014/main" id="{2BCCE93F-E369-424D-95DC-DEB57B5AFA92}"/>
              </a:ext>
            </a:extLst>
          </p:cNvPr>
          <p:cNvSpPr/>
          <p:nvPr/>
        </p:nvSpPr>
        <p:spPr>
          <a:xfrm>
            <a:off x="2299322" y="6550203"/>
            <a:ext cx="4545363" cy="307082"/>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a:effectLst>
            <a:outerShdw dist="17819" dir="2700000" algn="tl">
              <a:srgbClr val="000000"/>
            </a:outerShdw>
          </a:effectLst>
        </p:spPr>
        <p:txBody>
          <a:bodyPr vert="horz" wrap="non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1400" b="1" i="0" u="none" strike="noStrike" kern="1200" cap="none" spc="0" baseline="0">
                <a:solidFill>
                  <a:srgbClr val="47FFD1"/>
                </a:solidFill>
                <a:uFillTx/>
                <a:latin typeface="Comic Sans MS" pitchFamily="66"/>
                <a:ea typeface="Microsoft YaHei" pitchFamily="2"/>
                <a:cs typeface="Times New Roman" panose="02020603050405020304" pitchFamily="18" charset="0"/>
              </a:rPr>
              <a:t>Department of Computer Science and Engineering</a:t>
            </a:r>
          </a:p>
        </p:txBody>
      </p:sp>
      <p:pic>
        <p:nvPicPr>
          <p:cNvPr id="4" name="Picture 2">
            <a:extLst>
              <a:ext uri="{FF2B5EF4-FFF2-40B4-BE49-F238E27FC236}">
                <a16:creationId xmlns:a16="http://schemas.microsoft.com/office/drawing/2014/main" id="{994EC86F-9E05-49D7-A2B3-6372F69A6FD4}"/>
              </a:ext>
            </a:extLst>
          </p:cNvPr>
          <p:cNvPicPr>
            <a:picLocks noChangeAspect="1"/>
          </p:cNvPicPr>
          <p:nvPr/>
        </p:nvPicPr>
        <p:blipFill>
          <a:blip r:embed="rId3">
            <a:lum/>
            <a:alphaModFix/>
          </a:blip>
          <a:srcRect/>
          <a:stretch>
            <a:fillRect/>
          </a:stretch>
        </p:blipFill>
        <p:spPr>
          <a:xfrm>
            <a:off x="0" y="0"/>
            <a:ext cx="9144000" cy="609484"/>
          </a:xfrm>
          <a:prstGeom prst="rect">
            <a:avLst/>
          </a:prstGeom>
          <a:noFill/>
          <a:ln cap="flat">
            <a:noFill/>
          </a:ln>
        </p:spPr>
      </p:pic>
      <p:sp>
        <p:nvSpPr>
          <p:cNvPr id="5" name="Rectangle: Rounded Corners 3">
            <a:extLst>
              <a:ext uri="{FF2B5EF4-FFF2-40B4-BE49-F238E27FC236}">
                <a16:creationId xmlns:a16="http://schemas.microsoft.com/office/drawing/2014/main" id="{4F1E986C-775F-4931-A354-976921F4DCB9}"/>
              </a:ext>
            </a:extLst>
          </p:cNvPr>
          <p:cNvSpPr/>
          <p:nvPr/>
        </p:nvSpPr>
        <p:spPr>
          <a:xfrm>
            <a:off x="8550362" y="6553084"/>
            <a:ext cx="593637" cy="306360"/>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0066"/>
          </a:solidFill>
          <a:ln w="12600" cap="flat">
            <a:solidFill>
              <a:srgbClr val="000000"/>
            </a:solidFill>
            <a:prstDash val="solid"/>
            <a:miter/>
          </a:ln>
        </p:spPr>
        <p:txBody>
          <a:bodyPr vert="horz" wrap="square" lIns="90004" tIns="46798" rIns="90004" bIns="46798" anchor="ctr" anchorCtr="1" compatLnSpc="1">
            <a:normAutofit fontScale="92500" lnSpcReduction="20000"/>
          </a:bodyPr>
          <a:lstStyle/>
          <a:p>
            <a:pPr marL="0" marR="0" lvl="0" indent="0" algn="ctr" defTabSz="914400" rtl="0" fontAlgn="auto" hangingPunct="1">
              <a:lnSpc>
                <a:spcPct val="8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B407B101-DB0F-4E51-A63B-2B32E9C4437C}" type="slidenum">
              <a:rPr/>
              <a:t>3</a:t>
            </a:fld>
            <a:endParaRPr lang="en-US" sz="1400" b="1" i="0" u="none" strike="noStrike" kern="1200" cap="none" spc="0" baseline="0">
              <a:solidFill>
                <a:srgbClr val="FFFFFF"/>
              </a:solidFill>
              <a:uFillTx/>
              <a:latin typeface="Comic Sans MS" pitchFamily="66"/>
              <a:ea typeface="Microsoft YaHei" pitchFamily="2"/>
              <a:cs typeface="Times New Roman" panose="02020603050405020304" pitchFamily="18" charset="0"/>
            </a:endParaRPr>
          </a:p>
        </p:txBody>
      </p:sp>
      <p:sp>
        <p:nvSpPr>
          <p:cNvPr id="6" name="Date Placeholder 7">
            <a:extLst>
              <a:ext uri="{FF2B5EF4-FFF2-40B4-BE49-F238E27FC236}">
                <a16:creationId xmlns:a16="http://schemas.microsoft.com/office/drawing/2014/main" id="{3830C009-7FC2-4E1D-B0AB-5F2BCB2F83B4}"/>
              </a:ext>
            </a:extLst>
          </p:cNvPr>
          <p:cNvSpPr/>
          <p:nvPr/>
        </p:nvSpPr>
        <p:spPr>
          <a:xfrm>
            <a:off x="0" y="6564239"/>
            <a:ext cx="1447915" cy="41291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norm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1F40B458-386F-4A5A-93CB-7D38A1D82727}" type="datetime1">
              <a:rPr lang="en-US" sz="1400" b="1" i="0" u="none" strike="noStrike" kern="1200" cap="none" spc="0" baseline="0">
                <a:solidFill>
                  <a:srgbClr val="FF0066"/>
                </a:solidFill>
                <a:uFillTx/>
                <a:latin typeface="Arial Rounded MT Bold" pitchFamily="34"/>
                <a:ea typeface="Microsoft YaHei" pitchFamily="2"/>
                <a:cs typeface="Times New Roman" panose="02020603050405020304" pitchFamily="18" charset="0"/>
              </a:rPr>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t>4/18/2023</a:t>
            </a:fld>
            <a:endParaRPr lang="en-US" sz="1400" b="1" i="0" u="none" strike="noStrike" kern="1200" cap="none" spc="0" baseline="0">
              <a:solidFill>
                <a:srgbClr val="FF0066"/>
              </a:solidFill>
              <a:uFillTx/>
              <a:latin typeface="Arial Rounded MT Bold" pitchFamily="34"/>
              <a:ea typeface="Microsoft YaHei" pitchFamily="2"/>
              <a:cs typeface="Times New Roman" panose="02020603050405020304" pitchFamily="18" charset="0"/>
            </a:endParaRPr>
          </a:p>
        </p:txBody>
      </p:sp>
      <p:sp>
        <p:nvSpPr>
          <p:cNvPr id="7" name="TextBox 8">
            <a:extLst>
              <a:ext uri="{FF2B5EF4-FFF2-40B4-BE49-F238E27FC236}">
                <a16:creationId xmlns:a16="http://schemas.microsoft.com/office/drawing/2014/main" id="{E0561902-ACC2-491E-9AD6-943055B852C6}"/>
              </a:ext>
            </a:extLst>
          </p:cNvPr>
          <p:cNvSpPr/>
          <p:nvPr/>
        </p:nvSpPr>
        <p:spPr>
          <a:xfrm>
            <a:off x="919081" y="0"/>
            <a:ext cx="7305836" cy="47483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500" b="1" i="0" u="none" strike="noStrike" kern="1200" cap="none" spc="0" baseline="0">
                <a:solidFill>
                  <a:srgbClr val="47FFD1"/>
                </a:solidFill>
                <a:uFillTx/>
                <a:latin typeface="Comic Sans MS" pitchFamily="66"/>
                <a:ea typeface="Microsoft YaHei" pitchFamily="2"/>
                <a:cs typeface="Times New Roman" panose="02020603050405020304" pitchFamily="18" charset="0"/>
              </a:rPr>
              <a:t>Mepco Schlenk Engineering College </a:t>
            </a:r>
            <a:r>
              <a:rPr lang="en-US" sz="1800" b="1" i="0" u="none" strike="noStrike" kern="1200" cap="none" spc="0" baseline="0">
                <a:solidFill>
                  <a:srgbClr val="47FFD1"/>
                </a:solidFill>
                <a:uFillTx/>
                <a:latin typeface="Comic Sans MS" pitchFamily="66"/>
                <a:ea typeface="Microsoft YaHei" pitchFamily="2"/>
                <a:cs typeface="Times New Roman" panose="02020603050405020304" pitchFamily="18" charset="0"/>
              </a:rPr>
              <a:t>(Autonomous)</a:t>
            </a:r>
          </a:p>
        </p:txBody>
      </p:sp>
      <p:sp>
        <p:nvSpPr>
          <p:cNvPr id="8" name="Oval 11">
            <a:extLst>
              <a:ext uri="{FF2B5EF4-FFF2-40B4-BE49-F238E27FC236}">
                <a16:creationId xmlns:a16="http://schemas.microsoft.com/office/drawing/2014/main" id="{30A70D91-67B1-4618-930C-BBC5D49CF5F1}"/>
              </a:ext>
            </a:extLst>
          </p:cNvPr>
          <p:cNvSpPr/>
          <p:nvPr/>
        </p:nvSpPr>
        <p:spPr>
          <a:xfrm>
            <a:off x="8354881" y="20519"/>
            <a:ext cx="777962" cy="777962"/>
          </a:xfrm>
          <a:custGeom>
            <a:avLst/>
            <a:gdLst>
              <a:gd name="f0" fmla="val 10800000"/>
              <a:gd name="f1" fmla="val 5400000"/>
              <a:gd name="f2" fmla="val 180"/>
              <a:gd name="f3" fmla="val w"/>
              <a:gd name="f4" fmla="val h"/>
              <a:gd name="f5" fmla="val 0"/>
              <a:gd name="f6" fmla="val 21600"/>
              <a:gd name="f7" fmla="*/ 5419351 1 1725033"/>
              <a:gd name="f8" fmla="*/ 10800 10800 1"/>
              <a:gd name="f9" fmla="+- 0 0 360"/>
              <a:gd name="f10" fmla="val 10800"/>
              <a:gd name="f11" fmla="+- 0 0 0"/>
              <a:gd name="f12" fmla="*/ f3 1 21600"/>
              <a:gd name="f13" fmla="*/ f4 1 21600"/>
              <a:gd name="f14" fmla="*/ 0 f7 1"/>
              <a:gd name="f15" fmla="*/ f5 f0 1"/>
              <a:gd name="f16" fmla="*/ f9 f0 1"/>
              <a:gd name="f17" fmla="+- f6 0 f5"/>
              <a:gd name="f18" fmla="*/ f11 f0 1"/>
              <a:gd name="f19" fmla="*/ f14 1 f2"/>
              <a:gd name="f20" fmla="*/ f15 1 f2"/>
              <a:gd name="f21" fmla="*/ f16 1 f2"/>
              <a:gd name="f22" fmla="*/ f17 1 21600"/>
              <a:gd name="f23" fmla="*/ f18 1 f2"/>
              <a:gd name="f24" fmla="+- 0 0 f19"/>
              <a:gd name="f25" fmla="+- f20 0 f1"/>
              <a:gd name="f26" fmla="+- f21 0 f1"/>
              <a:gd name="f27" fmla="*/ 3163 f22 1"/>
              <a:gd name="f28" fmla="*/ 18437 f22 1"/>
              <a:gd name="f29" fmla="*/ 10800 f22 1"/>
              <a:gd name="f30" fmla="*/ 0 f22 1"/>
              <a:gd name="f31" fmla="*/ 21600 f22 1"/>
              <a:gd name="f32" fmla="+- f23 0 f1"/>
              <a:gd name="f33" fmla="*/ f24 f0 1"/>
              <a:gd name="f34" fmla="+- f26 0 f25"/>
              <a:gd name="f35" fmla="*/ f29 1 f22"/>
              <a:gd name="f36" fmla="*/ f30 1 f22"/>
              <a:gd name="f37" fmla="*/ f27 1 f22"/>
              <a:gd name="f38" fmla="*/ f28 1 f22"/>
              <a:gd name="f39" fmla="*/ f31 1 f22"/>
              <a:gd name="f40" fmla="*/ f33 1 f7"/>
              <a:gd name="f41" fmla="*/ f37 f12 1"/>
              <a:gd name="f42" fmla="*/ f38 f12 1"/>
              <a:gd name="f43" fmla="*/ f38 f13 1"/>
              <a:gd name="f44" fmla="*/ f37 f13 1"/>
              <a:gd name="f45" fmla="*/ f35 f12 1"/>
              <a:gd name="f46" fmla="*/ f36 f13 1"/>
              <a:gd name="f47" fmla="*/ f36 f12 1"/>
              <a:gd name="f48" fmla="*/ f35 f13 1"/>
              <a:gd name="f49" fmla="*/ f39 f13 1"/>
              <a:gd name="f50" fmla="*/ f39 f12 1"/>
              <a:gd name="f51" fmla="+- f40 0 f1"/>
              <a:gd name="f52" fmla="+- f51 f1 0"/>
              <a:gd name="f53" fmla="*/ f52 f7 1"/>
              <a:gd name="f54" fmla="*/ f53 1 f0"/>
              <a:gd name="f55" fmla="+- 0 0 f54"/>
              <a:gd name="f56" fmla="+- 0 0 f55"/>
              <a:gd name="f57" fmla="*/ f56 f0 1"/>
              <a:gd name="f58" fmla="*/ f57 1 f7"/>
              <a:gd name="f59" fmla="+- f58 0 f1"/>
              <a:gd name="f60" fmla="cos 1 f59"/>
              <a:gd name="f61" fmla="sin 1 f59"/>
              <a:gd name="f62" fmla="+- 0 0 f60"/>
              <a:gd name="f63" fmla="+- 0 0 f61"/>
              <a:gd name="f64" fmla="+- 0 0 f62"/>
              <a:gd name="f65" fmla="+- 0 0 f63"/>
              <a:gd name="f66" fmla="val f64"/>
              <a:gd name="f67" fmla="val f65"/>
              <a:gd name="f68" fmla="+- 0 0 f66"/>
              <a:gd name="f69" fmla="+- 0 0 f67"/>
              <a:gd name="f70" fmla="*/ 10800 f68 1"/>
              <a:gd name="f71" fmla="*/ 10800 f69 1"/>
              <a:gd name="f72" fmla="*/ f70 f70 1"/>
              <a:gd name="f73" fmla="*/ f71 f71 1"/>
              <a:gd name="f74" fmla="+- f72 f73 0"/>
              <a:gd name="f75" fmla="sqrt f74"/>
              <a:gd name="f76" fmla="*/ f8 1 f75"/>
              <a:gd name="f77" fmla="*/ f68 f76 1"/>
              <a:gd name="f78" fmla="*/ f69 f76 1"/>
              <a:gd name="f79" fmla="+- 10800 0 f77"/>
              <a:gd name="f80" fmla="+- 10800 0 f78"/>
            </a:gdLst>
            <a:ahLst/>
            <a:cxnLst>
              <a:cxn ang="3cd4">
                <a:pos x="hc" y="t"/>
              </a:cxn>
              <a:cxn ang="0">
                <a:pos x="r" y="vc"/>
              </a:cxn>
              <a:cxn ang="cd4">
                <a:pos x="hc" y="b"/>
              </a:cxn>
              <a:cxn ang="cd2">
                <a:pos x="l" y="vc"/>
              </a:cxn>
              <a:cxn ang="f32">
                <a:pos x="f45" y="f46"/>
              </a:cxn>
              <a:cxn ang="f32">
                <a:pos x="f41" y="f44"/>
              </a:cxn>
              <a:cxn ang="f32">
                <a:pos x="f47" y="f48"/>
              </a:cxn>
              <a:cxn ang="f32">
                <a:pos x="f41" y="f43"/>
              </a:cxn>
              <a:cxn ang="f32">
                <a:pos x="f45" y="f49"/>
              </a:cxn>
              <a:cxn ang="f32">
                <a:pos x="f42" y="f43"/>
              </a:cxn>
              <a:cxn ang="f32">
                <a:pos x="f50" y="f48"/>
              </a:cxn>
              <a:cxn ang="f32">
                <a:pos x="f42" y="f44"/>
              </a:cxn>
            </a:cxnLst>
            <a:rect l="f41" t="f44" r="f42" b="f43"/>
            <a:pathLst>
              <a:path w="21600" h="21600">
                <a:moveTo>
                  <a:pt x="f79" y="f80"/>
                </a:moveTo>
                <a:arcTo wR="f10" hR="f10" stAng="f25" swAng="f34"/>
                <a:close/>
              </a:path>
            </a:pathLst>
          </a:custGeom>
          <a:solidFill>
            <a:srgbClr val="FFFFFF"/>
          </a:solidFill>
          <a:ln w="12600" cap="flat">
            <a:solidFill>
              <a:srgbClr val="BCBCBC"/>
            </a:solidFill>
            <a:prstDash val="solid"/>
            <a:miter/>
          </a:ln>
        </p:spPr>
        <p:txBody>
          <a:bodyPr vert="horz" wrap="square" lIns="90004" tIns="46798" rIns="90004" bIns="46798" anchor="ctr" anchorCtr="0" compatLnSpc="1">
            <a:no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IN" sz="2400" b="0" i="0" u="none" strike="noStrike" kern="1200" cap="none" spc="0" baseline="0">
              <a:solidFill>
                <a:srgbClr val="000000"/>
              </a:solidFill>
              <a:uFillTx/>
              <a:latin typeface="Times New Roman" pitchFamily="18"/>
              <a:ea typeface="Microsoft YaHei" pitchFamily="2"/>
              <a:cs typeface="Times New Roman" panose="02020603050405020304" pitchFamily="18" charset="0"/>
            </a:endParaRPr>
          </a:p>
        </p:txBody>
      </p:sp>
      <p:pic>
        <p:nvPicPr>
          <p:cNvPr id="9" name="Picture 10" descr="A picture containing text, sign, watch&#10;&#10;Description automatically generated">
            <a:extLst>
              <a:ext uri="{FF2B5EF4-FFF2-40B4-BE49-F238E27FC236}">
                <a16:creationId xmlns:a16="http://schemas.microsoft.com/office/drawing/2014/main" id="{4A610DEC-D32C-4CD6-8FB4-F8467DA043D3}"/>
              </a:ext>
            </a:extLst>
          </p:cNvPr>
          <p:cNvPicPr>
            <a:picLocks noChangeAspect="1"/>
          </p:cNvPicPr>
          <p:nvPr/>
        </p:nvPicPr>
        <p:blipFill>
          <a:blip r:embed="rId4">
            <a:lum/>
            <a:alphaModFix/>
          </a:blip>
          <a:srcRect/>
          <a:stretch>
            <a:fillRect/>
          </a:stretch>
        </p:blipFill>
        <p:spPr>
          <a:xfrm>
            <a:off x="8381875" y="47521"/>
            <a:ext cx="731876" cy="714603"/>
          </a:xfrm>
          <a:prstGeom prst="rect">
            <a:avLst/>
          </a:prstGeom>
          <a:noFill/>
          <a:ln cap="flat">
            <a:noFill/>
          </a:ln>
        </p:spPr>
      </p:pic>
      <p:sp>
        <p:nvSpPr>
          <p:cNvPr id="10" name="TextBox 1">
            <a:extLst>
              <a:ext uri="{FF2B5EF4-FFF2-40B4-BE49-F238E27FC236}">
                <a16:creationId xmlns:a16="http://schemas.microsoft.com/office/drawing/2014/main" id="{D8319FAC-A4BF-43EA-8B55-21D32B483E2B}"/>
              </a:ext>
            </a:extLst>
          </p:cNvPr>
          <p:cNvSpPr/>
          <p:nvPr/>
        </p:nvSpPr>
        <p:spPr>
          <a:xfrm>
            <a:off x="457200" y="1066684"/>
            <a:ext cx="4267084" cy="371509"/>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b="1" i="0" u="sng" strike="noStrike" kern="1200" cap="none" spc="0" baseline="0" dirty="0">
                <a:solidFill>
                  <a:srgbClr val="000000"/>
                </a:solidFill>
                <a:uFillTx/>
                <a:latin typeface="Calibri (Body)"/>
                <a:ea typeface="Verdana" pitchFamily="34"/>
                <a:cs typeface="Times New Roman" panose="02020603050405020304" pitchFamily="18" charset="0"/>
              </a:rPr>
              <a:t>Objectives</a:t>
            </a:r>
          </a:p>
        </p:txBody>
      </p:sp>
      <p:sp>
        <p:nvSpPr>
          <p:cNvPr id="12" name="TextBox 11">
            <a:extLst>
              <a:ext uri="{FF2B5EF4-FFF2-40B4-BE49-F238E27FC236}">
                <a16:creationId xmlns:a16="http://schemas.microsoft.com/office/drawing/2014/main" id="{880E5C8A-8DB4-4CAD-926B-5B77B2305097}"/>
              </a:ext>
            </a:extLst>
          </p:cNvPr>
          <p:cNvSpPr txBox="1"/>
          <p:nvPr/>
        </p:nvSpPr>
        <p:spPr>
          <a:xfrm>
            <a:off x="1047750" y="1731744"/>
            <a:ext cx="7048500" cy="2031325"/>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libri (Body)"/>
                <a:ea typeface="Verdana" panose="020B0604030504040204" pitchFamily="34" charset="0"/>
              </a:rPr>
              <a:t>To predict heart disease efficiently</a:t>
            </a:r>
          </a:p>
          <a:p>
            <a:pPr marL="285750" indent="-285750">
              <a:buFont typeface="Arial" panose="020B0604020202020204" pitchFamily="34" charset="0"/>
              <a:buChar char="•"/>
            </a:pPr>
            <a:endParaRPr lang="en-US" dirty="0">
              <a:latin typeface="Calibri (Body)"/>
              <a:ea typeface="Verdana" panose="020B0604030504040204" pitchFamily="34" charset="0"/>
            </a:endParaRPr>
          </a:p>
          <a:p>
            <a:pPr marL="285750" indent="-285750">
              <a:buFont typeface="Arial" panose="020B0604020202020204" pitchFamily="34" charset="0"/>
              <a:buChar char="•"/>
            </a:pPr>
            <a:r>
              <a:rPr lang="en-US" dirty="0">
                <a:latin typeface="Calibri (Body)"/>
                <a:ea typeface="Verdana" panose="020B0604030504040204" pitchFamily="34" charset="0"/>
              </a:rPr>
              <a:t>To find the best features for classification</a:t>
            </a:r>
          </a:p>
          <a:p>
            <a:pPr marL="285750" indent="-285750">
              <a:buFont typeface="Arial" panose="020B0604020202020204" pitchFamily="34" charset="0"/>
              <a:buChar char="•"/>
            </a:pPr>
            <a:endParaRPr lang="en-US" dirty="0">
              <a:latin typeface="Calibri (Body)"/>
              <a:ea typeface="Verdana" panose="020B0604030504040204" pitchFamily="34" charset="0"/>
            </a:endParaRPr>
          </a:p>
          <a:p>
            <a:pPr marL="285750" indent="-285750">
              <a:buFont typeface="Arial" panose="020B0604020202020204" pitchFamily="34" charset="0"/>
              <a:buChar char="•"/>
            </a:pPr>
            <a:r>
              <a:rPr lang="en-US" dirty="0">
                <a:latin typeface="Calibri (Body)"/>
                <a:ea typeface="Verdana" panose="020B0604030504040204" pitchFamily="34" charset="0"/>
              </a:rPr>
              <a:t>To optimize hyper parameters to achieve better results</a:t>
            </a:r>
          </a:p>
          <a:p>
            <a:pPr marL="285750" indent="-285750">
              <a:buFont typeface="Arial" panose="020B0604020202020204" pitchFamily="34" charset="0"/>
              <a:buChar char="•"/>
            </a:pPr>
            <a:endParaRPr lang="en-US" dirty="0">
              <a:latin typeface="Calibri (Body)"/>
              <a:ea typeface="Verdana" panose="020B0604030504040204" pitchFamily="34" charset="0"/>
            </a:endParaRPr>
          </a:p>
          <a:p>
            <a:endParaRPr lang="en-US" dirty="0">
              <a:latin typeface="Calibri (Body)"/>
              <a:ea typeface="Verdana" panose="020B0604030504040204" pitchFamily="34" charset="0"/>
            </a:endParaRPr>
          </a:p>
        </p:txBody>
      </p:sp>
      <p:sp>
        <p:nvSpPr>
          <p:cNvPr id="13" name="TextBox 12">
            <a:extLst>
              <a:ext uri="{FF2B5EF4-FFF2-40B4-BE49-F238E27FC236}">
                <a16:creationId xmlns:a16="http://schemas.microsoft.com/office/drawing/2014/main" id="{EBAB5090-D8A3-42A7-A6D5-9B4700A4E5A8}"/>
              </a:ext>
            </a:extLst>
          </p:cNvPr>
          <p:cNvSpPr txBox="1"/>
          <p:nvPr/>
        </p:nvSpPr>
        <p:spPr>
          <a:xfrm>
            <a:off x="457200" y="3451692"/>
            <a:ext cx="4586286" cy="369332"/>
          </a:xfrm>
          <a:prstGeom prst="rect">
            <a:avLst/>
          </a:prstGeom>
          <a:noFill/>
        </p:spPr>
        <p:txBody>
          <a:bodyPr wrap="square">
            <a:spAutoFit/>
          </a:bodyPr>
          <a:lstStyle/>
          <a:p>
            <a:r>
              <a:rPr lang="en-US" b="1" i="0" u="sng" strike="noStrike" kern="1200" cap="none" spc="0" baseline="0" dirty="0">
                <a:solidFill>
                  <a:srgbClr val="000000"/>
                </a:solidFill>
                <a:uFillTx/>
                <a:latin typeface="Calibri (Body)"/>
                <a:ea typeface="Verdana" pitchFamily="34"/>
                <a:cs typeface="Times New Roman" panose="02020603050405020304" pitchFamily="18" charset="0"/>
              </a:rPr>
              <a:t>Outcomes</a:t>
            </a:r>
            <a:endParaRPr lang="en-US" u="sng" dirty="0">
              <a:latin typeface="Calibri (Body)"/>
            </a:endParaRPr>
          </a:p>
        </p:txBody>
      </p:sp>
      <p:sp>
        <p:nvSpPr>
          <p:cNvPr id="15" name="TextBox 14">
            <a:extLst>
              <a:ext uri="{FF2B5EF4-FFF2-40B4-BE49-F238E27FC236}">
                <a16:creationId xmlns:a16="http://schemas.microsoft.com/office/drawing/2014/main" id="{C09CFDF8-43CE-4D3C-AC05-3F3C4F67A8DE}"/>
              </a:ext>
            </a:extLst>
          </p:cNvPr>
          <p:cNvSpPr txBox="1"/>
          <p:nvPr/>
        </p:nvSpPr>
        <p:spPr>
          <a:xfrm>
            <a:off x="919081" y="3962584"/>
            <a:ext cx="7305836" cy="1477328"/>
          </a:xfrm>
          <a:prstGeom prst="rect">
            <a:avLst/>
          </a:prstGeom>
          <a:noFill/>
        </p:spPr>
        <p:txBody>
          <a:bodyPr wrap="square">
            <a:spAutoFit/>
          </a:bodyPr>
          <a:lstStyle/>
          <a:p>
            <a:pPr marL="285750" marR="0" lvl="0" indent="-285750" algn="l" defTabSz="914400" rtl="0" fontAlgn="auto" hangingPunct="0">
              <a:lnSpc>
                <a:spcPct val="100000"/>
              </a:lnSpc>
              <a:spcBef>
                <a:spcPts val="0"/>
              </a:spcBef>
              <a:spcAft>
                <a:spcPts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dirty="0">
                <a:solidFill>
                  <a:srgbClr val="000000"/>
                </a:solidFill>
                <a:latin typeface="Calibri (Body)"/>
                <a:ea typeface="Verdana" pitchFamily="34"/>
                <a:cs typeface="Times New Roman" panose="02020603050405020304" pitchFamily="18" charset="0"/>
              </a:rPr>
              <a:t>Feature selection techniques</a:t>
            </a:r>
            <a:r>
              <a:rPr lang="en-US" b="0" i="0" u="none" strike="noStrike" kern="1200" cap="none" spc="0" baseline="0" dirty="0">
                <a:solidFill>
                  <a:srgbClr val="000000"/>
                </a:solidFill>
                <a:uFillTx/>
                <a:latin typeface="Calibri (Body)"/>
                <a:ea typeface="Verdana" pitchFamily="34"/>
                <a:cs typeface="Times New Roman" panose="02020603050405020304" pitchFamily="18" charset="0"/>
              </a:rPr>
              <a:t> select the best features for classification and drops irrelevant features.</a:t>
            </a:r>
          </a:p>
          <a:p>
            <a:pPr marL="285750" marR="0" lvl="0" indent="-285750" algn="l" defTabSz="914400" rtl="0" fontAlgn="auto" hangingPunct="0">
              <a:lnSpc>
                <a:spcPct val="100000"/>
              </a:lnSpc>
              <a:spcBef>
                <a:spcPts val="0"/>
              </a:spcBef>
              <a:spcAft>
                <a:spcPts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US" dirty="0">
              <a:solidFill>
                <a:srgbClr val="000000"/>
              </a:solidFill>
              <a:latin typeface="Calibri (Body)"/>
              <a:ea typeface="Verdana" pitchFamily="34"/>
              <a:cs typeface="Times New Roman" panose="02020603050405020304" pitchFamily="18" charset="0"/>
            </a:endParaRPr>
          </a:p>
          <a:p>
            <a:pPr marL="285750" marR="0" lvl="0" indent="-285750" algn="l" defTabSz="914400" rtl="0" fontAlgn="auto" hangingPunct="0">
              <a:lnSpc>
                <a:spcPct val="100000"/>
              </a:lnSpc>
              <a:spcBef>
                <a:spcPts val="0"/>
              </a:spcBef>
              <a:spcAft>
                <a:spcPts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dirty="0">
                <a:solidFill>
                  <a:srgbClr val="000000"/>
                </a:solidFill>
                <a:latin typeface="Calibri (Body)"/>
                <a:ea typeface="Verdana" pitchFamily="34"/>
                <a:cs typeface="Times New Roman" panose="02020603050405020304" pitchFamily="18" charset="0"/>
              </a:rPr>
              <a:t>Various </a:t>
            </a:r>
            <a:r>
              <a:rPr lang="en-US" b="0" i="0" u="none" strike="noStrike" kern="1200" cap="none" spc="0" baseline="0" dirty="0">
                <a:solidFill>
                  <a:srgbClr val="000000"/>
                </a:solidFill>
                <a:uFillTx/>
                <a:latin typeface="Calibri (Body)"/>
                <a:ea typeface="Verdana" pitchFamily="34"/>
                <a:cs typeface="Times New Roman" panose="02020603050405020304" pitchFamily="18" charset="0"/>
              </a:rPr>
              <a:t>Hyper Parameter Optimization Techniques are used to find best combination of hyper parameters.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D1D6FDCB-161F-4F11-8DCB-D11E9267D5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 Box 4">
            <a:extLst>
              <a:ext uri="{FF2B5EF4-FFF2-40B4-BE49-F238E27FC236}">
                <a16:creationId xmlns:a16="http://schemas.microsoft.com/office/drawing/2014/main" id="{6A2F7EB0-8BBD-4656-A78B-19FC3BB21F16}"/>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algn="just"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10244" name="Picture 2">
            <a:extLst>
              <a:ext uri="{FF2B5EF4-FFF2-40B4-BE49-F238E27FC236}">
                <a16:creationId xmlns:a16="http://schemas.microsoft.com/office/drawing/2014/main" id="{4ED5AEDD-3629-479F-B221-5EA4CD0123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333BF150-7C7D-4573-B32D-A990FD66ED18}"/>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fld id="{77913455-79B0-4665-B461-28B91A8F517B}" type="slidenum">
              <a:rPr lang="en-US" altLang="en-US" sz="1600" b="1">
                <a:solidFill>
                  <a:srgbClr val="FFFFFF"/>
                </a:solidFill>
                <a:latin typeface="Comic Sans MS" panose="030F0702030302020204" pitchFamily="66" charset="0"/>
              </a:rPr>
              <a:pPr algn="just" eaLnBrk="1" hangingPunct="1">
                <a:spcBef>
                  <a:spcPct val="0"/>
                </a:spcBef>
                <a:buFontTx/>
                <a:buNone/>
              </a:pPr>
              <a:t>4</a:t>
            </a:fld>
            <a:endParaRPr lang="en-US" altLang="en-US" sz="1600" b="1">
              <a:solidFill>
                <a:srgbClr val="FFFFFF"/>
              </a:solidFill>
              <a:latin typeface="Comic Sans MS" panose="030F0702030302020204" pitchFamily="66" charset="0"/>
            </a:endParaRPr>
          </a:p>
        </p:txBody>
      </p:sp>
      <p:sp>
        <p:nvSpPr>
          <p:cNvPr id="10246" name="Date Placeholder 7">
            <a:extLst>
              <a:ext uri="{FF2B5EF4-FFF2-40B4-BE49-F238E27FC236}">
                <a16:creationId xmlns:a16="http://schemas.microsoft.com/office/drawing/2014/main" id="{461CF22D-6FFB-45D2-9714-178B57965825}"/>
              </a:ext>
            </a:extLst>
          </p:cNvPr>
          <p:cNvSpPr>
            <a:spLocks noGrp="1"/>
          </p:cNvSpPr>
          <p:nvPr>
            <p:ph type="dt" sz="quarter" idx="10"/>
          </p:nvPr>
        </p:nvSpPr>
        <p:spPr>
          <a:xfrm>
            <a:off x="0" y="6564313"/>
            <a:ext cx="1447800" cy="412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fld id="{E36694B1-1603-4819-BE58-7B12B493508A}" type="datetime3">
              <a:rPr lang="en-US" altLang="en-US" sz="1400" b="1" smtClean="0">
                <a:solidFill>
                  <a:srgbClr val="FF0066"/>
                </a:solidFill>
                <a:latin typeface="Arial Rounded MT Bold" panose="020F0704030504030204" pitchFamily="34" charset="0"/>
              </a:rPr>
              <a:pPr algn="just">
                <a:spcBef>
                  <a:spcPct val="0"/>
                </a:spcBef>
                <a:buFontTx/>
                <a:buNone/>
              </a:pPr>
              <a:t>18 April 2023</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4BEC3DDC-58D8-41C4-8590-0155EA5ED875}"/>
              </a:ext>
            </a:extLst>
          </p:cNvPr>
          <p:cNvSpPr txBox="1"/>
          <p:nvPr/>
        </p:nvSpPr>
        <p:spPr>
          <a:xfrm>
            <a:off x="919163" y="0"/>
            <a:ext cx="7305675" cy="477838"/>
          </a:xfrm>
          <a:prstGeom prst="rect">
            <a:avLst/>
          </a:prstGeom>
          <a:noFill/>
        </p:spPr>
        <p:txBody>
          <a:bodyPr>
            <a:spAutoFit/>
          </a:bodyPr>
          <a:lstStyle/>
          <a:p>
            <a:pPr algn="just"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2" name="Oval 11">
            <a:extLst>
              <a:ext uri="{FF2B5EF4-FFF2-40B4-BE49-F238E27FC236}">
                <a16:creationId xmlns:a16="http://schemas.microsoft.com/office/drawing/2014/main" id="{F3D12324-916D-4D1B-832A-0E60BAA2C0FB}"/>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just" eaLnBrk="1" hangingPunct="1">
              <a:defRPr/>
            </a:pPr>
            <a:endParaRPr lang="en-US"/>
          </a:p>
        </p:txBody>
      </p:sp>
      <p:pic>
        <p:nvPicPr>
          <p:cNvPr id="10249" name="Picture 10" descr="A picture containing text, sign, watch&#10;&#10;Description automatically generated">
            <a:extLst>
              <a:ext uri="{FF2B5EF4-FFF2-40B4-BE49-F238E27FC236}">
                <a16:creationId xmlns:a16="http://schemas.microsoft.com/office/drawing/2014/main" id="{12A926F0-CCE9-4324-A495-F6525B1246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0" name="TextBox 1">
            <a:extLst>
              <a:ext uri="{FF2B5EF4-FFF2-40B4-BE49-F238E27FC236}">
                <a16:creationId xmlns:a16="http://schemas.microsoft.com/office/drawing/2014/main" id="{59BE2CDA-B9FF-4B28-A094-38B18E1C3493}"/>
              </a:ext>
            </a:extLst>
          </p:cNvPr>
          <p:cNvSpPr txBox="1">
            <a:spLocks noChangeArrowheads="1"/>
          </p:cNvSpPr>
          <p:nvPr/>
        </p:nvSpPr>
        <p:spPr bwMode="auto">
          <a:xfrm>
            <a:off x="200320" y="832882"/>
            <a:ext cx="3581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r>
              <a:rPr lang="en-US" altLang="en-US" sz="1800" b="1" u="sng" dirty="0">
                <a:latin typeface="Calibri (Body)"/>
                <a:ea typeface="Verdana" panose="020B0604030504040204" pitchFamily="34" charset="0"/>
                <a:cs typeface="Verdana" panose="020B0604030504040204" pitchFamily="34" charset="0"/>
              </a:rPr>
              <a:t>Literature Survey - 1:  </a:t>
            </a:r>
          </a:p>
        </p:txBody>
      </p:sp>
      <p:sp>
        <p:nvSpPr>
          <p:cNvPr id="5" name="TextBox 4">
            <a:extLst>
              <a:ext uri="{FF2B5EF4-FFF2-40B4-BE49-F238E27FC236}">
                <a16:creationId xmlns:a16="http://schemas.microsoft.com/office/drawing/2014/main" id="{6EF93EB2-8853-4BFD-9CFB-8A85D83EDA34}"/>
              </a:ext>
            </a:extLst>
          </p:cNvPr>
          <p:cNvSpPr txBox="1"/>
          <p:nvPr/>
        </p:nvSpPr>
        <p:spPr>
          <a:xfrm>
            <a:off x="824895" y="1398554"/>
            <a:ext cx="7305675" cy="1323439"/>
          </a:xfrm>
          <a:prstGeom prst="rect">
            <a:avLst/>
          </a:prstGeom>
          <a:noFill/>
        </p:spPr>
        <p:txBody>
          <a:bodyPr>
            <a:spAutoFit/>
          </a:bodyPr>
          <a:lstStyle/>
          <a:p>
            <a:pPr algn="just">
              <a:defRPr/>
            </a:pPr>
            <a:r>
              <a:rPr lang="en-US" sz="1600" b="1" dirty="0">
                <a:latin typeface="Calibri (Body)"/>
              </a:rPr>
              <a:t>Name :  </a:t>
            </a:r>
            <a:r>
              <a:rPr lang="en-US" sz="1600" dirty="0">
                <a:latin typeface="Calibri (Body)"/>
              </a:rPr>
              <a:t>Implementation of Machine Learning Model to Predict Heart Failure Disease </a:t>
            </a:r>
          </a:p>
          <a:p>
            <a:pPr algn="just">
              <a:defRPr/>
            </a:pPr>
            <a:r>
              <a:rPr lang="en-US" sz="1600" b="1" dirty="0">
                <a:latin typeface="Calibri (Body)"/>
              </a:rPr>
              <a:t>Author Names : </a:t>
            </a:r>
            <a:r>
              <a:rPr lang="en-IN" sz="1600" dirty="0">
                <a:latin typeface="Calibri (Body)"/>
              </a:rPr>
              <a:t>Fahd Saleh Alotaibi</a:t>
            </a:r>
          </a:p>
          <a:p>
            <a:pPr algn="just">
              <a:defRPr/>
            </a:pPr>
            <a:r>
              <a:rPr lang="en-US" sz="1600" b="1" dirty="0">
                <a:latin typeface="Calibri (Body)"/>
              </a:rPr>
              <a:t>Published In: </a:t>
            </a:r>
            <a:r>
              <a:rPr lang="en-US" sz="1600" dirty="0">
                <a:latin typeface="Calibri (Body)"/>
              </a:rPr>
              <a:t>(IJACSA) International Journal of Advanced Computer Science and Applications</a:t>
            </a:r>
          </a:p>
          <a:p>
            <a:pPr algn="just">
              <a:defRPr/>
            </a:pPr>
            <a:r>
              <a:rPr lang="en-US" sz="1600" b="1" dirty="0">
                <a:latin typeface="Calibri (Body)"/>
              </a:rPr>
              <a:t>Year : </a:t>
            </a:r>
            <a:r>
              <a:rPr lang="en-US" sz="1600" dirty="0">
                <a:latin typeface="Calibri (Body)"/>
              </a:rPr>
              <a:t>2019</a:t>
            </a:r>
          </a:p>
        </p:txBody>
      </p:sp>
      <p:sp>
        <p:nvSpPr>
          <p:cNvPr id="10252" name="TextBox 6">
            <a:extLst>
              <a:ext uri="{FF2B5EF4-FFF2-40B4-BE49-F238E27FC236}">
                <a16:creationId xmlns:a16="http://schemas.microsoft.com/office/drawing/2014/main" id="{864C878D-7DC5-4CD2-988D-7EBBE55CEA83}"/>
              </a:ext>
            </a:extLst>
          </p:cNvPr>
          <p:cNvSpPr txBox="1">
            <a:spLocks noChangeArrowheads="1"/>
          </p:cNvSpPr>
          <p:nvPr/>
        </p:nvSpPr>
        <p:spPr bwMode="auto">
          <a:xfrm>
            <a:off x="266700" y="2846930"/>
            <a:ext cx="8610600" cy="289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r>
              <a:rPr lang="en-US" altLang="en-US" sz="1400" dirty="0">
                <a:latin typeface="Calibri (Body)"/>
              </a:rPr>
              <a:t>Firstly, to increase the size of the dataset, Random Number has been generated for each column. The missing values has been imputed using k-nearest neighbor method. Outlier detection is done using rapid miner’s operator using distance method. The pre-processed dataset has been trained and tested using five ML models: Decision Tree, Naïve Bayes, Random Forest, Logistic Regression and SVM.</a:t>
            </a:r>
          </a:p>
          <a:p>
            <a:pPr algn="just">
              <a:spcBef>
                <a:spcPct val="0"/>
              </a:spcBef>
              <a:buFontTx/>
              <a:buNone/>
            </a:pPr>
            <a:endParaRPr lang="en-US" altLang="en-US" sz="1400" dirty="0">
              <a:latin typeface="Calibri (Body)"/>
            </a:endParaRPr>
          </a:p>
          <a:p>
            <a:pPr algn="just">
              <a:spcBef>
                <a:spcPct val="0"/>
              </a:spcBef>
              <a:buFontTx/>
              <a:buNone/>
            </a:pPr>
            <a:r>
              <a:rPr lang="en-IN" altLang="en-US" sz="1400" b="1" dirty="0">
                <a:latin typeface="Calibri (Body)"/>
              </a:rPr>
              <a:t>PROS</a:t>
            </a:r>
          </a:p>
          <a:p>
            <a:pPr algn="just">
              <a:spcBef>
                <a:spcPct val="0"/>
              </a:spcBef>
              <a:buFontTx/>
              <a:buNone/>
            </a:pPr>
            <a:r>
              <a:rPr lang="en-IN" altLang="en-US" sz="1400" dirty="0">
                <a:latin typeface="Calibri (Body)"/>
              </a:rPr>
              <a:t>KNN imputation preserves the relationships between variables, which can be important for some types of analysis.</a:t>
            </a:r>
          </a:p>
          <a:p>
            <a:pPr algn="just">
              <a:spcBef>
                <a:spcPct val="0"/>
              </a:spcBef>
              <a:buFontTx/>
              <a:buNone/>
            </a:pPr>
            <a:r>
              <a:rPr lang="en-IN" altLang="en-US" sz="1400" dirty="0">
                <a:latin typeface="Calibri (Body)"/>
              </a:rPr>
              <a:t>RapidMiner enables rapid development of data cleaning pipelines, which can save time and effort.</a:t>
            </a:r>
          </a:p>
          <a:p>
            <a:pPr algn="just">
              <a:spcBef>
                <a:spcPct val="0"/>
              </a:spcBef>
              <a:buFontTx/>
              <a:buNone/>
            </a:pPr>
            <a:r>
              <a:rPr lang="en-IN" altLang="en-US" sz="1400" dirty="0">
                <a:latin typeface="Calibri (Body)"/>
              </a:rPr>
              <a:t>	</a:t>
            </a:r>
          </a:p>
          <a:p>
            <a:pPr algn="just">
              <a:spcBef>
                <a:spcPct val="0"/>
              </a:spcBef>
              <a:buFontTx/>
              <a:buNone/>
            </a:pPr>
            <a:r>
              <a:rPr lang="en-IN" altLang="en-US" sz="1400" b="1" dirty="0">
                <a:latin typeface="Calibri (Body)"/>
              </a:rPr>
              <a:t>CONS</a:t>
            </a:r>
          </a:p>
          <a:p>
            <a:pPr algn="just">
              <a:spcBef>
                <a:spcPct val="0"/>
              </a:spcBef>
              <a:buFontTx/>
              <a:buNone/>
            </a:pPr>
            <a:r>
              <a:rPr lang="en-IN" altLang="en-US" sz="1400" dirty="0">
                <a:latin typeface="Calibri (Body)"/>
              </a:rPr>
              <a:t>KNN imputation may not work well for highly correlated variables, as it can introduce noise into the imputed values.</a:t>
            </a:r>
          </a:p>
          <a:p>
            <a:pPr algn="just">
              <a:spcBef>
                <a:spcPct val="0"/>
              </a:spcBef>
              <a:buFontTx/>
              <a:buNone/>
            </a:pPr>
            <a:r>
              <a:rPr lang="en-IN" altLang="en-US" sz="1400" dirty="0">
                <a:latin typeface="Calibri (Body)"/>
              </a:rPr>
              <a:t>RapidMiner may not handle complex data cleaning scenarios that require custom code or more advanced data cleaning techniques.</a:t>
            </a:r>
            <a:endParaRPr lang="en-US" altLang="en-US" sz="1400" dirty="0">
              <a:latin typeface="Calibri (Body)"/>
            </a:endParaRPr>
          </a:p>
        </p:txBody>
      </p:sp>
      <p:sp>
        <p:nvSpPr>
          <p:cNvPr id="8" name="Rectangle 7">
            <a:extLst>
              <a:ext uri="{FF2B5EF4-FFF2-40B4-BE49-F238E27FC236}">
                <a16:creationId xmlns:a16="http://schemas.microsoft.com/office/drawing/2014/main" id="{4AD61499-38B4-4FEB-B092-AF4394C22673}"/>
              </a:ext>
            </a:extLst>
          </p:cNvPr>
          <p:cNvSpPr/>
          <p:nvPr/>
        </p:nvSpPr>
        <p:spPr>
          <a:xfrm>
            <a:off x="723900" y="1327150"/>
            <a:ext cx="7826375" cy="13948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endParaRPr lang="en-IN"/>
          </a:p>
        </p:txBody>
      </p:sp>
    </p:spTree>
    <p:extLst>
      <p:ext uri="{BB962C8B-B14F-4D97-AF65-F5344CB8AC3E}">
        <p14:creationId xmlns:p14="http://schemas.microsoft.com/office/powerpoint/2010/main" val="973079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D1D6FDCB-161F-4F11-8DCB-D11E9267D5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 Box 4">
            <a:extLst>
              <a:ext uri="{FF2B5EF4-FFF2-40B4-BE49-F238E27FC236}">
                <a16:creationId xmlns:a16="http://schemas.microsoft.com/office/drawing/2014/main" id="{6A2F7EB0-8BBD-4656-A78B-19FC3BB21F16}"/>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algn="just"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10244" name="Picture 2">
            <a:extLst>
              <a:ext uri="{FF2B5EF4-FFF2-40B4-BE49-F238E27FC236}">
                <a16:creationId xmlns:a16="http://schemas.microsoft.com/office/drawing/2014/main" id="{4ED5AEDD-3629-479F-B221-5EA4CD0123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333BF150-7C7D-4573-B32D-A990FD66ED18}"/>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fld id="{77913455-79B0-4665-B461-28B91A8F517B}" type="slidenum">
              <a:rPr lang="en-US" altLang="en-US" sz="1600" b="1">
                <a:solidFill>
                  <a:srgbClr val="FFFFFF"/>
                </a:solidFill>
                <a:latin typeface="Comic Sans MS" panose="030F0702030302020204" pitchFamily="66" charset="0"/>
              </a:rPr>
              <a:pPr algn="just" eaLnBrk="1" hangingPunct="1">
                <a:spcBef>
                  <a:spcPct val="0"/>
                </a:spcBef>
                <a:buFontTx/>
                <a:buNone/>
              </a:pPr>
              <a:t>5</a:t>
            </a:fld>
            <a:endParaRPr lang="en-US" altLang="en-US" sz="1600" b="1">
              <a:solidFill>
                <a:srgbClr val="FFFFFF"/>
              </a:solidFill>
              <a:latin typeface="Comic Sans MS" panose="030F0702030302020204" pitchFamily="66" charset="0"/>
            </a:endParaRPr>
          </a:p>
        </p:txBody>
      </p:sp>
      <p:sp>
        <p:nvSpPr>
          <p:cNvPr id="10246" name="Date Placeholder 7">
            <a:extLst>
              <a:ext uri="{FF2B5EF4-FFF2-40B4-BE49-F238E27FC236}">
                <a16:creationId xmlns:a16="http://schemas.microsoft.com/office/drawing/2014/main" id="{461CF22D-6FFB-45D2-9714-178B57965825}"/>
              </a:ext>
            </a:extLst>
          </p:cNvPr>
          <p:cNvSpPr>
            <a:spLocks noGrp="1"/>
          </p:cNvSpPr>
          <p:nvPr>
            <p:ph type="dt" sz="quarter" idx="10"/>
          </p:nvPr>
        </p:nvSpPr>
        <p:spPr>
          <a:xfrm>
            <a:off x="0" y="6564313"/>
            <a:ext cx="1447800" cy="412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fld id="{E36694B1-1603-4819-BE58-7B12B493508A}" type="datetime3">
              <a:rPr lang="en-US" altLang="en-US" sz="1400" b="1" smtClean="0">
                <a:solidFill>
                  <a:srgbClr val="FF0066"/>
                </a:solidFill>
                <a:latin typeface="Arial Rounded MT Bold" panose="020F0704030504030204" pitchFamily="34" charset="0"/>
              </a:rPr>
              <a:pPr algn="just">
                <a:spcBef>
                  <a:spcPct val="0"/>
                </a:spcBef>
                <a:buFontTx/>
                <a:buNone/>
              </a:pPr>
              <a:t>18 April 2023</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4BEC3DDC-58D8-41C4-8590-0155EA5ED875}"/>
              </a:ext>
            </a:extLst>
          </p:cNvPr>
          <p:cNvSpPr txBox="1"/>
          <p:nvPr/>
        </p:nvSpPr>
        <p:spPr>
          <a:xfrm>
            <a:off x="919163" y="0"/>
            <a:ext cx="7305675" cy="477838"/>
          </a:xfrm>
          <a:prstGeom prst="rect">
            <a:avLst/>
          </a:prstGeom>
          <a:noFill/>
        </p:spPr>
        <p:txBody>
          <a:bodyPr>
            <a:spAutoFit/>
          </a:bodyPr>
          <a:lstStyle/>
          <a:p>
            <a:pPr algn="just"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2" name="Oval 11">
            <a:extLst>
              <a:ext uri="{FF2B5EF4-FFF2-40B4-BE49-F238E27FC236}">
                <a16:creationId xmlns:a16="http://schemas.microsoft.com/office/drawing/2014/main" id="{F3D12324-916D-4D1B-832A-0E60BAA2C0FB}"/>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just" eaLnBrk="1" hangingPunct="1">
              <a:defRPr/>
            </a:pPr>
            <a:endParaRPr lang="en-US"/>
          </a:p>
        </p:txBody>
      </p:sp>
      <p:pic>
        <p:nvPicPr>
          <p:cNvPr id="10249" name="Picture 10" descr="A picture containing text, sign, watch&#10;&#10;Description automatically generated">
            <a:extLst>
              <a:ext uri="{FF2B5EF4-FFF2-40B4-BE49-F238E27FC236}">
                <a16:creationId xmlns:a16="http://schemas.microsoft.com/office/drawing/2014/main" id="{12A926F0-CCE9-4324-A495-F6525B1246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0" name="TextBox 1">
            <a:extLst>
              <a:ext uri="{FF2B5EF4-FFF2-40B4-BE49-F238E27FC236}">
                <a16:creationId xmlns:a16="http://schemas.microsoft.com/office/drawing/2014/main" id="{59BE2CDA-B9FF-4B28-A094-38B18E1C3493}"/>
              </a:ext>
            </a:extLst>
          </p:cNvPr>
          <p:cNvSpPr txBox="1">
            <a:spLocks noChangeArrowheads="1"/>
          </p:cNvSpPr>
          <p:nvPr/>
        </p:nvSpPr>
        <p:spPr bwMode="auto">
          <a:xfrm>
            <a:off x="266700" y="928629"/>
            <a:ext cx="3581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r>
              <a:rPr lang="en-US" altLang="en-US" sz="1800" b="1" u="sng" dirty="0">
                <a:latin typeface="Calibri (Body)"/>
                <a:ea typeface="Verdana" panose="020B0604030504040204" pitchFamily="34" charset="0"/>
                <a:cs typeface="Verdana" panose="020B0604030504040204" pitchFamily="34" charset="0"/>
              </a:rPr>
              <a:t>Literature Survey - 2:  </a:t>
            </a:r>
          </a:p>
        </p:txBody>
      </p:sp>
      <p:sp>
        <p:nvSpPr>
          <p:cNvPr id="5" name="TextBox 4">
            <a:extLst>
              <a:ext uri="{FF2B5EF4-FFF2-40B4-BE49-F238E27FC236}">
                <a16:creationId xmlns:a16="http://schemas.microsoft.com/office/drawing/2014/main" id="{6EF93EB2-8853-4BFD-9CFB-8A85D83EDA34}"/>
              </a:ext>
            </a:extLst>
          </p:cNvPr>
          <p:cNvSpPr txBox="1"/>
          <p:nvPr/>
        </p:nvSpPr>
        <p:spPr>
          <a:xfrm>
            <a:off x="723900" y="1576377"/>
            <a:ext cx="8021637" cy="1077218"/>
          </a:xfrm>
          <a:prstGeom prst="rect">
            <a:avLst/>
          </a:prstGeom>
          <a:noFill/>
        </p:spPr>
        <p:txBody>
          <a:bodyPr wrap="square">
            <a:spAutoFit/>
          </a:bodyPr>
          <a:lstStyle/>
          <a:p>
            <a:pPr algn="just">
              <a:defRPr/>
            </a:pPr>
            <a:r>
              <a:rPr lang="en-US" sz="1600" b="1" dirty="0">
                <a:latin typeface="Calibri (Body)"/>
              </a:rPr>
              <a:t>Name : </a:t>
            </a:r>
            <a:r>
              <a:rPr lang="en-IN" sz="1600" dirty="0">
                <a:latin typeface="Calibri (Body)"/>
              </a:rPr>
              <a:t>Effective Heart Disease Prediction Using Hybrid Machine Learning Techniques</a:t>
            </a:r>
            <a:endParaRPr lang="en-US" sz="1600" dirty="0">
              <a:latin typeface="Calibri (Body)"/>
            </a:endParaRPr>
          </a:p>
          <a:p>
            <a:pPr algn="just">
              <a:defRPr/>
            </a:pPr>
            <a:r>
              <a:rPr lang="en-US" sz="1600" b="1" dirty="0">
                <a:latin typeface="Calibri (Body)"/>
              </a:rPr>
              <a:t>Author Names : </a:t>
            </a:r>
            <a:r>
              <a:rPr lang="en-US" sz="1600" dirty="0" err="1">
                <a:latin typeface="Calibri (Body)"/>
              </a:rPr>
              <a:t>Senthilkumar</a:t>
            </a:r>
            <a:r>
              <a:rPr lang="en-US" sz="1600" dirty="0">
                <a:latin typeface="Calibri (Body)"/>
              </a:rPr>
              <a:t> Mohan, </a:t>
            </a:r>
            <a:r>
              <a:rPr lang="en-US" sz="1600" dirty="0" err="1">
                <a:latin typeface="Calibri (Body)"/>
              </a:rPr>
              <a:t>Chandrasegar</a:t>
            </a:r>
            <a:r>
              <a:rPr lang="en-US" sz="1600" dirty="0">
                <a:latin typeface="Calibri (Body)"/>
              </a:rPr>
              <a:t> </a:t>
            </a:r>
            <a:r>
              <a:rPr lang="en-US" sz="1600" dirty="0" err="1">
                <a:latin typeface="Calibri (Body)"/>
              </a:rPr>
              <a:t>Thirumalai</a:t>
            </a:r>
            <a:r>
              <a:rPr lang="en-US" sz="1600" dirty="0">
                <a:latin typeface="Calibri (Body)"/>
              </a:rPr>
              <a:t>, Gautam Srivastava </a:t>
            </a:r>
          </a:p>
          <a:p>
            <a:pPr algn="just">
              <a:defRPr/>
            </a:pPr>
            <a:r>
              <a:rPr lang="en-US" sz="1600" b="1" dirty="0">
                <a:latin typeface="Calibri (Body)"/>
              </a:rPr>
              <a:t>Published In:  </a:t>
            </a:r>
            <a:r>
              <a:rPr lang="en-US" sz="1600" dirty="0" err="1">
                <a:latin typeface="Calibri (Body)"/>
              </a:rPr>
              <a:t>Elseiver</a:t>
            </a:r>
            <a:endParaRPr lang="en-US" sz="1600" dirty="0">
              <a:latin typeface="Calibri (Body)"/>
            </a:endParaRPr>
          </a:p>
          <a:p>
            <a:pPr algn="just">
              <a:defRPr/>
            </a:pPr>
            <a:r>
              <a:rPr lang="en-US" sz="1600" b="1" dirty="0">
                <a:latin typeface="Calibri (Body)"/>
              </a:rPr>
              <a:t>Year : </a:t>
            </a:r>
            <a:r>
              <a:rPr lang="en-US" sz="1600" dirty="0">
                <a:latin typeface="Calibri (Body)"/>
              </a:rPr>
              <a:t>2021</a:t>
            </a:r>
          </a:p>
        </p:txBody>
      </p:sp>
      <p:sp>
        <p:nvSpPr>
          <p:cNvPr id="10252" name="TextBox 6">
            <a:extLst>
              <a:ext uri="{FF2B5EF4-FFF2-40B4-BE49-F238E27FC236}">
                <a16:creationId xmlns:a16="http://schemas.microsoft.com/office/drawing/2014/main" id="{864C878D-7DC5-4CD2-988D-7EBBE55CEA83}"/>
              </a:ext>
            </a:extLst>
          </p:cNvPr>
          <p:cNvSpPr txBox="1">
            <a:spLocks noChangeArrowheads="1"/>
          </p:cNvSpPr>
          <p:nvPr/>
        </p:nvSpPr>
        <p:spPr bwMode="auto">
          <a:xfrm>
            <a:off x="266700" y="2993904"/>
            <a:ext cx="861060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r>
              <a:rPr lang="en-IN" altLang="en-US" sz="1400" dirty="0">
                <a:latin typeface="Calibri (Body)"/>
              </a:rPr>
              <a:t>This paper propose a novel method that aims at finding significant features by applying machine learning techniques resulting in improving the accuracy in the prediction of cardiovascular disease. The prediction model is introduced with different combinations of features and several known classification techniques.</a:t>
            </a:r>
          </a:p>
          <a:p>
            <a:pPr algn="just">
              <a:spcBef>
                <a:spcPct val="0"/>
              </a:spcBef>
              <a:buFontTx/>
              <a:buNone/>
            </a:pPr>
            <a:endParaRPr lang="en-IN" altLang="en-US" sz="1400" dirty="0">
              <a:latin typeface="Calibri (Body)"/>
            </a:endParaRPr>
          </a:p>
          <a:p>
            <a:pPr algn="just">
              <a:spcBef>
                <a:spcPct val="0"/>
              </a:spcBef>
              <a:buFontTx/>
              <a:buNone/>
            </a:pPr>
            <a:r>
              <a:rPr lang="en-IN" altLang="en-US" sz="1400" b="1" dirty="0">
                <a:latin typeface="Calibri (Body)"/>
              </a:rPr>
              <a:t>PROS</a:t>
            </a:r>
          </a:p>
          <a:p>
            <a:pPr algn="just">
              <a:spcBef>
                <a:spcPct val="0"/>
              </a:spcBef>
              <a:buFontTx/>
              <a:buNone/>
            </a:pPr>
            <a:r>
              <a:rPr lang="en-IN" altLang="en-US" sz="1400" dirty="0">
                <a:latin typeface="Calibri (Body)"/>
              </a:rPr>
              <a:t>Data </a:t>
            </a:r>
            <a:r>
              <a:rPr lang="en-IN" altLang="en-US" sz="1400" dirty="0" err="1">
                <a:latin typeface="Calibri (Body)"/>
              </a:rPr>
              <a:t>preprocessing</a:t>
            </a:r>
            <a:r>
              <a:rPr lang="en-IN" altLang="en-US" sz="1400" dirty="0">
                <a:latin typeface="Calibri (Body)"/>
              </a:rPr>
              <a:t> is done to remove data with missing values.</a:t>
            </a:r>
          </a:p>
          <a:p>
            <a:pPr algn="just">
              <a:spcBef>
                <a:spcPct val="0"/>
              </a:spcBef>
              <a:buFontTx/>
              <a:buNone/>
            </a:pPr>
            <a:r>
              <a:rPr lang="en-IN" altLang="en-US" sz="1400" dirty="0">
                <a:latin typeface="Calibri (Body)"/>
              </a:rPr>
              <a:t>Several classification algorithms are compared which provides insight on best working model.</a:t>
            </a:r>
            <a:br>
              <a:rPr lang="en-IN" altLang="en-US" sz="1400" dirty="0">
                <a:latin typeface="Calibri (Body)"/>
              </a:rPr>
            </a:br>
            <a:endParaRPr lang="en-IN" altLang="en-US" sz="1400" dirty="0">
              <a:latin typeface="Calibri (Body)"/>
            </a:endParaRPr>
          </a:p>
          <a:p>
            <a:pPr algn="just">
              <a:spcBef>
                <a:spcPct val="0"/>
              </a:spcBef>
              <a:buFontTx/>
              <a:buNone/>
            </a:pPr>
            <a:r>
              <a:rPr lang="en-IN" altLang="en-US" sz="1400" b="1" dirty="0">
                <a:latin typeface="Calibri (Body)"/>
              </a:rPr>
              <a:t>CONS</a:t>
            </a:r>
          </a:p>
          <a:p>
            <a:pPr algn="just">
              <a:spcBef>
                <a:spcPct val="0"/>
              </a:spcBef>
              <a:buFontTx/>
              <a:buNone/>
            </a:pPr>
            <a:r>
              <a:rPr lang="en-IN" altLang="en-US" sz="1400" dirty="0">
                <a:latin typeface="Calibri (Body)"/>
              </a:rPr>
              <a:t>The HRFLM algorithm may not perform well if the random forest model is overfitting the data, as this will result in poor predictions for the linear regression model.</a:t>
            </a:r>
          </a:p>
          <a:p>
            <a:pPr algn="just">
              <a:spcBef>
                <a:spcPct val="0"/>
              </a:spcBef>
              <a:buFontTx/>
              <a:buNone/>
            </a:pPr>
            <a:r>
              <a:rPr lang="en-IN" altLang="en-US" sz="1400" dirty="0">
                <a:latin typeface="Calibri (Body)"/>
              </a:rPr>
              <a:t>Both random forest and linear regression models have inability to handle missing data or outliers.</a:t>
            </a:r>
            <a:endParaRPr lang="en-US" altLang="en-US" sz="1400" dirty="0">
              <a:latin typeface="Calibri (Body)"/>
            </a:endParaRPr>
          </a:p>
        </p:txBody>
      </p:sp>
      <p:sp>
        <p:nvSpPr>
          <p:cNvPr id="8" name="Rectangle 7">
            <a:extLst>
              <a:ext uri="{FF2B5EF4-FFF2-40B4-BE49-F238E27FC236}">
                <a16:creationId xmlns:a16="http://schemas.microsoft.com/office/drawing/2014/main" id="{4AD61499-38B4-4FEB-B092-AF4394C22673}"/>
              </a:ext>
            </a:extLst>
          </p:cNvPr>
          <p:cNvSpPr/>
          <p:nvPr/>
        </p:nvSpPr>
        <p:spPr>
          <a:xfrm>
            <a:off x="398464" y="1428900"/>
            <a:ext cx="8268458" cy="13381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endParaRPr lang="en-IN"/>
          </a:p>
        </p:txBody>
      </p:sp>
    </p:spTree>
    <p:extLst>
      <p:ext uri="{BB962C8B-B14F-4D97-AF65-F5344CB8AC3E}">
        <p14:creationId xmlns:p14="http://schemas.microsoft.com/office/powerpoint/2010/main" val="3262732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D1D6FDCB-161F-4F11-8DCB-D11E9267D5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 Box 4">
            <a:extLst>
              <a:ext uri="{FF2B5EF4-FFF2-40B4-BE49-F238E27FC236}">
                <a16:creationId xmlns:a16="http://schemas.microsoft.com/office/drawing/2014/main" id="{6A2F7EB0-8BBD-4656-A78B-19FC3BB21F16}"/>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algn="just"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10244" name="Picture 2">
            <a:extLst>
              <a:ext uri="{FF2B5EF4-FFF2-40B4-BE49-F238E27FC236}">
                <a16:creationId xmlns:a16="http://schemas.microsoft.com/office/drawing/2014/main" id="{4ED5AEDD-3629-479F-B221-5EA4CD0123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333BF150-7C7D-4573-B32D-A990FD66ED18}"/>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fld id="{77913455-79B0-4665-B461-28B91A8F517B}" type="slidenum">
              <a:rPr lang="en-US" altLang="en-US" sz="1600" b="1">
                <a:solidFill>
                  <a:srgbClr val="FFFFFF"/>
                </a:solidFill>
                <a:latin typeface="Comic Sans MS" panose="030F0702030302020204" pitchFamily="66" charset="0"/>
              </a:rPr>
              <a:pPr algn="just" eaLnBrk="1" hangingPunct="1">
                <a:spcBef>
                  <a:spcPct val="0"/>
                </a:spcBef>
                <a:buFontTx/>
                <a:buNone/>
              </a:pPr>
              <a:t>6</a:t>
            </a:fld>
            <a:endParaRPr lang="en-US" altLang="en-US" sz="1600" b="1">
              <a:solidFill>
                <a:srgbClr val="FFFFFF"/>
              </a:solidFill>
              <a:latin typeface="Comic Sans MS" panose="030F0702030302020204" pitchFamily="66" charset="0"/>
            </a:endParaRPr>
          </a:p>
        </p:txBody>
      </p:sp>
      <p:sp>
        <p:nvSpPr>
          <p:cNvPr id="10246" name="Date Placeholder 7">
            <a:extLst>
              <a:ext uri="{FF2B5EF4-FFF2-40B4-BE49-F238E27FC236}">
                <a16:creationId xmlns:a16="http://schemas.microsoft.com/office/drawing/2014/main" id="{461CF22D-6FFB-45D2-9714-178B57965825}"/>
              </a:ext>
            </a:extLst>
          </p:cNvPr>
          <p:cNvSpPr>
            <a:spLocks noGrp="1"/>
          </p:cNvSpPr>
          <p:nvPr>
            <p:ph type="dt" sz="quarter" idx="10"/>
          </p:nvPr>
        </p:nvSpPr>
        <p:spPr>
          <a:xfrm>
            <a:off x="0" y="6564313"/>
            <a:ext cx="1447800" cy="412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fld id="{E36694B1-1603-4819-BE58-7B12B493508A}" type="datetime3">
              <a:rPr lang="en-US" altLang="en-US" sz="1400" b="1" smtClean="0">
                <a:solidFill>
                  <a:srgbClr val="FF0066"/>
                </a:solidFill>
                <a:latin typeface="Arial Rounded MT Bold" panose="020F0704030504030204" pitchFamily="34" charset="0"/>
              </a:rPr>
              <a:pPr algn="just">
                <a:spcBef>
                  <a:spcPct val="0"/>
                </a:spcBef>
                <a:buFontTx/>
                <a:buNone/>
              </a:pPr>
              <a:t>18 April 2023</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4BEC3DDC-58D8-41C4-8590-0155EA5ED875}"/>
              </a:ext>
            </a:extLst>
          </p:cNvPr>
          <p:cNvSpPr txBox="1"/>
          <p:nvPr/>
        </p:nvSpPr>
        <p:spPr>
          <a:xfrm>
            <a:off x="919163" y="0"/>
            <a:ext cx="7305675" cy="477838"/>
          </a:xfrm>
          <a:prstGeom prst="rect">
            <a:avLst/>
          </a:prstGeom>
          <a:noFill/>
        </p:spPr>
        <p:txBody>
          <a:bodyPr>
            <a:spAutoFit/>
          </a:bodyPr>
          <a:lstStyle/>
          <a:p>
            <a:pPr algn="just"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2" name="Oval 11">
            <a:extLst>
              <a:ext uri="{FF2B5EF4-FFF2-40B4-BE49-F238E27FC236}">
                <a16:creationId xmlns:a16="http://schemas.microsoft.com/office/drawing/2014/main" id="{F3D12324-916D-4D1B-832A-0E60BAA2C0FB}"/>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just" eaLnBrk="1" hangingPunct="1">
              <a:defRPr/>
            </a:pPr>
            <a:endParaRPr lang="en-US"/>
          </a:p>
        </p:txBody>
      </p:sp>
      <p:pic>
        <p:nvPicPr>
          <p:cNvPr id="10249" name="Picture 10" descr="A picture containing text, sign, watch&#10;&#10;Description automatically generated">
            <a:extLst>
              <a:ext uri="{FF2B5EF4-FFF2-40B4-BE49-F238E27FC236}">
                <a16:creationId xmlns:a16="http://schemas.microsoft.com/office/drawing/2014/main" id="{12A926F0-CCE9-4324-A495-F6525B1246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0" name="TextBox 1">
            <a:extLst>
              <a:ext uri="{FF2B5EF4-FFF2-40B4-BE49-F238E27FC236}">
                <a16:creationId xmlns:a16="http://schemas.microsoft.com/office/drawing/2014/main" id="{59BE2CDA-B9FF-4B28-A094-38B18E1C3493}"/>
              </a:ext>
            </a:extLst>
          </p:cNvPr>
          <p:cNvSpPr txBox="1">
            <a:spLocks noChangeArrowheads="1"/>
          </p:cNvSpPr>
          <p:nvPr/>
        </p:nvSpPr>
        <p:spPr bwMode="auto">
          <a:xfrm>
            <a:off x="228600" y="765175"/>
            <a:ext cx="3581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r>
              <a:rPr lang="en-US" altLang="en-US" sz="1800" b="1" u="sng" dirty="0">
                <a:latin typeface="Calibri (Body)"/>
                <a:ea typeface="Verdana" panose="020B0604030504040204" pitchFamily="34" charset="0"/>
                <a:cs typeface="Verdana" panose="020B0604030504040204" pitchFamily="34" charset="0"/>
              </a:rPr>
              <a:t>Literature Survey - 3:  </a:t>
            </a:r>
          </a:p>
        </p:txBody>
      </p:sp>
      <p:sp>
        <p:nvSpPr>
          <p:cNvPr id="5" name="TextBox 4">
            <a:extLst>
              <a:ext uri="{FF2B5EF4-FFF2-40B4-BE49-F238E27FC236}">
                <a16:creationId xmlns:a16="http://schemas.microsoft.com/office/drawing/2014/main" id="{6EF93EB2-8853-4BFD-9CFB-8A85D83EDA34}"/>
              </a:ext>
            </a:extLst>
          </p:cNvPr>
          <p:cNvSpPr txBox="1"/>
          <p:nvPr/>
        </p:nvSpPr>
        <p:spPr>
          <a:xfrm>
            <a:off x="919163" y="1291582"/>
            <a:ext cx="7305675" cy="1384995"/>
          </a:xfrm>
          <a:prstGeom prst="rect">
            <a:avLst/>
          </a:prstGeom>
          <a:noFill/>
        </p:spPr>
        <p:txBody>
          <a:bodyPr>
            <a:spAutoFit/>
          </a:bodyPr>
          <a:lstStyle/>
          <a:p>
            <a:pPr algn="just">
              <a:defRPr/>
            </a:pPr>
            <a:r>
              <a:rPr lang="en-US" sz="1400" b="1" dirty="0">
                <a:latin typeface="Calibri (Body)"/>
              </a:rPr>
              <a:t>Name :  </a:t>
            </a:r>
            <a:r>
              <a:rPr lang="en-US" sz="1400" dirty="0">
                <a:latin typeface="Calibri (Body)"/>
              </a:rPr>
              <a:t>Coronary artery disease detection using computational intelligence methods</a:t>
            </a:r>
          </a:p>
          <a:p>
            <a:pPr algn="just">
              <a:defRPr/>
            </a:pPr>
            <a:r>
              <a:rPr lang="en-US" sz="1400" b="1" dirty="0">
                <a:latin typeface="Calibri (Body)"/>
              </a:rPr>
              <a:t>Author Names : </a:t>
            </a:r>
            <a:r>
              <a:rPr lang="en-IN" sz="1400" dirty="0" err="1">
                <a:latin typeface="Calibri (Body)"/>
              </a:rPr>
              <a:t>Roohallah</a:t>
            </a:r>
            <a:r>
              <a:rPr lang="en-IN" sz="1400" dirty="0">
                <a:latin typeface="Calibri (Body)"/>
              </a:rPr>
              <a:t> </a:t>
            </a:r>
            <a:r>
              <a:rPr lang="en-IN" sz="1400" dirty="0" err="1">
                <a:latin typeface="Calibri (Body)"/>
              </a:rPr>
              <a:t>Alizadehsani</a:t>
            </a:r>
            <a:r>
              <a:rPr lang="en-IN" sz="1400" dirty="0">
                <a:latin typeface="Calibri (Body)"/>
              </a:rPr>
              <a:t>, Mohammad Hossein </a:t>
            </a:r>
            <a:r>
              <a:rPr lang="en-IN" sz="1400" dirty="0" err="1">
                <a:latin typeface="Calibri (Body)"/>
              </a:rPr>
              <a:t>Zangooei</a:t>
            </a:r>
            <a:r>
              <a:rPr lang="en-IN" sz="1400" dirty="0">
                <a:latin typeface="Calibri (Body)"/>
              </a:rPr>
              <a:t>, Mohammad </a:t>
            </a:r>
            <a:r>
              <a:rPr lang="en-IN" sz="1400" dirty="0" err="1">
                <a:latin typeface="Calibri (Body)"/>
              </a:rPr>
              <a:t>Javad</a:t>
            </a:r>
            <a:r>
              <a:rPr lang="en-IN" sz="1400" dirty="0">
                <a:latin typeface="Calibri (Body)"/>
              </a:rPr>
              <a:t> Hosseini, </a:t>
            </a:r>
            <a:r>
              <a:rPr lang="en-IN" sz="1400" dirty="0" err="1">
                <a:latin typeface="Calibri (Body)"/>
              </a:rPr>
              <a:t>Jafar</a:t>
            </a:r>
            <a:r>
              <a:rPr lang="en-IN" sz="1400" dirty="0">
                <a:latin typeface="Calibri (Body)"/>
              </a:rPr>
              <a:t> Habibi, Abbas </a:t>
            </a:r>
            <a:r>
              <a:rPr lang="en-IN" sz="1400" dirty="0" err="1">
                <a:latin typeface="Calibri (Body)"/>
              </a:rPr>
              <a:t>Khosravi</a:t>
            </a:r>
            <a:r>
              <a:rPr lang="en-IN" sz="1400" dirty="0">
                <a:latin typeface="Calibri (Body)"/>
              </a:rPr>
              <a:t>, Mohamad </a:t>
            </a:r>
            <a:r>
              <a:rPr lang="en-IN" sz="1400" dirty="0" err="1">
                <a:latin typeface="Calibri (Body)"/>
              </a:rPr>
              <a:t>Roshanzamir</a:t>
            </a:r>
            <a:r>
              <a:rPr lang="en-IN" sz="1400" dirty="0">
                <a:latin typeface="Calibri (Body)"/>
              </a:rPr>
              <a:t>, </a:t>
            </a:r>
            <a:r>
              <a:rPr lang="en-IN" sz="1400" dirty="0" err="1">
                <a:latin typeface="Calibri (Body)"/>
              </a:rPr>
              <a:t>Fahime</a:t>
            </a:r>
            <a:r>
              <a:rPr lang="en-IN" sz="1400" dirty="0">
                <a:latin typeface="Calibri (Body)"/>
              </a:rPr>
              <a:t> </a:t>
            </a:r>
            <a:r>
              <a:rPr lang="en-IN" sz="1400" dirty="0" err="1">
                <a:latin typeface="Calibri (Body)"/>
              </a:rPr>
              <a:t>Khozeimehe</a:t>
            </a:r>
            <a:r>
              <a:rPr lang="en-IN" sz="1400" dirty="0">
                <a:latin typeface="Calibri (Body)"/>
              </a:rPr>
              <a:t> , </a:t>
            </a:r>
            <a:r>
              <a:rPr lang="en-IN" sz="1400" dirty="0" err="1">
                <a:latin typeface="Calibri (Body)"/>
              </a:rPr>
              <a:t>Nizal</a:t>
            </a:r>
            <a:r>
              <a:rPr lang="en-IN" sz="1400" dirty="0">
                <a:latin typeface="Calibri (Body)"/>
              </a:rPr>
              <a:t> </a:t>
            </a:r>
            <a:r>
              <a:rPr lang="en-IN" sz="1400" dirty="0" err="1">
                <a:latin typeface="Calibri (Body)"/>
              </a:rPr>
              <a:t>Sarrafzadeganf</a:t>
            </a:r>
            <a:r>
              <a:rPr lang="en-IN" sz="1400" dirty="0">
                <a:latin typeface="Calibri (Body)"/>
              </a:rPr>
              <a:t> , </a:t>
            </a:r>
            <a:r>
              <a:rPr lang="en-IN" sz="1400" dirty="0" err="1">
                <a:latin typeface="Calibri (Body)"/>
              </a:rPr>
              <a:t>Saeid</a:t>
            </a:r>
            <a:r>
              <a:rPr lang="en-IN" sz="1400" dirty="0">
                <a:latin typeface="Calibri (Body)"/>
              </a:rPr>
              <a:t> </a:t>
            </a:r>
            <a:r>
              <a:rPr lang="en-IN" sz="1400" dirty="0" err="1">
                <a:latin typeface="Calibri (Body)"/>
              </a:rPr>
              <a:t>Nahavandi</a:t>
            </a:r>
            <a:endParaRPr lang="en-US" sz="1400" dirty="0">
              <a:latin typeface="Calibri (Body)"/>
            </a:endParaRPr>
          </a:p>
          <a:p>
            <a:pPr algn="just">
              <a:defRPr/>
            </a:pPr>
            <a:r>
              <a:rPr lang="en-US" sz="1400" b="1" dirty="0">
                <a:latin typeface="Calibri (Body)"/>
              </a:rPr>
              <a:t>Published In: </a:t>
            </a:r>
            <a:r>
              <a:rPr lang="en-US" sz="1400" dirty="0">
                <a:solidFill>
                  <a:schemeClr val="dk1"/>
                </a:solidFill>
                <a:latin typeface="Calibri (Body)"/>
              </a:rPr>
              <a:t>Elsevier</a:t>
            </a:r>
            <a:endParaRPr lang="en-US" sz="1400" b="1" dirty="0">
              <a:latin typeface="Calibri (Body)"/>
            </a:endParaRPr>
          </a:p>
          <a:p>
            <a:pPr algn="just">
              <a:defRPr/>
            </a:pPr>
            <a:r>
              <a:rPr lang="en-US" sz="1400" b="1" dirty="0">
                <a:latin typeface="Calibri (Body)"/>
              </a:rPr>
              <a:t>Year : </a:t>
            </a:r>
            <a:r>
              <a:rPr lang="en-US" sz="1400" dirty="0">
                <a:latin typeface="Calibri (Body)"/>
              </a:rPr>
              <a:t>2016</a:t>
            </a:r>
          </a:p>
        </p:txBody>
      </p:sp>
      <p:sp>
        <p:nvSpPr>
          <p:cNvPr id="10252" name="TextBox 6">
            <a:extLst>
              <a:ext uri="{FF2B5EF4-FFF2-40B4-BE49-F238E27FC236}">
                <a16:creationId xmlns:a16="http://schemas.microsoft.com/office/drawing/2014/main" id="{864C878D-7DC5-4CD2-988D-7EBBE55CEA83}"/>
              </a:ext>
            </a:extLst>
          </p:cNvPr>
          <p:cNvSpPr txBox="1">
            <a:spLocks noChangeArrowheads="1"/>
          </p:cNvSpPr>
          <p:nvPr/>
        </p:nvSpPr>
        <p:spPr bwMode="auto">
          <a:xfrm>
            <a:off x="331787" y="2840057"/>
            <a:ext cx="861060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r>
              <a:rPr lang="en-US" altLang="en-US" sz="1400" dirty="0">
                <a:latin typeface="Calibri (Body)"/>
              </a:rPr>
              <a:t>Firstly, the feature selection was done using “Weights by SVM” using 10-fold cross validation. Then the classification was done using Support Vector Machine (SVM) with a set of kernels. </a:t>
            </a:r>
            <a:r>
              <a:rPr lang="en-US" altLang="en-US" sz="1400" dirty="0" err="1">
                <a:latin typeface="Calibri (Body)"/>
              </a:rPr>
              <a:t>Apriori</a:t>
            </a:r>
            <a:r>
              <a:rPr lang="en-US" altLang="en-US" sz="1400" dirty="0">
                <a:latin typeface="Calibri (Body)"/>
              </a:rPr>
              <a:t> algorithm is used to obtain rules for Association rule mining.</a:t>
            </a:r>
          </a:p>
          <a:p>
            <a:pPr algn="just">
              <a:spcBef>
                <a:spcPct val="0"/>
              </a:spcBef>
              <a:buFontTx/>
              <a:buNone/>
            </a:pPr>
            <a:endParaRPr lang="en-US" altLang="en-US" sz="1400" dirty="0">
              <a:latin typeface="Calibri (Body)"/>
            </a:endParaRPr>
          </a:p>
          <a:p>
            <a:pPr algn="just">
              <a:spcBef>
                <a:spcPct val="0"/>
              </a:spcBef>
              <a:buFontTx/>
              <a:buNone/>
            </a:pPr>
            <a:r>
              <a:rPr lang="en-IN" altLang="en-US" sz="1400" b="1" dirty="0">
                <a:latin typeface="Calibri (Body)"/>
              </a:rPr>
              <a:t>PROS</a:t>
            </a:r>
          </a:p>
          <a:p>
            <a:pPr algn="just">
              <a:spcBef>
                <a:spcPct val="0"/>
              </a:spcBef>
              <a:buFontTx/>
              <a:buNone/>
            </a:pPr>
            <a:r>
              <a:rPr lang="en-IN" altLang="en-US" sz="1400" dirty="0">
                <a:latin typeface="Calibri (Body)"/>
              </a:rPr>
              <a:t>Weighting can help SVMs to achieve better accuracy, sensitivity, specificity, and F1-score, especially in imbalanced datasets, by giving more importance to the minority class.</a:t>
            </a:r>
          </a:p>
          <a:p>
            <a:pPr algn="just">
              <a:spcBef>
                <a:spcPct val="0"/>
              </a:spcBef>
              <a:buFontTx/>
              <a:buNone/>
            </a:pPr>
            <a:r>
              <a:rPr lang="en-IN" altLang="en-US" sz="1400" dirty="0">
                <a:latin typeface="Calibri (Body)"/>
              </a:rPr>
              <a:t>The approach can be used with a variety of kernel functions, including linear, polynomial, Gaussian, and others, which can capture different types of non-linearity and complexity in the data.</a:t>
            </a:r>
          </a:p>
          <a:p>
            <a:pPr algn="just">
              <a:spcBef>
                <a:spcPct val="0"/>
              </a:spcBef>
              <a:buFontTx/>
              <a:buNone/>
            </a:pPr>
            <a:r>
              <a:rPr lang="en-IN" altLang="en-US" sz="1400" dirty="0">
                <a:latin typeface="Calibri (Body)"/>
              </a:rPr>
              <a:t>	</a:t>
            </a:r>
          </a:p>
          <a:p>
            <a:pPr algn="just">
              <a:spcBef>
                <a:spcPct val="0"/>
              </a:spcBef>
              <a:buFontTx/>
              <a:buNone/>
            </a:pPr>
            <a:r>
              <a:rPr lang="en-IN" altLang="en-US" sz="1400" b="1" dirty="0">
                <a:latin typeface="Calibri (Body)"/>
              </a:rPr>
              <a:t>CONS</a:t>
            </a:r>
          </a:p>
          <a:p>
            <a:pPr algn="just">
              <a:spcBef>
                <a:spcPct val="0"/>
              </a:spcBef>
              <a:buFontTx/>
              <a:buNone/>
            </a:pPr>
            <a:r>
              <a:rPr lang="en-IN" altLang="en-US" sz="1400" dirty="0">
                <a:latin typeface="Calibri (Body)"/>
              </a:rPr>
              <a:t>Weighting may not always improve the performance of SVMs, especially when the data is not highly imbalanced or when the weighting scheme is not properly calibrated.</a:t>
            </a:r>
          </a:p>
          <a:p>
            <a:pPr algn="just">
              <a:spcBef>
                <a:spcPct val="0"/>
              </a:spcBef>
              <a:buFontTx/>
              <a:buNone/>
            </a:pPr>
            <a:r>
              <a:rPr lang="en-IN" altLang="en-US" sz="1400" dirty="0">
                <a:latin typeface="Calibri (Body)"/>
              </a:rPr>
              <a:t>The approach may require more computational resources and time than using a single kernel function, especially when dealing with a large dataset or a complex combination of kernels.</a:t>
            </a:r>
          </a:p>
          <a:p>
            <a:pPr algn="just">
              <a:spcBef>
                <a:spcPct val="0"/>
              </a:spcBef>
              <a:buFontTx/>
              <a:buNone/>
            </a:pPr>
            <a:endParaRPr lang="en-IN" altLang="en-US" sz="1400" dirty="0">
              <a:latin typeface="Calibri (Body)"/>
            </a:endParaRPr>
          </a:p>
          <a:p>
            <a:pPr algn="just">
              <a:spcBef>
                <a:spcPct val="0"/>
              </a:spcBef>
              <a:buFontTx/>
              <a:buNone/>
            </a:pPr>
            <a:endParaRPr lang="en-IN" altLang="en-US" sz="1400" dirty="0">
              <a:latin typeface="Calibri (Body)"/>
            </a:endParaRPr>
          </a:p>
          <a:p>
            <a:pPr algn="just">
              <a:spcBef>
                <a:spcPct val="0"/>
              </a:spcBef>
              <a:buFontTx/>
              <a:buNone/>
            </a:pPr>
            <a:endParaRPr lang="en-US" altLang="en-US" sz="1400" dirty="0">
              <a:latin typeface="Calibri (Body)"/>
            </a:endParaRPr>
          </a:p>
        </p:txBody>
      </p:sp>
      <p:sp>
        <p:nvSpPr>
          <p:cNvPr id="8" name="Rectangle 7">
            <a:extLst>
              <a:ext uri="{FF2B5EF4-FFF2-40B4-BE49-F238E27FC236}">
                <a16:creationId xmlns:a16="http://schemas.microsoft.com/office/drawing/2014/main" id="{4AD61499-38B4-4FEB-B092-AF4394C22673}"/>
              </a:ext>
            </a:extLst>
          </p:cNvPr>
          <p:cNvSpPr/>
          <p:nvPr/>
        </p:nvSpPr>
        <p:spPr>
          <a:xfrm>
            <a:off x="723900" y="1242070"/>
            <a:ext cx="7826375" cy="143450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D1D6FDCB-161F-4F11-8DCB-D11E9267D5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 Box 4">
            <a:extLst>
              <a:ext uri="{FF2B5EF4-FFF2-40B4-BE49-F238E27FC236}">
                <a16:creationId xmlns:a16="http://schemas.microsoft.com/office/drawing/2014/main" id="{6A2F7EB0-8BBD-4656-A78B-19FC3BB21F16}"/>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algn="just"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10244" name="Picture 2">
            <a:extLst>
              <a:ext uri="{FF2B5EF4-FFF2-40B4-BE49-F238E27FC236}">
                <a16:creationId xmlns:a16="http://schemas.microsoft.com/office/drawing/2014/main" id="{4ED5AEDD-3629-479F-B221-5EA4CD0123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333BF150-7C7D-4573-B32D-A990FD66ED18}"/>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fld id="{77913455-79B0-4665-B461-28B91A8F517B}" type="slidenum">
              <a:rPr lang="en-US" altLang="en-US" sz="1600" b="1">
                <a:solidFill>
                  <a:srgbClr val="FFFFFF"/>
                </a:solidFill>
                <a:latin typeface="Comic Sans MS" panose="030F0702030302020204" pitchFamily="66" charset="0"/>
              </a:rPr>
              <a:pPr algn="just" eaLnBrk="1" hangingPunct="1">
                <a:spcBef>
                  <a:spcPct val="0"/>
                </a:spcBef>
                <a:buFontTx/>
                <a:buNone/>
              </a:pPr>
              <a:t>7</a:t>
            </a:fld>
            <a:endParaRPr lang="en-US" altLang="en-US" sz="1600" b="1">
              <a:solidFill>
                <a:srgbClr val="FFFFFF"/>
              </a:solidFill>
              <a:latin typeface="Comic Sans MS" panose="030F0702030302020204" pitchFamily="66" charset="0"/>
            </a:endParaRPr>
          </a:p>
        </p:txBody>
      </p:sp>
      <p:sp>
        <p:nvSpPr>
          <p:cNvPr id="10246" name="Date Placeholder 7">
            <a:extLst>
              <a:ext uri="{FF2B5EF4-FFF2-40B4-BE49-F238E27FC236}">
                <a16:creationId xmlns:a16="http://schemas.microsoft.com/office/drawing/2014/main" id="{461CF22D-6FFB-45D2-9714-178B57965825}"/>
              </a:ext>
            </a:extLst>
          </p:cNvPr>
          <p:cNvSpPr>
            <a:spLocks noGrp="1"/>
          </p:cNvSpPr>
          <p:nvPr>
            <p:ph type="dt" sz="quarter" idx="10"/>
          </p:nvPr>
        </p:nvSpPr>
        <p:spPr>
          <a:xfrm>
            <a:off x="0" y="6564313"/>
            <a:ext cx="1447800" cy="412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fld id="{E36694B1-1603-4819-BE58-7B12B493508A}" type="datetime3">
              <a:rPr lang="en-US" altLang="en-US" sz="1400" b="1" smtClean="0">
                <a:solidFill>
                  <a:srgbClr val="FF0066"/>
                </a:solidFill>
                <a:latin typeface="Arial Rounded MT Bold" panose="020F0704030504030204" pitchFamily="34" charset="0"/>
              </a:rPr>
              <a:pPr algn="just">
                <a:spcBef>
                  <a:spcPct val="0"/>
                </a:spcBef>
                <a:buFontTx/>
                <a:buNone/>
              </a:pPr>
              <a:t>18 April 2023</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4BEC3DDC-58D8-41C4-8590-0155EA5ED875}"/>
              </a:ext>
            </a:extLst>
          </p:cNvPr>
          <p:cNvSpPr txBox="1"/>
          <p:nvPr/>
        </p:nvSpPr>
        <p:spPr>
          <a:xfrm>
            <a:off x="919163" y="0"/>
            <a:ext cx="7305675" cy="477838"/>
          </a:xfrm>
          <a:prstGeom prst="rect">
            <a:avLst/>
          </a:prstGeom>
          <a:noFill/>
        </p:spPr>
        <p:txBody>
          <a:bodyPr>
            <a:spAutoFit/>
          </a:bodyPr>
          <a:lstStyle/>
          <a:p>
            <a:pPr algn="just"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2" name="Oval 11">
            <a:extLst>
              <a:ext uri="{FF2B5EF4-FFF2-40B4-BE49-F238E27FC236}">
                <a16:creationId xmlns:a16="http://schemas.microsoft.com/office/drawing/2014/main" id="{F3D12324-916D-4D1B-832A-0E60BAA2C0FB}"/>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just" eaLnBrk="1" hangingPunct="1">
              <a:defRPr/>
            </a:pPr>
            <a:endParaRPr lang="en-US"/>
          </a:p>
        </p:txBody>
      </p:sp>
      <p:pic>
        <p:nvPicPr>
          <p:cNvPr id="10249" name="Picture 10" descr="A picture containing text, sign, watch&#10;&#10;Description automatically generated">
            <a:extLst>
              <a:ext uri="{FF2B5EF4-FFF2-40B4-BE49-F238E27FC236}">
                <a16:creationId xmlns:a16="http://schemas.microsoft.com/office/drawing/2014/main" id="{12A926F0-CCE9-4324-A495-F6525B1246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0" name="TextBox 1">
            <a:extLst>
              <a:ext uri="{FF2B5EF4-FFF2-40B4-BE49-F238E27FC236}">
                <a16:creationId xmlns:a16="http://schemas.microsoft.com/office/drawing/2014/main" id="{59BE2CDA-B9FF-4B28-A094-38B18E1C3493}"/>
              </a:ext>
            </a:extLst>
          </p:cNvPr>
          <p:cNvSpPr txBox="1">
            <a:spLocks noChangeArrowheads="1"/>
          </p:cNvSpPr>
          <p:nvPr/>
        </p:nvSpPr>
        <p:spPr bwMode="auto">
          <a:xfrm>
            <a:off x="228599" y="779396"/>
            <a:ext cx="3581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r>
              <a:rPr lang="en-US" altLang="en-US" sz="1800" b="1" u="sng" dirty="0">
                <a:latin typeface="Calibri (Body)"/>
                <a:ea typeface="Verdana" panose="020B0604030504040204" pitchFamily="34" charset="0"/>
                <a:cs typeface="Verdana" panose="020B0604030504040204" pitchFamily="34" charset="0"/>
              </a:rPr>
              <a:t>Literature Survey - 4:  </a:t>
            </a:r>
          </a:p>
        </p:txBody>
      </p:sp>
      <p:sp>
        <p:nvSpPr>
          <p:cNvPr id="5" name="TextBox 4">
            <a:extLst>
              <a:ext uri="{FF2B5EF4-FFF2-40B4-BE49-F238E27FC236}">
                <a16:creationId xmlns:a16="http://schemas.microsoft.com/office/drawing/2014/main" id="{6EF93EB2-8853-4BFD-9CFB-8A85D83EDA34}"/>
              </a:ext>
            </a:extLst>
          </p:cNvPr>
          <p:cNvSpPr txBox="1"/>
          <p:nvPr/>
        </p:nvSpPr>
        <p:spPr>
          <a:xfrm>
            <a:off x="919163" y="1399941"/>
            <a:ext cx="7305675" cy="1323439"/>
          </a:xfrm>
          <a:prstGeom prst="rect">
            <a:avLst/>
          </a:prstGeom>
          <a:noFill/>
        </p:spPr>
        <p:txBody>
          <a:bodyPr>
            <a:spAutoFit/>
          </a:bodyPr>
          <a:lstStyle/>
          <a:p>
            <a:pPr algn="just">
              <a:defRPr/>
            </a:pPr>
            <a:r>
              <a:rPr lang="en-US" sz="1600" b="1" dirty="0">
                <a:latin typeface="Calibri (Body)"/>
              </a:rPr>
              <a:t>Name :</a:t>
            </a:r>
            <a:r>
              <a:rPr lang="en-US" sz="1600" dirty="0">
                <a:latin typeface="Calibri (Body)"/>
              </a:rPr>
              <a:t>Effective Heart Disease Prediction Using Hybrid Machine Learning Techniques</a:t>
            </a:r>
          </a:p>
          <a:p>
            <a:pPr algn="just">
              <a:defRPr/>
            </a:pPr>
            <a:r>
              <a:rPr lang="en-US" sz="1600" b="1" dirty="0">
                <a:latin typeface="Calibri (Body)"/>
              </a:rPr>
              <a:t>Author Names : </a:t>
            </a:r>
            <a:r>
              <a:rPr lang="en-IN" sz="1600" dirty="0" err="1">
                <a:latin typeface="Calibri (Body)"/>
              </a:rPr>
              <a:t>Senthilkumar</a:t>
            </a:r>
            <a:r>
              <a:rPr lang="en-IN" sz="1600" dirty="0">
                <a:latin typeface="Calibri (Body)"/>
              </a:rPr>
              <a:t> Mohan, </a:t>
            </a:r>
            <a:r>
              <a:rPr lang="en-IN" sz="1600" dirty="0" err="1">
                <a:latin typeface="Calibri (Body)"/>
              </a:rPr>
              <a:t>Chandrasegar</a:t>
            </a:r>
            <a:r>
              <a:rPr lang="en-IN" sz="1600" dirty="0">
                <a:latin typeface="Calibri (Body)"/>
              </a:rPr>
              <a:t> </a:t>
            </a:r>
            <a:r>
              <a:rPr lang="en-IN" sz="1600" dirty="0" err="1">
                <a:latin typeface="Calibri (Body)"/>
              </a:rPr>
              <a:t>Thirumalai</a:t>
            </a:r>
            <a:r>
              <a:rPr lang="en-IN" sz="1600" dirty="0">
                <a:latin typeface="Calibri (Body)"/>
              </a:rPr>
              <a:t>, and Gautam Srivastava</a:t>
            </a:r>
            <a:endParaRPr lang="en-US" sz="1600" b="1" dirty="0">
              <a:latin typeface="Calibri (Body)"/>
            </a:endParaRPr>
          </a:p>
          <a:p>
            <a:pPr algn="just">
              <a:defRPr/>
            </a:pPr>
            <a:r>
              <a:rPr lang="en-US" sz="1600" b="1" dirty="0">
                <a:latin typeface="Calibri (Body)"/>
              </a:rPr>
              <a:t>Published In: </a:t>
            </a:r>
            <a:r>
              <a:rPr lang="en-US" sz="1600" dirty="0">
                <a:solidFill>
                  <a:schemeClr val="dk1"/>
                </a:solidFill>
                <a:latin typeface="Calibri (Body)"/>
              </a:rPr>
              <a:t>IEEE Access</a:t>
            </a:r>
            <a:endParaRPr lang="en-US" sz="1600" b="1" dirty="0">
              <a:latin typeface="Calibri (Body)"/>
            </a:endParaRPr>
          </a:p>
          <a:p>
            <a:pPr algn="just">
              <a:defRPr/>
            </a:pPr>
            <a:r>
              <a:rPr lang="en-US" sz="1600" b="1" dirty="0">
                <a:latin typeface="Calibri (Body)"/>
              </a:rPr>
              <a:t>Year : </a:t>
            </a:r>
            <a:r>
              <a:rPr lang="en-US" sz="1600" dirty="0">
                <a:latin typeface="Calibri (Body)"/>
              </a:rPr>
              <a:t>2019</a:t>
            </a:r>
          </a:p>
        </p:txBody>
      </p:sp>
      <p:sp>
        <p:nvSpPr>
          <p:cNvPr id="10252" name="TextBox 6">
            <a:extLst>
              <a:ext uri="{FF2B5EF4-FFF2-40B4-BE49-F238E27FC236}">
                <a16:creationId xmlns:a16="http://schemas.microsoft.com/office/drawing/2014/main" id="{864C878D-7DC5-4CD2-988D-7EBBE55CEA83}"/>
              </a:ext>
            </a:extLst>
          </p:cNvPr>
          <p:cNvSpPr txBox="1">
            <a:spLocks noChangeArrowheads="1"/>
          </p:cNvSpPr>
          <p:nvPr/>
        </p:nvSpPr>
        <p:spPr bwMode="auto">
          <a:xfrm>
            <a:off x="266700" y="2946276"/>
            <a:ext cx="861060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r>
              <a:rPr lang="en-US" altLang="en-US" sz="1400" dirty="0">
                <a:latin typeface="Calibri (Body)"/>
              </a:rPr>
              <a:t>Firstly, the records with missing values are removed from the dataset. </a:t>
            </a:r>
            <a:r>
              <a:rPr lang="en-US" sz="1400" dirty="0">
                <a:latin typeface="Calibri (Body)"/>
              </a:rPr>
              <a:t>ring of datasets is done on the basis of the variables and criteria of Decision Tree (DT) features. Classifiers such as Decision Tree, Language Model, SVM, Random Forest, Naïve Bayes, Neural Network and K-Nearest Neighbor are used and the best model is identified.</a:t>
            </a:r>
          </a:p>
          <a:p>
            <a:pPr algn="just">
              <a:spcBef>
                <a:spcPct val="0"/>
              </a:spcBef>
              <a:buFontTx/>
              <a:buNone/>
            </a:pPr>
            <a:endParaRPr lang="en-IN" altLang="en-US" sz="1400" dirty="0">
              <a:latin typeface="Calibri (Body)"/>
            </a:endParaRPr>
          </a:p>
          <a:p>
            <a:pPr algn="just">
              <a:spcBef>
                <a:spcPct val="0"/>
              </a:spcBef>
              <a:buFontTx/>
              <a:buNone/>
            </a:pPr>
            <a:r>
              <a:rPr lang="en-IN" altLang="en-US" sz="1400" b="1" dirty="0">
                <a:latin typeface="Calibri (Body)"/>
              </a:rPr>
              <a:t>PROS</a:t>
            </a:r>
          </a:p>
          <a:p>
            <a:pPr algn="just">
              <a:spcBef>
                <a:spcPct val="0"/>
              </a:spcBef>
              <a:buFontTx/>
              <a:buNone/>
            </a:pPr>
            <a:r>
              <a:rPr lang="en-IN" altLang="en-US" sz="1400" dirty="0">
                <a:latin typeface="Calibri (Body)"/>
              </a:rPr>
              <a:t>RBFN can approximate complex and nonlinear functions efficiently, making it an effective tool for solving problems that cannot be solved using linear models and it is quicker.</a:t>
            </a:r>
          </a:p>
          <a:p>
            <a:pPr algn="just">
              <a:spcBef>
                <a:spcPct val="0"/>
              </a:spcBef>
              <a:buFontTx/>
              <a:buNone/>
            </a:pPr>
            <a:r>
              <a:rPr lang="en-IN" altLang="en-US" sz="1400" dirty="0">
                <a:latin typeface="Calibri (Body)"/>
              </a:rPr>
              <a:t>CADSS can automate many decision-making processes, reducing the time and effort required to make complex decisions</a:t>
            </a:r>
          </a:p>
          <a:p>
            <a:pPr algn="just">
              <a:spcBef>
                <a:spcPct val="0"/>
              </a:spcBef>
              <a:buFontTx/>
              <a:buNone/>
            </a:pPr>
            <a:endParaRPr lang="en-IN" altLang="en-US" sz="1400" dirty="0">
              <a:latin typeface="Calibri (Body)"/>
            </a:endParaRPr>
          </a:p>
          <a:p>
            <a:pPr algn="just">
              <a:spcBef>
                <a:spcPct val="0"/>
              </a:spcBef>
              <a:buFontTx/>
              <a:buNone/>
            </a:pPr>
            <a:r>
              <a:rPr lang="en-IN" altLang="en-US" sz="1400" b="1" dirty="0">
                <a:latin typeface="Calibri (Body)"/>
              </a:rPr>
              <a:t>CONS</a:t>
            </a:r>
          </a:p>
          <a:p>
            <a:pPr algn="just">
              <a:spcBef>
                <a:spcPct val="0"/>
              </a:spcBef>
              <a:buFontTx/>
              <a:buNone/>
            </a:pPr>
            <a:r>
              <a:rPr lang="en-IN" altLang="en-US" sz="1400" dirty="0">
                <a:latin typeface="Calibri (Body)"/>
              </a:rPr>
              <a:t>RBFN can easily overfit the training data if the number of hidden nodes is not optimized.</a:t>
            </a:r>
          </a:p>
          <a:p>
            <a:pPr algn="just">
              <a:spcBef>
                <a:spcPct val="0"/>
              </a:spcBef>
              <a:buFontTx/>
              <a:buNone/>
            </a:pPr>
            <a:r>
              <a:rPr lang="en-IN" altLang="en-US" sz="1400" dirty="0">
                <a:latin typeface="Calibri (Body)"/>
              </a:rPr>
              <a:t>CADSS depends on the quality and accuracy of input data, which can be affected by errors, bias, and incomplete data.</a:t>
            </a:r>
            <a:endParaRPr lang="en-US" altLang="en-US" sz="1400" dirty="0">
              <a:latin typeface="Calibri (Body)"/>
            </a:endParaRPr>
          </a:p>
        </p:txBody>
      </p:sp>
      <p:sp>
        <p:nvSpPr>
          <p:cNvPr id="8" name="Rectangle 7">
            <a:extLst>
              <a:ext uri="{FF2B5EF4-FFF2-40B4-BE49-F238E27FC236}">
                <a16:creationId xmlns:a16="http://schemas.microsoft.com/office/drawing/2014/main" id="{4AD61499-38B4-4FEB-B092-AF4394C22673}"/>
              </a:ext>
            </a:extLst>
          </p:cNvPr>
          <p:cNvSpPr/>
          <p:nvPr/>
        </p:nvSpPr>
        <p:spPr>
          <a:xfrm>
            <a:off x="723900" y="1314925"/>
            <a:ext cx="7826375" cy="14651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endParaRPr lang="en-IN"/>
          </a:p>
        </p:txBody>
      </p:sp>
    </p:spTree>
    <p:extLst>
      <p:ext uri="{BB962C8B-B14F-4D97-AF65-F5344CB8AC3E}">
        <p14:creationId xmlns:p14="http://schemas.microsoft.com/office/powerpoint/2010/main" val="22264519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D1D6FDCB-161F-4F11-8DCB-D11E9267D5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 Box 4">
            <a:extLst>
              <a:ext uri="{FF2B5EF4-FFF2-40B4-BE49-F238E27FC236}">
                <a16:creationId xmlns:a16="http://schemas.microsoft.com/office/drawing/2014/main" id="{6A2F7EB0-8BBD-4656-A78B-19FC3BB21F16}"/>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algn="just"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10244" name="Picture 2">
            <a:extLst>
              <a:ext uri="{FF2B5EF4-FFF2-40B4-BE49-F238E27FC236}">
                <a16:creationId xmlns:a16="http://schemas.microsoft.com/office/drawing/2014/main" id="{4ED5AEDD-3629-479F-B221-5EA4CD0123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333BF150-7C7D-4573-B32D-A990FD66ED18}"/>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fld id="{77913455-79B0-4665-B461-28B91A8F517B}" type="slidenum">
              <a:rPr lang="en-US" altLang="en-US" sz="1600" b="1">
                <a:solidFill>
                  <a:srgbClr val="FFFFFF"/>
                </a:solidFill>
                <a:latin typeface="Comic Sans MS" panose="030F0702030302020204" pitchFamily="66" charset="0"/>
              </a:rPr>
              <a:pPr algn="just" eaLnBrk="1" hangingPunct="1">
                <a:spcBef>
                  <a:spcPct val="0"/>
                </a:spcBef>
                <a:buFontTx/>
                <a:buNone/>
              </a:pPr>
              <a:t>8</a:t>
            </a:fld>
            <a:endParaRPr lang="en-US" altLang="en-US" sz="1600" b="1">
              <a:solidFill>
                <a:srgbClr val="FFFFFF"/>
              </a:solidFill>
              <a:latin typeface="Comic Sans MS" panose="030F0702030302020204" pitchFamily="66" charset="0"/>
            </a:endParaRPr>
          </a:p>
        </p:txBody>
      </p:sp>
      <p:sp>
        <p:nvSpPr>
          <p:cNvPr id="10246" name="Date Placeholder 7">
            <a:extLst>
              <a:ext uri="{FF2B5EF4-FFF2-40B4-BE49-F238E27FC236}">
                <a16:creationId xmlns:a16="http://schemas.microsoft.com/office/drawing/2014/main" id="{461CF22D-6FFB-45D2-9714-178B57965825}"/>
              </a:ext>
            </a:extLst>
          </p:cNvPr>
          <p:cNvSpPr>
            <a:spLocks noGrp="1"/>
          </p:cNvSpPr>
          <p:nvPr>
            <p:ph type="dt" sz="quarter" idx="10"/>
          </p:nvPr>
        </p:nvSpPr>
        <p:spPr>
          <a:xfrm>
            <a:off x="0" y="6564313"/>
            <a:ext cx="1447800" cy="412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fld id="{E36694B1-1603-4819-BE58-7B12B493508A}" type="datetime3">
              <a:rPr lang="en-US" altLang="en-US" sz="1400" b="1" smtClean="0">
                <a:solidFill>
                  <a:srgbClr val="FF0066"/>
                </a:solidFill>
                <a:latin typeface="Arial Rounded MT Bold" panose="020F0704030504030204" pitchFamily="34" charset="0"/>
              </a:rPr>
              <a:pPr algn="just">
                <a:spcBef>
                  <a:spcPct val="0"/>
                </a:spcBef>
                <a:buFontTx/>
                <a:buNone/>
              </a:pPr>
              <a:t>18 April 2023</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4BEC3DDC-58D8-41C4-8590-0155EA5ED875}"/>
              </a:ext>
            </a:extLst>
          </p:cNvPr>
          <p:cNvSpPr txBox="1"/>
          <p:nvPr/>
        </p:nvSpPr>
        <p:spPr>
          <a:xfrm>
            <a:off x="919163" y="0"/>
            <a:ext cx="7305675" cy="477838"/>
          </a:xfrm>
          <a:prstGeom prst="rect">
            <a:avLst/>
          </a:prstGeom>
          <a:noFill/>
        </p:spPr>
        <p:txBody>
          <a:bodyPr>
            <a:spAutoFit/>
          </a:bodyPr>
          <a:lstStyle/>
          <a:p>
            <a:pPr algn="just"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2" name="Oval 11">
            <a:extLst>
              <a:ext uri="{FF2B5EF4-FFF2-40B4-BE49-F238E27FC236}">
                <a16:creationId xmlns:a16="http://schemas.microsoft.com/office/drawing/2014/main" id="{F3D12324-916D-4D1B-832A-0E60BAA2C0FB}"/>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just" eaLnBrk="1" hangingPunct="1">
              <a:defRPr/>
            </a:pPr>
            <a:endParaRPr lang="en-US"/>
          </a:p>
        </p:txBody>
      </p:sp>
      <p:pic>
        <p:nvPicPr>
          <p:cNvPr id="10249" name="Picture 10" descr="A picture containing text, sign, watch&#10;&#10;Description automatically generated">
            <a:extLst>
              <a:ext uri="{FF2B5EF4-FFF2-40B4-BE49-F238E27FC236}">
                <a16:creationId xmlns:a16="http://schemas.microsoft.com/office/drawing/2014/main" id="{12A926F0-CCE9-4324-A495-F6525B1246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0" name="TextBox 1">
            <a:extLst>
              <a:ext uri="{FF2B5EF4-FFF2-40B4-BE49-F238E27FC236}">
                <a16:creationId xmlns:a16="http://schemas.microsoft.com/office/drawing/2014/main" id="{59BE2CDA-B9FF-4B28-A094-38B18E1C3493}"/>
              </a:ext>
            </a:extLst>
          </p:cNvPr>
          <p:cNvSpPr txBox="1">
            <a:spLocks noChangeArrowheads="1"/>
          </p:cNvSpPr>
          <p:nvPr/>
        </p:nvSpPr>
        <p:spPr bwMode="auto">
          <a:xfrm>
            <a:off x="266700" y="928629"/>
            <a:ext cx="3581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r>
              <a:rPr lang="en-US" altLang="en-US" sz="1800" b="1" u="sng" dirty="0">
                <a:latin typeface="Calibri (Body)"/>
                <a:ea typeface="Verdana" panose="020B0604030504040204" pitchFamily="34" charset="0"/>
                <a:cs typeface="Verdana" panose="020B0604030504040204" pitchFamily="34" charset="0"/>
              </a:rPr>
              <a:t>Literature Survey - 5:  </a:t>
            </a:r>
          </a:p>
        </p:txBody>
      </p:sp>
      <p:sp>
        <p:nvSpPr>
          <p:cNvPr id="5" name="TextBox 4">
            <a:extLst>
              <a:ext uri="{FF2B5EF4-FFF2-40B4-BE49-F238E27FC236}">
                <a16:creationId xmlns:a16="http://schemas.microsoft.com/office/drawing/2014/main" id="{6EF93EB2-8853-4BFD-9CFB-8A85D83EDA34}"/>
              </a:ext>
            </a:extLst>
          </p:cNvPr>
          <p:cNvSpPr txBox="1"/>
          <p:nvPr/>
        </p:nvSpPr>
        <p:spPr>
          <a:xfrm>
            <a:off x="919162" y="1576377"/>
            <a:ext cx="7305675" cy="1077218"/>
          </a:xfrm>
          <a:prstGeom prst="rect">
            <a:avLst/>
          </a:prstGeom>
          <a:noFill/>
        </p:spPr>
        <p:txBody>
          <a:bodyPr>
            <a:spAutoFit/>
          </a:bodyPr>
          <a:lstStyle/>
          <a:p>
            <a:pPr algn="just">
              <a:defRPr/>
            </a:pPr>
            <a:r>
              <a:rPr lang="en-US" sz="1600" b="1" dirty="0">
                <a:latin typeface="Calibri (Body)"/>
              </a:rPr>
              <a:t>Name :</a:t>
            </a:r>
            <a:r>
              <a:rPr lang="en-US" sz="1600" dirty="0">
                <a:latin typeface="Calibri (Body)"/>
              </a:rPr>
              <a:t>Effective diagnosis of heart disease through neural networks ensembles</a:t>
            </a:r>
          </a:p>
          <a:p>
            <a:pPr algn="just">
              <a:defRPr/>
            </a:pPr>
            <a:r>
              <a:rPr lang="en-US" sz="1600" b="1" dirty="0">
                <a:latin typeface="Calibri (Body)"/>
              </a:rPr>
              <a:t>Author Names : </a:t>
            </a:r>
            <a:r>
              <a:rPr lang="pt-BR" sz="1600" dirty="0">
                <a:latin typeface="Calibri (Body)"/>
              </a:rPr>
              <a:t>Resul Das, Ibrahim Turkoglu, Abdulkadir Sengur</a:t>
            </a:r>
          </a:p>
          <a:p>
            <a:pPr algn="just">
              <a:defRPr/>
            </a:pPr>
            <a:r>
              <a:rPr lang="en-US" sz="1600" b="1" dirty="0">
                <a:latin typeface="Calibri (Body)"/>
              </a:rPr>
              <a:t>Published In: </a:t>
            </a:r>
            <a:r>
              <a:rPr lang="en-US" sz="1600" dirty="0">
                <a:solidFill>
                  <a:schemeClr val="dk1"/>
                </a:solidFill>
                <a:latin typeface="Calibri (Body)"/>
              </a:rPr>
              <a:t>Elsevier</a:t>
            </a:r>
            <a:endParaRPr lang="en-US" sz="1600" b="1" dirty="0">
              <a:latin typeface="Calibri (Body)"/>
            </a:endParaRPr>
          </a:p>
          <a:p>
            <a:pPr algn="just">
              <a:defRPr/>
            </a:pPr>
            <a:r>
              <a:rPr lang="en-US" sz="1600" b="1" dirty="0">
                <a:latin typeface="Calibri (Body)"/>
              </a:rPr>
              <a:t>Year : </a:t>
            </a:r>
            <a:r>
              <a:rPr lang="en-US" sz="1600" dirty="0">
                <a:latin typeface="Calibri (Body)"/>
              </a:rPr>
              <a:t>2009</a:t>
            </a:r>
          </a:p>
        </p:txBody>
      </p:sp>
      <p:sp>
        <p:nvSpPr>
          <p:cNvPr id="10252" name="TextBox 6">
            <a:extLst>
              <a:ext uri="{FF2B5EF4-FFF2-40B4-BE49-F238E27FC236}">
                <a16:creationId xmlns:a16="http://schemas.microsoft.com/office/drawing/2014/main" id="{864C878D-7DC5-4CD2-988D-7EBBE55CEA83}"/>
              </a:ext>
            </a:extLst>
          </p:cNvPr>
          <p:cNvSpPr txBox="1">
            <a:spLocks noChangeArrowheads="1"/>
          </p:cNvSpPr>
          <p:nvPr/>
        </p:nvSpPr>
        <p:spPr bwMode="auto">
          <a:xfrm>
            <a:off x="266700" y="2801072"/>
            <a:ext cx="8610600"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r>
              <a:rPr lang="en-US" sz="1400" dirty="0">
                <a:latin typeface="Calibri (Body)"/>
              </a:rPr>
              <a:t>The proposed methodology is implemented with the SAS base software 9.1.3. Data partition component was used to partition the input data into train and validation data sets. Variable selection component was used in reducing the number of inputs by setting the status of the input variables that are not related to the target as rejected. Neural networks block component was used to classify the feature space. Three independent neural networks models were used to construct this component. </a:t>
            </a:r>
            <a:r>
              <a:rPr lang="en-IN" sz="1400" dirty="0">
                <a:latin typeface="Calibri (Body)"/>
              </a:rPr>
              <a:t>The Levenberg–Marquardt (LM), scaled conjugate gradient (SCG) and Pola–</a:t>
            </a:r>
            <a:r>
              <a:rPr lang="en-IN" sz="1400" dirty="0" err="1">
                <a:latin typeface="Calibri (Body)"/>
              </a:rPr>
              <a:t>Ribiere</a:t>
            </a:r>
            <a:r>
              <a:rPr lang="en-IN" sz="1400" dirty="0">
                <a:latin typeface="Calibri (Body)"/>
              </a:rPr>
              <a:t> conjugate gradient (CGP) algorithms are used. A tangent Sigmoid transfer function was used for both hidden and output layers.</a:t>
            </a:r>
            <a:endParaRPr lang="en-US" altLang="en-US" sz="1400" dirty="0">
              <a:latin typeface="Calibri (Body)"/>
            </a:endParaRPr>
          </a:p>
        </p:txBody>
      </p:sp>
      <p:sp>
        <p:nvSpPr>
          <p:cNvPr id="8" name="Rectangle 7">
            <a:extLst>
              <a:ext uri="{FF2B5EF4-FFF2-40B4-BE49-F238E27FC236}">
                <a16:creationId xmlns:a16="http://schemas.microsoft.com/office/drawing/2014/main" id="{4AD61499-38B4-4FEB-B092-AF4394C22673}"/>
              </a:ext>
            </a:extLst>
          </p:cNvPr>
          <p:cNvSpPr/>
          <p:nvPr/>
        </p:nvSpPr>
        <p:spPr>
          <a:xfrm>
            <a:off x="723900" y="1428900"/>
            <a:ext cx="7826375" cy="13381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endParaRPr lang="en-IN"/>
          </a:p>
        </p:txBody>
      </p:sp>
    </p:spTree>
    <p:extLst>
      <p:ext uri="{BB962C8B-B14F-4D97-AF65-F5344CB8AC3E}">
        <p14:creationId xmlns:p14="http://schemas.microsoft.com/office/powerpoint/2010/main" val="3979036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D1D6FDCB-161F-4F11-8DCB-D11E9267D5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 Box 4">
            <a:extLst>
              <a:ext uri="{FF2B5EF4-FFF2-40B4-BE49-F238E27FC236}">
                <a16:creationId xmlns:a16="http://schemas.microsoft.com/office/drawing/2014/main" id="{6A2F7EB0-8BBD-4656-A78B-19FC3BB21F16}"/>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algn="just"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10244" name="Picture 2">
            <a:extLst>
              <a:ext uri="{FF2B5EF4-FFF2-40B4-BE49-F238E27FC236}">
                <a16:creationId xmlns:a16="http://schemas.microsoft.com/office/drawing/2014/main" id="{4ED5AEDD-3629-479F-B221-5EA4CD0123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333BF150-7C7D-4573-B32D-A990FD66ED18}"/>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fld id="{77913455-79B0-4665-B461-28B91A8F517B}" type="slidenum">
              <a:rPr lang="en-US" altLang="en-US" sz="1600" b="1">
                <a:solidFill>
                  <a:srgbClr val="FFFFFF"/>
                </a:solidFill>
                <a:latin typeface="Comic Sans MS" panose="030F0702030302020204" pitchFamily="66" charset="0"/>
              </a:rPr>
              <a:pPr algn="just" eaLnBrk="1" hangingPunct="1">
                <a:spcBef>
                  <a:spcPct val="0"/>
                </a:spcBef>
                <a:buFontTx/>
                <a:buNone/>
              </a:pPr>
              <a:t>9</a:t>
            </a:fld>
            <a:endParaRPr lang="en-US" altLang="en-US" sz="1600" b="1">
              <a:solidFill>
                <a:srgbClr val="FFFFFF"/>
              </a:solidFill>
              <a:latin typeface="Comic Sans MS" panose="030F0702030302020204" pitchFamily="66" charset="0"/>
            </a:endParaRPr>
          </a:p>
        </p:txBody>
      </p:sp>
      <p:sp>
        <p:nvSpPr>
          <p:cNvPr id="10246" name="Date Placeholder 7">
            <a:extLst>
              <a:ext uri="{FF2B5EF4-FFF2-40B4-BE49-F238E27FC236}">
                <a16:creationId xmlns:a16="http://schemas.microsoft.com/office/drawing/2014/main" id="{461CF22D-6FFB-45D2-9714-178B57965825}"/>
              </a:ext>
            </a:extLst>
          </p:cNvPr>
          <p:cNvSpPr>
            <a:spLocks noGrp="1"/>
          </p:cNvSpPr>
          <p:nvPr>
            <p:ph type="dt" sz="quarter" idx="10"/>
          </p:nvPr>
        </p:nvSpPr>
        <p:spPr>
          <a:xfrm>
            <a:off x="0" y="6564313"/>
            <a:ext cx="1447800" cy="412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fld id="{E36694B1-1603-4819-BE58-7B12B493508A}" type="datetime3">
              <a:rPr lang="en-US" altLang="en-US" sz="1400" b="1" smtClean="0">
                <a:solidFill>
                  <a:srgbClr val="FF0066"/>
                </a:solidFill>
                <a:latin typeface="Arial Rounded MT Bold" panose="020F0704030504030204" pitchFamily="34" charset="0"/>
              </a:rPr>
              <a:pPr algn="just">
                <a:spcBef>
                  <a:spcPct val="0"/>
                </a:spcBef>
                <a:buFontTx/>
                <a:buNone/>
              </a:pPr>
              <a:t>18 April 2023</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4BEC3DDC-58D8-41C4-8590-0155EA5ED875}"/>
              </a:ext>
            </a:extLst>
          </p:cNvPr>
          <p:cNvSpPr txBox="1"/>
          <p:nvPr/>
        </p:nvSpPr>
        <p:spPr>
          <a:xfrm>
            <a:off x="919163" y="0"/>
            <a:ext cx="7305675" cy="477838"/>
          </a:xfrm>
          <a:prstGeom prst="rect">
            <a:avLst/>
          </a:prstGeom>
          <a:noFill/>
        </p:spPr>
        <p:txBody>
          <a:bodyPr>
            <a:spAutoFit/>
          </a:bodyPr>
          <a:lstStyle/>
          <a:p>
            <a:pPr algn="just"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2" name="Oval 11">
            <a:extLst>
              <a:ext uri="{FF2B5EF4-FFF2-40B4-BE49-F238E27FC236}">
                <a16:creationId xmlns:a16="http://schemas.microsoft.com/office/drawing/2014/main" id="{F3D12324-916D-4D1B-832A-0E60BAA2C0FB}"/>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just" eaLnBrk="1" hangingPunct="1">
              <a:defRPr/>
            </a:pPr>
            <a:endParaRPr lang="en-US"/>
          </a:p>
        </p:txBody>
      </p:sp>
      <p:pic>
        <p:nvPicPr>
          <p:cNvPr id="10249" name="Picture 10" descr="A picture containing text, sign, watch&#10;&#10;Description automatically generated">
            <a:extLst>
              <a:ext uri="{FF2B5EF4-FFF2-40B4-BE49-F238E27FC236}">
                <a16:creationId xmlns:a16="http://schemas.microsoft.com/office/drawing/2014/main" id="{12A926F0-CCE9-4324-A495-F6525B1246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0" name="TextBox 1">
            <a:extLst>
              <a:ext uri="{FF2B5EF4-FFF2-40B4-BE49-F238E27FC236}">
                <a16:creationId xmlns:a16="http://schemas.microsoft.com/office/drawing/2014/main" id="{59BE2CDA-B9FF-4B28-A094-38B18E1C3493}"/>
              </a:ext>
            </a:extLst>
          </p:cNvPr>
          <p:cNvSpPr txBox="1">
            <a:spLocks noChangeArrowheads="1"/>
          </p:cNvSpPr>
          <p:nvPr/>
        </p:nvSpPr>
        <p:spPr bwMode="auto">
          <a:xfrm>
            <a:off x="266700" y="928629"/>
            <a:ext cx="3581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r>
              <a:rPr lang="en-US" altLang="en-US" sz="1800" b="1" u="sng" dirty="0">
                <a:latin typeface="Calibri (Body)"/>
                <a:ea typeface="Verdana" panose="020B0604030504040204" pitchFamily="34" charset="0"/>
                <a:cs typeface="Verdana" panose="020B0604030504040204" pitchFamily="34" charset="0"/>
              </a:rPr>
              <a:t>Literature Survey - 6:  </a:t>
            </a:r>
          </a:p>
        </p:txBody>
      </p:sp>
      <p:sp>
        <p:nvSpPr>
          <p:cNvPr id="5" name="TextBox 4">
            <a:extLst>
              <a:ext uri="{FF2B5EF4-FFF2-40B4-BE49-F238E27FC236}">
                <a16:creationId xmlns:a16="http://schemas.microsoft.com/office/drawing/2014/main" id="{6EF93EB2-8853-4BFD-9CFB-8A85D83EDA34}"/>
              </a:ext>
            </a:extLst>
          </p:cNvPr>
          <p:cNvSpPr txBox="1"/>
          <p:nvPr/>
        </p:nvSpPr>
        <p:spPr>
          <a:xfrm>
            <a:off x="919162" y="1497831"/>
            <a:ext cx="7631113" cy="1323439"/>
          </a:xfrm>
          <a:prstGeom prst="rect">
            <a:avLst/>
          </a:prstGeom>
          <a:noFill/>
        </p:spPr>
        <p:txBody>
          <a:bodyPr wrap="square">
            <a:spAutoFit/>
          </a:bodyPr>
          <a:lstStyle/>
          <a:p>
            <a:pPr algn="just">
              <a:defRPr/>
            </a:pPr>
            <a:r>
              <a:rPr lang="en-US" sz="1600" b="1" dirty="0">
                <a:latin typeface="Calibri (Body)"/>
              </a:rPr>
              <a:t>Name :  </a:t>
            </a:r>
            <a:r>
              <a:rPr lang="en-IN" sz="1600" dirty="0">
                <a:latin typeface="Calibri (Body)"/>
              </a:rPr>
              <a:t>Classifier identification using deep learning and machine learning algorithms for the detection of valvular heart diseases</a:t>
            </a:r>
            <a:endParaRPr lang="en-US" sz="1600" dirty="0">
              <a:latin typeface="Calibri (Body)"/>
            </a:endParaRPr>
          </a:p>
          <a:p>
            <a:pPr algn="just">
              <a:defRPr/>
            </a:pPr>
            <a:r>
              <a:rPr lang="en-US" sz="1600" b="1" dirty="0">
                <a:latin typeface="Calibri (Body)"/>
              </a:rPr>
              <a:t>Author Names :  </a:t>
            </a:r>
            <a:r>
              <a:rPr lang="en-US" sz="1600" dirty="0">
                <a:latin typeface="Calibri (Body)"/>
              </a:rPr>
              <a:t>Tanmay Sinha </a:t>
            </a:r>
            <a:r>
              <a:rPr lang="en-US" sz="1600" dirty="0" err="1">
                <a:latin typeface="Calibri (Body)"/>
              </a:rPr>
              <a:t>Roy,Joyanta</a:t>
            </a:r>
            <a:r>
              <a:rPr lang="en-US" sz="1600" dirty="0">
                <a:latin typeface="Calibri (Body)"/>
              </a:rPr>
              <a:t> Kumar Roy, </a:t>
            </a:r>
            <a:r>
              <a:rPr lang="en-US" sz="1600" dirty="0" err="1">
                <a:latin typeface="Calibri (Body)"/>
              </a:rPr>
              <a:t>Nirupama</a:t>
            </a:r>
            <a:r>
              <a:rPr lang="en-US" sz="1600" dirty="0">
                <a:latin typeface="Calibri (Body)"/>
              </a:rPr>
              <a:t> Mandal</a:t>
            </a:r>
          </a:p>
          <a:p>
            <a:pPr algn="just">
              <a:defRPr/>
            </a:pPr>
            <a:r>
              <a:rPr lang="en-US" sz="1600" b="1" dirty="0">
                <a:latin typeface="Calibri (Body)"/>
              </a:rPr>
              <a:t>Published In: </a:t>
            </a:r>
            <a:r>
              <a:rPr lang="en-US" sz="1600" dirty="0" err="1">
                <a:latin typeface="Calibri (Body)"/>
              </a:rPr>
              <a:t>Elseiver</a:t>
            </a:r>
            <a:endParaRPr lang="en-US" sz="1600" b="1" dirty="0">
              <a:latin typeface="Calibri (Body)"/>
            </a:endParaRPr>
          </a:p>
          <a:p>
            <a:pPr algn="just">
              <a:defRPr/>
            </a:pPr>
            <a:r>
              <a:rPr lang="en-US" sz="1600" b="1" dirty="0">
                <a:latin typeface="Calibri (Body)"/>
              </a:rPr>
              <a:t>Year :</a:t>
            </a:r>
            <a:r>
              <a:rPr lang="en-US" sz="1600" dirty="0">
                <a:latin typeface="Calibri (Body)"/>
              </a:rPr>
              <a:t> 2019</a:t>
            </a:r>
          </a:p>
        </p:txBody>
      </p:sp>
      <p:sp>
        <p:nvSpPr>
          <p:cNvPr id="10252" name="TextBox 6">
            <a:extLst>
              <a:ext uri="{FF2B5EF4-FFF2-40B4-BE49-F238E27FC236}">
                <a16:creationId xmlns:a16="http://schemas.microsoft.com/office/drawing/2014/main" id="{864C878D-7DC5-4CD2-988D-7EBBE55CEA83}"/>
              </a:ext>
            </a:extLst>
          </p:cNvPr>
          <p:cNvSpPr txBox="1">
            <a:spLocks noChangeArrowheads="1"/>
          </p:cNvSpPr>
          <p:nvPr/>
        </p:nvSpPr>
        <p:spPr bwMode="auto">
          <a:xfrm>
            <a:off x="266700" y="3164851"/>
            <a:ext cx="8610600"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r>
              <a:rPr lang="en-IN" altLang="en-US" sz="1600" dirty="0">
                <a:latin typeface="Calibri (Body)"/>
              </a:rPr>
              <a:t>This study aims to find the best classifiers for different valvular heart problems using popular CNN-based deep learning models and machine learning algorithms written in Python 3.8. the CNN-based </a:t>
            </a:r>
            <a:r>
              <a:rPr lang="en-IN" altLang="en-US" sz="1600" dirty="0" err="1">
                <a:latin typeface="Calibri (Body)"/>
              </a:rPr>
              <a:t>Xception</a:t>
            </a:r>
            <a:r>
              <a:rPr lang="en-IN" altLang="en-US" sz="1600" dirty="0">
                <a:latin typeface="Calibri (Body)"/>
              </a:rPr>
              <a:t> network model for the first time has been proposed for valvular heart sound analysis.</a:t>
            </a:r>
          </a:p>
          <a:p>
            <a:pPr algn="just">
              <a:spcBef>
                <a:spcPct val="0"/>
              </a:spcBef>
              <a:buFontTx/>
              <a:buNone/>
            </a:pPr>
            <a:endParaRPr lang="en-IN" altLang="en-US" sz="1600" b="1" dirty="0">
              <a:latin typeface="Calibri (Body)"/>
            </a:endParaRPr>
          </a:p>
          <a:p>
            <a:pPr algn="just">
              <a:spcBef>
                <a:spcPct val="0"/>
              </a:spcBef>
              <a:buFontTx/>
              <a:buNone/>
            </a:pPr>
            <a:r>
              <a:rPr lang="en-IN" altLang="en-US" sz="1600" b="1" dirty="0">
                <a:latin typeface="Calibri (Body)"/>
              </a:rPr>
              <a:t>PROS</a:t>
            </a:r>
          </a:p>
          <a:p>
            <a:pPr algn="just">
              <a:spcBef>
                <a:spcPct val="0"/>
              </a:spcBef>
              <a:buFontTx/>
              <a:buNone/>
            </a:pPr>
            <a:r>
              <a:rPr lang="en-IN" altLang="en-US" sz="1600" dirty="0" err="1">
                <a:latin typeface="Calibri (Body)"/>
              </a:rPr>
              <a:t>Xception</a:t>
            </a:r>
            <a:r>
              <a:rPr lang="en-IN" altLang="en-US" sz="1600" dirty="0">
                <a:latin typeface="Calibri (Body)"/>
              </a:rPr>
              <a:t> has fewer parameters and requires less computation compared to other deep neural network architectures, such as VGG and </a:t>
            </a:r>
            <a:r>
              <a:rPr lang="en-IN" altLang="en-US" sz="1600" dirty="0" err="1">
                <a:latin typeface="Calibri (Body)"/>
              </a:rPr>
              <a:t>ResNet</a:t>
            </a:r>
            <a:r>
              <a:rPr lang="en-IN" altLang="en-US" sz="1600" dirty="0">
                <a:latin typeface="Calibri (Body)"/>
              </a:rPr>
              <a:t>.</a:t>
            </a:r>
          </a:p>
          <a:p>
            <a:pPr algn="just">
              <a:spcBef>
                <a:spcPct val="0"/>
              </a:spcBef>
              <a:buFontTx/>
              <a:buNone/>
            </a:pPr>
            <a:r>
              <a:rPr lang="en-IN" altLang="en-US" sz="1600" b="1" dirty="0">
                <a:latin typeface="Calibri (Body)"/>
              </a:rPr>
              <a:t>CONS</a:t>
            </a:r>
          </a:p>
          <a:p>
            <a:pPr algn="just">
              <a:spcBef>
                <a:spcPct val="0"/>
              </a:spcBef>
              <a:buFontTx/>
              <a:buNone/>
            </a:pPr>
            <a:r>
              <a:rPr lang="en-IN" altLang="en-US" sz="1600" dirty="0" err="1">
                <a:latin typeface="Calibri (Body)"/>
              </a:rPr>
              <a:t>Xception</a:t>
            </a:r>
            <a:r>
              <a:rPr lang="en-IN" altLang="en-US" sz="1600" dirty="0">
                <a:latin typeface="Calibri (Body)"/>
              </a:rPr>
              <a:t> may suffer from overfitting when the dataset is small or noisy.</a:t>
            </a:r>
          </a:p>
          <a:p>
            <a:pPr algn="just">
              <a:spcBef>
                <a:spcPct val="0"/>
              </a:spcBef>
              <a:buFontTx/>
              <a:buNone/>
            </a:pPr>
            <a:r>
              <a:rPr lang="en-IN" altLang="en-US" sz="1600" dirty="0" err="1">
                <a:latin typeface="Calibri (Body)"/>
              </a:rPr>
              <a:t>Xception</a:t>
            </a:r>
            <a:r>
              <a:rPr lang="en-IN" altLang="en-US" sz="1600" dirty="0">
                <a:latin typeface="Calibri (Body)"/>
              </a:rPr>
              <a:t> is mainly designed for image recognition tasks and may not be suitable for other types of data.</a:t>
            </a:r>
            <a:endParaRPr lang="en-US" altLang="en-US" sz="1600" dirty="0">
              <a:latin typeface="Calibri (Body)"/>
            </a:endParaRPr>
          </a:p>
        </p:txBody>
      </p:sp>
      <p:sp>
        <p:nvSpPr>
          <p:cNvPr id="8" name="Rectangle 7">
            <a:extLst>
              <a:ext uri="{FF2B5EF4-FFF2-40B4-BE49-F238E27FC236}">
                <a16:creationId xmlns:a16="http://schemas.microsoft.com/office/drawing/2014/main" id="{4AD61499-38B4-4FEB-B092-AF4394C22673}"/>
              </a:ext>
            </a:extLst>
          </p:cNvPr>
          <p:cNvSpPr/>
          <p:nvPr/>
        </p:nvSpPr>
        <p:spPr>
          <a:xfrm>
            <a:off x="723900" y="1428899"/>
            <a:ext cx="7826375" cy="147091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endParaRPr lang="en-IN"/>
          </a:p>
        </p:txBody>
      </p:sp>
    </p:spTree>
    <p:extLst>
      <p:ext uri="{BB962C8B-B14F-4D97-AF65-F5344CB8AC3E}">
        <p14:creationId xmlns:p14="http://schemas.microsoft.com/office/powerpoint/2010/main" val="3227992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D1D6FDCB-161F-4F11-8DCB-D11E9267D5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 Box 4">
            <a:extLst>
              <a:ext uri="{FF2B5EF4-FFF2-40B4-BE49-F238E27FC236}">
                <a16:creationId xmlns:a16="http://schemas.microsoft.com/office/drawing/2014/main" id="{6A2F7EB0-8BBD-4656-A78B-19FC3BB21F16}"/>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algn="just"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10244" name="Picture 2">
            <a:extLst>
              <a:ext uri="{FF2B5EF4-FFF2-40B4-BE49-F238E27FC236}">
                <a16:creationId xmlns:a16="http://schemas.microsoft.com/office/drawing/2014/main" id="{4ED5AEDD-3629-479F-B221-5EA4CD0123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333BF150-7C7D-4573-B32D-A990FD66ED18}"/>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fld id="{77913455-79B0-4665-B461-28B91A8F517B}" type="slidenum">
              <a:rPr lang="en-US" altLang="en-US" sz="1600" b="1">
                <a:solidFill>
                  <a:srgbClr val="FFFFFF"/>
                </a:solidFill>
                <a:latin typeface="Comic Sans MS" panose="030F0702030302020204" pitchFamily="66" charset="0"/>
              </a:rPr>
              <a:pPr algn="just" eaLnBrk="1" hangingPunct="1">
                <a:spcBef>
                  <a:spcPct val="0"/>
                </a:spcBef>
                <a:buFontTx/>
                <a:buNone/>
              </a:pPr>
              <a:t>10</a:t>
            </a:fld>
            <a:endParaRPr lang="en-US" altLang="en-US" sz="1600" b="1">
              <a:solidFill>
                <a:srgbClr val="FFFFFF"/>
              </a:solidFill>
              <a:latin typeface="Comic Sans MS" panose="030F0702030302020204" pitchFamily="66" charset="0"/>
            </a:endParaRPr>
          </a:p>
        </p:txBody>
      </p:sp>
      <p:sp>
        <p:nvSpPr>
          <p:cNvPr id="10246" name="Date Placeholder 7">
            <a:extLst>
              <a:ext uri="{FF2B5EF4-FFF2-40B4-BE49-F238E27FC236}">
                <a16:creationId xmlns:a16="http://schemas.microsoft.com/office/drawing/2014/main" id="{461CF22D-6FFB-45D2-9714-178B57965825}"/>
              </a:ext>
            </a:extLst>
          </p:cNvPr>
          <p:cNvSpPr>
            <a:spLocks noGrp="1"/>
          </p:cNvSpPr>
          <p:nvPr>
            <p:ph type="dt" sz="quarter" idx="10"/>
          </p:nvPr>
        </p:nvSpPr>
        <p:spPr>
          <a:xfrm>
            <a:off x="0" y="6564313"/>
            <a:ext cx="1447800" cy="412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fld id="{E36694B1-1603-4819-BE58-7B12B493508A}" type="datetime3">
              <a:rPr lang="en-US" altLang="en-US" sz="1400" b="1" smtClean="0">
                <a:solidFill>
                  <a:srgbClr val="FF0066"/>
                </a:solidFill>
                <a:latin typeface="Arial Rounded MT Bold" panose="020F0704030504030204" pitchFamily="34" charset="0"/>
              </a:rPr>
              <a:pPr algn="just">
                <a:spcBef>
                  <a:spcPct val="0"/>
                </a:spcBef>
                <a:buFontTx/>
                <a:buNone/>
              </a:pPr>
              <a:t>18 April 2023</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4BEC3DDC-58D8-41C4-8590-0155EA5ED875}"/>
              </a:ext>
            </a:extLst>
          </p:cNvPr>
          <p:cNvSpPr txBox="1"/>
          <p:nvPr/>
        </p:nvSpPr>
        <p:spPr>
          <a:xfrm>
            <a:off x="919163" y="0"/>
            <a:ext cx="7305675" cy="477838"/>
          </a:xfrm>
          <a:prstGeom prst="rect">
            <a:avLst/>
          </a:prstGeom>
          <a:noFill/>
        </p:spPr>
        <p:txBody>
          <a:bodyPr>
            <a:spAutoFit/>
          </a:bodyPr>
          <a:lstStyle/>
          <a:p>
            <a:pPr algn="just"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2" name="Oval 11">
            <a:extLst>
              <a:ext uri="{FF2B5EF4-FFF2-40B4-BE49-F238E27FC236}">
                <a16:creationId xmlns:a16="http://schemas.microsoft.com/office/drawing/2014/main" id="{F3D12324-916D-4D1B-832A-0E60BAA2C0FB}"/>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just" eaLnBrk="1" hangingPunct="1">
              <a:defRPr/>
            </a:pPr>
            <a:endParaRPr lang="en-US"/>
          </a:p>
        </p:txBody>
      </p:sp>
      <p:pic>
        <p:nvPicPr>
          <p:cNvPr id="10249" name="Picture 10" descr="A picture containing text, sign, watch&#10;&#10;Description automatically generated">
            <a:extLst>
              <a:ext uri="{FF2B5EF4-FFF2-40B4-BE49-F238E27FC236}">
                <a16:creationId xmlns:a16="http://schemas.microsoft.com/office/drawing/2014/main" id="{12A926F0-CCE9-4324-A495-F6525B1246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0" name="TextBox 1">
            <a:extLst>
              <a:ext uri="{FF2B5EF4-FFF2-40B4-BE49-F238E27FC236}">
                <a16:creationId xmlns:a16="http://schemas.microsoft.com/office/drawing/2014/main" id="{59BE2CDA-B9FF-4B28-A094-38B18E1C3493}"/>
              </a:ext>
            </a:extLst>
          </p:cNvPr>
          <p:cNvSpPr txBox="1">
            <a:spLocks noChangeArrowheads="1"/>
          </p:cNvSpPr>
          <p:nvPr/>
        </p:nvSpPr>
        <p:spPr bwMode="auto">
          <a:xfrm>
            <a:off x="266700" y="928629"/>
            <a:ext cx="3581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r>
              <a:rPr lang="en-US" altLang="en-US" sz="1800" b="1" u="sng" dirty="0">
                <a:latin typeface="Calibri (Body)"/>
                <a:ea typeface="Verdana" panose="020B0604030504040204" pitchFamily="34" charset="0"/>
                <a:cs typeface="Verdana" panose="020B0604030504040204" pitchFamily="34" charset="0"/>
              </a:rPr>
              <a:t>Literature Survey - 7:  </a:t>
            </a:r>
          </a:p>
        </p:txBody>
      </p:sp>
      <p:sp>
        <p:nvSpPr>
          <p:cNvPr id="5" name="TextBox 4">
            <a:extLst>
              <a:ext uri="{FF2B5EF4-FFF2-40B4-BE49-F238E27FC236}">
                <a16:creationId xmlns:a16="http://schemas.microsoft.com/office/drawing/2014/main" id="{6EF93EB2-8853-4BFD-9CFB-8A85D83EDA34}"/>
              </a:ext>
            </a:extLst>
          </p:cNvPr>
          <p:cNvSpPr txBox="1"/>
          <p:nvPr/>
        </p:nvSpPr>
        <p:spPr>
          <a:xfrm>
            <a:off x="785812" y="1472076"/>
            <a:ext cx="7958138" cy="1323439"/>
          </a:xfrm>
          <a:prstGeom prst="rect">
            <a:avLst/>
          </a:prstGeom>
          <a:noFill/>
        </p:spPr>
        <p:txBody>
          <a:bodyPr wrap="square">
            <a:spAutoFit/>
          </a:bodyPr>
          <a:lstStyle/>
          <a:p>
            <a:pPr algn="just">
              <a:defRPr/>
            </a:pPr>
            <a:r>
              <a:rPr lang="en-US" sz="1600" b="1" dirty="0">
                <a:latin typeface="Calibri (Body)"/>
              </a:rPr>
              <a:t>Name : </a:t>
            </a:r>
            <a:r>
              <a:rPr lang="en-IN" sz="1600" dirty="0">
                <a:latin typeface="Calibri (Body)"/>
              </a:rPr>
              <a:t>Hyperparameter Optimization for Machine Learning Models Based on Bayesian Optimization</a:t>
            </a:r>
            <a:endParaRPr lang="en-US" sz="1600" dirty="0">
              <a:latin typeface="Calibri (Body)"/>
            </a:endParaRPr>
          </a:p>
          <a:p>
            <a:pPr algn="just">
              <a:defRPr/>
            </a:pPr>
            <a:r>
              <a:rPr lang="en-US" sz="1600" b="1" dirty="0">
                <a:latin typeface="Calibri (Body)"/>
              </a:rPr>
              <a:t>Author Names : </a:t>
            </a:r>
            <a:r>
              <a:rPr lang="en-US" sz="1600" dirty="0">
                <a:latin typeface="Calibri (Body)"/>
              </a:rPr>
              <a:t>Jia Wu* | </a:t>
            </a:r>
            <a:r>
              <a:rPr lang="en-US" sz="1600" dirty="0" err="1">
                <a:latin typeface="Calibri (Body)"/>
              </a:rPr>
              <a:t>Xiu</a:t>
            </a:r>
            <a:r>
              <a:rPr lang="en-US" sz="1600" dirty="0">
                <a:latin typeface="Calibri (Body)"/>
              </a:rPr>
              <a:t>-Yun Chen | Hao Zhang | Li-Dong </a:t>
            </a:r>
            <a:r>
              <a:rPr lang="en-US" sz="1600" dirty="0" err="1">
                <a:latin typeface="Calibri (Body)"/>
              </a:rPr>
              <a:t>Xiong</a:t>
            </a:r>
            <a:r>
              <a:rPr lang="en-US" sz="1600" dirty="0">
                <a:latin typeface="Calibri (Body)"/>
              </a:rPr>
              <a:t> | Hang Lei | Si-Hao Deng</a:t>
            </a:r>
          </a:p>
          <a:p>
            <a:pPr algn="just">
              <a:defRPr/>
            </a:pPr>
            <a:r>
              <a:rPr lang="en-US" sz="1600" b="1" dirty="0">
                <a:latin typeface="Calibri (Body)"/>
              </a:rPr>
              <a:t>Published In: </a:t>
            </a:r>
            <a:r>
              <a:rPr lang="en-US" sz="1600" dirty="0" err="1">
                <a:latin typeface="Calibri (Body)"/>
              </a:rPr>
              <a:t>Elseiver</a:t>
            </a:r>
            <a:r>
              <a:rPr lang="en-US" sz="1600" b="1" dirty="0">
                <a:latin typeface="Calibri (Body)"/>
              </a:rPr>
              <a:t> </a:t>
            </a:r>
          </a:p>
          <a:p>
            <a:pPr algn="just">
              <a:defRPr/>
            </a:pPr>
            <a:r>
              <a:rPr lang="en-US" sz="1600" b="1" dirty="0">
                <a:latin typeface="Calibri (Body)"/>
              </a:rPr>
              <a:t>Year :  </a:t>
            </a:r>
            <a:r>
              <a:rPr lang="en-US" sz="1600" dirty="0">
                <a:latin typeface="Calibri (Body)"/>
              </a:rPr>
              <a:t>2018</a:t>
            </a:r>
          </a:p>
        </p:txBody>
      </p:sp>
      <p:sp>
        <p:nvSpPr>
          <p:cNvPr id="10252" name="TextBox 6">
            <a:extLst>
              <a:ext uri="{FF2B5EF4-FFF2-40B4-BE49-F238E27FC236}">
                <a16:creationId xmlns:a16="http://schemas.microsoft.com/office/drawing/2014/main" id="{864C878D-7DC5-4CD2-988D-7EBBE55CEA83}"/>
              </a:ext>
            </a:extLst>
          </p:cNvPr>
          <p:cNvSpPr txBox="1">
            <a:spLocks noChangeArrowheads="1"/>
          </p:cNvSpPr>
          <p:nvPr/>
        </p:nvSpPr>
        <p:spPr bwMode="auto">
          <a:xfrm>
            <a:off x="266700" y="2824857"/>
            <a:ext cx="8610600"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r>
              <a:rPr lang="en-IN" altLang="en-US" sz="1400" dirty="0">
                <a:latin typeface="Calibri (Body)"/>
              </a:rPr>
              <a:t>This paper considers building the relationship  between  the  performance  of  the  machine  learning  models  and  their  hyperparameters  by  Gaussian processes.  In  this  way,  the  hyperparameter  tuning  problem  can  be  abstracted  as  an  optimization  problem  and Bayesian optimization is used to solve the problem. Bayesian optimization is based on the Bayesian theorem. It sets a prior over the optimization function and gathers the information from the previous sample to update the posterior of the  optimization  function.</a:t>
            </a:r>
          </a:p>
          <a:p>
            <a:pPr algn="just">
              <a:spcBef>
                <a:spcPct val="0"/>
              </a:spcBef>
              <a:buFontTx/>
              <a:buNone/>
            </a:pPr>
            <a:endParaRPr lang="en-IN" altLang="en-US" sz="1400" dirty="0">
              <a:latin typeface="Calibri (Body)"/>
            </a:endParaRPr>
          </a:p>
          <a:p>
            <a:pPr algn="just">
              <a:spcBef>
                <a:spcPct val="0"/>
              </a:spcBef>
              <a:buFontTx/>
              <a:buNone/>
            </a:pPr>
            <a:r>
              <a:rPr lang="en-IN" altLang="en-US" sz="1400" b="1" dirty="0">
                <a:latin typeface="Calibri (Body)"/>
              </a:rPr>
              <a:t>PROS</a:t>
            </a:r>
          </a:p>
          <a:p>
            <a:pPr algn="just">
              <a:spcBef>
                <a:spcPct val="0"/>
              </a:spcBef>
              <a:buFontTx/>
              <a:buNone/>
            </a:pPr>
            <a:r>
              <a:rPr lang="en-IN" altLang="en-US" sz="1400" dirty="0">
                <a:latin typeface="Calibri (Body)"/>
              </a:rPr>
              <a:t>Bayesian HPO provides a systematic and efficient approach for hyperparameter tuning that can save a lot of time and resources compared to manual tuning or grid search.</a:t>
            </a:r>
          </a:p>
          <a:p>
            <a:pPr algn="just">
              <a:spcBef>
                <a:spcPct val="0"/>
              </a:spcBef>
              <a:buFontTx/>
              <a:buNone/>
            </a:pPr>
            <a:r>
              <a:rPr lang="en-IN" altLang="en-US" sz="1400" dirty="0">
                <a:latin typeface="Calibri (Body)"/>
              </a:rPr>
              <a:t>Bayesian HPO can handle non-convex and non-smooth search spaces and can identify complex and non-linear relationships between hyperparameters.</a:t>
            </a:r>
          </a:p>
          <a:p>
            <a:pPr algn="just">
              <a:spcBef>
                <a:spcPct val="0"/>
              </a:spcBef>
              <a:buFontTx/>
              <a:buNone/>
            </a:pPr>
            <a:r>
              <a:rPr lang="en-IN" altLang="en-US" sz="1400" b="1" dirty="0">
                <a:latin typeface="Calibri (Body)"/>
              </a:rPr>
              <a:t>CONS</a:t>
            </a:r>
          </a:p>
          <a:p>
            <a:pPr algn="just">
              <a:spcBef>
                <a:spcPct val="0"/>
              </a:spcBef>
              <a:buFontTx/>
              <a:buNone/>
            </a:pPr>
            <a:r>
              <a:rPr lang="en-IN" altLang="en-US" sz="1400" dirty="0">
                <a:latin typeface="Calibri (Body)"/>
              </a:rPr>
              <a:t>Bayesian HPO requires the specification of prior distributions over hyperparameters, which can be difficult and subjective.</a:t>
            </a:r>
          </a:p>
          <a:p>
            <a:pPr algn="just">
              <a:spcBef>
                <a:spcPct val="0"/>
              </a:spcBef>
              <a:buFontTx/>
              <a:buNone/>
            </a:pPr>
            <a:r>
              <a:rPr lang="en-IN" altLang="en-US" sz="1400" dirty="0">
                <a:latin typeface="Calibri (Body)"/>
              </a:rPr>
              <a:t>The effectiveness of Bayesian HPO can depend on the choice of the acquisition function and the optimization algorithm used to search the hyperparameter space.</a:t>
            </a:r>
            <a:endParaRPr lang="en-US" altLang="en-US" sz="1400" dirty="0">
              <a:latin typeface="Calibri (Body)"/>
            </a:endParaRPr>
          </a:p>
        </p:txBody>
      </p:sp>
      <p:sp>
        <p:nvSpPr>
          <p:cNvPr id="8" name="Rectangle 7">
            <a:extLst>
              <a:ext uri="{FF2B5EF4-FFF2-40B4-BE49-F238E27FC236}">
                <a16:creationId xmlns:a16="http://schemas.microsoft.com/office/drawing/2014/main" id="{4AD61499-38B4-4FEB-B092-AF4394C22673}"/>
              </a:ext>
            </a:extLst>
          </p:cNvPr>
          <p:cNvSpPr/>
          <p:nvPr/>
        </p:nvSpPr>
        <p:spPr>
          <a:xfrm>
            <a:off x="723900" y="1428900"/>
            <a:ext cx="8153400" cy="13381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endParaRPr lang="en-IN"/>
          </a:p>
        </p:txBody>
      </p:sp>
    </p:spTree>
    <p:extLst>
      <p:ext uri="{BB962C8B-B14F-4D97-AF65-F5344CB8AC3E}">
        <p14:creationId xmlns:p14="http://schemas.microsoft.com/office/powerpoint/2010/main" val="32882444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D1D6FDCB-161F-4F11-8DCB-D11E9267D5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 Box 4">
            <a:extLst>
              <a:ext uri="{FF2B5EF4-FFF2-40B4-BE49-F238E27FC236}">
                <a16:creationId xmlns:a16="http://schemas.microsoft.com/office/drawing/2014/main" id="{6A2F7EB0-8BBD-4656-A78B-19FC3BB21F16}"/>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algn="just"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10244" name="Picture 2">
            <a:extLst>
              <a:ext uri="{FF2B5EF4-FFF2-40B4-BE49-F238E27FC236}">
                <a16:creationId xmlns:a16="http://schemas.microsoft.com/office/drawing/2014/main" id="{4ED5AEDD-3629-479F-B221-5EA4CD0123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333BF150-7C7D-4573-B32D-A990FD66ED18}"/>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fld id="{77913455-79B0-4665-B461-28B91A8F517B}" type="slidenum">
              <a:rPr lang="en-US" altLang="en-US" sz="1600" b="1">
                <a:solidFill>
                  <a:srgbClr val="FFFFFF"/>
                </a:solidFill>
                <a:latin typeface="Comic Sans MS" panose="030F0702030302020204" pitchFamily="66" charset="0"/>
              </a:rPr>
              <a:pPr algn="just" eaLnBrk="1" hangingPunct="1">
                <a:spcBef>
                  <a:spcPct val="0"/>
                </a:spcBef>
                <a:buFontTx/>
                <a:buNone/>
              </a:pPr>
              <a:t>11</a:t>
            </a:fld>
            <a:endParaRPr lang="en-US" altLang="en-US" sz="1600" b="1">
              <a:solidFill>
                <a:srgbClr val="FFFFFF"/>
              </a:solidFill>
              <a:latin typeface="Comic Sans MS" panose="030F0702030302020204" pitchFamily="66" charset="0"/>
            </a:endParaRPr>
          </a:p>
        </p:txBody>
      </p:sp>
      <p:sp>
        <p:nvSpPr>
          <p:cNvPr id="10246" name="Date Placeholder 7">
            <a:extLst>
              <a:ext uri="{FF2B5EF4-FFF2-40B4-BE49-F238E27FC236}">
                <a16:creationId xmlns:a16="http://schemas.microsoft.com/office/drawing/2014/main" id="{461CF22D-6FFB-45D2-9714-178B57965825}"/>
              </a:ext>
            </a:extLst>
          </p:cNvPr>
          <p:cNvSpPr>
            <a:spLocks noGrp="1"/>
          </p:cNvSpPr>
          <p:nvPr>
            <p:ph type="dt" sz="quarter" idx="10"/>
          </p:nvPr>
        </p:nvSpPr>
        <p:spPr>
          <a:xfrm>
            <a:off x="0" y="6564313"/>
            <a:ext cx="1447800" cy="412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fld id="{E36694B1-1603-4819-BE58-7B12B493508A}" type="datetime3">
              <a:rPr lang="en-US" altLang="en-US" sz="1400" b="1" smtClean="0">
                <a:solidFill>
                  <a:srgbClr val="FF0066"/>
                </a:solidFill>
                <a:latin typeface="Arial Rounded MT Bold" panose="020F0704030504030204" pitchFamily="34" charset="0"/>
              </a:rPr>
              <a:pPr algn="just">
                <a:spcBef>
                  <a:spcPct val="0"/>
                </a:spcBef>
                <a:buFontTx/>
                <a:buNone/>
              </a:pPr>
              <a:t>18 April 2023</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4BEC3DDC-58D8-41C4-8590-0155EA5ED875}"/>
              </a:ext>
            </a:extLst>
          </p:cNvPr>
          <p:cNvSpPr txBox="1"/>
          <p:nvPr/>
        </p:nvSpPr>
        <p:spPr>
          <a:xfrm>
            <a:off x="919163" y="0"/>
            <a:ext cx="7305675" cy="477838"/>
          </a:xfrm>
          <a:prstGeom prst="rect">
            <a:avLst/>
          </a:prstGeom>
          <a:noFill/>
        </p:spPr>
        <p:txBody>
          <a:bodyPr>
            <a:spAutoFit/>
          </a:bodyPr>
          <a:lstStyle/>
          <a:p>
            <a:pPr algn="just"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2" name="Oval 11">
            <a:extLst>
              <a:ext uri="{FF2B5EF4-FFF2-40B4-BE49-F238E27FC236}">
                <a16:creationId xmlns:a16="http://schemas.microsoft.com/office/drawing/2014/main" id="{F3D12324-916D-4D1B-832A-0E60BAA2C0FB}"/>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just" eaLnBrk="1" hangingPunct="1">
              <a:defRPr/>
            </a:pPr>
            <a:endParaRPr lang="en-US"/>
          </a:p>
        </p:txBody>
      </p:sp>
      <p:pic>
        <p:nvPicPr>
          <p:cNvPr id="10249" name="Picture 10" descr="A picture containing text, sign, watch&#10;&#10;Description automatically generated">
            <a:extLst>
              <a:ext uri="{FF2B5EF4-FFF2-40B4-BE49-F238E27FC236}">
                <a16:creationId xmlns:a16="http://schemas.microsoft.com/office/drawing/2014/main" id="{12A926F0-CCE9-4324-A495-F6525B1246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0" name="TextBox 1">
            <a:extLst>
              <a:ext uri="{FF2B5EF4-FFF2-40B4-BE49-F238E27FC236}">
                <a16:creationId xmlns:a16="http://schemas.microsoft.com/office/drawing/2014/main" id="{59BE2CDA-B9FF-4B28-A094-38B18E1C3493}"/>
              </a:ext>
            </a:extLst>
          </p:cNvPr>
          <p:cNvSpPr txBox="1">
            <a:spLocks noChangeArrowheads="1"/>
          </p:cNvSpPr>
          <p:nvPr/>
        </p:nvSpPr>
        <p:spPr bwMode="auto">
          <a:xfrm>
            <a:off x="266700" y="928629"/>
            <a:ext cx="3581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r>
              <a:rPr lang="en-US" altLang="en-US" sz="1800" b="1" u="sng" dirty="0">
                <a:latin typeface="Calibri (Body)"/>
                <a:ea typeface="Verdana" panose="020B0604030504040204" pitchFamily="34" charset="0"/>
                <a:cs typeface="Verdana" panose="020B0604030504040204" pitchFamily="34" charset="0"/>
              </a:rPr>
              <a:t>Literature Survey – 8 :  </a:t>
            </a:r>
          </a:p>
        </p:txBody>
      </p:sp>
      <p:sp>
        <p:nvSpPr>
          <p:cNvPr id="5" name="TextBox 4">
            <a:extLst>
              <a:ext uri="{FF2B5EF4-FFF2-40B4-BE49-F238E27FC236}">
                <a16:creationId xmlns:a16="http://schemas.microsoft.com/office/drawing/2014/main" id="{6EF93EB2-8853-4BFD-9CFB-8A85D83EDA34}"/>
              </a:ext>
            </a:extLst>
          </p:cNvPr>
          <p:cNvSpPr txBox="1"/>
          <p:nvPr/>
        </p:nvSpPr>
        <p:spPr>
          <a:xfrm>
            <a:off x="919162" y="1576377"/>
            <a:ext cx="7305675" cy="1077218"/>
          </a:xfrm>
          <a:prstGeom prst="rect">
            <a:avLst/>
          </a:prstGeom>
          <a:noFill/>
        </p:spPr>
        <p:txBody>
          <a:bodyPr>
            <a:spAutoFit/>
          </a:bodyPr>
          <a:lstStyle/>
          <a:p>
            <a:pPr algn="just">
              <a:defRPr/>
            </a:pPr>
            <a:r>
              <a:rPr lang="en-US" sz="1600" b="1" dirty="0">
                <a:latin typeface="Calibri (Body)"/>
              </a:rPr>
              <a:t>Name : </a:t>
            </a:r>
            <a:r>
              <a:rPr lang="en-IN" sz="1600" dirty="0">
                <a:latin typeface="Calibri (Body)"/>
              </a:rPr>
              <a:t>Heart Disease Prediction Using Hybrid Genetic Fuzzy Model</a:t>
            </a:r>
            <a:endParaRPr lang="en-US" sz="1600" dirty="0">
              <a:latin typeface="Calibri (Body)"/>
            </a:endParaRPr>
          </a:p>
          <a:p>
            <a:pPr algn="just">
              <a:defRPr/>
            </a:pPr>
            <a:r>
              <a:rPr lang="en-US" sz="1600" b="1" dirty="0">
                <a:latin typeface="Calibri (Body)"/>
              </a:rPr>
              <a:t>Author Names : </a:t>
            </a:r>
            <a:r>
              <a:rPr lang="en-IN" sz="1600" dirty="0">
                <a:latin typeface="Calibri (Body)"/>
              </a:rPr>
              <a:t>T. Santhanam1 and E. P. </a:t>
            </a:r>
            <a:r>
              <a:rPr lang="en-IN" sz="1600" dirty="0" err="1">
                <a:latin typeface="Calibri (Body)"/>
              </a:rPr>
              <a:t>Ephzibah</a:t>
            </a:r>
            <a:endParaRPr lang="en-US" sz="1600" dirty="0">
              <a:latin typeface="Calibri (Body)"/>
            </a:endParaRPr>
          </a:p>
          <a:p>
            <a:pPr algn="just">
              <a:defRPr/>
            </a:pPr>
            <a:r>
              <a:rPr lang="en-US" sz="1600" b="1" dirty="0">
                <a:latin typeface="Calibri (Body)"/>
              </a:rPr>
              <a:t>Published In:  </a:t>
            </a:r>
            <a:r>
              <a:rPr lang="en-US" sz="1600" dirty="0" err="1">
                <a:latin typeface="Calibri (Body)"/>
              </a:rPr>
              <a:t>Elseiver</a:t>
            </a:r>
            <a:endParaRPr lang="en-US" sz="1600" dirty="0">
              <a:latin typeface="Calibri (Body)"/>
            </a:endParaRPr>
          </a:p>
          <a:p>
            <a:pPr algn="just">
              <a:defRPr/>
            </a:pPr>
            <a:r>
              <a:rPr lang="en-US" sz="1600" b="1" dirty="0">
                <a:latin typeface="Calibri (Body)"/>
              </a:rPr>
              <a:t>Year : </a:t>
            </a:r>
            <a:r>
              <a:rPr lang="en-US" sz="1600" dirty="0">
                <a:latin typeface="Calibri (Body)"/>
              </a:rPr>
              <a:t>2021</a:t>
            </a:r>
          </a:p>
        </p:txBody>
      </p:sp>
      <p:sp>
        <p:nvSpPr>
          <p:cNvPr id="10252" name="TextBox 6">
            <a:extLst>
              <a:ext uri="{FF2B5EF4-FFF2-40B4-BE49-F238E27FC236}">
                <a16:creationId xmlns:a16="http://schemas.microsoft.com/office/drawing/2014/main" id="{864C878D-7DC5-4CD2-988D-7EBBE55CEA83}"/>
              </a:ext>
            </a:extLst>
          </p:cNvPr>
          <p:cNvSpPr txBox="1">
            <a:spLocks noChangeArrowheads="1"/>
          </p:cNvSpPr>
          <p:nvPr/>
        </p:nvSpPr>
        <p:spPr bwMode="auto">
          <a:xfrm>
            <a:off x="266700" y="2941446"/>
            <a:ext cx="8610600"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r>
              <a:rPr lang="en-IN" altLang="en-US" sz="1400" dirty="0">
                <a:latin typeface="Calibri (Body)"/>
              </a:rPr>
              <a:t>The objective of the work is to diagnose heart disease using computing techniques like genetic algorithm and fuzzy logic. In this paper a hybrid genetic-fuzzy heart disease diagnosis system is designed. The genetic algorithm is used for a stochastic search that provides the optimal solution to the feature selection problem. The relevant features selected from the dataset help the diagnosing system to develop a classification model using fuzzy inference system.</a:t>
            </a:r>
          </a:p>
          <a:p>
            <a:pPr algn="just">
              <a:spcBef>
                <a:spcPct val="0"/>
              </a:spcBef>
              <a:buFontTx/>
              <a:buNone/>
            </a:pPr>
            <a:endParaRPr lang="en-IN" altLang="en-US" sz="1400" dirty="0">
              <a:latin typeface="Calibri (Body)"/>
            </a:endParaRPr>
          </a:p>
          <a:p>
            <a:pPr algn="just">
              <a:spcBef>
                <a:spcPct val="0"/>
              </a:spcBef>
              <a:buFontTx/>
              <a:buNone/>
            </a:pPr>
            <a:r>
              <a:rPr lang="en-IN" altLang="en-US" sz="1400" b="1" dirty="0">
                <a:latin typeface="Calibri (Body)"/>
              </a:rPr>
              <a:t>PROS</a:t>
            </a:r>
          </a:p>
          <a:p>
            <a:pPr algn="just">
              <a:spcBef>
                <a:spcPct val="0"/>
              </a:spcBef>
              <a:buFontTx/>
              <a:buNone/>
            </a:pPr>
            <a:r>
              <a:rPr lang="en-IN" altLang="en-US" sz="1400" dirty="0">
                <a:latin typeface="Calibri (Body)"/>
              </a:rPr>
              <a:t>The use of a hybrid genetic-fuzzy model allows for a more robust and accurate prediction of heart disease compared to using only one type of model.</a:t>
            </a:r>
          </a:p>
          <a:p>
            <a:pPr algn="just">
              <a:spcBef>
                <a:spcPct val="0"/>
              </a:spcBef>
              <a:buFontTx/>
              <a:buNone/>
            </a:pPr>
            <a:r>
              <a:rPr lang="en-IN" altLang="en-US" sz="1400" dirty="0">
                <a:latin typeface="Calibri (Body)"/>
              </a:rPr>
              <a:t>Stochastic search algorithms are useful for problems with inherent random noise or deterministic problems which can be solved by injected randomness.</a:t>
            </a:r>
          </a:p>
          <a:p>
            <a:pPr algn="just">
              <a:spcBef>
                <a:spcPct val="0"/>
              </a:spcBef>
              <a:buFontTx/>
              <a:buNone/>
            </a:pPr>
            <a:endParaRPr lang="en-IN" altLang="en-US" sz="1400" dirty="0">
              <a:latin typeface="Calibri (Body)"/>
            </a:endParaRPr>
          </a:p>
          <a:p>
            <a:pPr algn="just">
              <a:spcBef>
                <a:spcPct val="0"/>
              </a:spcBef>
              <a:buFontTx/>
              <a:buNone/>
            </a:pPr>
            <a:r>
              <a:rPr lang="en-IN" altLang="en-US" sz="1400" b="1" dirty="0">
                <a:latin typeface="Calibri (Body)"/>
              </a:rPr>
              <a:t>CONS</a:t>
            </a:r>
          </a:p>
          <a:p>
            <a:pPr algn="just">
              <a:spcBef>
                <a:spcPct val="0"/>
              </a:spcBef>
              <a:buFontTx/>
              <a:buNone/>
            </a:pPr>
            <a:r>
              <a:rPr lang="en-IN" altLang="en-US" sz="1400" dirty="0">
                <a:latin typeface="Calibri (Body)"/>
              </a:rPr>
              <a:t>Stochastic search is a random process, and the results may not be consistent across different runs of the algorithm.</a:t>
            </a:r>
          </a:p>
          <a:p>
            <a:pPr algn="just">
              <a:spcBef>
                <a:spcPct val="0"/>
              </a:spcBef>
              <a:buFontTx/>
              <a:buNone/>
            </a:pPr>
            <a:r>
              <a:rPr lang="en-IN" altLang="en-US" sz="1400" dirty="0">
                <a:latin typeface="Calibri (Body)"/>
              </a:rPr>
              <a:t>The performance of a fuzzy classifier heavily depends on the quality of input features and the selection of fuzzy sets.</a:t>
            </a:r>
          </a:p>
          <a:p>
            <a:pPr algn="just">
              <a:spcBef>
                <a:spcPct val="0"/>
              </a:spcBef>
              <a:buFontTx/>
              <a:buNone/>
            </a:pPr>
            <a:r>
              <a:rPr lang="en-IN" altLang="en-US" sz="1400" dirty="0">
                <a:latin typeface="Calibri (Body)"/>
              </a:rPr>
              <a:t>The fuzzy rules are difficult to design and can be time-consuming, especially for large datasets.</a:t>
            </a:r>
          </a:p>
          <a:p>
            <a:pPr algn="just">
              <a:spcBef>
                <a:spcPct val="0"/>
              </a:spcBef>
              <a:buFontTx/>
              <a:buNone/>
            </a:pPr>
            <a:r>
              <a:rPr lang="en-IN" altLang="en-US" sz="1400" dirty="0">
                <a:latin typeface="Calibri (Body)"/>
              </a:rPr>
              <a:t>	</a:t>
            </a:r>
            <a:endParaRPr lang="en-US" altLang="en-US" sz="1400" dirty="0">
              <a:latin typeface="Calibri (Body)"/>
            </a:endParaRPr>
          </a:p>
        </p:txBody>
      </p:sp>
      <p:sp>
        <p:nvSpPr>
          <p:cNvPr id="8" name="Rectangle 7">
            <a:extLst>
              <a:ext uri="{FF2B5EF4-FFF2-40B4-BE49-F238E27FC236}">
                <a16:creationId xmlns:a16="http://schemas.microsoft.com/office/drawing/2014/main" id="{4AD61499-38B4-4FEB-B092-AF4394C22673}"/>
              </a:ext>
            </a:extLst>
          </p:cNvPr>
          <p:cNvSpPr/>
          <p:nvPr/>
        </p:nvSpPr>
        <p:spPr>
          <a:xfrm>
            <a:off x="723900" y="1428900"/>
            <a:ext cx="7826375" cy="13381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endParaRPr lang="en-IN"/>
          </a:p>
        </p:txBody>
      </p:sp>
    </p:spTree>
    <p:extLst>
      <p:ext uri="{BB962C8B-B14F-4D97-AF65-F5344CB8AC3E}">
        <p14:creationId xmlns:p14="http://schemas.microsoft.com/office/powerpoint/2010/main" val="4376950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D1D6FDCB-161F-4F11-8DCB-D11E9267D5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 Box 4">
            <a:extLst>
              <a:ext uri="{FF2B5EF4-FFF2-40B4-BE49-F238E27FC236}">
                <a16:creationId xmlns:a16="http://schemas.microsoft.com/office/drawing/2014/main" id="{6A2F7EB0-8BBD-4656-A78B-19FC3BB21F16}"/>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algn="just"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10244" name="Picture 2">
            <a:extLst>
              <a:ext uri="{FF2B5EF4-FFF2-40B4-BE49-F238E27FC236}">
                <a16:creationId xmlns:a16="http://schemas.microsoft.com/office/drawing/2014/main" id="{4ED5AEDD-3629-479F-B221-5EA4CD0123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333BF150-7C7D-4573-B32D-A990FD66ED18}"/>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fld id="{77913455-79B0-4665-B461-28B91A8F517B}" type="slidenum">
              <a:rPr lang="en-US" altLang="en-US" sz="1600" b="1">
                <a:solidFill>
                  <a:srgbClr val="FFFFFF"/>
                </a:solidFill>
                <a:latin typeface="Comic Sans MS" panose="030F0702030302020204" pitchFamily="66" charset="0"/>
              </a:rPr>
              <a:pPr algn="just" eaLnBrk="1" hangingPunct="1">
                <a:spcBef>
                  <a:spcPct val="0"/>
                </a:spcBef>
                <a:buFontTx/>
                <a:buNone/>
              </a:pPr>
              <a:t>12</a:t>
            </a:fld>
            <a:endParaRPr lang="en-US" altLang="en-US" sz="1600" b="1">
              <a:solidFill>
                <a:srgbClr val="FFFFFF"/>
              </a:solidFill>
              <a:latin typeface="Comic Sans MS" panose="030F0702030302020204" pitchFamily="66" charset="0"/>
            </a:endParaRPr>
          </a:p>
        </p:txBody>
      </p:sp>
      <p:sp>
        <p:nvSpPr>
          <p:cNvPr id="10246" name="Date Placeholder 7">
            <a:extLst>
              <a:ext uri="{FF2B5EF4-FFF2-40B4-BE49-F238E27FC236}">
                <a16:creationId xmlns:a16="http://schemas.microsoft.com/office/drawing/2014/main" id="{461CF22D-6FFB-45D2-9714-178B57965825}"/>
              </a:ext>
            </a:extLst>
          </p:cNvPr>
          <p:cNvSpPr>
            <a:spLocks noGrp="1"/>
          </p:cNvSpPr>
          <p:nvPr>
            <p:ph type="dt" sz="quarter" idx="10"/>
          </p:nvPr>
        </p:nvSpPr>
        <p:spPr>
          <a:xfrm>
            <a:off x="0" y="6564313"/>
            <a:ext cx="1447800" cy="412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fld id="{E36694B1-1603-4819-BE58-7B12B493508A}" type="datetime3">
              <a:rPr lang="en-US" altLang="en-US" sz="1400" b="1" smtClean="0">
                <a:solidFill>
                  <a:srgbClr val="FF0066"/>
                </a:solidFill>
                <a:latin typeface="Arial Rounded MT Bold" panose="020F0704030504030204" pitchFamily="34" charset="0"/>
              </a:rPr>
              <a:pPr algn="just">
                <a:spcBef>
                  <a:spcPct val="0"/>
                </a:spcBef>
                <a:buFontTx/>
                <a:buNone/>
              </a:pPr>
              <a:t>18 April 2023</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4BEC3DDC-58D8-41C4-8590-0155EA5ED875}"/>
              </a:ext>
            </a:extLst>
          </p:cNvPr>
          <p:cNvSpPr txBox="1"/>
          <p:nvPr/>
        </p:nvSpPr>
        <p:spPr>
          <a:xfrm>
            <a:off x="919163" y="0"/>
            <a:ext cx="7305675" cy="477838"/>
          </a:xfrm>
          <a:prstGeom prst="rect">
            <a:avLst/>
          </a:prstGeom>
          <a:noFill/>
        </p:spPr>
        <p:txBody>
          <a:bodyPr>
            <a:spAutoFit/>
          </a:bodyPr>
          <a:lstStyle/>
          <a:p>
            <a:pPr algn="just"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2" name="Oval 11">
            <a:extLst>
              <a:ext uri="{FF2B5EF4-FFF2-40B4-BE49-F238E27FC236}">
                <a16:creationId xmlns:a16="http://schemas.microsoft.com/office/drawing/2014/main" id="{F3D12324-916D-4D1B-832A-0E60BAA2C0FB}"/>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just" eaLnBrk="1" hangingPunct="1">
              <a:defRPr/>
            </a:pPr>
            <a:endParaRPr lang="en-US"/>
          </a:p>
        </p:txBody>
      </p:sp>
      <p:pic>
        <p:nvPicPr>
          <p:cNvPr id="10249" name="Picture 10" descr="A picture containing text, sign, watch&#10;&#10;Description automatically generated">
            <a:extLst>
              <a:ext uri="{FF2B5EF4-FFF2-40B4-BE49-F238E27FC236}">
                <a16:creationId xmlns:a16="http://schemas.microsoft.com/office/drawing/2014/main" id="{12A926F0-CCE9-4324-A495-F6525B1246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0" name="TextBox 1">
            <a:extLst>
              <a:ext uri="{FF2B5EF4-FFF2-40B4-BE49-F238E27FC236}">
                <a16:creationId xmlns:a16="http://schemas.microsoft.com/office/drawing/2014/main" id="{59BE2CDA-B9FF-4B28-A094-38B18E1C3493}"/>
              </a:ext>
            </a:extLst>
          </p:cNvPr>
          <p:cNvSpPr txBox="1">
            <a:spLocks noChangeArrowheads="1"/>
          </p:cNvSpPr>
          <p:nvPr/>
        </p:nvSpPr>
        <p:spPr bwMode="auto">
          <a:xfrm>
            <a:off x="266700" y="928629"/>
            <a:ext cx="3581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r>
              <a:rPr lang="en-US" altLang="en-US" sz="1800" b="1" u="sng" dirty="0">
                <a:latin typeface="Calibri (Body)"/>
                <a:ea typeface="Verdana" panose="020B0604030504040204" pitchFamily="34" charset="0"/>
                <a:cs typeface="Verdana" panose="020B0604030504040204" pitchFamily="34" charset="0"/>
              </a:rPr>
              <a:t>Literature Survey – 11 :  </a:t>
            </a:r>
          </a:p>
        </p:txBody>
      </p:sp>
      <p:sp>
        <p:nvSpPr>
          <p:cNvPr id="5" name="TextBox 4">
            <a:extLst>
              <a:ext uri="{FF2B5EF4-FFF2-40B4-BE49-F238E27FC236}">
                <a16:creationId xmlns:a16="http://schemas.microsoft.com/office/drawing/2014/main" id="{6EF93EB2-8853-4BFD-9CFB-8A85D83EDA34}"/>
              </a:ext>
            </a:extLst>
          </p:cNvPr>
          <p:cNvSpPr txBox="1"/>
          <p:nvPr/>
        </p:nvSpPr>
        <p:spPr>
          <a:xfrm>
            <a:off x="919162" y="1576377"/>
            <a:ext cx="7305676" cy="1077218"/>
          </a:xfrm>
          <a:prstGeom prst="rect">
            <a:avLst/>
          </a:prstGeom>
          <a:noFill/>
        </p:spPr>
        <p:txBody>
          <a:bodyPr wrap="square">
            <a:spAutoFit/>
          </a:bodyPr>
          <a:lstStyle/>
          <a:p>
            <a:pPr algn="just">
              <a:defRPr/>
            </a:pPr>
            <a:r>
              <a:rPr lang="en-US" sz="1600" b="1" dirty="0">
                <a:latin typeface="Calibri (Body)"/>
              </a:rPr>
              <a:t>Name : </a:t>
            </a:r>
            <a:r>
              <a:rPr lang="en-IN" sz="1600" dirty="0"/>
              <a:t>Heart disease prediction using hyper parameter optimization (HPO) tuning</a:t>
            </a:r>
          </a:p>
          <a:p>
            <a:pPr algn="just">
              <a:defRPr/>
            </a:pPr>
            <a:r>
              <a:rPr lang="en-US" sz="1600" b="1" dirty="0">
                <a:latin typeface="Calibri (Body)"/>
              </a:rPr>
              <a:t>Author Names :  </a:t>
            </a:r>
            <a:r>
              <a:rPr lang="en-US" sz="1600" dirty="0">
                <a:latin typeface="Calibri (Body)"/>
              </a:rPr>
              <a:t>R. </a:t>
            </a:r>
            <a:r>
              <a:rPr lang="en-US" sz="1600" dirty="0" err="1">
                <a:latin typeface="Calibri (Body)"/>
              </a:rPr>
              <a:t>Valarmathi</a:t>
            </a:r>
            <a:r>
              <a:rPr lang="en-US" sz="1600" dirty="0">
                <a:latin typeface="Calibri (Body)"/>
              </a:rPr>
              <a:t>, T. Sheela</a:t>
            </a:r>
            <a:endParaRPr lang="en-IN" sz="1600" dirty="0">
              <a:latin typeface="Calibri (Body)"/>
            </a:endParaRPr>
          </a:p>
          <a:p>
            <a:pPr algn="just">
              <a:defRPr/>
            </a:pPr>
            <a:r>
              <a:rPr lang="en-US" sz="1600" b="1" dirty="0">
                <a:latin typeface="Calibri (Body)"/>
              </a:rPr>
              <a:t>Published In:  </a:t>
            </a:r>
            <a:r>
              <a:rPr lang="en-US" sz="1600" dirty="0" err="1">
                <a:latin typeface="Calibri (Body)"/>
              </a:rPr>
              <a:t>Elseiver</a:t>
            </a:r>
            <a:endParaRPr lang="en-US" sz="1600" dirty="0">
              <a:latin typeface="Calibri (Body)"/>
            </a:endParaRPr>
          </a:p>
          <a:p>
            <a:pPr algn="just">
              <a:defRPr/>
            </a:pPr>
            <a:r>
              <a:rPr lang="en-US" sz="1600" b="1" dirty="0">
                <a:latin typeface="Calibri (Body)"/>
              </a:rPr>
              <a:t>Year : </a:t>
            </a:r>
            <a:r>
              <a:rPr lang="en-US" sz="1600" dirty="0">
                <a:latin typeface="Calibri (Body)"/>
              </a:rPr>
              <a:t>2021</a:t>
            </a:r>
          </a:p>
        </p:txBody>
      </p:sp>
      <p:sp>
        <p:nvSpPr>
          <p:cNvPr id="10252" name="TextBox 6">
            <a:extLst>
              <a:ext uri="{FF2B5EF4-FFF2-40B4-BE49-F238E27FC236}">
                <a16:creationId xmlns:a16="http://schemas.microsoft.com/office/drawing/2014/main" id="{864C878D-7DC5-4CD2-988D-7EBBE55CEA83}"/>
              </a:ext>
            </a:extLst>
          </p:cNvPr>
          <p:cNvSpPr txBox="1">
            <a:spLocks noChangeArrowheads="1"/>
          </p:cNvSpPr>
          <p:nvPr/>
        </p:nvSpPr>
        <p:spPr bwMode="auto">
          <a:xfrm>
            <a:off x="266700" y="2941446"/>
            <a:ext cx="8610600" cy="2831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r>
              <a:rPr lang="en-IN" altLang="en-US" sz="1400" dirty="0">
                <a:latin typeface="Calibri (Body)"/>
              </a:rPr>
              <a:t>The objective of the work is to improving </a:t>
            </a:r>
            <a:r>
              <a:rPr lang="en-IN" sz="1400" dirty="0">
                <a:latin typeface="+mn-lt"/>
              </a:rPr>
              <a:t>Random forest classifier and XG Boost classifier model </a:t>
            </a:r>
            <a:r>
              <a:rPr lang="en-IN" altLang="en-US" sz="1400" dirty="0">
                <a:latin typeface="Calibri (Body)"/>
              </a:rPr>
              <a:t>using </a:t>
            </a:r>
            <a:r>
              <a:rPr lang="en-IN" altLang="en-US" sz="1400" dirty="0">
                <a:latin typeface="+mn-lt"/>
              </a:rPr>
              <a:t>t</a:t>
            </a:r>
            <a:r>
              <a:rPr lang="en-IN" sz="1400" dirty="0">
                <a:latin typeface="+mn-lt"/>
              </a:rPr>
              <a:t>hree Hyper Parameter Optimization (HPO) techniques Grid Search, Randomized Search and Genetic programming (TPOT Classifier) for efficient heart disease risk prediction. The performance of the models is evaluated with the publicly available datasets Cleveland Heart disease Dataset and Z-Alizadeh Sani dataset.</a:t>
            </a:r>
          </a:p>
          <a:p>
            <a:pPr algn="just">
              <a:spcBef>
                <a:spcPct val="0"/>
              </a:spcBef>
              <a:buFontTx/>
              <a:buNone/>
            </a:pPr>
            <a:endParaRPr lang="en-IN" sz="1000" dirty="0">
              <a:latin typeface="+mn-lt"/>
            </a:endParaRPr>
          </a:p>
          <a:p>
            <a:pPr algn="just">
              <a:spcBef>
                <a:spcPct val="0"/>
              </a:spcBef>
              <a:buFontTx/>
              <a:buNone/>
            </a:pPr>
            <a:r>
              <a:rPr lang="en-IN" altLang="en-US" sz="1400" b="1" dirty="0">
                <a:latin typeface="Calibri (Body)"/>
              </a:rPr>
              <a:t>PROS</a:t>
            </a:r>
          </a:p>
          <a:p>
            <a:pPr algn="just">
              <a:spcBef>
                <a:spcPct val="0"/>
              </a:spcBef>
              <a:buFontTx/>
              <a:buNone/>
            </a:pPr>
            <a:r>
              <a:rPr lang="en-IN" altLang="en-US" sz="1400" dirty="0">
                <a:latin typeface="Calibri (Body)"/>
              </a:rPr>
              <a:t>The use of Sequential feature selection picks the best feature subsets for the corresponding classification models.</a:t>
            </a:r>
          </a:p>
          <a:p>
            <a:pPr algn="just">
              <a:spcBef>
                <a:spcPct val="0"/>
              </a:spcBef>
              <a:buFontTx/>
              <a:buNone/>
            </a:pPr>
            <a:r>
              <a:rPr lang="en-IN" altLang="en-US" sz="1400" dirty="0">
                <a:latin typeface="Calibri (Body)"/>
              </a:rPr>
              <a:t>Various Hyperparameter optimization techniques have been used to improve the performance of the model.</a:t>
            </a:r>
          </a:p>
          <a:p>
            <a:pPr algn="just">
              <a:spcBef>
                <a:spcPct val="0"/>
              </a:spcBef>
              <a:buFontTx/>
              <a:buNone/>
            </a:pPr>
            <a:endParaRPr lang="en-IN" altLang="en-US" sz="1400" dirty="0">
              <a:latin typeface="Calibri (Body)"/>
            </a:endParaRPr>
          </a:p>
          <a:p>
            <a:pPr algn="just">
              <a:spcBef>
                <a:spcPct val="0"/>
              </a:spcBef>
              <a:buFontTx/>
              <a:buNone/>
            </a:pPr>
            <a:r>
              <a:rPr lang="en-IN" altLang="en-US" sz="1400" b="1" dirty="0">
                <a:latin typeface="Calibri (Body)"/>
              </a:rPr>
              <a:t>CONS</a:t>
            </a:r>
          </a:p>
          <a:p>
            <a:pPr algn="just">
              <a:spcBef>
                <a:spcPct val="0"/>
              </a:spcBef>
              <a:buFontTx/>
              <a:buNone/>
            </a:pPr>
            <a:r>
              <a:rPr lang="en-IN" altLang="en-US" sz="1400" dirty="0">
                <a:latin typeface="Calibri (Body)"/>
              </a:rPr>
              <a:t>Usage of single feature technique cannot be always good for picking up best feature subset for a classification model</a:t>
            </a:r>
          </a:p>
          <a:p>
            <a:pPr algn="just">
              <a:spcBef>
                <a:spcPct val="0"/>
              </a:spcBef>
              <a:buFontTx/>
              <a:buNone/>
            </a:pPr>
            <a:r>
              <a:rPr lang="en-IN" altLang="en-US" sz="1400" dirty="0">
                <a:latin typeface="Calibri (Body)"/>
              </a:rPr>
              <a:t>Hyperparameter may get stuck at local optima if the search space does not contain the global optimum value for the respective hyperparameters	</a:t>
            </a:r>
            <a:endParaRPr lang="en-US" altLang="en-US" sz="1400" dirty="0">
              <a:latin typeface="Calibri (Body)"/>
            </a:endParaRPr>
          </a:p>
        </p:txBody>
      </p:sp>
      <p:sp>
        <p:nvSpPr>
          <p:cNvPr id="8" name="Rectangle 7">
            <a:extLst>
              <a:ext uri="{FF2B5EF4-FFF2-40B4-BE49-F238E27FC236}">
                <a16:creationId xmlns:a16="http://schemas.microsoft.com/office/drawing/2014/main" id="{4AD61499-38B4-4FEB-B092-AF4394C22673}"/>
              </a:ext>
            </a:extLst>
          </p:cNvPr>
          <p:cNvSpPr/>
          <p:nvPr/>
        </p:nvSpPr>
        <p:spPr>
          <a:xfrm>
            <a:off x="723900" y="1428900"/>
            <a:ext cx="7826375" cy="13381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endParaRPr lang="en-IN"/>
          </a:p>
        </p:txBody>
      </p:sp>
    </p:spTree>
    <p:extLst>
      <p:ext uri="{BB962C8B-B14F-4D97-AF65-F5344CB8AC3E}">
        <p14:creationId xmlns:p14="http://schemas.microsoft.com/office/powerpoint/2010/main" val="3885533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5F667472-79FA-4075-90EC-289C4467E760}"/>
              </a:ext>
            </a:extLst>
          </p:cNvPr>
          <p:cNvPicPr>
            <a:picLocks noChangeAspect="1"/>
          </p:cNvPicPr>
          <p:nvPr/>
        </p:nvPicPr>
        <p:blipFill>
          <a:blip r:embed="rId3">
            <a:lum/>
            <a:alphaModFix/>
          </a:blip>
          <a:srcRect/>
          <a:stretch>
            <a:fillRect/>
          </a:stretch>
        </p:blipFill>
        <p:spPr>
          <a:xfrm>
            <a:off x="0" y="6553084"/>
            <a:ext cx="9144000" cy="308161"/>
          </a:xfrm>
          <a:prstGeom prst="rect">
            <a:avLst/>
          </a:prstGeom>
          <a:noFill/>
          <a:ln cap="flat">
            <a:noFill/>
          </a:ln>
        </p:spPr>
      </p:pic>
      <p:sp>
        <p:nvSpPr>
          <p:cNvPr id="3" name="Text Box 4">
            <a:extLst>
              <a:ext uri="{FF2B5EF4-FFF2-40B4-BE49-F238E27FC236}">
                <a16:creationId xmlns:a16="http://schemas.microsoft.com/office/drawing/2014/main" id="{968E7F9E-8BE1-4772-8641-C456A098F241}"/>
              </a:ext>
            </a:extLst>
          </p:cNvPr>
          <p:cNvSpPr/>
          <p:nvPr/>
        </p:nvSpPr>
        <p:spPr>
          <a:xfrm>
            <a:off x="2299322" y="6550203"/>
            <a:ext cx="4545363" cy="307082"/>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a:effectLst>
            <a:outerShdw dist="17819" dir="2700000" algn="tl">
              <a:srgbClr val="000000"/>
            </a:outerShdw>
          </a:effectLst>
        </p:spPr>
        <p:txBody>
          <a:bodyPr vert="horz" wrap="non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1400" b="1" i="0" u="none" strike="noStrike" kern="1200" cap="none" spc="0" baseline="0">
                <a:solidFill>
                  <a:srgbClr val="47FFD1"/>
                </a:solidFill>
                <a:uFillTx/>
                <a:latin typeface="Comic Sans MS" pitchFamily="66"/>
                <a:ea typeface="Microsoft YaHei" pitchFamily="2"/>
                <a:cs typeface="Lucida Sans" pitchFamily="2"/>
              </a:rPr>
              <a:t>Department of Computer Science and Engineering</a:t>
            </a:r>
          </a:p>
        </p:txBody>
      </p:sp>
      <p:pic>
        <p:nvPicPr>
          <p:cNvPr id="4" name="Picture 2">
            <a:extLst>
              <a:ext uri="{FF2B5EF4-FFF2-40B4-BE49-F238E27FC236}">
                <a16:creationId xmlns:a16="http://schemas.microsoft.com/office/drawing/2014/main" id="{11AE8F0E-F70B-4DB4-B886-AD0A1B79A07F}"/>
              </a:ext>
            </a:extLst>
          </p:cNvPr>
          <p:cNvPicPr>
            <a:picLocks noChangeAspect="1"/>
          </p:cNvPicPr>
          <p:nvPr/>
        </p:nvPicPr>
        <p:blipFill>
          <a:blip r:embed="rId3">
            <a:lum/>
            <a:alphaModFix/>
          </a:blip>
          <a:srcRect/>
          <a:stretch>
            <a:fillRect/>
          </a:stretch>
        </p:blipFill>
        <p:spPr>
          <a:xfrm>
            <a:off x="0" y="0"/>
            <a:ext cx="9144000" cy="609484"/>
          </a:xfrm>
          <a:prstGeom prst="rect">
            <a:avLst/>
          </a:prstGeom>
          <a:noFill/>
          <a:ln cap="flat">
            <a:noFill/>
          </a:ln>
        </p:spPr>
      </p:pic>
      <p:sp>
        <p:nvSpPr>
          <p:cNvPr id="5" name="Rectangle: Rounded Corners 3">
            <a:extLst>
              <a:ext uri="{FF2B5EF4-FFF2-40B4-BE49-F238E27FC236}">
                <a16:creationId xmlns:a16="http://schemas.microsoft.com/office/drawing/2014/main" id="{697C3D2E-BE34-4070-8FFB-FC7609C46C11}"/>
              </a:ext>
            </a:extLst>
          </p:cNvPr>
          <p:cNvSpPr/>
          <p:nvPr/>
        </p:nvSpPr>
        <p:spPr>
          <a:xfrm>
            <a:off x="8550362" y="6553084"/>
            <a:ext cx="593637" cy="306360"/>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0066"/>
          </a:solidFill>
          <a:ln w="12600" cap="flat">
            <a:solidFill>
              <a:srgbClr val="000000"/>
            </a:solidFill>
            <a:prstDash val="solid"/>
            <a:miter/>
          </a:ln>
        </p:spPr>
        <p:txBody>
          <a:bodyPr vert="horz" wrap="square" lIns="90004" tIns="46798" rIns="90004" bIns="46798" anchor="ctr" anchorCtr="1" compatLnSpc="1">
            <a:normAutofit fontScale="92500" lnSpcReduction="20000"/>
          </a:bodyPr>
          <a:lstStyle/>
          <a:p>
            <a:pPr marL="0" marR="0" lvl="0" indent="0" algn="ctr" defTabSz="914400" rtl="0" fontAlgn="auto" hangingPunct="1">
              <a:lnSpc>
                <a:spcPct val="8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7FE1C14A-9219-40C4-B6AD-DA1FCB9C0BAB}" type="slidenum">
              <a:t>13</a:t>
            </a:fld>
            <a:endParaRPr lang="en-US" sz="1400" b="1" i="0" u="none" strike="noStrike" kern="1200" cap="none" spc="0" baseline="0">
              <a:solidFill>
                <a:srgbClr val="FFFFFF"/>
              </a:solidFill>
              <a:uFillTx/>
              <a:latin typeface="Comic Sans MS" pitchFamily="66"/>
              <a:ea typeface="Microsoft YaHei" pitchFamily="2"/>
              <a:cs typeface="Lucida Sans" pitchFamily="2"/>
            </a:endParaRPr>
          </a:p>
        </p:txBody>
      </p:sp>
      <p:sp>
        <p:nvSpPr>
          <p:cNvPr id="6" name="Date Placeholder 7">
            <a:extLst>
              <a:ext uri="{FF2B5EF4-FFF2-40B4-BE49-F238E27FC236}">
                <a16:creationId xmlns:a16="http://schemas.microsoft.com/office/drawing/2014/main" id="{B5ABFA2D-0B54-48F2-A649-BC92866002F3}"/>
              </a:ext>
            </a:extLst>
          </p:cNvPr>
          <p:cNvSpPr/>
          <p:nvPr/>
        </p:nvSpPr>
        <p:spPr>
          <a:xfrm>
            <a:off x="0" y="6564239"/>
            <a:ext cx="1447915" cy="41291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norm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DFC26A76-A5A2-4186-AEFA-37F8437BC8F4}" type="datetime1">
              <a:rPr lang="en-US" sz="1400" b="1" i="0" u="none" strike="noStrike" kern="1200" cap="none" spc="0" baseline="0">
                <a:solidFill>
                  <a:srgbClr val="FF0066"/>
                </a:solidFill>
                <a:uFillTx/>
                <a:latin typeface="Arial Rounded MT Bold" pitchFamily="34"/>
                <a:ea typeface="Microsoft YaHei" pitchFamily="2"/>
                <a:cs typeface="Lucida Sans" pitchFamily="2"/>
              </a:rPr>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t>4/18/2023</a:t>
            </a:fld>
            <a:endParaRPr lang="en-US" sz="1400" b="1" i="0" u="none" strike="noStrike" kern="1200" cap="none" spc="0" baseline="0">
              <a:solidFill>
                <a:srgbClr val="FF0066"/>
              </a:solidFill>
              <a:uFillTx/>
              <a:latin typeface="Arial Rounded MT Bold" pitchFamily="34"/>
              <a:ea typeface="Microsoft YaHei" pitchFamily="2"/>
              <a:cs typeface="Lucida Sans" pitchFamily="2"/>
            </a:endParaRPr>
          </a:p>
        </p:txBody>
      </p:sp>
      <p:sp>
        <p:nvSpPr>
          <p:cNvPr id="7" name="TextBox 8">
            <a:extLst>
              <a:ext uri="{FF2B5EF4-FFF2-40B4-BE49-F238E27FC236}">
                <a16:creationId xmlns:a16="http://schemas.microsoft.com/office/drawing/2014/main" id="{5F2FF8D7-9D6A-4A62-BDD4-8481C3098ED3}"/>
              </a:ext>
            </a:extLst>
          </p:cNvPr>
          <p:cNvSpPr/>
          <p:nvPr/>
        </p:nvSpPr>
        <p:spPr>
          <a:xfrm>
            <a:off x="919081" y="0"/>
            <a:ext cx="7305836" cy="47483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500" b="1" i="0" u="none" strike="noStrike" kern="1200" cap="none" spc="0" baseline="0">
                <a:solidFill>
                  <a:srgbClr val="47FFD1"/>
                </a:solidFill>
                <a:uFillTx/>
                <a:latin typeface="Comic Sans MS" pitchFamily="66"/>
                <a:ea typeface="Microsoft YaHei" pitchFamily="2"/>
                <a:cs typeface="Lucida Sans" pitchFamily="2"/>
              </a:rPr>
              <a:t>Mepco Schlenk Engineering College </a:t>
            </a:r>
            <a:r>
              <a:rPr lang="en-US" sz="1800" b="1" i="0" u="none" strike="noStrike" kern="1200" cap="none" spc="0" baseline="0">
                <a:solidFill>
                  <a:srgbClr val="47FFD1"/>
                </a:solidFill>
                <a:uFillTx/>
                <a:latin typeface="Comic Sans MS" pitchFamily="66"/>
                <a:ea typeface="Microsoft YaHei" pitchFamily="2"/>
                <a:cs typeface="Lucida Sans" pitchFamily="2"/>
              </a:rPr>
              <a:t>(Autonomous)</a:t>
            </a:r>
          </a:p>
        </p:txBody>
      </p:sp>
      <p:sp>
        <p:nvSpPr>
          <p:cNvPr id="8" name="Oval 11">
            <a:extLst>
              <a:ext uri="{FF2B5EF4-FFF2-40B4-BE49-F238E27FC236}">
                <a16:creationId xmlns:a16="http://schemas.microsoft.com/office/drawing/2014/main" id="{60A45A79-6BC1-40E5-AAB6-BC4791025AFF}"/>
              </a:ext>
            </a:extLst>
          </p:cNvPr>
          <p:cNvSpPr/>
          <p:nvPr/>
        </p:nvSpPr>
        <p:spPr>
          <a:xfrm>
            <a:off x="8354881" y="20519"/>
            <a:ext cx="777962" cy="777962"/>
          </a:xfrm>
          <a:custGeom>
            <a:avLst/>
            <a:gdLst>
              <a:gd name="f0" fmla="val 10800000"/>
              <a:gd name="f1" fmla="val 5400000"/>
              <a:gd name="f2" fmla="val 180"/>
              <a:gd name="f3" fmla="val w"/>
              <a:gd name="f4" fmla="val h"/>
              <a:gd name="f5" fmla="val 0"/>
              <a:gd name="f6" fmla="val 21600"/>
              <a:gd name="f7" fmla="*/ 5419351 1 1725033"/>
              <a:gd name="f8" fmla="*/ 10800 10800 1"/>
              <a:gd name="f9" fmla="+- 0 0 360"/>
              <a:gd name="f10" fmla="val 10800"/>
              <a:gd name="f11" fmla="+- 0 0 0"/>
              <a:gd name="f12" fmla="*/ f3 1 21600"/>
              <a:gd name="f13" fmla="*/ f4 1 21600"/>
              <a:gd name="f14" fmla="*/ 0 f7 1"/>
              <a:gd name="f15" fmla="*/ f5 f0 1"/>
              <a:gd name="f16" fmla="*/ f9 f0 1"/>
              <a:gd name="f17" fmla="+- f6 0 f5"/>
              <a:gd name="f18" fmla="*/ f11 f0 1"/>
              <a:gd name="f19" fmla="*/ f14 1 f2"/>
              <a:gd name="f20" fmla="*/ f15 1 f2"/>
              <a:gd name="f21" fmla="*/ f16 1 f2"/>
              <a:gd name="f22" fmla="*/ f17 1 21600"/>
              <a:gd name="f23" fmla="*/ f18 1 f2"/>
              <a:gd name="f24" fmla="+- 0 0 f19"/>
              <a:gd name="f25" fmla="+- f20 0 f1"/>
              <a:gd name="f26" fmla="+- f21 0 f1"/>
              <a:gd name="f27" fmla="*/ 3163 f22 1"/>
              <a:gd name="f28" fmla="*/ 18437 f22 1"/>
              <a:gd name="f29" fmla="*/ 10800 f22 1"/>
              <a:gd name="f30" fmla="*/ 0 f22 1"/>
              <a:gd name="f31" fmla="*/ 21600 f22 1"/>
              <a:gd name="f32" fmla="+- f23 0 f1"/>
              <a:gd name="f33" fmla="*/ f24 f0 1"/>
              <a:gd name="f34" fmla="+- f26 0 f25"/>
              <a:gd name="f35" fmla="*/ f29 1 f22"/>
              <a:gd name="f36" fmla="*/ f30 1 f22"/>
              <a:gd name="f37" fmla="*/ f27 1 f22"/>
              <a:gd name="f38" fmla="*/ f28 1 f22"/>
              <a:gd name="f39" fmla="*/ f31 1 f22"/>
              <a:gd name="f40" fmla="*/ f33 1 f7"/>
              <a:gd name="f41" fmla="*/ f37 f12 1"/>
              <a:gd name="f42" fmla="*/ f38 f12 1"/>
              <a:gd name="f43" fmla="*/ f38 f13 1"/>
              <a:gd name="f44" fmla="*/ f37 f13 1"/>
              <a:gd name="f45" fmla="*/ f35 f12 1"/>
              <a:gd name="f46" fmla="*/ f36 f13 1"/>
              <a:gd name="f47" fmla="*/ f36 f12 1"/>
              <a:gd name="f48" fmla="*/ f35 f13 1"/>
              <a:gd name="f49" fmla="*/ f39 f13 1"/>
              <a:gd name="f50" fmla="*/ f39 f12 1"/>
              <a:gd name="f51" fmla="+- f40 0 f1"/>
              <a:gd name="f52" fmla="+- f51 f1 0"/>
              <a:gd name="f53" fmla="*/ f52 f7 1"/>
              <a:gd name="f54" fmla="*/ f53 1 f0"/>
              <a:gd name="f55" fmla="+- 0 0 f54"/>
              <a:gd name="f56" fmla="+- 0 0 f55"/>
              <a:gd name="f57" fmla="*/ f56 f0 1"/>
              <a:gd name="f58" fmla="*/ f57 1 f7"/>
              <a:gd name="f59" fmla="+- f58 0 f1"/>
              <a:gd name="f60" fmla="cos 1 f59"/>
              <a:gd name="f61" fmla="sin 1 f59"/>
              <a:gd name="f62" fmla="+- 0 0 f60"/>
              <a:gd name="f63" fmla="+- 0 0 f61"/>
              <a:gd name="f64" fmla="+- 0 0 f62"/>
              <a:gd name="f65" fmla="+- 0 0 f63"/>
              <a:gd name="f66" fmla="val f64"/>
              <a:gd name="f67" fmla="val f65"/>
              <a:gd name="f68" fmla="+- 0 0 f66"/>
              <a:gd name="f69" fmla="+- 0 0 f67"/>
              <a:gd name="f70" fmla="*/ 10800 f68 1"/>
              <a:gd name="f71" fmla="*/ 10800 f69 1"/>
              <a:gd name="f72" fmla="*/ f70 f70 1"/>
              <a:gd name="f73" fmla="*/ f71 f71 1"/>
              <a:gd name="f74" fmla="+- f72 f73 0"/>
              <a:gd name="f75" fmla="sqrt f74"/>
              <a:gd name="f76" fmla="*/ f8 1 f75"/>
              <a:gd name="f77" fmla="*/ f68 f76 1"/>
              <a:gd name="f78" fmla="*/ f69 f76 1"/>
              <a:gd name="f79" fmla="+- 10800 0 f77"/>
              <a:gd name="f80" fmla="+- 10800 0 f78"/>
            </a:gdLst>
            <a:ahLst/>
            <a:cxnLst>
              <a:cxn ang="3cd4">
                <a:pos x="hc" y="t"/>
              </a:cxn>
              <a:cxn ang="0">
                <a:pos x="r" y="vc"/>
              </a:cxn>
              <a:cxn ang="cd4">
                <a:pos x="hc" y="b"/>
              </a:cxn>
              <a:cxn ang="cd2">
                <a:pos x="l" y="vc"/>
              </a:cxn>
              <a:cxn ang="f32">
                <a:pos x="f45" y="f46"/>
              </a:cxn>
              <a:cxn ang="f32">
                <a:pos x="f41" y="f44"/>
              </a:cxn>
              <a:cxn ang="f32">
                <a:pos x="f47" y="f48"/>
              </a:cxn>
              <a:cxn ang="f32">
                <a:pos x="f41" y="f43"/>
              </a:cxn>
              <a:cxn ang="f32">
                <a:pos x="f45" y="f49"/>
              </a:cxn>
              <a:cxn ang="f32">
                <a:pos x="f42" y="f43"/>
              </a:cxn>
              <a:cxn ang="f32">
                <a:pos x="f50" y="f48"/>
              </a:cxn>
              <a:cxn ang="f32">
                <a:pos x="f42" y="f44"/>
              </a:cxn>
            </a:cxnLst>
            <a:rect l="f41" t="f44" r="f42" b="f43"/>
            <a:pathLst>
              <a:path w="21600" h="21600">
                <a:moveTo>
                  <a:pt x="f79" y="f80"/>
                </a:moveTo>
                <a:arcTo wR="f10" hR="f10" stAng="f25" swAng="f34"/>
                <a:close/>
              </a:path>
            </a:pathLst>
          </a:custGeom>
          <a:solidFill>
            <a:srgbClr val="FFFFFF"/>
          </a:solidFill>
          <a:ln w="12600" cap="flat">
            <a:solidFill>
              <a:srgbClr val="BCBCBC"/>
            </a:solidFill>
            <a:prstDash val="solid"/>
            <a:miter/>
          </a:ln>
        </p:spPr>
        <p:txBody>
          <a:bodyPr vert="horz" wrap="square" lIns="90004" tIns="46798" rIns="90004" bIns="46798" anchor="ctr" anchorCtr="0" compatLnSpc="1">
            <a:no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IN" sz="2400" b="0" i="0" u="none" strike="noStrike" kern="1200" cap="none" spc="0" baseline="0">
              <a:solidFill>
                <a:srgbClr val="000000"/>
              </a:solidFill>
              <a:uFillTx/>
              <a:latin typeface="Times New Roman" pitchFamily="18"/>
              <a:ea typeface="Microsoft YaHei" pitchFamily="2"/>
              <a:cs typeface="Lucida Sans" pitchFamily="2"/>
            </a:endParaRPr>
          </a:p>
        </p:txBody>
      </p:sp>
      <p:pic>
        <p:nvPicPr>
          <p:cNvPr id="9" name="Picture 10" descr="A picture containing text, sign, watch&#10;&#10;Description automatically generated">
            <a:extLst>
              <a:ext uri="{FF2B5EF4-FFF2-40B4-BE49-F238E27FC236}">
                <a16:creationId xmlns:a16="http://schemas.microsoft.com/office/drawing/2014/main" id="{F94EE671-D004-4520-880F-77DBFD0A31D2}"/>
              </a:ext>
            </a:extLst>
          </p:cNvPr>
          <p:cNvPicPr>
            <a:picLocks noChangeAspect="1"/>
          </p:cNvPicPr>
          <p:nvPr/>
        </p:nvPicPr>
        <p:blipFill>
          <a:blip r:embed="rId4">
            <a:lum/>
            <a:alphaModFix/>
          </a:blip>
          <a:srcRect/>
          <a:stretch>
            <a:fillRect/>
          </a:stretch>
        </p:blipFill>
        <p:spPr>
          <a:xfrm>
            <a:off x="8381875" y="47521"/>
            <a:ext cx="731876" cy="714603"/>
          </a:xfrm>
          <a:prstGeom prst="rect">
            <a:avLst/>
          </a:prstGeom>
          <a:noFill/>
          <a:ln cap="flat">
            <a:noFill/>
          </a:ln>
        </p:spPr>
      </p:pic>
      <p:sp>
        <p:nvSpPr>
          <p:cNvPr id="75" name="Cylinder 74">
            <a:extLst>
              <a:ext uri="{FF2B5EF4-FFF2-40B4-BE49-F238E27FC236}">
                <a16:creationId xmlns:a16="http://schemas.microsoft.com/office/drawing/2014/main" id="{4DBF9542-332A-4B1C-BEEF-0FD8C70184CE}"/>
              </a:ext>
            </a:extLst>
          </p:cNvPr>
          <p:cNvSpPr/>
          <p:nvPr/>
        </p:nvSpPr>
        <p:spPr>
          <a:xfrm>
            <a:off x="694189" y="1663101"/>
            <a:ext cx="817422" cy="1037774"/>
          </a:xfrm>
          <a:prstGeom prst="can">
            <a:avLst/>
          </a:prstGeom>
          <a:solidFill>
            <a:schemeClr val="bg2"/>
          </a:solidFill>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100" b="1" dirty="0">
                <a:effectLst/>
                <a:ea typeface="Calibri" panose="020F0502020204030204" pitchFamily="34" charset="0"/>
                <a:cs typeface="Times New Roman" panose="02020603050405020304" pitchFamily="18" charset="0"/>
              </a:rPr>
              <a:t>Dataset</a:t>
            </a:r>
            <a:endParaRPr lang="en-IN" sz="1100" dirty="0">
              <a:effectLst/>
              <a:ea typeface="Calibri" panose="020F0502020204030204" pitchFamily="34" charset="0"/>
              <a:cs typeface="Times New Roman" panose="02020603050405020304" pitchFamily="18" charset="0"/>
            </a:endParaRPr>
          </a:p>
        </p:txBody>
      </p:sp>
      <p:sp>
        <p:nvSpPr>
          <p:cNvPr id="76" name="Rectangle 75">
            <a:extLst>
              <a:ext uri="{FF2B5EF4-FFF2-40B4-BE49-F238E27FC236}">
                <a16:creationId xmlns:a16="http://schemas.microsoft.com/office/drawing/2014/main" id="{86D3B3AD-D6DD-4BD4-B9AD-0A363540ED02}"/>
              </a:ext>
            </a:extLst>
          </p:cNvPr>
          <p:cNvSpPr/>
          <p:nvPr/>
        </p:nvSpPr>
        <p:spPr>
          <a:xfrm>
            <a:off x="2340637" y="1803560"/>
            <a:ext cx="1060378" cy="780363"/>
          </a:xfrm>
          <a:prstGeom prst="rect">
            <a:avLst/>
          </a:prstGeom>
          <a:solidFill>
            <a:schemeClr val="bg2"/>
          </a:solidFill>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100" b="1" dirty="0">
                <a:effectLst/>
                <a:ea typeface="Calibri" panose="020F0502020204030204" pitchFamily="34" charset="0"/>
                <a:cs typeface="Times New Roman" panose="02020603050405020304" pitchFamily="18" charset="0"/>
              </a:rPr>
              <a:t>Data</a:t>
            </a:r>
            <a:br>
              <a:rPr lang="en-IN" sz="1100" b="1" dirty="0">
                <a:effectLst/>
                <a:ea typeface="Calibri" panose="020F0502020204030204" pitchFamily="34" charset="0"/>
                <a:cs typeface="Times New Roman" panose="02020603050405020304" pitchFamily="18" charset="0"/>
              </a:rPr>
            </a:br>
            <a:r>
              <a:rPr lang="en-IN" sz="1100" b="1" dirty="0" err="1">
                <a:effectLst/>
                <a:ea typeface="Calibri" panose="020F0502020204030204" pitchFamily="34" charset="0"/>
                <a:cs typeface="Times New Roman" panose="02020603050405020304" pitchFamily="18" charset="0"/>
              </a:rPr>
              <a:t>Preprocessing</a:t>
            </a:r>
            <a:endParaRPr lang="en-IN" sz="1100" dirty="0">
              <a:effectLst/>
              <a:ea typeface="Calibri" panose="020F0502020204030204" pitchFamily="34" charset="0"/>
              <a:cs typeface="Times New Roman" panose="02020603050405020304" pitchFamily="18" charset="0"/>
            </a:endParaRPr>
          </a:p>
        </p:txBody>
      </p:sp>
      <p:sp>
        <p:nvSpPr>
          <p:cNvPr id="77" name="Arrow: Right 76">
            <a:extLst>
              <a:ext uri="{FF2B5EF4-FFF2-40B4-BE49-F238E27FC236}">
                <a16:creationId xmlns:a16="http://schemas.microsoft.com/office/drawing/2014/main" id="{226140DD-8FA7-4993-A92C-6A22B71D9240}"/>
              </a:ext>
            </a:extLst>
          </p:cNvPr>
          <p:cNvSpPr/>
          <p:nvPr/>
        </p:nvSpPr>
        <p:spPr>
          <a:xfrm>
            <a:off x="1606944" y="2068288"/>
            <a:ext cx="627826" cy="250908"/>
          </a:xfrm>
          <a:prstGeom prst="rightArrow">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78" name="Rectangle 77">
            <a:extLst>
              <a:ext uri="{FF2B5EF4-FFF2-40B4-BE49-F238E27FC236}">
                <a16:creationId xmlns:a16="http://schemas.microsoft.com/office/drawing/2014/main" id="{50319992-4E10-43C5-A7C9-31759148D1F7}"/>
              </a:ext>
            </a:extLst>
          </p:cNvPr>
          <p:cNvSpPr/>
          <p:nvPr/>
        </p:nvSpPr>
        <p:spPr>
          <a:xfrm>
            <a:off x="4332595" y="1660805"/>
            <a:ext cx="3332018" cy="1065871"/>
          </a:xfrm>
          <a:prstGeom prst="rect">
            <a:avLst/>
          </a:prstGeom>
          <a:solidFill>
            <a:schemeClr val="bg2"/>
          </a:solidFill>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100" dirty="0">
                <a:effectLst/>
                <a:ea typeface="Calibri" panose="020F0502020204030204" pitchFamily="34" charset="0"/>
                <a:cs typeface="Times New Roman" panose="02020603050405020304" pitchFamily="18" charset="0"/>
              </a:rPr>
              <a:t> </a:t>
            </a:r>
          </a:p>
          <a:p>
            <a:pPr algn="ctr">
              <a:lnSpc>
                <a:spcPct val="107000"/>
              </a:lnSpc>
              <a:spcAft>
                <a:spcPts val="800"/>
              </a:spcAft>
            </a:pPr>
            <a:r>
              <a:rPr lang="en-IN" sz="1100" dirty="0">
                <a:effectLst/>
                <a:ea typeface="Calibri" panose="020F0502020204030204" pitchFamily="34" charset="0"/>
                <a:cs typeface="Times New Roman" panose="02020603050405020304" pitchFamily="18" charset="0"/>
              </a:rPr>
              <a:t> </a:t>
            </a:r>
          </a:p>
          <a:p>
            <a:pPr algn="ctr">
              <a:lnSpc>
                <a:spcPct val="107000"/>
              </a:lnSpc>
              <a:spcAft>
                <a:spcPts val="800"/>
              </a:spcAft>
            </a:pPr>
            <a:endParaRPr lang="en-IN" sz="1100" b="1" dirty="0">
              <a:ea typeface="Calibri" panose="020F0502020204030204" pitchFamily="34" charset="0"/>
              <a:cs typeface="Times New Roman" panose="02020603050405020304" pitchFamily="18" charset="0"/>
            </a:endParaRPr>
          </a:p>
          <a:p>
            <a:pPr algn="ctr">
              <a:lnSpc>
                <a:spcPct val="107000"/>
              </a:lnSpc>
              <a:spcAft>
                <a:spcPts val="800"/>
              </a:spcAft>
            </a:pPr>
            <a:r>
              <a:rPr lang="en-IN" sz="1100" b="1" dirty="0">
                <a:effectLst/>
                <a:ea typeface="Calibri" panose="020F0502020204030204" pitchFamily="34" charset="0"/>
                <a:cs typeface="Times New Roman" panose="02020603050405020304" pitchFamily="18" charset="0"/>
              </a:rPr>
              <a:t>Feature selection</a:t>
            </a:r>
            <a:endParaRPr lang="en-IN" sz="1100" dirty="0">
              <a:effectLst/>
              <a:ea typeface="Calibri" panose="020F0502020204030204" pitchFamily="34" charset="0"/>
              <a:cs typeface="Times New Roman" panose="02020603050405020304" pitchFamily="18" charset="0"/>
            </a:endParaRPr>
          </a:p>
          <a:p>
            <a:pPr algn="ctr">
              <a:lnSpc>
                <a:spcPct val="107000"/>
              </a:lnSpc>
              <a:spcAft>
                <a:spcPts val="800"/>
              </a:spcAft>
            </a:pPr>
            <a:r>
              <a:rPr lang="en-IN" sz="1100" dirty="0">
                <a:effectLst/>
                <a:ea typeface="Calibri" panose="020F0502020204030204" pitchFamily="34" charset="0"/>
                <a:cs typeface="Times New Roman" panose="02020603050405020304" pitchFamily="18" charset="0"/>
              </a:rPr>
              <a:t> </a:t>
            </a:r>
          </a:p>
          <a:p>
            <a:pPr algn="ctr">
              <a:lnSpc>
                <a:spcPct val="107000"/>
              </a:lnSpc>
              <a:spcAft>
                <a:spcPts val="800"/>
              </a:spcAft>
            </a:pPr>
            <a:r>
              <a:rPr lang="en-IN" sz="1100" dirty="0">
                <a:effectLst/>
                <a:ea typeface="Calibri" panose="020F0502020204030204" pitchFamily="34" charset="0"/>
                <a:cs typeface="Times New Roman" panose="02020603050405020304" pitchFamily="18" charset="0"/>
              </a:rPr>
              <a:t> </a:t>
            </a:r>
          </a:p>
          <a:p>
            <a:pPr algn="ctr">
              <a:lnSpc>
                <a:spcPct val="107000"/>
              </a:lnSpc>
              <a:spcAft>
                <a:spcPts val="800"/>
              </a:spcAft>
            </a:pPr>
            <a:r>
              <a:rPr lang="en-IN" sz="1100" dirty="0">
                <a:effectLst/>
                <a:ea typeface="Calibri" panose="020F0502020204030204" pitchFamily="34" charset="0"/>
                <a:cs typeface="Times New Roman" panose="02020603050405020304" pitchFamily="18" charset="0"/>
              </a:rPr>
              <a:t> </a:t>
            </a:r>
          </a:p>
          <a:p>
            <a:pPr algn="ctr">
              <a:lnSpc>
                <a:spcPct val="107000"/>
              </a:lnSpc>
              <a:spcAft>
                <a:spcPts val="800"/>
              </a:spcAft>
            </a:pPr>
            <a:r>
              <a:rPr lang="en-IN" sz="1100" dirty="0">
                <a:effectLst/>
                <a:ea typeface="Calibri" panose="020F0502020204030204" pitchFamily="34" charset="0"/>
                <a:cs typeface="Times New Roman" panose="02020603050405020304" pitchFamily="18" charset="0"/>
              </a:rPr>
              <a:t> </a:t>
            </a:r>
          </a:p>
          <a:p>
            <a:pPr algn="ctr">
              <a:lnSpc>
                <a:spcPct val="107000"/>
              </a:lnSpc>
              <a:spcAft>
                <a:spcPts val="800"/>
              </a:spcAft>
            </a:pPr>
            <a:r>
              <a:rPr lang="en-IN" sz="1100" dirty="0">
                <a:effectLst/>
                <a:ea typeface="Calibri" panose="020F0502020204030204" pitchFamily="34" charset="0"/>
                <a:cs typeface="Times New Roman" panose="02020603050405020304" pitchFamily="18" charset="0"/>
              </a:rPr>
              <a:t> </a:t>
            </a:r>
          </a:p>
        </p:txBody>
      </p:sp>
      <p:sp>
        <p:nvSpPr>
          <p:cNvPr id="79" name="Rectangle: Rounded Corners 78">
            <a:extLst>
              <a:ext uri="{FF2B5EF4-FFF2-40B4-BE49-F238E27FC236}">
                <a16:creationId xmlns:a16="http://schemas.microsoft.com/office/drawing/2014/main" id="{1B70E283-C2E1-4D78-B6DC-3D7FB83C1A4E}"/>
              </a:ext>
            </a:extLst>
          </p:cNvPr>
          <p:cNvSpPr/>
          <p:nvPr/>
        </p:nvSpPr>
        <p:spPr>
          <a:xfrm>
            <a:off x="4523261" y="2121803"/>
            <a:ext cx="838845" cy="44946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100" dirty="0" err="1">
                <a:effectLst/>
                <a:ea typeface="Calibri" panose="020F0502020204030204" pitchFamily="34" charset="0"/>
                <a:cs typeface="Times New Roman" panose="02020603050405020304" pitchFamily="18" charset="0"/>
              </a:rPr>
              <a:t>f</a:t>
            </a:r>
            <a:r>
              <a:rPr lang="en-IN" sz="1100" dirty="0" err="1">
                <a:ln>
                  <a:noFill/>
                </a:ln>
                <a:solidFill>
                  <a:srgbClr val="000000"/>
                </a:solidFill>
                <a:effectLst>
                  <a:outerShdw blurRad="38100" dist="19050" dir="2700000" algn="tl">
                    <a:schemeClr val="dk1">
                      <a:alpha val="40000"/>
                    </a:schemeClr>
                  </a:outerShdw>
                </a:effectLst>
                <a:ea typeface="Calibri" panose="020F0502020204030204" pitchFamily="34" charset="0"/>
                <a:cs typeface="Times New Roman" panose="02020603050405020304" pitchFamily="18" charset="0"/>
              </a:rPr>
              <a:t>Filter</a:t>
            </a:r>
            <a:r>
              <a:rPr lang="en-IN" sz="1100" dirty="0">
                <a:ln>
                  <a:noFill/>
                </a:ln>
                <a:solidFill>
                  <a:srgbClr val="000000"/>
                </a:solidFill>
                <a:effectLst>
                  <a:outerShdw blurRad="38100" dist="19050" dir="2700000" algn="tl">
                    <a:schemeClr val="dk1">
                      <a:alpha val="40000"/>
                    </a:schemeClr>
                  </a:outerShdw>
                </a:effectLst>
                <a:ea typeface="Calibri" panose="020F0502020204030204" pitchFamily="34" charset="0"/>
                <a:cs typeface="Times New Roman" panose="02020603050405020304" pitchFamily="18" charset="0"/>
              </a:rPr>
              <a:t> method</a:t>
            </a:r>
            <a:endParaRPr lang="en-IN" sz="1100" dirty="0">
              <a:effectLst/>
              <a:ea typeface="Calibri" panose="020F0502020204030204" pitchFamily="34" charset="0"/>
              <a:cs typeface="Times New Roman" panose="02020603050405020304" pitchFamily="18" charset="0"/>
            </a:endParaRPr>
          </a:p>
        </p:txBody>
      </p:sp>
      <p:sp>
        <p:nvSpPr>
          <p:cNvPr id="80" name="Rectangle: Rounded Corners 79">
            <a:extLst>
              <a:ext uri="{FF2B5EF4-FFF2-40B4-BE49-F238E27FC236}">
                <a16:creationId xmlns:a16="http://schemas.microsoft.com/office/drawing/2014/main" id="{7AE24FC3-BC13-42F0-9E04-96FC6600D5E7}"/>
              </a:ext>
            </a:extLst>
          </p:cNvPr>
          <p:cNvSpPr/>
          <p:nvPr/>
        </p:nvSpPr>
        <p:spPr>
          <a:xfrm>
            <a:off x="5551006" y="2121803"/>
            <a:ext cx="835149" cy="455211"/>
          </a:xfrm>
          <a:prstGeom prst="roundRect">
            <a:avLst>
              <a:gd name="adj" fmla="val 16667"/>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100" dirty="0" err="1">
                <a:effectLst/>
                <a:ea typeface="Calibri" panose="020F0502020204030204" pitchFamily="34" charset="0"/>
                <a:cs typeface="Times New Roman" panose="02020603050405020304" pitchFamily="18" charset="0"/>
              </a:rPr>
              <a:t>f</a:t>
            </a:r>
            <a:r>
              <a:rPr lang="en-IN" sz="1100" dirty="0" err="1">
                <a:ln>
                  <a:noFill/>
                </a:ln>
                <a:solidFill>
                  <a:srgbClr val="000000"/>
                </a:solidFill>
                <a:effectLst>
                  <a:outerShdw blurRad="38100" dist="19050" dir="2700000" algn="tl">
                    <a:schemeClr val="dk1">
                      <a:alpha val="40000"/>
                    </a:schemeClr>
                  </a:outerShdw>
                </a:effectLst>
                <a:ea typeface="Calibri" panose="020F0502020204030204" pitchFamily="34" charset="0"/>
                <a:cs typeface="Times New Roman" panose="02020603050405020304" pitchFamily="18" charset="0"/>
              </a:rPr>
              <a:t>Wrapper</a:t>
            </a:r>
            <a:r>
              <a:rPr lang="en-IN" sz="1100" dirty="0">
                <a:ln>
                  <a:noFill/>
                </a:ln>
                <a:solidFill>
                  <a:srgbClr val="000000"/>
                </a:solidFill>
                <a:effectLst>
                  <a:outerShdw blurRad="38100" dist="19050" dir="2700000" algn="tl">
                    <a:schemeClr val="dk1">
                      <a:alpha val="40000"/>
                    </a:schemeClr>
                  </a:outerShdw>
                </a:effectLst>
                <a:ea typeface="Calibri" panose="020F0502020204030204" pitchFamily="34" charset="0"/>
                <a:cs typeface="Times New Roman" panose="02020603050405020304" pitchFamily="18" charset="0"/>
              </a:rPr>
              <a:t> method</a:t>
            </a:r>
            <a:endParaRPr lang="en-IN" sz="1100" dirty="0">
              <a:effectLst/>
              <a:ea typeface="Calibri" panose="020F0502020204030204" pitchFamily="34" charset="0"/>
              <a:cs typeface="Times New Roman" panose="02020603050405020304" pitchFamily="18" charset="0"/>
            </a:endParaRPr>
          </a:p>
        </p:txBody>
      </p:sp>
      <p:sp>
        <p:nvSpPr>
          <p:cNvPr id="81" name="Rectangle: Rounded Corners 80">
            <a:extLst>
              <a:ext uri="{FF2B5EF4-FFF2-40B4-BE49-F238E27FC236}">
                <a16:creationId xmlns:a16="http://schemas.microsoft.com/office/drawing/2014/main" id="{188EE2F6-72B8-480B-9FA1-E790AAF6B907}"/>
              </a:ext>
            </a:extLst>
          </p:cNvPr>
          <p:cNvSpPr/>
          <p:nvPr/>
        </p:nvSpPr>
        <p:spPr>
          <a:xfrm>
            <a:off x="6624895" y="2091590"/>
            <a:ext cx="918380" cy="455211"/>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IN" sz="1100" dirty="0">
                <a:ln>
                  <a:noFill/>
                </a:ln>
                <a:solidFill>
                  <a:srgbClr val="000000"/>
                </a:solidFill>
                <a:effectLst>
                  <a:outerShdw blurRad="38100" dist="19050" dir="2700000" algn="tl">
                    <a:schemeClr val="dk1">
                      <a:alpha val="40000"/>
                    </a:schemeClr>
                  </a:outerShdw>
                </a:effectLst>
                <a:ea typeface="Calibri" panose="020F0502020204030204" pitchFamily="34" charset="0"/>
                <a:cs typeface="Times New Roman" panose="02020603050405020304" pitchFamily="18" charset="0"/>
              </a:rPr>
              <a:t>Embedded methods</a:t>
            </a:r>
            <a:endParaRPr lang="en-IN" sz="1100" dirty="0">
              <a:effectLst/>
              <a:ea typeface="Calibri" panose="020F0502020204030204" pitchFamily="34" charset="0"/>
              <a:cs typeface="Times New Roman" panose="02020603050405020304" pitchFamily="18" charset="0"/>
            </a:endParaRPr>
          </a:p>
        </p:txBody>
      </p:sp>
      <p:sp>
        <p:nvSpPr>
          <p:cNvPr id="83" name="Rectangle 82">
            <a:extLst>
              <a:ext uri="{FF2B5EF4-FFF2-40B4-BE49-F238E27FC236}">
                <a16:creationId xmlns:a16="http://schemas.microsoft.com/office/drawing/2014/main" id="{847C36DE-7668-41E0-AED4-23FFEC807A99}"/>
              </a:ext>
            </a:extLst>
          </p:cNvPr>
          <p:cNvSpPr/>
          <p:nvPr/>
        </p:nvSpPr>
        <p:spPr>
          <a:xfrm>
            <a:off x="4205780" y="3126579"/>
            <a:ext cx="3538361" cy="1001394"/>
          </a:xfrm>
          <a:prstGeom prst="rect">
            <a:avLst/>
          </a:prstGeom>
          <a:solidFill>
            <a:schemeClr val="bg2"/>
          </a:solidFill>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endParaRPr lang="en-IN" sz="1100" b="1" dirty="0">
              <a:effectLst/>
              <a:ea typeface="Calibri" panose="020F0502020204030204" pitchFamily="34" charset="0"/>
              <a:cs typeface="Times New Roman" panose="02020603050405020304" pitchFamily="18" charset="0"/>
            </a:endParaRPr>
          </a:p>
          <a:p>
            <a:pPr algn="ctr">
              <a:lnSpc>
                <a:spcPct val="107000"/>
              </a:lnSpc>
              <a:spcAft>
                <a:spcPts val="800"/>
              </a:spcAft>
            </a:pPr>
            <a:endParaRPr lang="en-IN" sz="1100" b="1" dirty="0">
              <a:ea typeface="Calibri" panose="020F0502020204030204" pitchFamily="34" charset="0"/>
              <a:cs typeface="Times New Roman" panose="02020603050405020304" pitchFamily="18" charset="0"/>
            </a:endParaRPr>
          </a:p>
          <a:p>
            <a:pPr algn="ctr">
              <a:lnSpc>
                <a:spcPct val="107000"/>
              </a:lnSpc>
              <a:spcAft>
                <a:spcPts val="800"/>
              </a:spcAft>
            </a:pPr>
            <a:endParaRPr lang="en-IN" sz="1100" b="1" dirty="0">
              <a:effectLst/>
              <a:ea typeface="Calibri" panose="020F0502020204030204" pitchFamily="34" charset="0"/>
              <a:cs typeface="Times New Roman" panose="02020603050405020304" pitchFamily="18" charset="0"/>
            </a:endParaRPr>
          </a:p>
          <a:p>
            <a:pPr algn="ctr">
              <a:lnSpc>
                <a:spcPct val="107000"/>
              </a:lnSpc>
              <a:spcAft>
                <a:spcPts val="800"/>
              </a:spcAft>
            </a:pPr>
            <a:endParaRPr lang="en-IN" sz="1100" b="1" dirty="0">
              <a:ea typeface="Calibri" panose="020F0502020204030204" pitchFamily="34" charset="0"/>
              <a:cs typeface="Times New Roman" panose="02020603050405020304" pitchFamily="18" charset="0"/>
            </a:endParaRPr>
          </a:p>
          <a:p>
            <a:pPr algn="ctr">
              <a:lnSpc>
                <a:spcPct val="107000"/>
              </a:lnSpc>
              <a:spcAft>
                <a:spcPts val="800"/>
              </a:spcAft>
            </a:pPr>
            <a:endParaRPr lang="en-IN" sz="1100" b="1" dirty="0">
              <a:effectLst/>
              <a:ea typeface="Calibri" panose="020F0502020204030204" pitchFamily="34" charset="0"/>
              <a:cs typeface="Times New Roman" panose="02020603050405020304" pitchFamily="18" charset="0"/>
            </a:endParaRPr>
          </a:p>
          <a:p>
            <a:pPr algn="ctr">
              <a:lnSpc>
                <a:spcPct val="107000"/>
              </a:lnSpc>
              <a:spcAft>
                <a:spcPts val="800"/>
              </a:spcAft>
            </a:pPr>
            <a:r>
              <a:rPr lang="en-IN" sz="1100" b="1" dirty="0">
                <a:effectLst/>
                <a:ea typeface="Calibri" panose="020F0502020204030204" pitchFamily="34" charset="0"/>
                <a:cs typeface="Times New Roman" panose="02020603050405020304" pitchFamily="18" charset="0"/>
              </a:rPr>
              <a:t>Classification</a:t>
            </a:r>
            <a:endParaRPr lang="en-IN" sz="1100" dirty="0">
              <a:effectLst/>
              <a:ea typeface="Calibri" panose="020F0502020204030204" pitchFamily="34" charset="0"/>
              <a:cs typeface="Times New Roman" panose="02020603050405020304" pitchFamily="18" charset="0"/>
            </a:endParaRPr>
          </a:p>
          <a:p>
            <a:pPr algn="ctr">
              <a:lnSpc>
                <a:spcPct val="107000"/>
              </a:lnSpc>
              <a:spcAft>
                <a:spcPts val="800"/>
              </a:spcAft>
            </a:pPr>
            <a:r>
              <a:rPr lang="en-IN" sz="1100" dirty="0">
                <a:effectLst/>
                <a:ea typeface="Calibri" panose="020F0502020204030204" pitchFamily="34" charset="0"/>
                <a:cs typeface="Times New Roman" panose="02020603050405020304" pitchFamily="18" charset="0"/>
              </a:rPr>
              <a:t> </a:t>
            </a:r>
          </a:p>
          <a:p>
            <a:pPr algn="ctr">
              <a:lnSpc>
                <a:spcPct val="107000"/>
              </a:lnSpc>
              <a:spcAft>
                <a:spcPts val="800"/>
              </a:spcAft>
            </a:pPr>
            <a:r>
              <a:rPr lang="en-IN" sz="1100" dirty="0">
                <a:effectLst/>
                <a:ea typeface="Calibri" panose="020F0502020204030204" pitchFamily="34" charset="0"/>
                <a:cs typeface="Times New Roman" panose="02020603050405020304" pitchFamily="18" charset="0"/>
              </a:rPr>
              <a:t> </a:t>
            </a:r>
          </a:p>
          <a:p>
            <a:pPr algn="ctr">
              <a:lnSpc>
                <a:spcPct val="107000"/>
              </a:lnSpc>
              <a:spcAft>
                <a:spcPts val="800"/>
              </a:spcAft>
            </a:pPr>
            <a:r>
              <a:rPr lang="en-IN" sz="1100" dirty="0">
                <a:effectLst/>
                <a:ea typeface="Calibri" panose="020F0502020204030204" pitchFamily="34" charset="0"/>
                <a:cs typeface="Times New Roman" panose="02020603050405020304" pitchFamily="18" charset="0"/>
              </a:rPr>
              <a:t> </a:t>
            </a:r>
          </a:p>
          <a:p>
            <a:pPr algn="ctr">
              <a:lnSpc>
                <a:spcPct val="107000"/>
              </a:lnSpc>
              <a:spcAft>
                <a:spcPts val="800"/>
              </a:spcAft>
            </a:pPr>
            <a:r>
              <a:rPr lang="en-IN" sz="1100" dirty="0">
                <a:effectLst/>
                <a:ea typeface="Calibri" panose="020F0502020204030204" pitchFamily="34" charset="0"/>
                <a:cs typeface="Times New Roman" panose="02020603050405020304" pitchFamily="18" charset="0"/>
              </a:rPr>
              <a:t> </a:t>
            </a:r>
          </a:p>
          <a:p>
            <a:pPr algn="ctr">
              <a:lnSpc>
                <a:spcPct val="107000"/>
              </a:lnSpc>
              <a:spcAft>
                <a:spcPts val="800"/>
              </a:spcAft>
            </a:pPr>
            <a:r>
              <a:rPr lang="en-IN" sz="1100" dirty="0">
                <a:effectLst/>
                <a:ea typeface="Calibri" panose="020F0502020204030204" pitchFamily="34" charset="0"/>
                <a:cs typeface="Times New Roman" panose="02020603050405020304" pitchFamily="18" charset="0"/>
              </a:rPr>
              <a:t> </a:t>
            </a:r>
          </a:p>
          <a:p>
            <a:pPr algn="ctr">
              <a:lnSpc>
                <a:spcPct val="107000"/>
              </a:lnSpc>
              <a:spcAft>
                <a:spcPts val="800"/>
              </a:spcAft>
            </a:pPr>
            <a:r>
              <a:rPr lang="en-IN" sz="1100" dirty="0">
                <a:effectLst/>
                <a:ea typeface="Calibri" panose="020F0502020204030204" pitchFamily="34" charset="0"/>
                <a:cs typeface="Times New Roman" panose="02020603050405020304" pitchFamily="18" charset="0"/>
              </a:rPr>
              <a:t> </a:t>
            </a:r>
          </a:p>
          <a:p>
            <a:pPr algn="ctr">
              <a:lnSpc>
                <a:spcPct val="107000"/>
              </a:lnSpc>
              <a:spcAft>
                <a:spcPts val="800"/>
              </a:spcAft>
            </a:pPr>
            <a:r>
              <a:rPr lang="en-IN" sz="1100" dirty="0">
                <a:effectLst/>
                <a:ea typeface="Calibri" panose="020F0502020204030204" pitchFamily="34" charset="0"/>
                <a:cs typeface="Times New Roman" panose="02020603050405020304" pitchFamily="18" charset="0"/>
              </a:rPr>
              <a:t> </a:t>
            </a:r>
          </a:p>
        </p:txBody>
      </p:sp>
      <p:sp>
        <p:nvSpPr>
          <p:cNvPr id="84" name="Rectangle: Rounded Corners 83">
            <a:extLst>
              <a:ext uri="{FF2B5EF4-FFF2-40B4-BE49-F238E27FC236}">
                <a16:creationId xmlns:a16="http://schemas.microsoft.com/office/drawing/2014/main" id="{B8480AED-D97E-4DC7-A9DD-031749310731}"/>
              </a:ext>
            </a:extLst>
          </p:cNvPr>
          <p:cNvSpPr/>
          <p:nvPr/>
        </p:nvSpPr>
        <p:spPr>
          <a:xfrm>
            <a:off x="4424857" y="3529681"/>
            <a:ext cx="1235940" cy="399559"/>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IN" sz="1100" dirty="0">
                <a:ln>
                  <a:noFill/>
                </a:ln>
                <a:solidFill>
                  <a:srgbClr val="000000"/>
                </a:solidFill>
                <a:effectLst>
                  <a:outerShdw blurRad="38100" dist="19050" dir="2700000" algn="tl">
                    <a:schemeClr val="dk1">
                      <a:alpha val="40000"/>
                    </a:schemeClr>
                  </a:outerShdw>
                </a:effectLst>
                <a:ea typeface="Calibri" panose="020F0502020204030204" pitchFamily="34" charset="0"/>
                <a:cs typeface="Times New Roman" panose="02020603050405020304" pitchFamily="18" charset="0"/>
              </a:rPr>
              <a:t>Random Forest</a:t>
            </a:r>
            <a:endParaRPr lang="en-IN" sz="1100" dirty="0">
              <a:effectLst/>
              <a:ea typeface="Calibri" panose="020F0502020204030204" pitchFamily="34" charset="0"/>
              <a:cs typeface="Times New Roman" panose="02020603050405020304" pitchFamily="18" charset="0"/>
            </a:endParaRPr>
          </a:p>
        </p:txBody>
      </p:sp>
      <p:sp>
        <p:nvSpPr>
          <p:cNvPr id="85" name="Rectangle: Rounded Corners 84">
            <a:extLst>
              <a:ext uri="{FF2B5EF4-FFF2-40B4-BE49-F238E27FC236}">
                <a16:creationId xmlns:a16="http://schemas.microsoft.com/office/drawing/2014/main" id="{D56C6612-AF18-45F4-AA6D-298BB401E425}"/>
              </a:ext>
            </a:extLst>
          </p:cNvPr>
          <p:cNvSpPr/>
          <p:nvPr/>
        </p:nvSpPr>
        <p:spPr>
          <a:xfrm>
            <a:off x="5848797" y="3529681"/>
            <a:ext cx="855865" cy="399559"/>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IN" sz="1100">
                <a:ln>
                  <a:noFill/>
                </a:ln>
                <a:solidFill>
                  <a:srgbClr val="000000"/>
                </a:solidFill>
                <a:effectLst>
                  <a:outerShdw blurRad="38100" dist="19050" dir="2700000" algn="tl">
                    <a:schemeClr val="dk1">
                      <a:alpha val="40000"/>
                    </a:schemeClr>
                  </a:outerShdw>
                </a:effectLst>
                <a:ea typeface="Calibri" panose="020F0502020204030204" pitchFamily="34" charset="0"/>
                <a:cs typeface="Times New Roman" panose="02020603050405020304" pitchFamily="18" charset="0"/>
              </a:rPr>
              <a:t>XGBoost</a:t>
            </a:r>
            <a:endParaRPr lang="en-IN" sz="1100">
              <a:effectLst/>
              <a:ea typeface="Calibri" panose="020F0502020204030204" pitchFamily="34" charset="0"/>
              <a:cs typeface="Times New Roman" panose="02020603050405020304" pitchFamily="18" charset="0"/>
            </a:endParaRPr>
          </a:p>
        </p:txBody>
      </p:sp>
      <p:sp>
        <p:nvSpPr>
          <p:cNvPr id="86" name="Rectangle: Rounded Corners 85">
            <a:extLst>
              <a:ext uri="{FF2B5EF4-FFF2-40B4-BE49-F238E27FC236}">
                <a16:creationId xmlns:a16="http://schemas.microsoft.com/office/drawing/2014/main" id="{A26A2E3F-367A-448C-9E6D-4436F6F05A74}"/>
              </a:ext>
            </a:extLst>
          </p:cNvPr>
          <p:cNvSpPr/>
          <p:nvPr/>
        </p:nvSpPr>
        <p:spPr>
          <a:xfrm>
            <a:off x="6892945" y="3518485"/>
            <a:ext cx="558323" cy="38906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IN" sz="1100" dirty="0">
                <a:ln>
                  <a:noFill/>
                </a:ln>
                <a:solidFill>
                  <a:srgbClr val="000000"/>
                </a:solidFill>
                <a:effectLst>
                  <a:outerShdw blurRad="38100" dist="19050" dir="2700000" algn="tl">
                    <a:schemeClr val="dk1">
                      <a:alpha val="40000"/>
                    </a:schemeClr>
                  </a:outerShdw>
                </a:effectLst>
                <a:ea typeface="Calibri" panose="020F0502020204030204" pitchFamily="34" charset="0"/>
                <a:cs typeface="Times New Roman" panose="02020603050405020304" pitchFamily="18" charset="0"/>
              </a:rPr>
              <a:t>KNN</a:t>
            </a:r>
            <a:endParaRPr lang="en-IN" sz="1100" dirty="0">
              <a:effectLst/>
              <a:ea typeface="Calibri" panose="020F0502020204030204" pitchFamily="34" charset="0"/>
              <a:cs typeface="Times New Roman" panose="02020603050405020304" pitchFamily="18" charset="0"/>
            </a:endParaRPr>
          </a:p>
        </p:txBody>
      </p:sp>
      <p:sp>
        <p:nvSpPr>
          <p:cNvPr id="87" name="Arrow: Down 86">
            <a:extLst>
              <a:ext uri="{FF2B5EF4-FFF2-40B4-BE49-F238E27FC236}">
                <a16:creationId xmlns:a16="http://schemas.microsoft.com/office/drawing/2014/main" id="{A0D90A1E-83AE-411A-979C-6324E8D9D9B9}"/>
              </a:ext>
            </a:extLst>
          </p:cNvPr>
          <p:cNvSpPr/>
          <p:nvPr/>
        </p:nvSpPr>
        <p:spPr>
          <a:xfrm>
            <a:off x="7055319" y="2679600"/>
            <a:ext cx="254000" cy="409575"/>
          </a:xfrm>
          <a:prstGeom prst="downArrow">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88" name="Arrow: Down 87">
            <a:extLst>
              <a:ext uri="{FF2B5EF4-FFF2-40B4-BE49-F238E27FC236}">
                <a16:creationId xmlns:a16="http://schemas.microsoft.com/office/drawing/2014/main" id="{33468863-F1A7-4449-AD97-35E48DEE76C2}"/>
              </a:ext>
            </a:extLst>
          </p:cNvPr>
          <p:cNvSpPr/>
          <p:nvPr/>
        </p:nvSpPr>
        <p:spPr>
          <a:xfrm>
            <a:off x="5916539" y="2692622"/>
            <a:ext cx="254000" cy="409575"/>
          </a:xfrm>
          <a:prstGeom prst="downArrow">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89" name="Arrow: Down 88">
            <a:extLst>
              <a:ext uri="{FF2B5EF4-FFF2-40B4-BE49-F238E27FC236}">
                <a16:creationId xmlns:a16="http://schemas.microsoft.com/office/drawing/2014/main" id="{5EE4E072-E7CB-4C20-939B-2606A759D3CD}"/>
              </a:ext>
            </a:extLst>
          </p:cNvPr>
          <p:cNvSpPr/>
          <p:nvPr/>
        </p:nvSpPr>
        <p:spPr>
          <a:xfrm>
            <a:off x="4809496" y="2701765"/>
            <a:ext cx="254000" cy="409575"/>
          </a:xfrm>
          <a:prstGeom prst="downArrow">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90" name="Rectangle 89">
            <a:extLst>
              <a:ext uri="{FF2B5EF4-FFF2-40B4-BE49-F238E27FC236}">
                <a16:creationId xmlns:a16="http://schemas.microsoft.com/office/drawing/2014/main" id="{06450138-E223-47AC-8E21-5D83E0956D73}"/>
              </a:ext>
            </a:extLst>
          </p:cNvPr>
          <p:cNvSpPr/>
          <p:nvPr/>
        </p:nvSpPr>
        <p:spPr>
          <a:xfrm>
            <a:off x="4040477" y="4605306"/>
            <a:ext cx="3849730" cy="1545151"/>
          </a:xfrm>
          <a:prstGeom prst="rect">
            <a:avLst/>
          </a:prstGeom>
          <a:solidFill>
            <a:schemeClr val="bg2"/>
          </a:solidFill>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endParaRPr lang="en-IN" sz="1100" b="1" dirty="0">
              <a:effectLst/>
              <a:ea typeface="Calibri" panose="020F0502020204030204" pitchFamily="34" charset="0"/>
              <a:cs typeface="Times New Roman" panose="02020603050405020304" pitchFamily="18" charset="0"/>
            </a:endParaRPr>
          </a:p>
          <a:p>
            <a:pPr algn="ctr">
              <a:lnSpc>
                <a:spcPct val="107000"/>
              </a:lnSpc>
              <a:spcAft>
                <a:spcPts val="800"/>
              </a:spcAft>
            </a:pPr>
            <a:endParaRPr lang="en-IN" sz="1100" b="1" dirty="0">
              <a:ea typeface="Calibri" panose="020F0502020204030204" pitchFamily="34" charset="0"/>
              <a:cs typeface="Times New Roman" panose="02020603050405020304" pitchFamily="18" charset="0"/>
            </a:endParaRPr>
          </a:p>
          <a:p>
            <a:pPr algn="ctr">
              <a:lnSpc>
                <a:spcPct val="107000"/>
              </a:lnSpc>
              <a:spcAft>
                <a:spcPts val="800"/>
              </a:spcAft>
            </a:pPr>
            <a:endParaRPr lang="en-IN" sz="1100" b="1" dirty="0">
              <a:effectLst/>
              <a:ea typeface="Calibri" panose="020F0502020204030204" pitchFamily="34" charset="0"/>
              <a:cs typeface="Times New Roman" panose="02020603050405020304" pitchFamily="18" charset="0"/>
            </a:endParaRPr>
          </a:p>
          <a:p>
            <a:pPr algn="ctr">
              <a:lnSpc>
                <a:spcPct val="107000"/>
              </a:lnSpc>
              <a:spcAft>
                <a:spcPts val="800"/>
              </a:spcAft>
            </a:pPr>
            <a:r>
              <a:rPr lang="en-IN" sz="1100" b="1" dirty="0">
                <a:effectLst/>
                <a:ea typeface="Calibri" panose="020F0502020204030204" pitchFamily="34" charset="0"/>
                <a:cs typeface="Times New Roman" panose="02020603050405020304" pitchFamily="18" charset="0"/>
              </a:rPr>
              <a:t>Hyperparameter Tuning</a:t>
            </a:r>
            <a:endParaRPr lang="en-IN" sz="1100" dirty="0">
              <a:effectLst/>
              <a:ea typeface="Calibri" panose="020F0502020204030204" pitchFamily="34" charset="0"/>
              <a:cs typeface="Times New Roman" panose="02020603050405020304" pitchFamily="18" charset="0"/>
            </a:endParaRPr>
          </a:p>
          <a:p>
            <a:pPr algn="ctr">
              <a:lnSpc>
                <a:spcPct val="107000"/>
              </a:lnSpc>
              <a:spcAft>
                <a:spcPts val="800"/>
              </a:spcAft>
            </a:pPr>
            <a:r>
              <a:rPr lang="en-IN" sz="1100" dirty="0">
                <a:effectLst/>
                <a:ea typeface="Calibri" panose="020F0502020204030204" pitchFamily="34" charset="0"/>
                <a:cs typeface="Times New Roman" panose="02020603050405020304" pitchFamily="18" charset="0"/>
              </a:rPr>
              <a:t> </a:t>
            </a:r>
          </a:p>
          <a:p>
            <a:pPr algn="ctr">
              <a:lnSpc>
                <a:spcPct val="107000"/>
              </a:lnSpc>
              <a:spcAft>
                <a:spcPts val="800"/>
              </a:spcAft>
            </a:pPr>
            <a:r>
              <a:rPr lang="en-IN" sz="1100" dirty="0">
                <a:effectLst/>
                <a:ea typeface="Calibri" panose="020F0502020204030204" pitchFamily="34" charset="0"/>
                <a:cs typeface="Times New Roman" panose="02020603050405020304" pitchFamily="18" charset="0"/>
              </a:rPr>
              <a:t> </a:t>
            </a:r>
          </a:p>
          <a:p>
            <a:pPr algn="ctr">
              <a:lnSpc>
                <a:spcPct val="107000"/>
              </a:lnSpc>
              <a:spcAft>
                <a:spcPts val="800"/>
              </a:spcAft>
            </a:pPr>
            <a:r>
              <a:rPr lang="en-IN" sz="1100" dirty="0">
                <a:effectLst/>
                <a:ea typeface="Calibri" panose="020F0502020204030204" pitchFamily="34" charset="0"/>
                <a:cs typeface="Times New Roman" panose="02020603050405020304" pitchFamily="18" charset="0"/>
              </a:rPr>
              <a:t> </a:t>
            </a:r>
          </a:p>
          <a:p>
            <a:pPr algn="ctr">
              <a:lnSpc>
                <a:spcPct val="107000"/>
              </a:lnSpc>
              <a:spcAft>
                <a:spcPts val="800"/>
              </a:spcAft>
            </a:pPr>
            <a:r>
              <a:rPr lang="en-IN" sz="1100" dirty="0">
                <a:effectLst/>
                <a:ea typeface="Calibri" panose="020F0502020204030204" pitchFamily="34" charset="0"/>
                <a:cs typeface="Times New Roman" panose="02020603050405020304" pitchFamily="18" charset="0"/>
              </a:rPr>
              <a:t> </a:t>
            </a:r>
          </a:p>
          <a:p>
            <a:pPr algn="ctr">
              <a:lnSpc>
                <a:spcPct val="107000"/>
              </a:lnSpc>
              <a:spcAft>
                <a:spcPts val="800"/>
              </a:spcAft>
            </a:pPr>
            <a:r>
              <a:rPr lang="en-IN" sz="1100" dirty="0">
                <a:effectLst/>
                <a:ea typeface="Calibri" panose="020F0502020204030204" pitchFamily="34" charset="0"/>
                <a:cs typeface="Times New Roman" panose="02020603050405020304" pitchFamily="18" charset="0"/>
              </a:rPr>
              <a:t> </a:t>
            </a:r>
          </a:p>
          <a:p>
            <a:pPr algn="ctr">
              <a:lnSpc>
                <a:spcPct val="107000"/>
              </a:lnSpc>
              <a:spcAft>
                <a:spcPts val="800"/>
              </a:spcAft>
            </a:pPr>
            <a:r>
              <a:rPr lang="en-IN" sz="1100" dirty="0">
                <a:effectLst/>
                <a:ea typeface="Calibri" panose="020F0502020204030204" pitchFamily="34" charset="0"/>
                <a:cs typeface="Times New Roman" panose="02020603050405020304" pitchFamily="18" charset="0"/>
              </a:rPr>
              <a:t> </a:t>
            </a:r>
          </a:p>
          <a:p>
            <a:pPr algn="ctr">
              <a:lnSpc>
                <a:spcPct val="107000"/>
              </a:lnSpc>
              <a:spcAft>
                <a:spcPts val="800"/>
              </a:spcAft>
            </a:pPr>
            <a:r>
              <a:rPr lang="en-IN" sz="1100" dirty="0">
                <a:effectLst/>
                <a:ea typeface="Calibri" panose="020F0502020204030204" pitchFamily="34" charset="0"/>
                <a:cs typeface="Times New Roman" panose="02020603050405020304" pitchFamily="18" charset="0"/>
              </a:rPr>
              <a:t> </a:t>
            </a:r>
          </a:p>
        </p:txBody>
      </p:sp>
      <p:sp>
        <p:nvSpPr>
          <p:cNvPr id="91" name="Rectangle: Rounded Corners 90">
            <a:extLst>
              <a:ext uri="{FF2B5EF4-FFF2-40B4-BE49-F238E27FC236}">
                <a16:creationId xmlns:a16="http://schemas.microsoft.com/office/drawing/2014/main" id="{A78980AF-A3AD-4712-9E74-5D6CA1561DCE}"/>
              </a:ext>
            </a:extLst>
          </p:cNvPr>
          <p:cNvSpPr/>
          <p:nvPr/>
        </p:nvSpPr>
        <p:spPr>
          <a:xfrm>
            <a:off x="4397620" y="5054604"/>
            <a:ext cx="760168" cy="38169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IN" sz="1100" dirty="0">
                <a:ln>
                  <a:noFill/>
                </a:ln>
                <a:solidFill>
                  <a:srgbClr val="000000"/>
                </a:solidFill>
                <a:effectLst>
                  <a:outerShdw blurRad="38100" dist="19050" dir="2700000" algn="tl">
                    <a:schemeClr val="dk1">
                      <a:alpha val="40000"/>
                    </a:schemeClr>
                  </a:outerShdw>
                </a:effectLst>
                <a:ea typeface="Calibri" panose="020F0502020204030204" pitchFamily="34" charset="0"/>
                <a:cs typeface="Times New Roman" panose="02020603050405020304" pitchFamily="18" charset="0"/>
              </a:rPr>
              <a:t>Grid Search</a:t>
            </a:r>
            <a:endParaRPr lang="en-IN" sz="1100" dirty="0">
              <a:effectLst/>
              <a:ea typeface="Calibri" panose="020F0502020204030204" pitchFamily="34" charset="0"/>
              <a:cs typeface="Times New Roman" panose="02020603050405020304" pitchFamily="18" charset="0"/>
            </a:endParaRPr>
          </a:p>
        </p:txBody>
      </p:sp>
      <p:sp>
        <p:nvSpPr>
          <p:cNvPr id="92" name="Rectangle: Rounded Corners 91">
            <a:extLst>
              <a:ext uri="{FF2B5EF4-FFF2-40B4-BE49-F238E27FC236}">
                <a16:creationId xmlns:a16="http://schemas.microsoft.com/office/drawing/2014/main" id="{E02CE5C7-A299-4C8D-BAD7-C1A24EFA6813}"/>
              </a:ext>
            </a:extLst>
          </p:cNvPr>
          <p:cNvSpPr/>
          <p:nvPr/>
        </p:nvSpPr>
        <p:spPr>
          <a:xfrm>
            <a:off x="5503750" y="5054604"/>
            <a:ext cx="1009694" cy="38169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IN" sz="1100" dirty="0">
                <a:ln>
                  <a:noFill/>
                </a:ln>
                <a:solidFill>
                  <a:srgbClr val="000000"/>
                </a:solidFill>
                <a:effectLst>
                  <a:outerShdw blurRad="38100" dist="19050" dir="2700000" algn="tl">
                    <a:schemeClr val="dk1">
                      <a:alpha val="40000"/>
                    </a:schemeClr>
                  </a:outerShdw>
                </a:effectLst>
                <a:ea typeface="Calibri" panose="020F0502020204030204" pitchFamily="34" charset="0"/>
                <a:cs typeface="Times New Roman" panose="02020603050405020304" pitchFamily="18" charset="0"/>
              </a:rPr>
              <a:t>Randomized search</a:t>
            </a:r>
            <a:endParaRPr lang="en-IN" sz="1100" dirty="0">
              <a:effectLst/>
              <a:ea typeface="Calibri" panose="020F0502020204030204" pitchFamily="34" charset="0"/>
              <a:cs typeface="Times New Roman" panose="02020603050405020304" pitchFamily="18" charset="0"/>
            </a:endParaRPr>
          </a:p>
        </p:txBody>
      </p:sp>
      <p:sp>
        <p:nvSpPr>
          <p:cNvPr id="93" name="Rectangle: Rounded Corners 92">
            <a:extLst>
              <a:ext uri="{FF2B5EF4-FFF2-40B4-BE49-F238E27FC236}">
                <a16:creationId xmlns:a16="http://schemas.microsoft.com/office/drawing/2014/main" id="{DFA7427E-3D35-445D-9CB8-0BB579112AAF}"/>
              </a:ext>
            </a:extLst>
          </p:cNvPr>
          <p:cNvSpPr/>
          <p:nvPr/>
        </p:nvSpPr>
        <p:spPr>
          <a:xfrm>
            <a:off x="6094075" y="5536722"/>
            <a:ext cx="890566" cy="38169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IN" sz="1100">
                <a:ln>
                  <a:noFill/>
                </a:ln>
                <a:solidFill>
                  <a:srgbClr val="000000"/>
                </a:solidFill>
                <a:effectLst>
                  <a:outerShdw blurRad="38100" dist="19050" dir="2700000" algn="tl">
                    <a:schemeClr val="dk1">
                      <a:alpha val="40000"/>
                    </a:schemeClr>
                  </a:outerShdw>
                </a:effectLst>
                <a:ea typeface="Calibri" panose="020F0502020204030204" pitchFamily="34" charset="0"/>
                <a:cs typeface="Times New Roman" panose="02020603050405020304" pitchFamily="18" charset="0"/>
              </a:rPr>
              <a:t>Hyperband</a:t>
            </a:r>
            <a:endParaRPr lang="en-IN" sz="1100">
              <a:effectLst/>
              <a:ea typeface="Calibri" panose="020F0502020204030204" pitchFamily="34" charset="0"/>
              <a:cs typeface="Times New Roman" panose="02020603050405020304" pitchFamily="18" charset="0"/>
            </a:endParaRPr>
          </a:p>
        </p:txBody>
      </p:sp>
      <p:sp>
        <p:nvSpPr>
          <p:cNvPr id="94" name="Rectangle: Rounded Corners 93">
            <a:extLst>
              <a:ext uri="{FF2B5EF4-FFF2-40B4-BE49-F238E27FC236}">
                <a16:creationId xmlns:a16="http://schemas.microsoft.com/office/drawing/2014/main" id="{A096955C-C668-467C-BCA8-76C8CA8B8DEE}"/>
              </a:ext>
            </a:extLst>
          </p:cNvPr>
          <p:cNvSpPr/>
          <p:nvPr/>
        </p:nvSpPr>
        <p:spPr>
          <a:xfrm>
            <a:off x="6913055" y="5054604"/>
            <a:ext cx="530854" cy="38169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IN" sz="1100" dirty="0">
                <a:ln>
                  <a:noFill/>
                </a:ln>
                <a:solidFill>
                  <a:srgbClr val="000000"/>
                </a:solidFill>
                <a:effectLst>
                  <a:outerShdw blurRad="38100" dist="19050" dir="2700000" algn="tl">
                    <a:schemeClr val="dk1">
                      <a:alpha val="40000"/>
                    </a:schemeClr>
                  </a:outerShdw>
                </a:effectLst>
                <a:ea typeface="Calibri" panose="020F0502020204030204" pitchFamily="34" charset="0"/>
                <a:cs typeface="Times New Roman" panose="02020603050405020304" pitchFamily="18" charset="0"/>
              </a:rPr>
              <a:t>TPOT</a:t>
            </a:r>
            <a:endParaRPr lang="en-IN" sz="1100" dirty="0">
              <a:effectLst/>
              <a:ea typeface="Calibri" panose="020F0502020204030204" pitchFamily="34" charset="0"/>
              <a:cs typeface="Times New Roman" panose="02020603050405020304" pitchFamily="18" charset="0"/>
            </a:endParaRPr>
          </a:p>
        </p:txBody>
      </p:sp>
      <p:sp>
        <p:nvSpPr>
          <p:cNvPr id="98" name="Arrow: Down 97">
            <a:extLst>
              <a:ext uri="{FF2B5EF4-FFF2-40B4-BE49-F238E27FC236}">
                <a16:creationId xmlns:a16="http://schemas.microsoft.com/office/drawing/2014/main" id="{FBFEAF6C-63BF-4C22-AA5E-8374FDA7DE3A}"/>
              </a:ext>
            </a:extLst>
          </p:cNvPr>
          <p:cNvSpPr/>
          <p:nvPr/>
        </p:nvSpPr>
        <p:spPr>
          <a:xfrm>
            <a:off x="5050635" y="4206245"/>
            <a:ext cx="146061" cy="352245"/>
          </a:xfrm>
          <a:prstGeom prst="downArrow">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99" name="Rectangle: Rounded Corners 98">
            <a:extLst>
              <a:ext uri="{FF2B5EF4-FFF2-40B4-BE49-F238E27FC236}">
                <a16:creationId xmlns:a16="http://schemas.microsoft.com/office/drawing/2014/main" id="{642A3F28-34FB-410E-A98A-E7588AFFF1D7}"/>
              </a:ext>
            </a:extLst>
          </p:cNvPr>
          <p:cNvSpPr/>
          <p:nvPr/>
        </p:nvSpPr>
        <p:spPr>
          <a:xfrm>
            <a:off x="898359" y="4643011"/>
            <a:ext cx="1943100" cy="533400"/>
          </a:xfrm>
          <a:prstGeom prst="round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IN" sz="1100" dirty="0">
                <a:ln>
                  <a:noFill/>
                </a:ln>
                <a:solidFill>
                  <a:srgbClr val="000000"/>
                </a:solidFill>
                <a:effectLst>
                  <a:outerShdw blurRad="38100" dist="19050" dir="2700000" algn="tl">
                    <a:schemeClr val="dk1">
                      <a:alpha val="40000"/>
                    </a:schemeClr>
                  </a:outerShdw>
                </a:effectLst>
                <a:ea typeface="Calibri" panose="020F0502020204030204" pitchFamily="34" charset="0"/>
                <a:cs typeface="Times New Roman" panose="02020603050405020304" pitchFamily="18" charset="0"/>
              </a:rPr>
              <a:t>Model Validated and Tested</a:t>
            </a:r>
            <a:endParaRPr lang="en-IN" sz="1100" dirty="0">
              <a:effectLst/>
              <a:ea typeface="Calibri" panose="020F0502020204030204" pitchFamily="34" charset="0"/>
              <a:cs typeface="Times New Roman" panose="02020603050405020304" pitchFamily="18" charset="0"/>
            </a:endParaRPr>
          </a:p>
        </p:txBody>
      </p:sp>
      <p:sp>
        <p:nvSpPr>
          <p:cNvPr id="100" name="Rectangle: Rounded Corners 99">
            <a:extLst>
              <a:ext uri="{FF2B5EF4-FFF2-40B4-BE49-F238E27FC236}">
                <a16:creationId xmlns:a16="http://schemas.microsoft.com/office/drawing/2014/main" id="{CB6D8BFC-635E-4C25-BFBF-3E9FA03113AB}"/>
              </a:ext>
            </a:extLst>
          </p:cNvPr>
          <p:cNvSpPr/>
          <p:nvPr/>
        </p:nvSpPr>
        <p:spPr>
          <a:xfrm>
            <a:off x="1097664" y="5843798"/>
            <a:ext cx="1557655" cy="533400"/>
          </a:xfrm>
          <a:prstGeom prst="round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IN" sz="1100" dirty="0">
                <a:ln>
                  <a:noFill/>
                </a:ln>
                <a:solidFill>
                  <a:srgbClr val="000000"/>
                </a:solidFill>
                <a:effectLst>
                  <a:outerShdw blurRad="38100" dist="19050" dir="2700000" algn="tl">
                    <a:schemeClr val="dk1">
                      <a:alpha val="40000"/>
                    </a:schemeClr>
                  </a:outerShdw>
                </a:effectLst>
                <a:ea typeface="Calibri" panose="020F0502020204030204" pitchFamily="34" charset="0"/>
                <a:cs typeface="Times New Roman" panose="02020603050405020304" pitchFamily="18" charset="0"/>
              </a:rPr>
              <a:t>Performance measure</a:t>
            </a:r>
            <a:endParaRPr lang="en-IN" sz="1100" dirty="0">
              <a:effectLst/>
              <a:ea typeface="Calibri" panose="020F0502020204030204" pitchFamily="34" charset="0"/>
              <a:cs typeface="Times New Roman" panose="02020603050405020304" pitchFamily="18" charset="0"/>
            </a:endParaRPr>
          </a:p>
        </p:txBody>
      </p:sp>
      <p:sp>
        <p:nvSpPr>
          <p:cNvPr id="101" name="Arrow: Right 100">
            <a:extLst>
              <a:ext uri="{FF2B5EF4-FFF2-40B4-BE49-F238E27FC236}">
                <a16:creationId xmlns:a16="http://schemas.microsoft.com/office/drawing/2014/main" id="{5ED0F85B-F0FE-4A59-8E06-0ABEBE48A7AB}"/>
              </a:ext>
            </a:extLst>
          </p:cNvPr>
          <p:cNvSpPr/>
          <p:nvPr/>
        </p:nvSpPr>
        <p:spPr>
          <a:xfrm>
            <a:off x="3577954" y="2101814"/>
            <a:ext cx="627826" cy="250908"/>
          </a:xfrm>
          <a:prstGeom prst="rightArrow">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03" name="Arrow: Right 102">
            <a:extLst>
              <a:ext uri="{FF2B5EF4-FFF2-40B4-BE49-F238E27FC236}">
                <a16:creationId xmlns:a16="http://schemas.microsoft.com/office/drawing/2014/main" id="{8C520AE3-FD2D-401D-BB6E-B17A29AB8156}"/>
              </a:ext>
            </a:extLst>
          </p:cNvPr>
          <p:cNvSpPr/>
          <p:nvPr/>
        </p:nvSpPr>
        <p:spPr>
          <a:xfrm rot="5400000">
            <a:off x="1609790" y="5405601"/>
            <a:ext cx="533401" cy="250908"/>
          </a:xfrm>
          <a:prstGeom prst="rightArrow">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6" name="Arrow: Right 105">
            <a:extLst>
              <a:ext uri="{FF2B5EF4-FFF2-40B4-BE49-F238E27FC236}">
                <a16:creationId xmlns:a16="http://schemas.microsoft.com/office/drawing/2014/main" id="{82F5B26C-5548-40B4-9F6A-6E21D7568967}"/>
              </a:ext>
            </a:extLst>
          </p:cNvPr>
          <p:cNvSpPr/>
          <p:nvPr/>
        </p:nvSpPr>
        <p:spPr>
          <a:xfrm rot="10800000">
            <a:off x="3114798" y="3617347"/>
            <a:ext cx="894470" cy="212357"/>
          </a:xfrm>
          <a:prstGeom prst="rightArrow">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7" name="Arrow: Right 106">
            <a:extLst>
              <a:ext uri="{FF2B5EF4-FFF2-40B4-BE49-F238E27FC236}">
                <a16:creationId xmlns:a16="http://schemas.microsoft.com/office/drawing/2014/main" id="{370608C7-D52C-48D6-AE6F-FE33E5DDAFA7}"/>
              </a:ext>
            </a:extLst>
          </p:cNvPr>
          <p:cNvSpPr/>
          <p:nvPr/>
        </p:nvSpPr>
        <p:spPr>
          <a:xfrm rot="12137378">
            <a:off x="3141441" y="4024296"/>
            <a:ext cx="894470" cy="200290"/>
          </a:xfrm>
          <a:prstGeom prst="rightArrow">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8" name="Arrow: Right 107">
            <a:extLst>
              <a:ext uri="{FF2B5EF4-FFF2-40B4-BE49-F238E27FC236}">
                <a16:creationId xmlns:a16="http://schemas.microsoft.com/office/drawing/2014/main" id="{8B5636E3-BC06-4CB2-B4A5-7817BE1D2547}"/>
              </a:ext>
            </a:extLst>
          </p:cNvPr>
          <p:cNvSpPr/>
          <p:nvPr/>
        </p:nvSpPr>
        <p:spPr>
          <a:xfrm rot="9669697">
            <a:off x="3142696" y="3223405"/>
            <a:ext cx="894470" cy="200984"/>
          </a:xfrm>
          <a:prstGeom prst="rightArrow">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9" name="Rectangle: Rounded Corners 108">
            <a:extLst>
              <a:ext uri="{FF2B5EF4-FFF2-40B4-BE49-F238E27FC236}">
                <a16:creationId xmlns:a16="http://schemas.microsoft.com/office/drawing/2014/main" id="{B783A81C-79E9-40B4-8D7D-945F9B7A7A0C}"/>
              </a:ext>
            </a:extLst>
          </p:cNvPr>
          <p:cNvSpPr/>
          <p:nvPr/>
        </p:nvSpPr>
        <p:spPr>
          <a:xfrm>
            <a:off x="4957088" y="5536722"/>
            <a:ext cx="890566" cy="38169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IN" sz="1100" dirty="0">
                <a:ln>
                  <a:noFill/>
                </a:ln>
                <a:solidFill>
                  <a:srgbClr val="000000"/>
                </a:solidFill>
                <a:effectLst>
                  <a:outerShdw blurRad="38100" dist="19050" dir="2700000" algn="tl">
                    <a:schemeClr val="dk1">
                      <a:alpha val="40000"/>
                    </a:schemeClr>
                  </a:outerShdw>
                </a:effectLst>
                <a:ea typeface="Calibri" panose="020F0502020204030204" pitchFamily="34" charset="0"/>
                <a:cs typeface="Times New Roman" panose="02020603050405020304" pitchFamily="18" charset="0"/>
              </a:rPr>
              <a:t>Bayesian Optimizer</a:t>
            </a:r>
            <a:endParaRPr lang="en-IN" sz="1100" dirty="0">
              <a:effectLst/>
              <a:ea typeface="Calibri" panose="020F0502020204030204" pitchFamily="34" charset="0"/>
              <a:cs typeface="Times New Roman" panose="02020603050405020304" pitchFamily="18" charset="0"/>
            </a:endParaRPr>
          </a:p>
        </p:txBody>
      </p:sp>
      <p:sp>
        <p:nvSpPr>
          <p:cNvPr id="40" name="TextBox 1">
            <a:extLst>
              <a:ext uri="{FF2B5EF4-FFF2-40B4-BE49-F238E27FC236}">
                <a16:creationId xmlns:a16="http://schemas.microsoft.com/office/drawing/2014/main" id="{AAFFA3E2-F523-44B3-BA76-38CC1C07BEB6}"/>
              </a:ext>
            </a:extLst>
          </p:cNvPr>
          <p:cNvSpPr/>
          <p:nvPr/>
        </p:nvSpPr>
        <p:spPr>
          <a:xfrm>
            <a:off x="310592" y="1035525"/>
            <a:ext cx="3581275" cy="371509"/>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b="1" i="0" u="sng" strike="noStrike" kern="1200" cap="none" spc="0" baseline="0" dirty="0">
                <a:solidFill>
                  <a:srgbClr val="000000"/>
                </a:solidFill>
                <a:uFillTx/>
                <a:latin typeface="Verdana" pitchFamily="34"/>
                <a:ea typeface="Verdana" pitchFamily="34"/>
                <a:cs typeface="Verdana" pitchFamily="34"/>
              </a:rPr>
              <a:t>System Design  </a:t>
            </a:r>
          </a:p>
        </p:txBody>
      </p:sp>
      <p:sp>
        <p:nvSpPr>
          <p:cNvPr id="41" name="Arrow: Down 40">
            <a:extLst>
              <a:ext uri="{FF2B5EF4-FFF2-40B4-BE49-F238E27FC236}">
                <a16:creationId xmlns:a16="http://schemas.microsoft.com/office/drawing/2014/main" id="{F308AE56-0362-4714-96DE-D666111357C3}"/>
              </a:ext>
            </a:extLst>
          </p:cNvPr>
          <p:cNvSpPr/>
          <p:nvPr/>
        </p:nvSpPr>
        <p:spPr>
          <a:xfrm>
            <a:off x="6256583" y="4189682"/>
            <a:ext cx="146061" cy="352245"/>
          </a:xfrm>
          <a:prstGeom prst="downArrow">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2" name="Arrow: Down 41">
            <a:extLst>
              <a:ext uri="{FF2B5EF4-FFF2-40B4-BE49-F238E27FC236}">
                <a16:creationId xmlns:a16="http://schemas.microsoft.com/office/drawing/2014/main" id="{803654E4-B91B-46FB-8750-7684455BA135}"/>
              </a:ext>
            </a:extLst>
          </p:cNvPr>
          <p:cNvSpPr/>
          <p:nvPr/>
        </p:nvSpPr>
        <p:spPr>
          <a:xfrm>
            <a:off x="7151102" y="4199621"/>
            <a:ext cx="146061" cy="352245"/>
          </a:xfrm>
          <a:prstGeom prst="downArrow">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3" name="Arrow: Down 42">
            <a:extLst>
              <a:ext uri="{FF2B5EF4-FFF2-40B4-BE49-F238E27FC236}">
                <a16:creationId xmlns:a16="http://schemas.microsoft.com/office/drawing/2014/main" id="{D0D131C8-321B-4E5F-86D8-BD7D1C7A7FE6}"/>
              </a:ext>
            </a:extLst>
          </p:cNvPr>
          <p:cNvSpPr/>
          <p:nvPr/>
        </p:nvSpPr>
        <p:spPr>
          <a:xfrm rot="10800000">
            <a:off x="4894924" y="4169804"/>
            <a:ext cx="146061" cy="352245"/>
          </a:xfrm>
          <a:prstGeom prst="downArrow">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4" name="Arrow: Down 43">
            <a:extLst>
              <a:ext uri="{FF2B5EF4-FFF2-40B4-BE49-F238E27FC236}">
                <a16:creationId xmlns:a16="http://schemas.microsoft.com/office/drawing/2014/main" id="{A3266612-1FE3-41EE-B334-A60C8A973434}"/>
              </a:ext>
            </a:extLst>
          </p:cNvPr>
          <p:cNvSpPr/>
          <p:nvPr/>
        </p:nvSpPr>
        <p:spPr>
          <a:xfrm rot="10800000">
            <a:off x="6100871" y="4173118"/>
            <a:ext cx="146061" cy="352245"/>
          </a:xfrm>
          <a:prstGeom prst="downArrow">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5" name="Arrow: Down 44">
            <a:extLst>
              <a:ext uri="{FF2B5EF4-FFF2-40B4-BE49-F238E27FC236}">
                <a16:creationId xmlns:a16="http://schemas.microsoft.com/office/drawing/2014/main" id="{93EBB516-062D-43C6-9D7E-14FC0F2C00A6}"/>
              </a:ext>
            </a:extLst>
          </p:cNvPr>
          <p:cNvSpPr/>
          <p:nvPr/>
        </p:nvSpPr>
        <p:spPr>
          <a:xfrm rot="10800000">
            <a:off x="7005329" y="4183058"/>
            <a:ext cx="146061" cy="352245"/>
          </a:xfrm>
          <a:prstGeom prst="downArrow">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6" name="Rectangle: Rounded Corners 45">
            <a:extLst>
              <a:ext uri="{FF2B5EF4-FFF2-40B4-BE49-F238E27FC236}">
                <a16:creationId xmlns:a16="http://schemas.microsoft.com/office/drawing/2014/main" id="{79F3B87B-1A59-4B37-9C76-78A0CF1141AB}"/>
              </a:ext>
            </a:extLst>
          </p:cNvPr>
          <p:cNvSpPr/>
          <p:nvPr/>
        </p:nvSpPr>
        <p:spPr>
          <a:xfrm>
            <a:off x="884838" y="3436210"/>
            <a:ext cx="1943100" cy="533400"/>
          </a:xfrm>
          <a:prstGeom prst="round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US" sz="1100" b="1" dirty="0">
                <a:solidFill>
                  <a:schemeClr val="tx1"/>
                </a:solidFill>
                <a:effectLst/>
                <a:ea typeface="Calibri" panose="020F0502020204030204" pitchFamily="34" charset="0"/>
                <a:cs typeface="Times New Roman" panose="02020603050405020304" pitchFamily="18" charset="0"/>
              </a:rPr>
              <a:t>Ensemble algorithms</a:t>
            </a:r>
            <a:endParaRPr lang="en-IN" sz="1100" b="1" dirty="0">
              <a:solidFill>
                <a:schemeClr val="tx1"/>
              </a:solidFill>
              <a:effectLst/>
              <a:ea typeface="Calibri" panose="020F0502020204030204" pitchFamily="34" charset="0"/>
              <a:cs typeface="Times New Roman" panose="02020603050405020304" pitchFamily="18" charset="0"/>
            </a:endParaRPr>
          </a:p>
        </p:txBody>
      </p:sp>
      <p:sp>
        <p:nvSpPr>
          <p:cNvPr id="47" name="Arrow: Right 46">
            <a:extLst>
              <a:ext uri="{FF2B5EF4-FFF2-40B4-BE49-F238E27FC236}">
                <a16:creationId xmlns:a16="http://schemas.microsoft.com/office/drawing/2014/main" id="{8941CC0D-F52D-4379-8A54-8818F59C6CE4}"/>
              </a:ext>
            </a:extLst>
          </p:cNvPr>
          <p:cNvSpPr/>
          <p:nvPr/>
        </p:nvSpPr>
        <p:spPr>
          <a:xfrm rot="5400000">
            <a:off x="1589687" y="4193400"/>
            <a:ext cx="533401" cy="250908"/>
          </a:xfrm>
          <a:prstGeom prst="rightArrow">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07230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a:extLst>
              <a:ext uri="{FF2B5EF4-FFF2-40B4-BE49-F238E27FC236}">
                <a16:creationId xmlns:a16="http://schemas.microsoft.com/office/drawing/2014/main" id="{8AC0FA0C-E242-4896-8DE1-AA58914CC8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 Box 4">
            <a:extLst>
              <a:ext uri="{FF2B5EF4-FFF2-40B4-BE49-F238E27FC236}">
                <a16:creationId xmlns:a16="http://schemas.microsoft.com/office/drawing/2014/main" id="{078A5A96-8506-4533-87A5-6E0720D73F50}"/>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34820" name="Picture 2">
            <a:extLst>
              <a:ext uri="{FF2B5EF4-FFF2-40B4-BE49-F238E27FC236}">
                <a16:creationId xmlns:a16="http://schemas.microsoft.com/office/drawing/2014/main" id="{D1B70E12-0A74-4EB2-B20E-F6D41F3377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49616C67-226A-4D90-831A-2DB91D521B54}"/>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fld id="{30CA5BDB-C331-474F-BCE9-5B055922E860}" type="slidenum">
              <a:rPr lang="en-US" altLang="en-US" sz="1600" b="1">
                <a:solidFill>
                  <a:srgbClr val="FFFFFF"/>
                </a:solidFill>
                <a:latin typeface="Comic Sans MS" panose="030F0702030302020204" pitchFamily="66" charset="0"/>
              </a:rPr>
              <a:pPr algn="ctr" eaLnBrk="1" hangingPunct="1">
                <a:spcBef>
                  <a:spcPct val="0"/>
                </a:spcBef>
                <a:buFontTx/>
                <a:buNone/>
              </a:pPr>
              <a:t>14</a:t>
            </a:fld>
            <a:endParaRPr lang="en-US" altLang="en-US" sz="1600" b="1">
              <a:solidFill>
                <a:srgbClr val="FFFFFF"/>
              </a:solidFill>
              <a:latin typeface="Comic Sans MS" panose="030F0702030302020204" pitchFamily="66" charset="0"/>
            </a:endParaRPr>
          </a:p>
        </p:txBody>
      </p:sp>
      <p:sp>
        <p:nvSpPr>
          <p:cNvPr id="34822" name="Date Placeholder 7">
            <a:extLst>
              <a:ext uri="{FF2B5EF4-FFF2-40B4-BE49-F238E27FC236}">
                <a16:creationId xmlns:a16="http://schemas.microsoft.com/office/drawing/2014/main" id="{ECB8831C-C660-4CC1-9FEB-1861CA0315B0}"/>
              </a:ext>
            </a:extLst>
          </p:cNvPr>
          <p:cNvSpPr>
            <a:spLocks noGrp="1"/>
          </p:cNvSpPr>
          <p:nvPr>
            <p:ph type="dt" sz="quarter" idx="10"/>
          </p:nvPr>
        </p:nvSpPr>
        <p:spPr>
          <a:xfrm>
            <a:off x="0" y="6564313"/>
            <a:ext cx="1752600" cy="412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4B42B46-A994-46B9-8876-6DF621A7311D}" type="datetime3">
              <a:rPr lang="en-US" altLang="en-US" sz="1400" b="1" smtClean="0">
                <a:solidFill>
                  <a:srgbClr val="FF0066"/>
                </a:solidFill>
                <a:latin typeface="Arial Rounded MT Bold" panose="020F0704030504030204" pitchFamily="34" charset="0"/>
              </a:rPr>
              <a:pPr>
                <a:spcBef>
                  <a:spcPct val="0"/>
                </a:spcBef>
                <a:buFontTx/>
                <a:buNone/>
              </a:pPr>
              <a:t>18 April 2023</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C6A1272A-D9BC-422A-B4F5-B3517DD12C30}"/>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2" name="Oval 11">
            <a:extLst>
              <a:ext uri="{FF2B5EF4-FFF2-40B4-BE49-F238E27FC236}">
                <a16:creationId xmlns:a16="http://schemas.microsoft.com/office/drawing/2014/main" id="{10018299-1643-46E6-BAF6-6BF5500225D3}"/>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34825" name="Picture 10" descr="A picture containing text, sign, watch&#10;&#10;Description automatically generated">
            <a:extLst>
              <a:ext uri="{FF2B5EF4-FFF2-40B4-BE49-F238E27FC236}">
                <a16:creationId xmlns:a16="http://schemas.microsoft.com/office/drawing/2014/main" id="{861D89B6-F838-44BC-8287-263A0BD589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4" name="TextBox 1">
            <a:extLst>
              <a:ext uri="{FF2B5EF4-FFF2-40B4-BE49-F238E27FC236}">
                <a16:creationId xmlns:a16="http://schemas.microsoft.com/office/drawing/2014/main" id="{14F1910C-8EC2-431D-B7E7-1FFB0D1CE637}"/>
              </a:ext>
            </a:extLst>
          </p:cNvPr>
          <p:cNvSpPr txBox="1">
            <a:spLocks noChangeArrowheads="1"/>
          </p:cNvSpPr>
          <p:nvPr/>
        </p:nvSpPr>
        <p:spPr bwMode="auto">
          <a:xfrm>
            <a:off x="314751" y="729199"/>
            <a:ext cx="8067249" cy="6247864"/>
          </a:xfrm>
          <a:prstGeom prst="rect">
            <a:avLst/>
          </a:prstGeom>
          <a:noFill/>
          <a:ln>
            <a:noFill/>
          </a:ln>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defRPr/>
            </a:pPr>
            <a:r>
              <a:rPr lang="en-US" altLang="en-US" sz="1600" b="1" u="sng" dirty="0">
                <a:latin typeface="Calibri (Body)"/>
                <a:ea typeface="Verdana" panose="020B0604030504040204" pitchFamily="34" charset="0"/>
                <a:cs typeface="Times New Roman" panose="02020603050405020304" pitchFamily="18" charset="0"/>
              </a:rPr>
              <a:t>Modules:</a:t>
            </a:r>
          </a:p>
          <a:p>
            <a:pPr>
              <a:spcBef>
                <a:spcPct val="0"/>
              </a:spcBef>
              <a:buFontTx/>
              <a:buNone/>
              <a:defRPr/>
            </a:pPr>
            <a:endParaRPr lang="en-US" altLang="en-US" sz="1600" dirty="0">
              <a:latin typeface="Calibri (Body)"/>
              <a:ea typeface="Verdana" panose="020B0604030504040204" pitchFamily="34" charset="0"/>
              <a:cs typeface="Times New Roman" panose="02020603050405020304" pitchFamily="18" charset="0"/>
            </a:endParaRPr>
          </a:p>
          <a:p>
            <a:pPr marL="457200" indent="-457200">
              <a:spcBef>
                <a:spcPct val="0"/>
              </a:spcBef>
              <a:buFont typeface="+mj-lt"/>
              <a:buAutoNum type="romanUcPeriod"/>
              <a:defRPr/>
            </a:pPr>
            <a:r>
              <a:rPr lang="en-US" altLang="en-US" sz="1600" b="1" dirty="0">
                <a:latin typeface="Calibri (Body)"/>
                <a:ea typeface="Verdana" panose="020B0604030504040204" pitchFamily="34" charset="0"/>
                <a:cs typeface="Times New Roman" panose="02020603050405020304" pitchFamily="18" charset="0"/>
              </a:rPr>
              <a:t>Data Preprocessing</a:t>
            </a:r>
          </a:p>
          <a:p>
            <a:pPr marL="1200150" lvl="1" indent="-457200">
              <a:spcBef>
                <a:spcPct val="0"/>
              </a:spcBef>
              <a:buFont typeface="+mj-lt"/>
              <a:buAutoNum type="romanUcPeriod"/>
              <a:defRPr/>
            </a:pPr>
            <a:r>
              <a:rPr lang="en-US" altLang="en-US" sz="1600" dirty="0">
                <a:latin typeface="Calibri (Body)"/>
                <a:ea typeface="Verdana" panose="020B0604030504040204" pitchFamily="34" charset="0"/>
                <a:cs typeface="Times New Roman" panose="02020603050405020304" pitchFamily="18" charset="0"/>
              </a:rPr>
              <a:t>Removing duplicate entries</a:t>
            </a:r>
          </a:p>
          <a:p>
            <a:pPr marL="1200150" lvl="1" indent="-457200">
              <a:spcBef>
                <a:spcPct val="0"/>
              </a:spcBef>
              <a:buFont typeface="+mj-lt"/>
              <a:buAutoNum type="romanUcPeriod"/>
              <a:defRPr/>
            </a:pPr>
            <a:r>
              <a:rPr lang="en-US" altLang="en-US" sz="1600" dirty="0">
                <a:latin typeface="Calibri (Body)"/>
                <a:ea typeface="Verdana" panose="020B0604030504040204" pitchFamily="34" charset="0"/>
                <a:cs typeface="Times New Roman" panose="02020603050405020304" pitchFamily="18" charset="0"/>
              </a:rPr>
              <a:t>Balancing Dataset</a:t>
            </a:r>
          </a:p>
          <a:p>
            <a:pPr marL="1200150" lvl="1" indent="-457200">
              <a:spcBef>
                <a:spcPct val="0"/>
              </a:spcBef>
              <a:buFont typeface="+mj-lt"/>
              <a:buAutoNum type="romanUcPeriod"/>
              <a:defRPr/>
            </a:pPr>
            <a:endParaRPr lang="en-US" altLang="en-US" sz="1600" dirty="0">
              <a:latin typeface="Calibri (Body)"/>
              <a:ea typeface="Verdana" panose="020B0604030504040204" pitchFamily="34" charset="0"/>
              <a:cs typeface="Times New Roman" panose="02020603050405020304" pitchFamily="18" charset="0"/>
            </a:endParaRPr>
          </a:p>
          <a:p>
            <a:pPr marL="457200" indent="-457200">
              <a:spcBef>
                <a:spcPct val="0"/>
              </a:spcBef>
              <a:buFont typeface="+mj-lt"/>
              <a:buAutoNum type="romanUcPeriod"/>
              <a:defRPr/>
            </a:pPr>
            <a:r>
              <a:rPr lang="en-US" altLang="en-US" sz="1600" b="1" dirty="0">
                <a:latin typeface="Calibri (Body)"/>
                <a:ea typeface="Verdana" panose="020B0604030504040204" pitchFamily="34" charset="0"/>
                <a:cs typeface="Times New Roman" panose="02020603050405020304" pitchFamily="18" charset="0"/>
              </a:rPr>
              <a:t>Feature selection</a:t>
            </a:r>
          </a:p>
          <a:p>
            <a:pPr marL="1143000" lvl="1" indent="-400050">
              <a:spcBef>
                <a:spcPct val="0"/>
              </a:spcBef>
              <a:buFont typeface="+mj-lt"/>
              <a:buAutoNum type="romanUcPeriod"/>
              <a:defRPr/>
            </a:pPr>
            <a:r>
              <a:rPr lang="en-US" altLang="en-US" sz="1600" dirty="0">
                <a:latin typeface="Calibri (Body)"/>
                <a:ea typeface="Verdana" panose="020B0604030504040204" pitchFamily="34" charset="0"/>
                <a:cs typeface="Times New Roman" panose="02020603050405020304" pitchFamily="18" charset="0"/>
              </a:rPr>
              <a:t>Filter method  (Mutual Information, ANOVA, Chi- square)</a:t>
            </a:r>
          </a:p>
          <a:p>
            <a:pPr marL="1143000" lvl="1" indent="-400050">
              <a:spcBef>
                <a:spcPct val="0"/>
              </a:spcBef>
              <a:buFont typeface="+mj-lt"/>
              <a:buAutoNum type="romanUcPeriod"/>
              <a:defRPr/>
            </a:pPr>
            <a:r>
              <a:rPr lang="en-US" altLang="en-US" sz="1600" dirty="0">
                <a:latin typeface="Calibri (Body)"/>
                <a:ea typeface="Verdana" panose="020B0604030504040204" pitchFamily="34" charset="0"/>
                <a:cs typeface="Times New Roman" panose="02020603050405020304" pitchFamily="18" charset="0"/>
              </a:rPr>
              <a:t>Wrapper method (Sequential Forward selection, Sequential Backward elimination, Boruta feature selection)</a:t>
            </a:r>
          </a:p>
          <a:p>
            <a:pPr marL="1143000" lvl="1" indent="-400050">
              <a:spcBef>
                <a:spcPct val="0"/>
              </a:spcBef>
              <a:buFont typeface="+mj-lt"/>
              <a:buAutoNum type="romanUcPeriod"/>
              <a:defRPr/>
            </a:pPr>
            <a:r>
              <a:rPr lang="en-US" altLang="en-US" sz="1600" dirty="0">
                <a:latin typeface="Calibri (Body)"/>
                <a:ea typeface="Verdana" panose="020B0604030504040204" pitchFamily="34" charset="0"/>
                <a:cs typeface="Times New Roman" panose="02020603050405020304" pitchFamily="18" charset="0"/>
              </a:rPr>
              <a:t>Embedded method (LASSO technique, Decision Tree, Genetic algorithm)</a:t>
            </a:r>
            <a:br>
              <a:rPr lang="en-US" altLang="en-US" sz="1600" dirty="0">
                <a:latin typeface="Calibri (Body)"/>
                <a:ea typeface="Verdana" panose="020B0604030504040204" pitchFamily="34" charset="0"/>
                <a:cs typeface="Times New Roman" panose="02020603050405020304" pitchFamily="18" charset="0"/>
              </a:rPr>
            </a:br>
            <a:endParaRPr lang="en-US" altLang="en-US" sz="1600" dirty="0">
              <a:latin typeface="Calibri (Body)"/>
              <a:ea typeface="Verdana" panose="020B0604030504040204" pitchFamily="34" charset="0"/>
              <a:cs typeface="Times New Roman" panose="02020603050405020304" pitchFamily="18" charset="0"/>
            </a:endParaRPr>
          </a:p>
          <a:p>
            <a:pPr marL="457200" indent="-457200">
              <a:spcBef>
                <a:spcPct val="0"/>
              </a:spcBef>
              <a:buFont typeface="+mj-lt"/>
              <a:buAutoNum type="romanUcPeriod"/>
              <a:defRPr/>
            </a:pPr>
            <a:r>
              <a:rPr lang="en-US" altLang="en-US" sz="1600" b="1" dirty="0">
                <a:latin typeface="Calibri (Body)"/>
                <a:ea typeface="Verdana" panose="020B0604030504040204" pitchFamily="34" charset="0"/>
                <a:cs typeface="Times New Roman" panose="02020603050405020304" pitchFamily="18" charset="0"/>
              </a:rPr>
              <a:t>Model building</a:t>
            </a:r>
          </a:p>
          <a:p>
            <a:pPr marL="1200150" lvl="1" indent="-457200">
              <a:spcBef>
                <a:spcPct val="0"/>
              </a:spcBef>
              <a:buFont typeface="+mj-lt"/>
              <a:buAutoNum type="romanUcPeriod"/>
              <a:defRPr/>
            </a:pPr>
            <a:r>
              <a:rPr lang="en-US" altLang="en-US" sz="1600" dirty="0">
                <a:latin typeface="Calibri (Body)"/>
                <a:ea typeface="Verdana" panose="020B0604030504040204" pitchFamily="34" charset="0"/>
                <a:cs typeface="Times New Roman" panose="02020603050405020304" pitchFamily="18" charset="0"/>
              </a:rPr>
              <a:t>Random Forest Classifier</a:t>
            </a:r>
          </a:p>
          <a:p>
            <a:pPr marL="1200150" lvl="1" indent="-457200">
              <a:spcBef>
                <a:spcPct val="0"/>
              </a:spcBef>
              <a:buFont typeface="+mj-lt"/>
              <a:buAutoNum type="romanUcPeriod"/>
              <a:defRPr/>
            </a:pPr>
            <a:r>
              <a:rPr lang="en-US" altLang="en-US" sz="1600" dirty="0">
                <a:latin typeface="Calibri (Body)"/>
                <a:ea typeface="Verdana" panose="020B0604030504040204" pitchFamily="34" charset="0"/>
                <a:cs typeface="Times New Roman" panose="02020603050405020304" pitchFamily="18" charset="0"/>
              </a:rPr>
              <a:t>Extreme Gradient Boosting (XGBoost)</a:t>
            </a:r>
          </a:p>
          <a:p>
            <a:pPr marL="1200150" lvl="1" indent="-457200">
              <a:spcBef>
                <a:spcPct val="0"/>
              </a:spcBef>
              <a:buFont typeface="+mj-lt"/>
              <a:buAutoNum type="romanUcPeriod"/>
              <a:defRPr/>
            </a:pPr>
            <a:r>
              <a:rPr lang="en-US" altLang="en-US" sz="1600" dirty="0">
                <a:latin typeface="Calibri (Body)"/>
                <a:ea typeface="Verdana" panose="020B0604030504040204" pitchFamily="34" charset="0"/>
                <a:cs typeface="Times New Roman" panose="02020603050405020304" pitchFamily="18" charset="0"/>
              </a:rPr>
              <a:t>K Nearest Neighbors</a:t>
            </a:r>
            <a:br>
              <a:rPr lang="en-US" altLang="en-US" sz="1600" dirty="0">
                <a:latin typeface="Calibri (Body)"/>
                <a:ea typeface="Verdana" panose="020B0604030504040204" pitchFamily="34" charset="0"/>
                <a:cs typeface="Times New Roman" panose="02020603050405020304" pitchFamily="18" charset="0"/>
              </a:rPr>
            </a:br>
            <a:endParaRPr lang="en-US" altLang="en-US" sz="1600" dirty="0">
              <a:latin typeface="Calibri (Body)"/>
              <a:ea typeface="Verdana" panose="020B0604030504040204" pitchFamily="34" charset="0"/>
              <a:cs typeface="Times New Roman" panose="02020603050405020304" pitchFamily="18" charset="0"/>
            </a:endParaRPr>
          </a:p>
          <a:p>
            <a:pPr marL="457200" indent="-457200">
              <a:spcBef>
                <a:spcPct val="0"/>
              </a:spcBef>
              <a:buFont typeface="+mj-lt"/>
              <a:buAutoNum type="romanUcPeriod"/>
              <a:defRPr/>
            </a:pPr>
            <a:r>
              <a:rPr lang="en-US" altLang="en-US" sz="1600" b="1" dirty="0">
                <a:latin typeface="Calibri (Body)"/>
                <a:ea typeface="Verdana" panose="020B0604030504040204" pitchFamily="34" charset="0"/>
                <a:cs typeface="Times New Roman" panose="02020603050405020304" pitchFamily="18" charset="0"/>
              </a:rPr>
              <a:t>Hyper Parameter Optimization</a:t>
            </a:r>
          </a:p>
          <a:p>
            <a:pPr marL="1143000" lvl="1" indent="-400050">
              <a:spcBef>
                <a:spcPct val="0"/>
              </a:spcBef>
              <a:buFont typeface="+mj-lt"/>
              <a:buAutoNum type="romanUcPeriod"/>
              <a:defRPr/>
            </a:pPr>
            <a:r>
              <a:rPr lang="en-US" altLang="en-US" sz="1600" dirty="0">
                <a:latin typeface="Calibri (Body)"/>
                <a:ea typeface="Verdana" panose="020B0604030504040204" pitchFamily="34" charset="0"/>
                <a:cs typeface="Times New Roman" panose="02020603050405020304" pitchFamily="18" charset="0"/>
              </a:rPr>
              <a:t>Grid Search</a:t>
            </a:r>
          </a:p>
          <a:p>
            <a:pPr marL="1143000" lvl="1" indent="-400050">
              <a:spcBef>
                <a:spcPct val="0"/>
              </a:spcBef>
              <a:buFont typeface="+mj-lt"/>
              <a:buAutoNum type="romanUcPeriod"/>
              <a:defRPr/>
            </a:pPr>
            <a:r>
              <a:rPr lang="en-US" altLang="en-US" sz="1600" dirty="0">
                <a:latin typeface="Calibri (Body)"/>
                <a:ea typeface="Verdana" panose="020B0604030504040204" pitchFamily="34" charset="0"/>
                <a:cs typeface="Times New Roman" panose="02020603050405020304" pitchFamily="18" charset="0"/>
              </a:rPr>
              <a:t>Randomized Search</a:t>
            </a:r>
          </a:p>
          <a:p>
            <a:pPr marL="1143000" lvl="1" indent="-400050">
              <a:spcBef>
                <a:spcPct val="0"/>
              </a:spcBef>
              <a:buFont typeface="+mj-lt"/>
              <a:buAutoNum type="romanUcPeriod"/>
              <a:defRPr/>
            </a:pPr>
            <a:r>
              <a:rPr lang="en-US" altLang="en-US" sz="1600" dirty="0">
                <a:latin typeface="Calibri (Body)"/>
                <a:ea typeface="Verdana" panose="020B0604030504040204" pitchFamily="34" charset="0"/>
                <a:cs typeface="Times New Roman" panose="02020603050405020304" pitchFamily="18" charset="0"/>
              </a:rPr>
              <a:t>Tree-based Pipeline Optimization Tool (TPOT)</a:t>
            </a:r>
          </a:p>
          <a:p>
            <a:pPr marL="1143000" lvl="1" indent="-400050">
              <a:spcBef>
                <a:spcPct val="0"/>
              </a:spcBef>
              <a:buFont typeface="+mj-lt"/>
              <a:buAutoNum type="romanUcPeriod"/>
              <a:defRPr/>
            </a:pPr>
            <a:r>
              <a:rPr lang="en-US" altLang="en-US" sz="1600" dirty="0">
                <a:latin typeface="Calibri (Body)"/>
                <a:ea typeface="Verdana" panose="020B0604030504040204" pitchFamily="34" charset="0"/>
                <a:cs typeface="Times New Roman" panose="02020603050405020304" pitchFamily="18" charset="0"/>
              </a:rPr>
              <a:t>Bayesian Optimization</a:t>
            </a:r>
          </a:p>
          <a:p>
            <a:pPr marL="1143000" lvl="1" indent="-400050">
              <a:spcBef>
                <a:spcPct val="0"/>
              </a:spcBef>
              <a:buFont typeface="+mj-lt"/>
              <a:buAutoNum type="romanUcPeriod"/>
              <a:defRPr/>
            </a:pPr>
            <a:r>
              <a:rPr lang="en-US" altLang="en-US" sz="1600" dirty="0">
                <a:latin typeface="Calibri (Body)"/>
                <a:ea typeface="Verdana" panose="020B0604030504040204" pitchFamily="34" charset="0"/>
                <a:cs typeface="Times New Roman" panose="02020603050405020304" pitchFamily="18" charset="0"/>
              </a:rPr>
              <a:t>Hyperband</a:t>
            </a:r>
          </a:p>
          <a:p>
            <a:pPr lvl="1" indent="0">
              <a:spcBef>
                <a:spcPct val="0"/>
              </a:spcBef>
              <a:buNone/>
              <a:defRPr/>
            </a:pPr>
            <a:endParaRPr lang="en-US" altLang="en-US" sz="1600" dirty="0">
              <a:latin typeface="Calibri (Body)"/>
              <a:ea typeface="Verdana" panose="020B0604030504040204" pitchFamily="34" charset="0"/>
              <a:cs typeface="Times New Roman" panose="02020603050405020304" pitchFamily="18" charset="0"/>
            </a:endParaRPr>
          </a:p>
          <a:p>
            <a:pPr marL="457200" indent="-457200">
              <a:spcBef>
                <a:spcPct val="0"/>
              </a:spcBef>
              <a:buFont typeface="+mj-lt"/>
              <a:buAutoNum type="romanUcPeriod"/>
              <a:defRPr/>
            </a:pPr>
            <a:endParaRPr lang="en-US" altLang="en-US" sz="1600" dirty="0">
              <a:latin typeface="Calibri (Body)"/>
              <a:ea typeface="Verdana" panose="020B0604030504040204" pitchFamily="34"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a:extLst>
              <a:ext uri="{FF2B5EF4-FFF2-40B4-BE49-F238E27FC236}">
                <a16:creationId xmlns:a16="http://schemas.microsoft.com/office/drawing/2014/main" id="{BE7A8330-E4CB-4F06-AF3D-78EE7FBABC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 Box 4">
            <a:extLst>
              <a:ext uri="{FF2B5EF4-FFF2-40B4-BE49-F238E27FC236}">
                <a16:creationId xmlns:a16="http://schemas.microsoft.com/office/drawing/2014/main" id="{F4A11A03-1EE7-46BA-8B1E-07E5382C441D}"/>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36868" name="Picture 2">
            <a:extLst>
              <a:ext uri="{FF2B5EF4-FFF2-40B4-BE49-F238E27FC236}">
                <a16:creationId xmlns:a16="http://schemas.microsoft.com/office/drawing/2014/main" id="{A4104424-5FCD-4DB8-9BC4-375CD291B9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B427FDA7-43DD-4DA4-893B-C5CB6018355A}"/>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fld id="{841F66B6-980C-43F1-92A2-E9BCCE6784FD}" type="slidenum">
              <a:rPr lang="en-US" altLang="en-US" sz="1600" b="1">
                <a:solidFill>
                  <a:srgbClr val="FFFFFF"/>
                </a:solidFill>
                <a:latin typeface="Comic Sans MS" panose="030F0702030302020204" pitchFamily="66" charset="0"/>
              </a:rPr>
              <a:pPr algn="ctr" eaLnBrk="1" hangingPunct="1">
                <a:spcBef>
                  <a:spcPct val="0"/>
                </a:spcBef>
                <a:buFontTx/>
                <a:buNone/>
              </a:pPr>
              <a:t>15</a:t>
            </a:fld>
            <a:endParaRPr lang="en-US" altLang="en-US" sz="1600" b="1">
              <a:solidFill>
                <a:srgbClr val="FFFFFF"/>
              </a:solidFill>
              <a:latin typeface="Comic Sans MS" panose="030F0702030302020204" pitchFamily="66" charset="0"/>
            </a:endParaRPr>
          </a:p>
        </p:txBody>
      </p:sp>
      <p:sp>
        <p:nvSpPr>
          <p:cNvPr id="36870" name="Date Placeholder 7">
            <a:extLst>
              <a:ext uri="{FF2B5EF4-FFF2-40B4-BE49-F238E27FC236}">
                <a16:creationId xmlns:a16="http://schemas.microsoft.com/office/drawing/2014/main" id="{9EB8C82D-DEFC-4801-AA53-88AF7815FDE4}"/>
              </a:ext>
            </a:extLst>
          </p:cNvPr>
          <p:cNvSpPr>
            <a:spLocks noGrp="1"/>
          </p:cNvSpPr>
          <p:nvPr>
            <p:ph type="dt" sz="quarter" idx="10"/>
          </p:nvPr>
        </p:nvSpPr>
        <p:spPr>
          <a:xfrm>
            <a:off x="0" y="6564313"/>
            <a:ext cx="1752600" cy="412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80F0D9B-2FCB-4E51-9DE4-DEB44FC39F6E}" type="datetime3">
              <a:rPr lang="en-US" altLang="en-US" sz="1400" b="1" smtClean="0">
                <a:solidFill>
                  <a:srgbClr val="FF0066"/>
                </a:solidFill>
                <a:latin typeface="Arial Rounded MT Bold" panose="020F0704030504030204" pitchFamily="34" charset="0"/>
              </a:rPr>
              <a:pPr>
                <a:spcBef>
                  <a:spcPct val="0"/>
                </a:spcBef>
                <a:buFontTx/>
                <a:buNone/>
              </a:pPr>
              <a:t>18 April 2023</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F91DF1A8-F08B-4BFE-B4BC-1E8E2A31B81A}"/>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2" name="Oval 11">
            <a:extLst>
              <a:ext uri="{FF2B5EF4-FFF2-40B4-BE49-F238E27FC236}">
                <a16:creationId xmlns:a16="http://schemas.microsoft.com/office/drawing/2014/main" id="{29A766E0-309D-4A26-812C-8B210FB54A5E}"/>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36873" name="Picture 10" descr="A picture containing text, sign, watch&#10;&#10;Description automatically generated">
            <a:extLst>
              <a:ext uri="{FF2B5EF4-FFF2-40B4-BE49-F238E27FC236}">
                <a16:creationId xmlns:a16="http://schemas.microsoft.com/office/drawing/2014/main" id="{D7A2222C-D3FA-44A1-96FC-6B6E73C0CC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4" name="TextBox 1">
            <a:extLst>
              <a:ext uri="{FF2B5EF4-FFF2-40B4-BE49-F238E27FC236}">
                <a16:creationId xmlns:a16="http://schemas.microsoft.com/office/drawing/2014/main" id="{3C85D3C8-C5FC-4F02-8BB7-C78955787EEB}"/>
              </a:ext>
            </a:extLst>
          </p:cNvPr>
          <p:cNvSpPr txBox="1">
            <a:spLocks noChangeArrowheads="1"/>
          </p:cNvSpPr>
          <p:nvPr/>
        </p:nvSpPr>
        <p:spPr bwMode="auto">
          <a:xfrm>
            <a:off x="312737" y="1075011"/>
            <a:ext cx="3581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b="1" u="sng" dirty="0">
                <a:latin typeface="Calibri (Body)"/>
                <a:ea typeface="Verdana" panose="020B0604030504040204" pitchFamily="34" charset="0"/>
                <a:cs typeface="Verdana" panose="020B0604030504040204" pitchFamily="34" charset="0"/>
              </a:rPr>
              <a:t>Module I :  </a:t>
            </a:r>
          </a:p>
        </p:txBody>
      </p:sp>
      <p:sp>
        <p:nvSpPr>
          <p:cNvPr id="3" name="TextBox 2">
            <a:extLst>
              <a:ext uri="{FF2B5EF4-FFF2-40B4-BE49-F238E27FC236}">
                <a16:creationId xmlns:a16="http://schemas.microsoft.com/office/drawing/2014/main" id="{9F902A73-9630-4D7C-9D53-7DF705F9CC47}"/>
              </a:ext>
            </a:extLst>
          </p:cNvPr>
          <p:cNvSpPr txBox="1"/>
          <p:nvPr/>
        </p:nvSpPr>
        <p:spPr>
          <a:xfrm>
            <a:off x="312737" y="1720840"/>
            <a:ext cx="8534400" cy="2308324"/>
          </a:xfrm>
          <a:prstGeom prst="rect">
            <a:avLst/>
          </a:prstGeom>
          <a:noFill/>
        </p:spPr>
        <p:txBody>
          <a:bodyPr>
            <a:spAutoFit/>
          </a:bodyPr>
          <a:lstStyle/>
          <a:p>
            <a:pPr algn="just">
              <a:defRPr/>
            </a:pPr>
            <a:r>
              <a:rPr lang="en-US" sz="1600" b="1" u="sng" dirty="0">
                <a:latin typeface="Calibri (Body)"/>
                <a:cs typeface="Times New Roman" panose="02020603050405020304" pitchFamily="18" charset="0"/>
              </a:rPr>
              <a:t>Data Preprocessing</a:t>
            </a:r>
          </a:p>
          <a:p>
            <a:pPr algn="just">
              <a:defRPr/>
            </a:pPr>
            <a:r>
              <a:rPr lang="en-US" sz="1600" b="1" dirty="0">
                <a:latin typeface="Calibri (Body)"/>
                <a:cs typeface="Times New Roman" panose="02020603050405020304" pitchFamily="18" charset="0"/>
              </a:rPr>
              <a:t>      </a:t>
            </a:r>
          </a:p>
          <a:p>
            <a:pPr algn="just">
              <a:defRPr/>
            </a:pPr>
            <a:r>
              <a:rPr lang="en-US" sz="1600" b="1" dirty="0">
                <a:latin typeface="Calibri (Body)"/>
                <a:cs typeface="Times New Roman" panose="02020603050405020304" pitchFamily="18" charset="0"/>
              </a:rPr>
              <a:t>Removing duplicate entries &amp; Balancing Dataset: </a:t>
            </a:r>
          </a:p>
          <a:p>
            <a:pPr algn="just">
              <a:defRPr/>
            </a:pPr>
            <a:r>
              <a:rPr lang="en-US" sz="1600" b="1" dirty="0">
                <a:latin typeface="Calibri (Body)"/>
                <a:cs typeface="Times New Roman" panose="02020603050405020304" pitchFamily="18" charset="0"/>
              </a:rPr>
              <a:t>		</a:t>
            </a:r>
          </a:p>
          <a:p>
            <a:pPr marL="285750" indent="-285750" algn="just">
              <a:buFont typeface="Arial" panose="020B0604020202020204" pitchFamily="34" charset="0"/>
              <a:buChar char="•"/>
              <a:defRPr/>
            </a:pPr>
            <a:r>
              <a:rPr lang="en-US" sz="1600" b="1" dirty="0">
                <a:latin typeface="Calibri (Body)"/>
                <a:cs typeface="Times New Roman" panose="02020603050405020304" pitchFamily="18" charset="0"/>
              </a:rPr>
              <a:t>		</a:t>
            </a:r>
            <a:r>
              <a:rPr lang="en-US" sz="1600" dirty="0">
                <a:latin typeface="Calibri (Body)"/>
                <a:cs typeface="Times New Roman" panose="02020603050405020304" pitchFamily="18" charset="0"/>
              </a:rPr>
              <a:t>The rows with duplicate entries are dropped.</a:t>
            </a:r>
          </a:p>
          <a:p>
            <a:pPr algn="just">
              <a:defRPr/>
            </a:pPr>
            <a:r>
              <a:rPr lang="en-US" sz="1600" dirty="0">
                <a:latin typeface="Calibri (Body)"/>
                <a:cs typeface="Times New Roman" panose="02020603050405020304" pitchFamily="18" charset="0"/>
              </a:rPr>
              <a:t>		</a:t>
            </a:r>
          </a:p>
          <a:p>
            <a:pPr marL="285750" indent="-285750" algn="just">
              <a:buFont typeface="Arial" panose="020B0604020202020204" pitchFamily="34" charset="0"/>
              <a:buChar char="•"/>
              <a:defRPr/>
            </a:pPr>
            <a:r>
              <a:rPr lang="en-US" sz="1600" dirty="0">
                <a:latin typeface="Calibri (Body)"/>
                <a:cs typeface="Times New Roman" panose="02020603050405020304" pitchFamily="18" charset="0"/>
              </a:rPr>
              <a:t>		The provided dataset is balanced using </a:t>
            </a:r>
            <a:r>
              <a:rPr lang="en-IN" sz="1600" b="1" dirty="0">
                <a:latin typeface="Calibri (Body)"/>
                <a:cs typeface="Times New Roman" panose="02020603050405020304" pitchFamily="18" charset="0"/>
              </a:rPr>
              <a:t>Synthetic Minority Oversampling Technique (SMOTE). </a:t>
            </a:r>
            <a:r>
              <a:rPr lang="en-US" sz="1600" dirty="0">
                <a:latin typeface="Calibri (Body)"/>
                <a:cs typeface="Times New Roman" panose="02020603050405020304" pitchFamily="18" charset="0"/>
              </a:rPr>
              <a:t>It aims to balance class distribution by randomly increasing minority class examples by replicating them.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a:extLst>
              <a:ext uri="{FF2B5EF4-FFF2-40B4-BE49-F238E27FC236}">
                <a16:creationId xmlns:a16="http://schemas.microsoft.com/office/drawing/2014/main" id="{BE7A8330-E4CB-4F06-AF3D-78EE7FBABC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 Box 4">
            <a:extLst>
              <a:ext uri="{FF2B5EF4-FFF2-40B4-BE49-F238E27FC236}">
                <a16:creationId xmlns:a16="http://schemas.microsoft.com/office/drawing/2014/main" id="{F4A11A03-1EE7-46BA-8B1E-07E5382C441D}"/>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36868" name="Picture 2">
            <a:extLst>
              <a:ext uri="{FF2B5EF4-FFF2-40B4-BE49-F238E27FC236}">
                <a16:creationId xmlns:a16="http://schemas.microsoft.com/office/drawing/2014/main" id="{A4104424-5FCD-4DB8-9BC4-375CD291B9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B427FDA7-43DD-4DA4-893B-C5CB6018355A}"/>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fld id="{841F66B6-980C-43F1-92A2-E9BCCE6784FD}" type="slidenum">
              <a:rPr lang="en-US" altLang="en-US" sz="1600" b="1">
                <a:solidFill>
                  <a:srgbClr val="FFFFFF"/>
                </a:solidFill>
                <a:latin typeface="Comic Sans MS" panose="030F0702030302020204" pitchFamily="66" charset="0"/>
              </a:rPr>
              <a:pPr algn="ctr" eaLnBrk="1" hangingPunct="1">
                <a:spcBef>
                  <a:spcPct val="0"/>
                </a:spcBef>
                <a:buFontTx/>
                <a:buNone/>
              </a:pPr>
              <a:t>16</a:t>
            </a:fld>
            <a:endParaRPr lang="en-US" altLang="en-US" sz="1600" b="1">
              <a:solidFill>
                <a:srgbClr val="FFFFFF"/>
              </a:solidFill>
              <a:latin typeface="Comic Sans MS" panose="030F0702030302020204" pitchFamily="66" charset="0"/>
            </a:endParaRPr>
          </a:p>
        </p:txBody>
      </p:sp>
      <p:sp>
        <p:nvSpPr>
          <p:cNvPr id="36870" name="Date Placeholder 7">
            <a:extLst>
              <a:ext uri="{FF2B5EF4-FFF2-40B4-BE49-F238E27FC236}">
                <a16:creationId xmlns:a16="http://schemas.microsoft.com/office/drawing/2014/main" id="{9EB8C82D-DEFC-4801-AA53-88AF7815FDE4}"/>
              </a:ext>
            </a:extLst>
          </p:cNvPr>
          <p:cNvSpPr>
            <a:spLocks noGrp="1"/>
          </p:cNvSpPr>
          <p:nvPr>
            <p:ph type="dt" sz="quarter" idx="10"/>
          </p:nvPr>
        </p:nvSpPr>
        <p:spPr>
          <a:xfrm>
            <a:off x="0" y="6564313"/>
            <a:ext cx="1752600" cy="412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80F0D9B-2FCB-4E51-9DE4-DEB44FC39F6E}" type="datetime3">
              <a:rPr lang="en-US" altLang="en-US" sz="1400" b="1" smtClean="0">
                <a:solidFill>
                  <a:srgbClr val="FF0066"/>
                </a:solidFill>
                <a:latin typeface="Arial Rounded MT Bold" panose="020F0704030504030204" pitchFamily="34" charset="0"/>
              </a:rPr>
              <a:pPr>
                <a:spcBef>
                  <a:spcPct val="0"/>
                </a:spcBef>
                <a:buFontTx/>
                <a:buNone/>
              </a:pPr>
              <a:t>18 April 2023</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F91DF1A8-F08B-4BFE-B4BC-1E8E2A31B81A}"/>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2" name="Oval 11">
            <a:extLst>
              <a:ext uri="{FF2B5EF4-FFF2-40B4-BE49-F238E27FC236}">
                <a16:creationId xmlns:a16="http://schemas.microsoft.com/office/drawing/2014/main" id="{29A766E0-309D-4A26-812C-8B210FB54A5E}"/>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36873" name="Picture 10" descr="A picture containing text, sign, watch&#10;&#10;Description automatically generated">
            <a:extLst>
              <a:ext uri="{FF2B5EF4-FFF2-40B4-BE49-F238E27FC236}">
                <a16:creationId xmlns:a16="http://schemas.microsoft.com/office/drawing/2014/main" id="{D7A2222C-D3FA-44A1-96FC-6B6E73C0CC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4" name="TextBox 1">
            <a:extLst>
              <a:ext uri="{FF2B5EF4-FFF2-40B4-BE49-F238E27FC236}">
                <a16:creationId xmlns:a16="http://schemas.microsoft.com/office/drawing/2014/main" id="{3C85D3C8-C5FC-4F02-8BB7-C78955787EEB}"/>
              </a:ext>
            </a:extLst>
          </p:cNvPr>
          <p:cNvSpPr txBox="1">
            <a:spLocks noChangeArrowheads="1"/>
          </p:cNvSpPr>
          <p:nvPr/>
        </p:nvSpPr>
        <p:spPr bwMode="auto">
          <a:xfrm>
            <a:off x="209550" y="973146"/>
            <a:ext cx="3581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b="1" u="sng" dirty="0">
                <a:latin typeface="Calibri (Body)"/>
                <a:ea typeface="Verdana" panose="020B0604030504040204" pitchFamily="34" charset="0"/>
                <a:cs typeface="Verdana" panose="020B0604030504040204" pitchFamily="34" charset="0"/>
              </a:rPr>
              <a:t>Module 2:  </a:t>
            </a:r>
          </a:p>
        </p:txBody>
      </p:sp>
      <p:sp>
        <p:nvSpPr>
          <p:cNvPr id="3" name="TextBox 2">
            <a:extLst>
              <a:ext uri="{FF2B5EF4-FFF2-40B4-BE49-F238E27FC236}">
                <a16:creationId xmlns:a16="http://schemas.microsoft.com/office/drawing/2014/main" id="{9F902A73-9630-4D7C-9D53-7DF705F9CC47}"/>
              </a:ext>
            </a:extLst>
          </p:cNvPr>
          <p:cNvSpPr txBox="1"/>
          <p:nvPr/>
        </p:nvSpPr>
        <p:spPr>
          <a:xfrm>
            <a:off x="209550" y="1325850"/>
            <a:ext cx="8534400" cy="2831544"/>
          </a:xfrm>
          <a:prstGeom prst="rect">
            <a:avLst/>
          </a:prstGeom>
          <a:noFill/>
        </p:spPr>
        <p:txBody>
          <a:bodyPr>
            <a:spAutoFit/>
          </a:bodyPr>
          <a:lstStyle/>
          <a:p>
            <a:pPr algn="just">
              <a:defRPr/>
            </a:pPr>
            <a:r>
              <a:rPr lang="en-US" sz="1600" b="1" dirty="0">
                <a:latin typeface="Calibri (Body)"/>
                <a:cs typeface="Times New Roman" panose="02020603050405020304" pitchFamily="18" charset="0"/>
              </a:rPr>
              <a:t>Feature Selection</a:t>
            </a:r>
          </a:p>
          <a:p>
            <a:pPr algn="just">
              <a:lnSpc>
                <a:spcPct val="150000"/>
              </a:lnSpc>
            </a:pPr>
            <a:r>
              <a:rPr lang="en-US" sz="1400" dirty="0">
                <a:latin typeface="Calibri (Body)"/>
                <a:cs typeface="Times New Roman" panose="02020603050405020304" pitchFamily="18" charset="0"/>
              </a:rPr>
              <a:t>	The </a:t>
            </a:r>
            <a:r>
              <a:rPr lang="en-IN" sz="1400" dirty="0">
                <a:latin typeface="Calibri (Body)"/>
                <a:cs typeface="Times New Roman" panose="02020603050405020304" pitchFamily="18" charset="0"/>
              </a:rPr>
              <a:t>irrelevant features decreases the performance of the classification model. To select the best features, 9 different feature selection techniques from 3 different methods. Some of the benefits of feature selection are; </a:t>
            </a:r>
          </a:p>
          <a:p>
            <a:pPr algn="just">
              <a:lnSpc>
                <a:spcPct val="150000"/>
              </a:lnSpc>
              <a:buFont typeface="Arial" panose="020B0604020202020204" pitchFamily="34" charset="0"/>
              <a:buChar char="•"/>
            </a:pPr>
            <a:r>
              <a:rPr lang="en-IN" sz="1400" i="0" dirty="0">
                <a:solidFill>
                  <a:srgbClr val="000000"/>
                </a:solidFill>
                <a:effectLst/>
              </a:rPr>
              <a:t>It helps in avoiding the curse of dimensionality.</a:t>
            </a:r>
          </a:p>
          <a:p>
            <a:pPr algn="just">
              <a:lnSpc>
                <a:spcPct val="150000"/>
              </a:lnSpc>
              <a:buFont typeface="Arial" panose="020B0604020202020204" pitchFamily="34" charset="0"/>
              <a:buChar char="•"/>
            </a:pPr>
            <a:r>
              <a:rPr lang="en-IN" sz="1400" i="0" dirty="0">
                <a:solidFill>
                  <a:srgbClr val="000000"/>
                </a:solidFill>
                <a:effectLst/>
              </a:rPr>
              <a:t>It helps in the simplification of the model so that it can be easily interpreted by the researchers.</a:t>
            </a:r>
          </a:p>
          <a:p>
            <a:pPr algn="just">
              <a:lnSpc>
                <a:spcPct val="150000"/>
              </a:lnSpc>
              <a:buFont typeface="Arial" panose="020B0604020202020204" pitchFamily="34" charset="0"/>
              <a:buChar char="•"/>
            </a:pPr>
            <a:r>
              <a:rPr lang="en-IN" sz="1400" i="0" dirty="0">
                <a:solidFill>
                  <a:srgbClr val="000000"/>
                </a:solidFill>
                <a:effectLst/>
              </a:rPr>
              <a:t>It reduces the training time.</a:t>
            </a:r>
          </a:p>
          <a:p>
            <a:pPr algn="just">
              <a:defRPr/>
            </a:pPr>
            <a:r>
              <a:rPr lang="en-IN" dirty="0">
                <a:latin typeface="Calibri (Body)"/>
                <a:cs typeface="Times New Roman" panose="02020603050405020304" pitchFamily="18" charset="0"/>
              </a:rPr>
              <a:t>			</a:t>
            </a:r>
          </a:p>
          <a:p>
            <a:pPr algn="just">
              <a:defRPr/>
            </a:pPr>
            <a:endParaRPr lang="en-US" dirty="0">
              <a:latin typeface="Calibri (Body)"/>
              <a:cs typeface="Times New Roman" panose="02020603050405020304" pitchFamily="18" charset="0"/>
            </a:endParaRPr>
          </a:p>
        </p:txBody>
      </p:sp>
      <p:sp>
        <p:nvSpPr>
          <p:cNvPr id="2" name="Rectangle: Rounded Corners 1">
            <a:extLst>
              <a:ext uri="{FF2B5EF4-FFF2-40B4-BE49-F238E27FC236}">
                <a16:creationId xmlns:a16="http://schemas.microsoft.com/office/drawing/2014/main" id="{97585CC1-6F68-44AD-9190-7EFE30F96E71}"/>
              </a:ext>
            </a:extLst>
          </p:cNvPr>
          <p:cNvSpPr/>
          <p:nvPr/>
        </p:nvSpPr>
        <p:spPr>
          <a:xfrm>
            <a:off x="3249030" y="3616743"/>
            <a:ext cx="2268638" cy="555585"/>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a:t>Feature Selection</a:t>
            </a:r>
          </a:p>
        </p:txBody>
      </p:sp>
      <p:sp>
        <p:nvSpPr>
          <p:cNvPr id="13" name="Rectangle: Rounded Corners 12">
            <a:extLst>
              <a:ext uri="{FF2B5EF4-FFF2-40B4-BE49-F238E27FC236}">
                <a16:creationId xmlns:a16="http://schemas.microsoft.com/office/drawing/2014/main" id="{B765968C-8A41-48DC-AE78-544EC06748D5}"/>
              </a:ext>
            </a:extLst>
          </p:cNvPr>
          <p:cNvSpPr/>
          <p:nvPr/>
        </p:nvSpPr>
        <p:spPr>
          <a:xfrm>
            <a:off x="6477161" y="4773594"/>
            <a:ext cx="1342663" cy="1385001"/>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a:t>Embedded</a:t>
            </a:r>
            <a:endParaRPr lang="en-IN" dirty="0"/>
          </a:p>
          <a:p>
            <a:pPr marL="171450" indent="-171450" algn="ctr">
              <a:buFont typeface="Arial" panose="020B0604020202020204" pitchFamily="34" charset="0"/>
              <a:buChar char="•"/>
            </a:pPr>
            <a:r>
              <a:rPr lang="en-IN" sz="1200" dirty="0"/>
              <a:t>Lasso</a:t>
            </a:r>
          </a:p>
          <a:p>
            <a:pPr marL="171450" indent="-171450" algn="ctr">
              <a:buFont typeface="Arial" panose="020B0604020202020204" pitchFamily="34" charset="0"/>
              <a:buChar char="•"/>
            </a:pPr>
            <a:r>
              <a:rPr lang="en-IN" sz="1200" dirty="0"/>
              <a:t>Decision Tree</a:t>
            </a:r>
          </a:p>
          <a:p>
            <a:pPr marL="171450" indent="-171450" algn="ctr">
              <a:buFont typeface="Arial" panose="020B0604020202020204" pitchFamily="34" charset="0"/>
              <a:buChar char="•"/>
            </a:pPr>
            <a:r>
              <a:rPr lang="en-IN" sz="1200" dirty="0"/>
              <a:t>Genetic algorithm</a:t>
            </a:r>
          </a:p>
        </p:txBody>
      </p:sp>
      <p:sp>
        <p:nvSpPr>
          <p:cNvPr id="14" name="Rectangle: Rounded Corners 13">
            <a:extLst>
              <a:ext uri="{FF2B5EF4-FFF2-40B4-BE49-F238E27FC236}">
                <a16:creationId xmlns:a16="http://schemas.microsoft.com/office/drawing/2014/main" id="{CE988624-A5CD-4859-9725-DE31251558B4}"/>
              </a:ext>
            </a:extLst>
          </p:cNvPr>
          <p:cNvSpPr/>
          <p:nvPr/>
        </p:nvSpPr>
        <p:spPr>
          <a:xfrm>
            <a:off x="3703899" y="4699665"/>
            <a:ext cx="1342663" cy="1532860"/>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a:t>Wrapper</a:t>
            </a:r>
            <a:endParaRPr lang="en-IN" dirty="0"/>
          </a:p>
          <a:p>
            <a:pPr marL="171450" indent="-171450" algn="ctr">
              <a:buFont typeface="Arial" panose="020B0604020202020204" pitchFamily="34" charset="0"/>
              <a:buChar char="•"/>
            </a:pPr>
            <a:r>
              <a:rPr lang="en-IN" sz="1200" dirty="0"/>
              <a:t>SFS</a:t>
            </a:r>
          </a:p>
          <a:p>
            <a:pPr marL="171450" indent="-171450" algn="ctr">
              <a:buFont typeface="Arial" panose="020B0604020202020204" pitchFamily="34" charset="0"/>
              <a:buChar char="•"/>
            </a:pPr>
            <a:r>
              <a:rPr lang="en-IN" sz="1200" dirty="0"/>
              <a:t>SBE</a:t>
            </a:r>
          </a:p>
          <a:p>
            <a:pPr marL="171450" indent="-171450" algn="ctr">
              <a:buFont typeface="Arial" panose="020B0604020202020204" pitchFamily="34" charset="0"/>
              <a:buChar char="•"/>
            </a:pPr>
            <a:r>
              <a:rPr lang="en-IN" sz="1200" dirty="0"/>
              <a:t>Boruta Feature selection</a:t>
            </a:r>
          </a:p>
        </p:txBody>
      </p:sp>
      <p:sp>
        <p:nvSpPr>
          <p:cNvPr id="15" name="Rectangle: Rounded Corners 14">
            <a:extLst>
              <a:ext uri="{FF2B5EF4-FFF2-40B4-BE49-F238E27FC236}">
                <a16:creationId xmlns:a16="http://schemas.microsoft.com/office/drawing/2014/main" id="{AC7273AB-D686-4BA0-A2ED-5C4C5C752DD6}"/>
              </a:ext>
            </a:extLst>
          </p:cNvPr>
          <p:cNvSpPr/>
          <p:nvPr/>
        </p:nvSpPr>
        <p:spPr>
          <a:xfrm>
            <a:off x="930637" y="4748003"/>
            <a:ext cx="1342663" cy="1339112"/>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a:t>Filter</a:t>
            </a:r>
            <a:endParaRPr lang="en-IN" dirty="0"/>
          </a:p>
          <a:p>
            <a:pPr marL="171450" indent="-171450" algn="ctr">
              <a:buFont typeface="Arial" panose="020B0604020202020204" pitchFamily="34" charset="0"/>
              <a:buChar char="•"/>
            </a:pPr>
            <a:r>
              <a:rPr lang="en-IN" sz="1100" dirty="0"/>
              <a:t>Mutual Information</a:t>
            </a:r>
          </a:p>
          <a:p>
            <a:pPr marL="171450" indent="-171450" algn="ctr">
              <a:buFont typeface="Arial" panose="020B0604020202020204" pitchFamily="34" charset="0"/>
              <a:buChar char="•"/>
            </a:pPr>
            <a:r>
              <a:rPr lang="en-IN" sz="1100" dirty="0"/>
              <a:t>Chi-square</a:t>
            </a:r>
          </a:p>
          <a:p>
            <a:pPr marL="171450" indent="-171450" algn="ctr">
              <a:buFont typeface="Arial" panose="020B0604020202020204" pitchFamily="34" charset="0"/>
              <a:buChar char="•"/>
            </a:pPr>
            <a:r>
              <a:rPr lang="en-IN" sz="1100" dirty="0"/>
              <a:t>ANOVA</a:t>
            </a:r>
          </a:p>
        </p:txBody>
      </p:sp>
      <p:cxnSp>
        <p:nvCxnSpPr>
          <p:cNvPr id="6" name="Straight Arrow Connector 5">
            <a:extLst>
              <a:ext uri="{FF2B5EF4-FFF2-40B4-BE49-F238E27FC236}">
                <a16:creationId xmlns:a16="http://schemas.microsoft.com/office/drawing/2014/main" id="{A139DFF8-1067-4CF1-B993-EC92ABED1EE1}"/>
              </a:ext>
            </a:extLst>
          </p:cNvPr>
          <p:cNvCxnSpPr>
            <a:cxnSpLocks/>
          </p:cNvCxnSpPr>
          <p:nvPr/>
        </p:nvCxnSpPr>
        <p:spPr>
          <a:xfrm flipH="1">
            <a:off x="1752600" y="4181383"/>
            <a:ext cx="1951299" cy="518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2955821-FD59-4946-B9CC-7D50720F1A08}"/>
              </a:ext>
            </a:extLst>
          </p:cNvPr>
          <p:cNvCxnSpPr>
            <a:cxnSpLocks/>
          </p:cNvCxnSpPr>
          <p:nvPr/>
        </p:nvCxnSpPr>
        <p:spPr>
          <a:xfrm>
            <a:off x="5062799" y="4136509"/>
            <a:ext cx="1807901" cy="4903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778B292-6097-4889-9F6C-568D62B2F1AD}"/>
              </a:ext>
            </a:extLst>
          </p:cNvPr>
          <p:cNvCxnSpPr>
            <a:cxnSpLocks/>
            <a:stCxn id="2" idx="2"/>
          </p:cNvCxnSpPr>
          <p:nvPr/>
        </p:nvCxnSpPr>
        <p:spPr>
          <a:xfrm>
            <a:off x="4383349" y="4172328"/>
            <a:ext cx="0" cy="5300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03351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a:extLst>
              <a:ext uri="{FF2B5EF4-FFF2-40B4-BE49-F238E27FC236}">
                <a16:creationId xmlns:a16="http://schemas.microsoft.com/office/drawing/2014/main" id="{BE7A8330-E4CB-4F06-AF3D-78EE7FBABC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 Box 4">
            <a:extLst>
              <a:ext uri="{FF2B5EF4-FFF2-40B4-BE49-F238E27FC236}">
                <a16:creationId xmlns:a16="http://schemas.microsoft.com/office/drawing/2014/main" id="{F4A11A03-1EE7-46BA-8B1E-07E5382C441D}"/>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36868" name="Picture 2">
            <a:extLst>
              <a:ext uri="{FF2B5EF4-FFF2-40B4-BE49-F238E27FC236}">
                <a16:creationId xmlns:a16="http://schemas.microsoft.com/office/drawing/2014/main" id="{A4104424-5FCD-4DB8-9BC4-375CD291B9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B427FDA7-43DD-4DA4-893B-C5CB6018355A}"/>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fld id="{841F66B6-980C-43F1-92A2-E9BCCE6784FD}" type="slidenum">
              <a:rPr lang="en-US" altLang="en-US" sz="1600" b="1">
                <a:solidFill>
                  <a:srgbClr val="FFFFFF"/>
                </a:solidFill>
                <a:latin typeface="Comic Sans MS" panose="030F0702030302020204" pitchFamily="66" charset="0"/>
              </a:rPr>
              <a:pPr algn="ctr" eaLnBrk="1" hangingPunct="1">
                <a:spcBef>
                  <a:spcPct val="0"/>
                </a:spcBef>
                <a:buFontTx/>
                <a:buNone/>
              </a:pPr>
              <a:t>17</a:t>
            </a:fld>
            <a:endParaRPr lang="en-US" altLang="en-US" sz="1600" b="1">
              <a:solidFill>
                <a:srgbClr val="FFFFFF"/>
              </a:solidFill>
              <a:latin typeface="Comic Sans MS" panose="030F0702030302020204" pitchFamily="66" charset="0"/>
            </a:endParaRPr>
          </a:p>
        </p:txBody>
      </p:sp>
      <p:sp>
        <p:nvSpPr>
          <p:cNvPr id="36870" name="Date Placeholder 7">
            <a:extLst>
              <a:ext uri="{FF2B5EF4-FFF2-40B4-BE49-F238E27FC236}">
                <a16:creationId xmlns:a16="http://schemas.microsoft.com/office/drawing/2014/main" id="{9EB8C82D-DEFC-4801-AA53-88AF7815FDE4}"/>
              </a:ext>
            </a:extLst>
          </p:cNvPr>
          <p:cNvSpPr>
            <a:spLocks noGrp="1"/>
          </p:cNvSpPr>
          <p:nvPr>
            <p:ph type="dt" sz="quarter" idx="10"/>
          </p:nvPr>
        </p:nvSpPr>
        <p:spPr>
          <a:xfrm>
            <a:off x="0" y="6564313"/>
            <a:ext cx="1752600" cy="412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80F0D9B-2FCB-4E51-9DE4-DEB44FC39F6E}" type="datetime3">
              <a:rPr lang="en-US" altLang="en-US" sz="1400" b="1" smtClean="0">
                <a:solidFill>
                  <a:srgbClr val="FF0066"/>
                </a:solidFill>
                <a:latin typeface="Arial Rounded MT Bold" panose="020F0704030504030204" pitchFamily="34" charset="0"/>
              </a:rPr>
              <a:pPr>
                <a:spcBef>
                  <a:spcPct val="0"/>
                </a:spcBef>
                <a:buFontTx/>
                <a:buNone/>
              </a:pPr>
              <a:t>18 April 2023</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F91DF1A8-F08B-4BFE-B4BC-1E8E2A31B81A}"/>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2" name="Oval 11">
            <a:extLst>
              <a:ext uri="{FF2B5EF4-FFF2-40B4-BE49-F238E27FC236}">
                <a16:creationId xmlns:a16="http://schemas.microsoft.com/office/drawing/2014/main" id="{29A766E0-309D-4A26-812C-8B210FB54A5E}"/>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36873" name="Picture 10" descr="A picture containing text, sign, watch&#10;&#10;Description automatically generated">
            <a:extLst>
              <a:ext uri="{FF2B5EF4-FFF2-40B4-BE49-F238E27FC236}">
                <a16:creationId xmlns:a16="http://schemas.microsoft.com/office/drawing/2014/main" id="{D7A2222C-D3FA-44A1-96FC-6B6E73C0CC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4" name="TextBox 1">
            <a:extLst>
              <a:ext uri="{FF2B5EF4-FFF2-40B4-BE49-F238E27FC236}">
                <a16:creationId xmlns:a16="http://schemas.microsoft.com/office/drawing/2014/main" id="{3C85D3C8-C5FC-4F02-8BB7-C78955787EEB}"/>
              </a:ext>
            </a:extLst>
          </p:cNvPr>
          <p:cNvSpPr txBox="1">
            <a:spLocks noChangeArrowheads="1"/>
          </p:cNvSpPr>
          <p:nvPr/>
        </p:nvSpPr>
        <p:spPr bwMode="auto">
          <a:xfrm>
            <a:off x="223907" y="809426"/>
            <a:ext cx="3581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b="1" u="sng" dirty="0">
                <a:latin typeface="Calibri (Body)"/>
                <a:ea typeface="Verdana" panose="020B0604030504040204" pitchFamily="34" charset="0"/>
                <a:cs typeface="Verdana" panose="020B0604030504040204" pitchFamily="34" charset="0"/>
              </a:rPr>
              <a:t>Module 2:  </a:t>
            </a:r>
          </a:p>
        </p:txBody>
      </p:sp>
      <p:sp>
        <p:nvSpPr>
          <p:cNvPr id="2" name="TextBox 1">
            <a:extLst>
              <a:ext uri="{FF2B5EF4-FFF2-40B4-BE49-F238E27FC236}">
                <a16:creationId xmlns:a16="http://schemas.microsoft.com/office/drawing/2014/main" id="{A8A79B7F-C3B4-41FF-AE2A-7A201EADA74C}"/>
              </a:ext>
            </a:extLst>
          </p:cNvPr>
          <p:cNvSpPr txBox="1"/>
          <p:nvPr/>
        </p:nvSpPr>
        <p:spPr>
          <a:xfrm>
            <a:off x="223907" y="1308446"/>
            <a:ext cx="8100047" cy="3485826"/>
          </a:xfrm>
          <a:prstGeom prst="rect">
            <a:avLst/>
          </a:prstGeom>
          <a:noFill/>
        </p:spPr>
        <p:txBody>
          <a:bodyPr wrap="square" rtlCol="0">
            <a:spAutoFit/>
          </a:bodyPr>
          <a:lstStyle/>
          <a:p>
            <a:r>
              <a:rPr lang="en-IN" sz="1600" b="1" dirty="0"/>
              <a:t>1. Mutual Information:</a:t>
            </a:r>
          </a:p>
          <a:p>
            <a:pPr marL="285750" indent="-285750" algn="just">
              <a:lnSpc>
                <a:spcPct val="150000"/>
              </a:lnSpc>
              <a:buFont typeface="Arial" panose="020B0604020202020204" pitchFamily="34" charset="0"/>
              <a:buChar char="•"/>
            </a:pPr>
            <a:r>
              <a:rPr lang="en-IN" sz="1600" dirty="0">
                <a:effectLst/>
                <a:ea typeface="Calibri" panose="020F0502020204030204" pitchFamily="34" charset="0"/>
                <a:cs typeface="Times New Roman" panose="02020603050405020304" pitchFamily="18" charset="0"/>
              </a:rPr>
              <a:t>            Mutual information measures how much information is communicated, on average, in one random variable about another.</a:t>
            </a:r>
          </a:p>
          <a:p>
            <a:pPr marL="285750" indent="-285750" algn="just">
              <a:lnSpc>
                <a:spcPct val="150000"/>
              </a:lnSpc>
              <a:buFont typeface="Arial" panose="020B0604020202020204" pitchFamily="34" charset="0"/>
              <a:buChar char="•"/>
            </a:pPr>
            <a:r>
              <a:rPr lang="en-IN" sz="1600" b="0" i="0" dirty="0">
                <a:effectLst/>
              </a:rPr>
              <a:t>            Mutual information is a measure of dependence or “</a:t>
            </a:r>
            <a:r>
              <a:rPr lang="en-IN" sz="1600" b="0" i="1" dirty="0">
                <a:effectLst/>
              </a:rPr>
              <a:t>mutual dependence</a:t>
            </a:r>
            <a:r>
              <a:rPr lang="en-IN" sz="1600" b="0" i="0" dirty="0">
                <a:effectLst/>
              </a:rPr>
              <a:t>” between two random variables. As such, the measure is symmetrical, meaning that</a:t>
            </a:r>
            <a:r>
              <a:rPr lang="en-IN" b="1" i="0" dirty="0">
                <a:effectLst/>
              </a:rPr>
              <a:t> </a:t>
            </a:r>
            <a:r>
              <a:rPr lang="en-IN" b="1" i="1" dirty="0">
                <a:effectLst/>
              </a:rPr>
              <a:t>I(X ; Y) = I(Y ; X)</a:t>
            </a:r>
            <a:r>
              <a:rPr lang="en-IN" b="1" i="0" dirty="0">
                <a:effectLst/>
              </a:rPr>
              <a:t>.</a:t>
            </a:r>
          </a:p>
          <a:p>
            <a:pPr algn="just"/>
            <a:endParaRPr lang="en-IN" b="1" dirty="0"/>
          </a:p>
          <a:p>
            <a:pPr algn="just"/>
            <a:r>
              <a:rPr lang="en-IN" b="1" dirty="0"/>
              <a:t>2. </a:t>
            </a:r>
            <a:r>
              <a:rPr lang="en-IN" sz="1600" b="1" spc="10" dirty="0">
                <a:effectLst/>
                <a:ea typeface="Calibri" panose="020F0502020204030204" pitchFamily="34" charset="0"/>
              </a:rPr>
              <a:t>Chi-square test:</a:t>
            </a:r>
          </a:p>
          <a:p>
            <a:pPr algn="just">
              <a:lnSpc>
                <a:spcPct val="150000"/>
              </a:lnSpc>
            </a:pPr>
            <a:r>
              <a:rPr lang="en-IN" sz="1600" i="1" spc="10" dirty="0">
                <a:ea typeface="Calibri" panose="020F0502020204030204" pitchFamily="34" charset="0"/>
              </a:rPr>
              <a:t>	</a:t>
            </a:r>
            <a:r>
              <a:rPr lang="en-IN" sz="1600" spc="10" dirty="0">
                <a:effectLst/>
                <a:ea typeface="Calibri" panose="020F0502020204030204" pitchFamily="34" charset="0"/>
              </a:rPr>
              <a:t>We calculate Chi-square between each feature and the target and select the desired number of features with best Chi-square scores. </a:t>
            </a:r>
            <a:br>
              <a:rPr lang="en-IN" sz="1600" spc="10" dirty="0">
                <a:effectLst/>
                <a:ea typeface="Calibri" panose="020F0502020204030204" pitchFamily="34" charset="0"/>
              </a:rPr>
            </a:br>
            <a:r>
              <a:rPr lang="en-IN" sz="1600" spc="10" dirty="0">
                <a:effectLst/>
                <a:ea typeface="Calibri" panose="020F0502020204030204" pitchFamily="34" charset="0"/>
              </a:rPr>
              <a:t>Chi- square score is given by :</a:t>
            </a:r>
            <a:endParaRPr lang="en-IN" b="1"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2A6B402-AAAD-464D-8A9F-BE46E12F7FDB}"/>
                  </a:ext>
                </a:extLst>
              </p:cNvPr>
              <p:cNvSpPr txBox="1"/>
              <p:nvPr/>
            </p:nvSpPr>
            <p:spPr>
              <a:xfrm>
                <a:off x="1787317" y="4954738"/>
                <a:ext cx="4973221" cy="537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IN" sz="1600" b="0" i="1" smtClean="0">
                              <a:latin typeface="Cambria Math" panose="02040503050406030204" pitchFamily="18" charset="0"/>
                            </a:rPr>
                            <m:t>𝑥</m:t>
                          </m:r>
                        </m:e>
                        <m:sup>
                          <m:r>
                            <a:rPr lang="en-IN" sz="1600" b="0" i="1" smtClean="0">
                              <a:latin typeface="Cambria Math" panose="02040503050406030204" pitchFamily="18" charset="0"/>
                            </a:rPr>
                            <m:t>2</m:t>
                          </m:r>
                        </m:sup>
                      </m:sSup>
                      <m:r>
                        <a:rPr lang="en-IN" sz="1600" b="0" i="1" smtClean="0">
                          <a:latin typeface="Cambria Math" panose="02040503050406030204" pitchFamily="18" charset="0"/>
                        </a:rPr>
                        <m:t>= </m:t>
                      </m:r>
                      <m:f>
                        <m:fPr>
                          <m:ctrlPr>
                            <a:rPr lang="en-IN" sz="1600" i="1" smtClean="0">
                              <a:latin typeface="Cambria Math" panose="02040503050406030204" pitchFamily="18" charset="0"/>
                            </a:rPr>
                          </m:ctrlPr>
                        </m:fPr>
                        <m:num>
                          <m:sSup>
                            <m:sSupPr>
                              <m:ctrlPr>
                                <a:rPr lang="en-IN" sz="1600" i="1" smtClean="0">
                                  <a:latin typeface="Cambria Math" panose="02040503050406030204" pitchFamily="18" charset="0"/>
                                </a:rPr>
                              </m:ctrlPr>
                            </m:sSupPr>
                            <m:e>
                              <m:d>
                                <m:dPr>
                                  <m:ctrlPr>
                                    <a:rPr lang="en-IN" sz="1600" i="1">
                                      <a:latin typeface="Cambria Math" panose="02040503050406030204" pitchFamily="18" charset="0"/>
                                    </a:rPr>
                                  </m:ctrlPr>
                                </m:dPr>
                                <m:e>
                                  <m:r>
                                    <a:rPr lang="en-IN" sz="1600" i="1">
                                      <a:latin typeface="Cambria Math" panose="02040503050406030204" pitchFamily="18" charset="0"/>
                                    </a:rPr>
                                    <m:t>𝑂𝑏𝑠𝑒𝑟𝑣𝑒𝑑</m:t>
                                  </m:r>
                                  <m:r>
                                    <a:rPr lang="en-IN" sz="1600" i="1">
                                      <a:latin typeface="Cambria Math" panose="02040503050406030204" pitchFamily="18" charset="0"/>
                                    </a:rPr>
                                    <m:t> </m:t>
                                  </m:r>
                                  <m:r>
                                    <a:rPr lang="en-IN" sz="1600" i="1">
                                      <a:latin typeface="Cambria Math" panose="02040503050406030204" pitchFamily="18" charset="0"/>
                                    </a:rPr>
                                    <m:t>𝑓𝑟𝑒𝑞𝑢𝑒𝑛𝑐𝑦</m:t>
                                  </m:r>
                                  <m:r>
                                    <a:rPr lang="en-IN" sz="1600" i="1">
                                      <a:latin typeface="Cambria Math" panose="02040503050406030204" pitchFamily="18" charset="0"/>
                                    </a:rPr>
                                    <m:t> −  </m:t>
                                  </m:r>
                                  <m:r>
                                    <a:rPr lang="en-IN" sz="1600" i="1">
                                      <a:latin typeface="Cambria Math" panose="02040503050406030204" pitchFamily="18" charset="0"/>
                                    </a:rPr>
                                    <m:t>𝑒𝑥𝑝𝑒𝑐𝑡𝑒𝑑</m:t>
                                  </m:r>
                                  <m:r>
                                    <a:rPr lang="en-IN" sz="1600" i="1">
                                      <a:latin typeface="Cambria Math" panose="02040503050406030204" pitchFamily="18" charset="0"/>
                                    </a:rPr>
                                    <m:t> </m:t>
                                  </m:r>
                                  <m:r>
                                    <a:rPr lang="en-IN" sz="1600" i="1">
                                      <a:latin typeface="Cambria Math" panose="02040503050406030204" pitchFamily="18" charset="0"/>
                                    </a:rPr>
                                    <m:t>𝑓𝑟𝑒𝑞𝑢𝑒𝑛𝑐𝑦</m:t>
                                  </m:r>
                                </m:e>
                              </m:d>
                            </m:e>
                            <m:sup>
                              <m:r>
                                <a:rPr lang="en-IN" sz="1600" b="0" i="1" smtClean="0">
                                  <a:latin typeface="Cambria Math" panose="02040503050406030204" pitchFamily="18" charset="0"/>
                                </a:rPr>
                                <m:t>2</m:t>
                              </m:r>
                            </m:sup>
                          </m:sSup>
                        </m:num>
                        <m:den>
                          <m:r>
                            <a:rPr lang="en-IN" sz="1600" b="0" i="1" smtClean="0">
                              <a:latin typeface="Cambria Math" panose="02040503050406030204" pitchFamily="18" charset="0"/>
                            </a:rPr>
                            <m:t>𝑒𝑥𝑝𝑒𝑐𝑡𝑒𝑑</m:t>
                          </m:r>
                          <m:r>
                            <a:rPr lang="en-IN" sz="1600" b="0" i="1" smtClean="0">
                              <a:latin typeface="Cambria Math" panose="02040503050406030204" pitchFamily="18" charset="0"/>
                            </a:rPr>
                            <m:t> </m:t>
                          </m:r>
                          <m:r>
                            <a:rPr lang="en-IN" sz="1600" b="0" i="1" smtClean="0">
                              <a:latin typeface="Cambria Math" panose="02040503050406030204" pitchFamily="18" charset="0"/>
                            </a:rPr>
                            <m:t>𝑓𝑟𝑒𝑞𝑢𝑒𝑛𝑐𝑦</m:t>
                          </m:r>
                        </m:den>
                      </m:f>
                    </m:oMath>
                  </m:oMathPara>
                </a14:m>
                <a:endParaRPr lang="en-IN" dirty="0"/>
              </a:p>
            </p:txBody>
          </p:sp>
        </mc:Choice>
        <mc:Fallback xmlns="">
          <p:sp>
            <p:nvSpPr>
              <p:cNvPr id="3" name="TextBox 2">
                <a:extLst>
                  <a:ext uri="{FF2B5EF4-FFF2-40B4-BE49-F238E27FC236}">
                    <a16:creationId xmlns:a16="http://schemas.microsoft.com/office/drawing/2014/main" id="{32A6B402-AAAD-464D-8A9F-BE46E12F7FDB}"/>
                  </a:ext>
                </a:extLst>
              </p:cNvPr>
              <p:cNvSpPr txBox="1">
                <a:spLocks noRot="1" noChangeAspect="1" noMove="1" noResize="1" noEditPoints="1" noAdjustHandles="1" noChangeArrowheads="1" noChangeShapeType="1" noTextEdit="1"/>
              </p:cNvSpPr>
              <p:nvPr/>
            </p:nvSpPr>
            <p:spPr>
              <a:xfrm>
                <a:off x="1787317" y="4954738"/>
                <a:ext cx="4973221" cy="537263"/>
              </a:xfrm>
              <a:prstGeom prst="rect">
                <a:avLst/>
              </a:prstGeom>
              <a:blipFill>
                <a:blip r:embed="rId5"/>
                <a:stretch>
                  <a:fillRect/>
                </a:stretch>
              </a:blipFill>
            </p:spPr>
            <p:txBody>
              <a:bodyPr/>
              <a:lstStyle/>
              <a:p>
                <a:r>
                  <a:rPr lang="en-IN">
                    <a:noFill/>
                  </a:rPr>
                  <a:t> </a:t>
                </a:r>
              </a:p>
            </p:txBody>
          </p:sp>
        </mc:Fallback>
      </mc:AlternateContent>
      <p:sp>
        <p:nvSpPr>
          <p:cNvPr id="5" name="AutoShape 2">
            <a:extLst>
              <a:ext uri="{FF2B5EF4-FFF2-40B4-BE49-F238E27FC236}">
                <a16:creationId xmlns:a16="http://schemas.microsoft.com/office/drawing/2014/main" id="{ECCDC517-061B-4F9B-8312-437C5D476E5A}"/>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TextBox 5">
            <a:extLst>
              <a:ext uri="{FF2B5EF4-FFF2-40B4-BE49-F238E27FC236}">
                <a16:creationId xmlns:a16="http://schemas.microsoft.com/office/drawing/2014/main" id="{40894A2E-AF0B-4F4E-8B33-0821339E8515}"/>
              </a:ext>
            </a:extLst>
          </p:cNvPr>
          <p:cNvSpPr txBox="1"/>
          <p:nvPr/>
        </p:nvSpPr>
        <p:spPr>
          <a:xfrm>
            <a:off x="260350" y="5536766"/>
            <a:ext cx="9144000" cy="1200329"/>
          </a:xfrm>
          <a:prstGeom prst="rect">
            <a:avLst/>
          </a:prstGeom>
          <a:noFill/>
        </p:spPr>
        <p:txBody>
          <a:bodyPr wrap="square" rtlCol="0">
            <a:spAutoFit/>
          </a:bodyPr>
          <a:lstStyle/>
          <a:p>
            <a:pPr fontAlgn="base"/>
            <a:r>
              <a:rPr lang="en-IN" sz="1400" b="1" spc="10" dirty="0">
                <a:effectLst/>
                <a:ea typeface="Times New Roman" panose="02020603050405020304" pitchFamily="18" charset="0"/>
              </a:rPr>
              <a:t>where –</a:t>
            </a:r>
            <a:endParaRPr lang="en-IN" sz="1400" dirty="0">
              <a:effectLst/>
              <a:ea typeface="Times New Roman" panose="02020603050405020304" pitchFamily="18" charset="0"/>
            </a:endParaRPr>
          </a:p>
          <a:p>
            <a:pPr fontAlgn="base"/>
            <a:r>
              <a:rPr lang="en-IN" sz="1400" b="1" spc="10" dirty="0">
                <a:effectLst/>
                <a:ea typeface="Times New Roman" panose="02020603050405020304" pitchFamily="18" charset="0"/>
              </a:rPr>
              <a:t>Observed frequency</a:t>
            </a:r>
            <a:r>
              <a:rPr lang="en-IN" sz="1400" spc="10" dirty="0">
                <a:effectLst/>
                <a:ea typeface="Times New Roman" panose="02020603050405020304" pitchFamily="18" charset="0"/>
              </a:rPr>
              <a:t> = No. of observations of class</a:t>
            </a:r>
            <a:br>
              <a:rPr lang="en-IN" sz="1400" spc="10" dirty="0">
                <a:effectLst/>
                <a:ea typeface="Times New Roman" panose="02020603050405020304" pitchFamily="18" charset="0"/>
              </a:rPr>
            </a:br>
            <a:r>
              <a:rPr lang="en-IN" sz="1400" b="1" spc="10" dirty="0">
                <a:effectLst/>
                <a:ea typeface="Times New Roman" panose="02020603050405020304" pitchFamily="18" charset="0"/>
              </a:rPr>
              <a:t>Expected frequency </a:t>
            </a:r>
            <a:r>
              <a:rPr lang="en-IN" sz="1400" spc="10" dirty="0">
                <a:effectLst/>
                <a:ea typeface="Times New Roman" panose="02020603050405020304" pitchFamily="18" charset="0"/>
              </a:rPr>
              <a:t>= No. of expected observations of class if there was no relationship between the feature and the target.</a:t>
            </a:r>
            <a:endParaRPr lang="en-IN" sz="1400" dirty="0">
              <a:effectLst/>
              <a:ea typeface="Times New Roman" panose="02020603050405020304" pitchFamily="18" charset="0"/>
            </a:endParaRPr>
          </a:p>
          <a:p>
            <a:endParaRPr lang="en-IN" sz="1600" dirty="0"/>
          </a:p>
        </p:txBody>
      </p:sp>
    </p:spTree>
    <p:extLst>
      <p:ext uri="{BB962C8B-B14F-4D97-AF65-F5344CB8AC3E}">
        <p14:creationId xmlns:p14="http://schemas.microsoft.com/office/powerpoint/2010/main" val="26604870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a:extLst>
              <a:ext uri="{FF2B5EF4-FFF2-40B4-BE49-F238E27FC236}">
                <a16:creationId xmlns:a16="http://schemas.microsoft.com/office/drawing/2014/main" id="{BE7A8330-E4CB-4F06-AF3D-78EE7FBABC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 Box 4">
            <a:extLst>
              <a:ext uri="{FF2B5EF4-FFF2-40B4-BE49-F238E27FC236}">
                <a16:creationId xmlns:a16="http://schemas.microsoft.com/office/drawing/2014/main" id="{F4A11A03-1EE7-46BA-8B1E-07E5382C441D}"/>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36868" name="Picture 2">
            <a:extLst>
              <a:ext uri="{FF2B5EF4-FFF2-40B4-BE49-F238E27FC236}">
                <a16:creationId xmlns:a16="http://schemas.microsoft.com/office/drawing/2014/main" id="{A4104424-5FCD-4DB8-9BC4-375CD291B9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B427FDA7-43DD-4DA4-893B-C5CB6018355A}"/>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fld id="{841F66B6-980C-43F1-92A2-E9BCCE6784FD}" type="slidenum">
              <a:rPr lang="en-US" altLang="en-US" sz="1600" b="1">
                <a:solidFill>
                  <a:srgbClr val="FFFFFF"/>
                </a:solidFill>
                <a:latin typeface="Comic Sans MS" panose="030F0702030302020204" pitchFamily="66" charset="0"/>
              </a:rPr>
              <a:pPr algn="ctr" eaLnBrk="1" hangingPunct="1">
                <a:spcBef>
                  <a:spcPct val="0"/>
                </a:spcBef>
                <a:buFontTx/>
                <a:buNone/>
              </a:pPr>
              <a:t>18</a:t>
            </a:fld>
            <a:endParaRPr lang="en-US" altLang="en-US" sz="1600" b="1">
              <a:solidFill>
                <a:srgbClr val="FFFFFF"/>
              </a:solidFill>
              <a:latin typeface="Comic Sans MS" panose="030F0702030302020204" pitchFamily="66" charset="0"/>
            </a:endParaRPr>
          </a:p>
        </p:txBody>
      </p:sp>
      <p:sp>
        <p:nvSpPr>
          <p:cNvPr id="36870" name="Date Placeholder 7">
            <a:extLst>
              <a:ext uri="{FF2B5EF4-FFF2-40B4-BE49-F238E27FC236}">
                <a16:creationId xmlns:a16="http://schemas.microsoft.com/office/drawing/2014/main" id="{9EB8C82D-DEFC-4801-AA53-88AF7815FDE4}"/>
              </a:ext>
            </a:extLst>
          </p:cNvPr>
          <p:cNvSpPr>
            <a:spLocks noGrp="1"/>
          </p:cNvSpPr>
          <p:nvPr>
            <p:ph type="dt" sz="quarter" idx="10"/>
          </p:nvPr>
        </p:nvSpPr>
        <p:spPr>
          <a:xfrm>
            <a:off x="0" y="6564313"/>
            <a:ext cx="1752600" cy="412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80F0D9B-2FCB-4E51-9DE4-DEB44FC39F6E}" type="datetime3">
              <a:rPr lang="en-US" altLang="en-US" sz="1400" b="1" smtClean="0">
                <a:solidFill>
                  <a:srgbClr val="FF0066"/>
                </a:solidFill>
                <a:latin typeface="Arial Rounded MT Bold" panose="020F0704030504030204" pitchFamily="34" charset="0"/>
              </a:rPr>
              <a:pPr>
                <a:spcBef>
                  <a:spcPct val="0"/>
                </a:spcBef>
                <a:buFontTx/>
                <a:buNone/>
              </a:pPr>
              <a:t>18 April 2023</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F91DF1A8-F08B-4BFE-B4BC-1E8E2A31B81A}"/>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2" name="Oval 11">
            <a:extLst>
              <a:ext uri="{FF2B5EF4-FFF2-40B4-BE49-F238E27FC236}">
                <a16:creationId xmlns:a16="http://schemas.microsoft.com/office/drawing/2014/main" id="{29A766E0-309D-4A26-812C-8B210FB54A5E}"/>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36873" name="Picture 10" descr="A picture containing text, sign, watch&#10;&#10;Description automatically generated">
            <a:extLst>
              <a:ext uri="{FF2B5EF4-FFF2-40B4-BE49-F238E27FC236}">
                <a16:creationId xmlns:a16="http://schemas.microsoft.com/office/drawing/2014/main" id="{D7A2222C-D3FA-44A1-96FC-6B6E73C0CC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A8A79B7F-C3B4-41FF-AE2A-7A201EADA74C}"/>
              </a:ext>
            </a:extLst>
          </p:cNvPr>
          <p:cNvSpPr txBox="1"/>
          <p:nvPr/>
        </p:nvSpPr>
        <p:spPr>
          <a:xfrm>
            <a:off x="223630" y="948690"/>
            <a:ext cx="8696739" cy="5909310"/>
          </a:xfrm>
          <a:prstGeom prst="rect">
            <a:avLst/>
          </a:prstGeom>
          <a:noFill/>
        </p:spPr>
        <p:txBody>
          <a:bodyPr wrap="square" rtlCol="0">
            <a:spAutoFit/>
          </a:bodyPr>
          <a:lstStyle/>
          <a:p>
            <a:r>
              <a:rPr lang="en-IN" sz="1600" b="1" dirty="0"/>
              <a:t>3. ANOVA test:</a:t>
            </a:r>
          </a:p>
          <a:p>
            <a:pPr marL="285750" indent="-285750" algn="just">
              <a:lnSpc>
                <a:spcPct val="150000"/>
              </a:lnSpc>
              <a:buFont typeface="Arial" panose="020B0604020202020204" pitchFamily="34" charset="0"/>
              <a:buChar char="•"/>
            </a:pPr>
            <a:r>
              <a:rPr lang="en-IN" sz="1600" dirty="0">
                <a:effectLst/>
                <a:ea typeface="Times New Roman" panose="02020603050405020304" pitchFamily="18" charset="0"/>
              </a:rPr>
              <a:t>	ANOVA - “</a:t>
            </a:r>
            <a:r>
              <a:rPr lang="en-IN" sz="1600" u="none" strike="noStrike" dirty="0">
                <a:effectLst/>
                <a:ea typeface="Times New Roman" panose="02020603050405020304" pitchFamily="18" charset="0"/>
                <a:hlinkClick r:id="rId5">
                  <a:extLst>
                    <a:ext uri="{A12FA001-AC4F-418D-AE19-62706E023703}">
                      <ahyp:hlinkClr xmlns:ahyp="http://schemas.microsoft.com/office/drawing/2018/hyperlinkcolor" val="tx"/>
                    </a:ext>
                  </a:extLst>
                </a:hlinkClick>
              </a:rPr>
              <a:t>analysis of variance</a:t>
            </a:r>
            <a:r>
              <a:rPr lang="en-IN" sz="1600" dirty="0">
                <a:effectLst/>
                <a:ea typeface="Times New Roman" panose="02020603050405020304" pitchFamily="18" charset="0"/>
              </a:rPr>
              <a:t>” and is a parametric statistical hypothesis test for determining whether the means from two or more samples of data (often three or more) come from the same distribution or not. </a:t>
            </a:r>
            <a:r>
              <a:rPr lang="en-IN" sz="1600" b="0" i="0" dirty="0">
                <a:solidFill>
                  <a:srgbClr val="FFFFFF"/>
                </a:solidFill>
                <a:effectLst/>
                <a:latin typeface="Inter"/>
              </a:rPr>
              <a:t> </a:t>
            </a:r>
          </a:p>
          <a:p>
            <a:pPr marL="285750" indent="-285750" algn="just">
              <a:lnSpc>
                <a:spcPct val="150000"/>
              </a:lnSpc>
              <a:buFont typeface="Arial" panose="020B0604020202020204" pitchFamily="34" charset="0"/>
              <a:buChar char="•"/>
            </a:pPr>
            <a:r>
              <a:rPr lang="en-IN" sz="1600" dirty="0">
                <a:solidFill>
                  <a:srgbClr val="FFFFFF"/>
                </a:solidFill>
                <a:latin typeface="Inter"/>
              </a:rPr>
              <a:t>	</a:t>
            </a:r>
            <a:r>
              <a:rPr lang="en-IN" sz="1600" b="0" i="0" dirty="0">
                <a:effectLst/>
                <a:latin typeface="Inter"/>
              </a:rPr>
              <a:t>Each of the features of the data will be ranked according to the F-statistic component, and the features with the higher scores can be selected as the optimal set of components from the data available. </a:t>
            </a:r>
          </a:p>
          <a:p>
            <a:pPr algn="just"/>
            <a:endParaRPr lang="en-IN" sz="1600" dirty="0">
              <a:latin typeface="Inter"/>
            </a:endParaRPr>
          </a:p>
          <a:p>
            <a:pPr algn="just"/>
            <a:endParaRPr lang="en-IN" sz="1600" dirty="0">
              <a:latin typeface="Inter"/>
            </a:endParaRPr>
          </a:p>
          <a:p>
            <a:pPr algn="just"/>
            <a:r>
              <a:rPr lang="en-IN" sz="1600" b="1" dirty="0">
                <a:latin typeface="Inter"/>
              </a:rPr>
              <a:t>4. Sequential Forward Selection:</a:t>
            </a:r>
          </a:p>
          <a:p>
            <a:pPr marL="285750" indent="-285750" algn="just">
              <a:lnSpc>
                <a:spcPct val="150000"/>
              </a:lnSpc>
              <a:buFont typeface="Arial" panose="020B0604020202020204" pitchFamily="34" charset="0"/>
              <a:buChar char="•"/>
            </a:pPr>
            <a:r>
              <a:rPr lang="en-IN" sz="1600" dirty="0"/>
              <a:t>	First, the best single feature is selected using some criterion function. Then, pairs of features are formed using one of the remaining features and this best feature, and the best pair is selected. </a:t>
            </a:r>
          </a:p>
          <a:p>
            <a:pPr marL="285750" indent="-285750" algn="just">
              <a:lnSpc>
                <a:spcPct val="150000"/>
              </a:lnSpc>
              <a:buFont typeface="Arial" panose="020B0604020202020204" pitchFamily="34" charset="0"/>
              <a:buChar char="•"/>
            </a:pPr>
            <a:r>
              <a:rPr lang="en-IN" sz="1600" dirty="0"/>
              <a:t>	Next, triplets of features are formed using one of the remaining features and these two best features, and the best triplet is selected. </a:t>
            </a:r>
          </a:p>
          <a:p>
            <a:pPr marL="285750" indent="-285750" algn="just">
              <a:lnSpc>
                <a:spcPct val="150000"/>
              </a:lnSpc>
              <a:buFont typeface="Arial" panose="020B0604020202020204" pitchFamily="34" charset="0"/>
              <a:buChar char="•"/>
            </a:pPr>
            <a:r>
              <a:rPr lang="en-IN" sz="1600" dirty="0"/>
              <a:t>	This procedure continues until a predefined number of features are selected.</a:t>
            </a:r>
          </a:p>
          <a:p>
            <a:pPr algn="just"/>
            <a:endParaRPr lang="en-IN" sz="1600" b="1" dirty="0">
              <a:latin typeface="Inter"/>
            </a:endParaRPr>
          </a:p>
          <a:p>
            <a:pPr algn="just"/>
            <a:endParaRPr lang="en-IN" sz="1600" b="1" dirty="0"/>
          </a:p>
          <a:p>
            <a:endParaRPr lang="en-IN" b="1" dirty="0"/>
          </a:p>
        </p:txBody>
      </p:sp>
      <p:sp>
        <p:nvSpPr>
          <p:cNvPr id="5" name="AutoShape 2">
            <a:extLst>
              <a:ext uri="{FF2B5EF4-FFF2-40B4-BE49-F238E27FC236}">
                <a16:creationId xmlns:a16="http://schemas.microsoft.com/office/drawing/2014/main" id="{ECCDC517-061B-4F9B-8312-437C5D476E5A}"/>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9062712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a:extLst>
              <a:ext uri="{FF2B5EF4-FFF2-40B4-BE49-F238E27FC236}">
                <a16:creationId xmlns:a16="http://schemas.microsoft.com/office/drawing/2014/main" id="{BE7A8330-E4CB-4F06-AF3D-78EE7FBABC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 Box 4">
            <a:extLst>
              <a:ext uri="{FF2B5EF4-FFF2-40B4-BE49-F238E27FC236}">
                <a16:creationId xmlns:a16="http://schemas.microsoft.com/office/drawing/2014/main" id="{F4A11A03-1EE7-46BA-8B1E-07E5382C441D}"/>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36868" name="Picture 2">
            <a:extLst>
              <a:ext uri="{FF2B5EF4-FFF2-40B4-BE49-F238E27FC236}">
                <a16:creationId xmlns:a16="http://schemas.microsoft.com/office/drawing/2014/main" id="{A4104424-5FCD-4DB8-9BC4-375CD291B9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B427FDA7-43DD-4DA4-893B-C5CB6018355A}"/>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fld id="{841F66B6-980C-43F1-92A2-E9BCCE6784FD}" type="slidenum">
              <a:rPr lang="en-US" altLang="en-US" sz="1600" b="1">
                <a:solidFill>
                  <a:srgbClr val="FFFFFF"/>
                </a:solidFill>
                <a:latin typeface="Comic Sans MS" panose="030F0702030302020204" pitchFamily="66" charset="0"/>
              </a:rPr>
              <a:pPr algn="ctr" eaLnBrk="1" hangingPunct="1">
                <a:spcBef>
                  <a:spcPct val="0"/>
                </a:spcBef>
                <a:buFontTx/>
                <a:buNone/>
              </a:pPr>
              <a:t>19</a:t>
            </a:fld>
            <a:endParaRPr lang="en-US" altLang="en-US" sz="1600" b="1">
              <a:solidFill>
                <a:srgbClr val="FFFFFF"/>
              </a:solidFill>
              <a:latin typeface="Comic Sans MS" panose="030F0702030302020204" pitchFamily="66" charset="0"/>
            </a:endParaRPr>
          </a:p>
        </p:txBody>
      </p:sp>
      <p:sp>
        <p:nvSpPr>
          <p:cNvPr id="36870" name="Date Placeholder 7">
            <a:extLst>
              <a:ext uri="{FF2B5EF4-FFF2-40B4-BE49-F238E27FC236}">
                <a16:creationId xmlns:a16="http://schemas.microsoft.com/office/drawing/2014/main" id="{9EB8C82D-DEFC-4801-AA53-88AF7815FDE4}"/>
              </a:ext>
            </a:extLst>
          </p:cNvPr>
          <p:cNvSpPr>
            <a:spLocks noGrp="1"/>
          </p:cNvSpPr>
          <p:nvPr>
            <p:ph type="dt" sz="quarter" idx="10"/>
          </p:nvPr>
        </p:nvSpPr>
        <p:spPr>
          <a:xfrm>
            <a:off x="0" y="6564313"/>
            <a:ext cx="1752600" cy="412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80F0D9B-2FCB-4E51-9DE4-DEB44FC39F6E}" type="datetime3">
              <a:rPr lang="en-US" altLang="en-US" sz="1400" b="1" smtClean="0">
                <a:solidFill>
                  <a:srgbClr val="FF0066"/>
                </a:solidFill>
                <a:latin typeface="Arial Rounded MT Bold" panose="020F0704030504030204" pitchFamily="34" charset="0"/>
              </a:rPr>
              <a:pPr>
                <a:spcBef>
                  <a:spcPct val="0"/>
                </a:spcBef>
                <a:buFontTx/>
                <a:buNone/>
              </a:pPr>
              <a:t>18 April 2023</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F91DF1A8-F08B-4BFE-B4BC-1E8E2A31B81A}"/>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2" name="Oval 11">
            <a:extLst>
              <a:ext uri="{FF2B5EF4-FFF2-40B4-BE49-F238E27FC236}">
                <a16:creationId xmlns:a16="http://schemas.microsoft.com/office/drawing/2014/main" id="{29A766E0-309D-4A26-812C-8B210FB54A5E}"/>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36873" name="Picture 10" descr="A picture containing text, sign, watch&#10;&#10;Description automatically generated">
            <a:extLst>
              <a:ext uri="{FF2B5EF4-FFF2-40B4-BE49-F238E27FC236}">
                <a16:creationId xmlns:a16="http://schemas.microsoft.com/office/drawing/2014/main" id="{D7A2222C-D3FA-44A1-96FC-6B6E73C0CC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A8A79B7F-C3B4-41FF-AE2A-7A201EADA74C}"/>
              </a:ext>
            </a:extLst>
          </p:cNvPr>
          <p:cNvSpPr txBox="1"/>
          <p:nvPr/>
        </p:nvSpPr>
        <p:spPr>
          <a:xfrm>
            <a:off x="213238" y="837525"/>
            <a:ext cx="8633899" cy="5786199"/>
          </a:xfrm>
          <a:prstGeom prst="rect">
            <a:avLst/>
          </a:prstGeom>
          <a:noFill/>
        </p:spPr>
        <p:txBody>
          <a:bodyPr wrap="square" rtlCol="0">
            <a:spAutoFit/>
          </a:bodyPr>
          <a:lstStyle/>
          <a:p>
            <a:pPr algn="just"/>
            <a:r>
              <a:rPr lang="en-IN" sz="1600" b="1" dirty="0">
                <a:latin typeface="Inter"/>
              </a:rPr>
              <a:t>5. Sequential Backward Elimination:</a:t>
            </a:r>
          </a:p>
          <a:p>
            <a:pPr marL="285750" indent="-285750" algn="just">
              <a:lnSpc>
                <a:spcPct val="150000"/>
              </a:lnSpc>
              <a:buFont typeface="Arial" panose="020B0604020202020204" pitchFamily="34" charset="0"/>
              <a:buChar char="•"/>
            </a:pPr>
            <a:r>
              <a:rPr lang="en-IN" sz="1600" dirty="0"/>
              <a:t>	First, the criterion function is computed for all n features. Then, each feature is deleted one at time, the criterion function is computed for all subsets with n-1 features, and the worst feature is discarded. </a:t>
            </a:r>
          </a:p>
          <a:p>
            <a:pPr marL="285750" indent="-285750" algn="just">
              <a:lnSpc>
                <a:spcPct val="150000"/>
              </a:lnSpc>
              <a:buFont typeface="Arial" panose="020B0604020202020204" pitchFamily="34" charset="0"/>
              <a:buChar char="•"/>
            </a:pPr>
            <a:r>
              <a:rPr lang="en-IN" sz="1600" dirty="0"/>
              <a:t>	This procedure continues until a predefined number of features are left.</a:t>
            </a:r>
            <a:endParaRPr lang="en-IN" sz="1600" b="1" dirty="0">
              <a:latin typeface="Inter"/>
            </a:endParaRPr>
          </a:p>
          <a:p>
            <a:pPr algn="just"/>
            <a:endParaRPr lang="en-IN" sz="1600" b="1" dirty="0"/>
          </a:p>
          <a:p>
            <a:pPr algn="just"/>
            <a:endParaRPr lang="en-IN" sz="1600" b="1" dirty="0"/>
          </a:p>
          <a:p>
            <a:pPr algn="just"/>
            <a:r>
              <a:rPr lang="en-IN" sz="1600" b="1" dirty="0"/>
              <a:t>6. Boruta Feature Selection:</a:t>
            </a:r>
          </a:p>
          <a:p>
            <a:pPr marL="285750" indent="-285750" algn="just">
              <a:lnSpc>
                <a:spcPct val="150000"/>
              </a:lnSpc>
              <a:buFont typeface="Arial" panose="020B0604020202020204" pitchFamily="34" charset="0"/>
              <a:buChar char="•"/>
            </a:pPr>
            <a:r>
              <a:rPr lang="en-IN" sz="1600" b="0" i="0" dirty="0">
                <a:solidFill>
                  <a:srgbClr val="333333"/>
                </a:solidFill>
                <a:effectLst/>
              </a:rPr>
              <a:t>	Firstly, it adds randomness to the given data set by creating shuffled copies of all features which are called </a:t>
            </a:r>
            <a:r>
              <a:rPr lang="en-IN" sz="1600" b="1" i="0" dirty="0">
                <a:solidFill>
                  <a:srgbClr val="333333"/>
                </a:solidFill>
                <a:effectLst/>
              </a:rPr>
              <a:t>Shadow Features</a:t>
            </a:r>
            <a:r>
              <a:rPr lang="en-IN" sz="1600" b="0" i="0" dirty="0">
                <a:solidFill>
                  <a:srgbClr val="333333"/>
                </a:solidFill>
                <a:effectLst/>
              </a:rPr>
              <a:t>. 	</a:t>
            </a:r>
          </a:p>
          <a:p>
            <a:pPr marL="285750" indent="-285750">
              <a:lnSpc>
                <a:spcPct val="150000"/>
              </a:lnSpc>
              <a:buFont typeface="Arial" panose="020B0604020202020204" pitchFamily="34" charset="0"/>
              <a:buChar char="•"/>
            </a:pPr>
            <a:r>
              <a:rPr lang="en-IN" sz="1600" b="0" i="0" dirty="0">
                <a:solidFill>
                  <a:srgbClr val="333333"/>
                </a:solidFill>
                <a:effectLst/>
              </a:rPr>
              <a:t>	Then, it trains a </a:t>
            </a:r>
            <a:r>
              <a:rPr lang="en-IN" sz="1600" b="1" i="0" dirty="0">
                <a:solidFill>
                  <a:srgbClr val="333333"/>
                </a:solidFill>
                <a:effectLst/>
              </a:rPr>
              <a:t>Random Forest classifier</a:t>
            </a:r>
            <a:r>
              <a:rPr lang="en-IN" sz="1600" b="0" i="0" dirty="0">
                <a:solidFill>
                  <a:srgbClr val="333333"/>
                </a:solidFill>
                <a:effectLst/>
              </a:rPr>
              <a:t> on this extended data set and applies a feature importance measure such as </a:t>
            </a:r>
            <a:r>
              <a:rPr lang="en-IN" sz="1600" b="1" i="0" dirty="0">
                <a:solidFill>
                  <a:srgbClr val="333333"/>
                </a:solidFill>
                <a:effectLst/>
              </a:rPr>
              <a:t>Mean Decrease Accuracy</a:t>
            </a:r>
            <a:r>
              <a:rPr lang="en-IN" sz="1600" b="0" i="0" dirty="0">
                <a:solidFill>
                  <a:srgbClr val="333333"/>
                </a:solidFill>
                <a:effectLst/>
              </a:rPr>
              <a:t>, and evaluates the importance of each feature.</a:t>
            </a:r>
          </a:p>
          <a:p>
            <a:pPr marL="285750" indent="-285750">
              <a:lnSpc>
                <a:spcPct val="150000"/>
              </a:lnSpc>
              <a:buFont typeface="Arial" panose="020B0604020202020204" pitchFamily="34" charset="0"/>
              <a:buChar char="•"/>
            </a:pPr>
            <a:r>
              <a:rPr lang="en-IN" sz="1600" b="0" i="0" dirty="0">
                <a:solidFill>
                  <a:srgbClr val="333333"/>
                </a:solidFill>
                <a:effectLst/>
              </a:rPr>
              <a:t>At every iteration, Boruta Algorithm checks whether a real feature has a higher importance. </a:t>
            </a:r>
          </a:p>
          <a:p>
            <a:pPr marL="285750" indent="-285750">
              <a:lnSpc>
                <a:spcPct val="150000"/>
              </a:lnSpc>
              <a:buFont typeface="Arial" panose="020B0604020202020204" pitchFamily="34" charset="0"/>
              <a:buChar char="•"/>
            </a:pPr>
            <a:r>
              <a:rPr lang="en-IN" sz="1600" dirty="0"/>
              <a:t>F</a:t>
            </a:r>
            <a:r>
              <a:rPr lang="en-IN" sz="1600" b="0" i="0" dirty="0">
                <a:solidFill>
                  <a:srgbClr val="333333"/>
                </a:solidFill>
                <a:effectLst/>
              </a:rPr>
              <a:t>inally, the Boruta Algorithm stops either when all features gets confirmed or rejected or it reaches a specified limit of random forest.</a:t>
            </a:r>
            <a:endParaRPr lang="en-IN" sz="1600" b="1" dirty="0"/>
          </a:p>
          <a:p>
            <a:endParaRPr lang="en-IN" b="1" dirty="0"/>
          </a:p>
        </p:txBody>
      </p:sp>
      <p:sp>
        <p:nvSpPr>
          <p:cNvPr id="5" name="AutoShape 2">
            <a:extLst>
              <a:ext uri="{FF2B5EF4-FFF2-40B4-BE49-F238E27FC236}">
                <a16:creationId xmlns:a16="http://schemas.microsoft.com/office/drawing/2014/main" id="{ECCDC517-061B-4F9B-8312-437C5D476E5A}"/>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0044938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a:extLst>
              <a:ext uri="{FF2B5EF4-FFF2-40B4-BE49-F238E27FC236}">
                <a16:creationId xmlns:a16="http://schemas.microsoft.com/office/drawing/2014/main" id="{BE7A8330-E4CB-4F06-AF3D-78EE7FBABC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 Box 4">
            <a:extLst>
              <a:ext uri="{FF2B5EF4-FFF2-40B4-BE49-F238E27FC236}">
                <a16:creationId xmlns:a16="http://schemas.microsoft.com/office/drawing/2014/main" id="{F4A11A03-1EE7-46BA-8B1E-07E5382C441D}"/>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36868" name="Picture 2">
            <a:extLst>
              <a:ext uri="{FF2B5EF4-FFF2-40B4-BE49-F238E27FC236}">
                <a16:creationId xmlns:a16="http://schemas.microsoft.com/office/drawing/2014/main" id="{A4104424-5FCD-4DB8-9BC4-375CD291B9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B427FDA7-43DD-4DA4-893B-C5CB6018355A}"/>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fld id="{841F66B6-980C-43F1-92A2-E9BCCE6784FD}" type="slidenum">
              <a:rPr lang="en-US" altLang="en-US" sz="1600" b="1">
                <a:solidFill>
                  <a:srgbClr val="FFFFFF"/>
                </a:solidFill>
                <a:latin typeface="Comic Sans MS" panose="030F0702030302020204" pitchFamily="66" charset="0"/>
              </a:rPr>
              <a:pPr algn="ctr" eaLnBrk="1" hangingPunct="1">
                <a:spcBef>
                  <a:spcPct val="0"/>
                </a:spcBef>
                <a:buFontTx/>
                <a:buNone/>
              </a:pPr>
              <a:t>20</a:t>
            </a:fld>
            <a:endParaRPr lang="en-US" altLang="en-US" sz="1600" b="1">
              <a:solidFill>
                <a:srgbClr val="FFFFFF"/>
              </a:solidFill>
              <a:latin typeface="Comic Sans MS" panose="030F0702030302020204" pitchFamily="66" charset="0"/>
            </a:endParaRPr>
          </a:p>
        </p:txBody>
      </p:sp>
      <p:sp>
        <p:nvSpPr>
          <p:cNvPr id="36870" name="Date Placeholder 7">
            <a:extLst>
              <a:ext uri="{FF2B5EF4-FFF2-40B4-BE49-F238E27FC236}">
                <a16:creationId xmlns:a16="http://schemas.microsoft.com/office/drawing/2014/main" id="{9EB8C82D-DEFC-4801-AA53-88AF7815FDE4}"/>
              </a:ext>
            </a:extLst>
          </p:cNvPr>
          <p:cNvSpPr>
            <a:spLocks noGrp="1"/>
          </p:cNvSpPr>
          <p:nvPr>
            <p:ph type="dt" sz="quarter" idx="10"/>
          </p:nvPr>
        </p:nvSpPr>
        <p:spPr>
          <a:xfrm>
            <a:off x="0" y="6564313"/>
            <a:ext cx="1752600" cy="412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80F0D9B-2FCB-4E51-9DE4-DEB44FC39F6E}" type="datetime3">
              <a:rPr lang="en-US" altLang="en-US" sz="1400" b="1" smtClean="0">
                <a:solidFill>
                  <a:srgbClr val="FF0066"/>
                </a:solidFill>
                <a:latin typeface="Arial Rounded MT Bold" panose="020F0704030504030204" pitchFamily="34" charset="0"/>
              </a:rPr>
              <a:pPr>
                <a:spcBef>
                  <a:spcPct val="0"/>
                </a:spcBef>
                <a:buFontTx/>
                <a:buNone/>
              </a:pPr>
              <a:t>18 April 2023</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F91DF1A8-F08B-4BFE-B4BC-1E8E2A31B81A}"/>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2" name="Oval 11">
            <a:extLst>
              <a:ext uri="{FF2B5EF4-FFF2-40B4-BE49-F238E27FC236}">
                <a16:creationId xmlns:a16="http://schemas.microsoft.com/office/drawing/2014/main" id="{29A766E0-309D-4A26-812C-8B210FB54A5E}"/>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36873" name="Picture 10" descr="A picture containing text, sign, watch&#10;&#10;Description automatically generated">
            <a:extLst>
              <a:ext uri="{FF2B5EF4-FFF2-40B4-BE49-F238E27FC236}">
                <a16:creationId xmlns:a16="http://schemas.microsoft.com/office/drawing/2014/main" id="{D7A2222C-D3FA-44A1-96FC-6B6E73C0CC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A8A79B7F-C3B4-41FF-AE2A-7A201EADA74C}"/>
              </a:ext>
            </a:extLst>
          </p:cNvPr>
          <p:cNvSpPr txBox="1"/>
          <p:nvPr/>
        </p:nvSpPr>
        <p:spPr>
          <a:xfrm>
            <a:off x="102650" y="975420"/>
            <a:ext cx="8633899" cy="5262979"/>
          </a:xfrm>
          <a:prstGeom prst="rect">
            <a:avLst/>
          </a:prstGeom>
          <a:noFill/>
        </p:spPr>
        <p:txBody>
          <a:bodyPr wrap="square" rtlCol="0">
            <a:spAutoFit/>
          </a:bodyPr>
          <a:lstStyle/>
          <a:p>
            <a:pPr algn="just"/>
            <a:r>
              <a:rPr lang="en-IN" sz="1600" b="1" dirty="0">
                <a:latin typeface="Inter"/>
              </a:rPr>
              <a:t>7. LASSO L1 regularization:</a:t>
            </a:r>
          </a:p>
          <a:p>
            <a:pPr marL="285750" indent="-285750" algn="just">
              <a:lnSpc>
                <a:spcPct val="150000"/>
              </a:lnSpc>
              <a:buFont typeface="Arial" panose="020B0604020202020204" pitchFamily="34" charset="0"/>
              <a:buChar char="•"/>
            </a:pPr>
            <a:r>
              <a:rPr lang="en-IN" sz="1600" dirty="0"/>
              <a:t>	</a:t>
            </a:r>
            <a:r>
              <a:rPr lang="en-IN" sz="1600" b="0" i="0" dirty="0">
                <a:solidFill>
                  <a:srgbClr val="57595D"/>
                </a:solidFill>
                <a:effectLst/>
                <a:latin typeface="Open Sans" panose="020B0606030504020204" pitchFamily="34" charset="0"/>
              </a:rPr>
              <a:t> </a:t>
            </a:r>
            <a:r>
              <a:rPr lang="en-IN" sz="1600" b="0" i="0" dirty="0">
                <a:effectLst/>
              </a:rPr>
              <a:t>Least Absolute Shrinkage and Selection Operator, is a statistical formula whose main purpose is the feature selection and regularization of data models.</a:t>
            </a:r>
            <a:r>
              <a:rPr lang="en-IN" sz="1600" b="0" i="0" dirty="0">
                <a:effectLst/>
                <a:latin typeface="PT Serif" panose="020A0603040505020204" pitchFamily="18" charset="0"/>
              </a:rPr>
              <a:t> </a:t>
            </a:r>
          </a:p>
          <a:p>
            <a:pPr marL="285750" indent="-285750" algn="just">
              <a:lnSpc>
                <a:spcPct val="150000"/>
              </a:lnSpc>
              <a:buFont typeface="Arial" panose="020B0604020202020204" pitchFamily="34" charset="0"/>
              <a:buChar char="•"/>
            </a:pPr>
            <a:r>
              <a:rPr lang="en-IN" sz="1600" dirty="0">
                <a:latin typeface="PT Serif" panose="020A0603040505020204" pitchFamily="18" charset="0"/>
              </a:rPr>
              <a:t>	</a:t>
            </a:r>
            <a:r>
              <a:rPr lang="en-IN" sz="1600" b="0" i="0" dirty="0">
                <a:effectLst/>
              </a:rPr>
              <a:t>It turns out that the Lasso regularization has the ability to set some coefficients to zero. This means that Lasso can be used for variable selection in machine learning.</a:t>
            </a:r>
          </a:p>
          <a:p>
            <a:pPr marL="285750" indent="-285750" algn="just">
              <a:lnSpc>
                <a:spcPct val="150000"/>
              </a:lnSpc>
              <a:buFont typeface="Arial" panose="020B0604020202020204" pitchFamily="34" charset="0"/>
              <a:buChar char="•"/>
            </a:pPr>
            <a:r>
              <a:rPr lang="en-IN" sz="1600" dirty="0"/>
              <a:t>	</a:t>
            </a:r>
            <a:r>
              <a:rPr lang="en-IN" sz="1600" b="0" i="0" dirty="0">
                <a:effectLst/>
              </a:rPr>
              <a:t> If the coefficients that multiply some features are 0, we can safely remove those features from the data. The remaining are the important features in the data.</a:t>
            </a:r>
          </a:p>
          <a:p>
            <a:pPr marL="285750" indent="-285750" algn="just">
              <a:lnSpc>
                <a:spcPct val="150000"/>
              </a:lnSpc>
              <a:buFont typeface="Arial" panose="020B0604020202020204" pitchFamily="34" charset="0"/>
              <a:buChar char="•"/>
            </a:pPr>
            <a:endParaRPr lang="en-IN" sz="1600" b="1" dirty="0"/>
          </a:p>
          <a:p>
            <a:pPr algn="just"/>
            <a:endParaRPr lang="en-IN" sz="1600" b="1" dirty="0"/>
          </a:p>
          <a:p>
            <a:pPr algn="just"/>
            <a:r>
              <a:rPr lang="en-IN" sz="1600" b="1" i="0" dirty="0">
                <a:effectLst/>
              </a:rPr>
              <a:t>8. Decision Tree:</a:t>
            </a:r>
          </a:p>
          <a:p>
            <a:pPr marL="285750" indent="-285750" algn="just">
              <a:lnSpc>
                <a:spcPct val="150000"/>
              </a:lnSpc>
              <a:buFont typeface="Arial" panose="020B0604020202020204" pitchFamily="34" charset="0"/>
              <a:buChar char="•"/>
            </a:pPr>
            <a:r>
              <a:rPr lang="en-IN" sz="1600" b="0" i="0" dirty="0">
                <a:solidFill>
                  <a:srgbClr val="292929"/>
                </a:solidFill>
                <a:effectLst/>
                <a:latin typeface="source-serif-pro"/>
              </a:rPr>
              <a:t>	</a:t>
            </a:r>
            <a:r>
              <a:rPr lang="en-IN" sz="1600" dirty="0">
                <a:solidFill>
                  <a:srgbClr val="292929"/>
                </a:solidFill>
                <a:latin typeface="Söhne"/>
              </a:rPr>
              <a:t>D</a:t>
            </a:r>
            <a:r>
              <a:rPr lang="en-IN" sz="1600" b="0" i="0" dirty="0">
                <a:effectLst/>
                <a:latin typeface="Söhne"/>
              </a:rPr>
              <a:t>ecision tree is built using the training data, and the importance of each feature is calculated based on its contribution to the decision tree. </a:t>
            </a:r>
          </a:p>
          <a:p>
            <a:pPr marL="285750" indent="-285750" algn="just">
              <a:lnSpc>
                <a:spcPct val="150000"/>
              </a:lnSpc>
              <a:buFont typeface="Arial" panose="020B0604020202020204" pitchFamily="34" charset="0"/>
              <a:buChar char="•"/>
            </a:pPr>
            <a:r>
              <a:rPr lang="en-IN" sz="1600" dirty="0">
                <a:latin typeface="Söhne"/>
              </a:rPr>
              <a:t>	Feature importance will be calculated based on the information gain.</a:t>
            </a:r>
          </a:p>
          <a:p>
            <a:pPr algn="just"/>
            <a:endParaRPr lang="en-IN" sz="1600" dirty="0"/>
          </a:p>
          <a:p>
            <a:pPr algn="just"/>
            <a:endParaRPr lang="en-IN" sz="1600" b="1" i="0" dirty="0">
              <a:effectLst/>
            </a:endParaRPr>
          </a:p>
          <a:p>
            <a:pPr algn="just"/>
            <a:r>
              <a:rPr lang="en-IN" sz="1600" b="0" i="0" dirty="0">
                <a:solidFill>
                  <a:srgbClr val="333333"/>
                </a:solidFill>
                <a:effectLst/>
              </a:rPr>
              <a:t>	</a:t>
            </a:r>
            <a:endParaRPr lang="en-IN" b="1" dirty="0"/>
          </a:p>
        </p:txBody>
      </p:sp>
      <p:sp>
        <p:nvSpPr>
          <p:cNvPr id="5" name="AutoShape 2">
            <a:extLst>
              <a:ext uri="{FF2B5EF4-FFF2-40B4-BE49-F238E27FC236}">
                <a16:creationId xmlns:a16="http://schemas.microsoft.com/office/drawing/2014/main" id="{ECCDC517-061B-4F9B-8312-437C5D476E5A}"/>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1121894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a:extLst>
              <a:ext uri="{FF2B5EF4-FFF2-40B4-BE49-F238E27FC236}">
                <a16:creationId xmlns:a16="http://schemas.microsoft.com/office/drawing/2014/main" id="{BE7A8330-E4CB-4F06-AF3D-78EE7FBABC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 Box 4">
            <a:extLst>
              <a:ext uri="{FF2B5EF4-FFF2-40B4-BE49-F238E27FC236}">
                <a16:creationId xmlns:a16="http://schemas.microsoft.com/office/drawing/2014/main" id="{F4A11A03-1EE7-46BA-8B1E-07E5382C441D}"/>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36868" name="Picture 2">
            <a:extLst>
              <a:ext uri="{FF2B5EF4-FFF2-40B4-BE49-F238E27FC236}">
                <a16:creationId xmlns:a16="http://schemas.microsoft.com/office/drawing/2014/main" id="{A4104424-5FCD-4DB8-9BC4-375CD291B9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B427FDA7-43DD-4DA4-893B-C5CB6018355A}"/>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fld id="{841F66B6-980C-43F1-92A2-E9BCCE6784FD}" type="slidenum">
              <a:rPr lang="en-US" altLang="en-US" sz="1600" b="1">
                <a:solidFill>
                  <a:srgbClr val="FFFFFF"/>
                </a:solidFill>
                <a:latin typeface="Comic Sans MS" panose="030F0702030302020204" pitchFamily="66" charset="0"/>
              </a:rPr>
              <a:pPr algn="ctr" eaLnBrk="1" hangingPunct="1">
                <a:spcBef>
                  <a:spcPct val="0"/>
                </a:spcBef>
                <a:buFontTx/>
                <a:buNone/>
              </a:pPr>
              <a:t>21</a:t>
            </a:fld>
            <a:endParaRPr lang="en-US" altLang="en-US" sz="1600" b="1">
              <a:solidFill>
                <a:srgbClr val="FFFFFF"/>
              </a:solidFill>
              <a:latin typeface="Comic Sans MS" panose="030F0702030302020204" pitchFamily="66" charset="0"/>
            </a:endParaRPr>
          </a:p>
        </p:txBody>
      </p:sp>
      <p:sp>
        <p:nvSpPr>
          <p:cNvPr id="36870" name="Date Placeholder 7">
            <a:extLst>
              <a:ext uri="{FF2B5EF4-FFF2-40B4-BE49-F238E27FC236}">
                <a16:creationId xmlns:a16="http://schemas.microsoft.com/office/drawing/2014/main" id="{9EB8C82D-DEFC-4801-AA53-88AF7815FDE4}"/>
              </a:ext>
            </a:extLst>
          </p:cNvPr>
          <p:cNvSpPr>
            <a:spLocks noGrp="1"/>
          </p:cNvSpPr>
          <p:nvPr>
            <p:ph type="dt" sz="quarter" idx="10"/>
          </p:nvPr>
        </p:nvSpPr>
        <p:spPr>
          <a:xfrm>
            <a:off x="0" y="6564313"/>
            <a:ext cx="1752600" cy="412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80F0D9B-2FCB-4E51-9DE4-DEB44FC39F6E}" type="datetime3">
              <a:rPr lang="en-US" altLang="en-US" sz="1400" b="1" smtClean="0">
                <a:solidFill>
                  <a:srgbClr val="FF0066"/>
                </a:solidFill>
                <a:latin typeface="Arial Rounded MT Bold" panose="020F0704030504030204" pitchFamily="34" charset="0"/>
              </a:rPr>
              <a:pPr>
                <a:spcBef>
                  <a:spcPct val="0"/>
                </a:spcBef>
                <a:buFontTx/>
                <a:buNone/>
              </a:pPr>
              <a:t>18 April 2023</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F91DF1A8-F08B-4BFE-B4BC-1E8E2A31B81A}"/>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2" name="Oval 11">
            <a:extLst>
              <a:ext uri="{FF2B5EF4-FFF2-40B4-BE49-F238E27FC236}">
                <a16:creationId xmlns:a16="http://schemas.microsoft.com/office/drawing/2014/main" id="{29A766E0-309D-4A26-812C-8B210FB54A5E}"/>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36873" name="Picture 10" descr="A picture containing text, sign, watch&#10;&#10;Description automatically generated">
            <a:extLst>
              <a:ext uri="{FF2B5EF4-FFF2-40B4-BE49-F238E27FC236}">
                <a16:creationId xmlns:a16="http://schemas.microsoft.com/office/drawing/2014/main" id="{D7A2222C-D3FA-44A1-96FC-6B6E73C0CC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A8A79B7F-C3B4-41FF-AE2A-7A201EADA74C}"/>
              </a:ext>
            </a:extLst>
          </p:cNvPr>
          <p:cNvSpPr txBox="1"/>
          <p:nvPr/>
        </p:nvSpPr>
        <p:spPr>
          <a:xfrm>
            <a:off x="102650" y="975420"/>
            <a:ext cx="8633899" cy="3539430"/>
          </a:xfrm>
          <a:prstGeom prst="rect">
            <a:avLst/>
          </a:prstGeom>
          <a:noFill/>
        </p:spPr>
        <p:txBody>
          <a:bodyPr wrap="square" rtlCol="0">
            <a:spAutoFit/>
          </a:bodyPr>
          <a:lstStyle/>
          <a:p>
            <a:pPr algn="just"/>
            <a:r>
              <a:rPr lang="en-IN" sz="1600" b="1" i="0" dirty="0">
                <a:effectLst/>
              </a:rPr>
              <a:t>9. Genetic algorithm:</a:t>
            </a:r>
          </a:p>
          <a:p>
            <a:pPr marL="285750" indent="-285750" algn="just">
              <a:lnSpc>
                <a:spcPct val="150000"/>
              </a:lnSpc>
              <a:buFont typeface="Arial" panose="020B0604020202020204" pitchFamily="34" charset="0"/>
              <a:buChar char="•"/>
            </a:pPr>
            <a:r>
              <a:rPr lang="en-IN" sz="1600" b="0" i="0" dirty="0">
                <a:solidFill>
                  <a:srgbClr val="000000"/>
                </a:solidFill>
                <a:effectLst/>
              </a:rPr>
              <a:t>	</a:t>
            </a:r>
            <a:r>
              <a:rPr lang="en-IN" sz="1600" b="0" i="0" dirty="0">
                <a:effectLst/>
                <a:latin typeface="source-serif-pro"/>
              </a:rPr>
              <a:t>Genetic algorithm is based on the principle of natural evolution.</a:t>
            </a:r>
          </a:p>
          <a:p>
            <a:pPr marL="285750" indent="-285750" algn="just">
              <a:lnSpc>
                <a:spcPct val="150000"/>
              </a:lnSpc>
              <a:buFont typeface="Arial" panose="020B0604020202020204" pitchFamily="34" charset="0"/>
              <a:buChar char="•"/>
            </a:pPr>
            <a:r>
              <a:rPr lang="en-IN" sz="1600" dirty="0">
                <a:latin typeface="source-serif-pro"/>
              </a:rPr>
              <a:t>	</a:t>
            </a:r>
            <a:r>
              <a:rPr lang="en-IN" sz="1600" b="0" i="0" dirty="0">
                <a:effectLst/>
                <a:latin typeface="source-serif-pro"/>
              </a:rPr>
              <a:t>The algorithm tries to ‘mimic’ the concept of human evolution by modifying a set of individuals called a population, followed by a random selection of parents from this population to carry out reproduction in the form of mutation and crossover.</a:t>
            </a:r>
          </a:p>
          <a:p>
            <a:pPr marL="285750" indent="-285750" algn="just">
              <a:lnSpc>
                <a:spcPct val="150000"/>
              </a:lnSpc>
              <a:buFont typeface="Arial" panose="020B0604020202020204" pitchFamily="34" charset="0"/>
              <a:buChar char="•"/>
            </a:pPr>
            <a:r>
              <a:rPr lang="en-IN" sz="1600" dirty="0">
                <a:latin typeface="source-serif-pro"/>
              </a:rPr>
              <a:t>	</a:t>
            </a:r>
            <a:r>
              <a:rPr lang="en-IN" sz="1600" b="0" i="0" dirty="0">
                <a:effectLst/>
                <a:latin typeface="source-serif-pro"/>
              </a:rPr>
              <a:t>This process continues till the stopping criterion is met. In the end, it gives the best individual/solution.</a:t>
            </a:r>
            <a:endParaRPr lang="en-IN" sz="1600" b="1" i="0" dirty="0">
              <a:effectLst/>
            </a:endParaRPr>
          </a:p>
          <a:p>
            <a:pPr algn="just"/>
            <a:endParaRPr lang="en-IN" sz="1600" dirty="0">
              <a:latin typeface="Söhne"/>
            </a:endParaRPr>
          </a:p>
          <a:p>
            <a:pPr algn="just"/>
            <a:endParaRPr lang="en-IN" sz="1600" dirty="0"/>
          </a:p>
          <a:p>
            <a:pPr algn="just"/>
            <a:endParaRPr lang="en-IN" sz="1600" b="1" i="0" dirty="0">
              <a:effectLst/>
            </a:endParaRPr>
          </a:p>
          <a:p>
            <a:pPr algn="just"/>
            <a:r>
              <a:rPr lang="en-IN" sz="1600" b="0" i="0" dirty="0">
                <a:solidFill>
                  <a:srgbClr val="333333"/>
                </a:solidFill>
                <a:effectLst/>
              </a:rPr>
              <a:t>	</a:t>
            </a:r>
            <a:endParaRPr lang="en-IN" b="1" dirty="0"/>
          </a:p>
        </p:txBody>
      </p:sp>
      <p:sp>
        <p:nvSpPr>
          <p:cNvPr id="5" name="AutoShape 2">
            <a:extLst>
              <a:ext uri="{FF2B5EF4-FFF2-40B4-BE49-F238E27FC236}">
                <a16:creationId xmlns:a16="http://schemas.microsoft.com/office/drawing/2014/main" id="{ECCDC517-061B-4F9B-8312-437C5D476E5A}"/>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6544118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a:extLst>
              <a:ext uri="{FF2B5EF4-FFF2-40B4-BE49-F238E27FC236}">
                <a16:creationId xmlns:a16="http://schemas.microsoft.com/office/drawing/2014/main" id="{BE7A8330-E4CB-4F06-AF3D-78EE7FBABC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 Box 4">
            <a:extLst>
              <a:ext uri="{FF2B5EF4-FFF2-40B4-BE49-F238E27FC236}">
                <a16:creationId xmlns:a16="http://schemas.microsoft.com/office/drawing/2014/main" id="{F4A11A03-1EE7-46BA-8B1E-07E5382C441D}"/>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36868" name="Picture 2">
            <a:extLst>
              <a:ext uri="{FF2B5EF4-FFF2-40B4-BE49-F238E27FC236}">
                <a16:creationId xmlns:a16="http://schemas.microsoft.com/office/drawing/2014/main" id="{A4104424-5FCD-4DB8-9BC4-375CD291B9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B427FDA7-43DD-4DA4-893B-C5CB6018355A}"/>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fld id="{841F66B6-980C-43F1-92A2-E9BCCE6784FD}" type="slidenum">
              <a:rPr lang="en-US" altLang="en-US" sz="1600" b="1">
                <a:solidFill>
                  <a:srgbClr val="FFFFFF"/>
                </a:solidFill>
                <a:latin typeface="Comic Sans MS" panose="030F0702030302020204" pitchFamily="66" charset="0"/>
              </a:rPr>
              <a:pPr algn="ctr" eaLnBrk="1" hangingPunct="1">
                <a:spcBef>
                  <a:spcPct val="0"/>
                </a:spcBef>
                <a:buFontTx/>
                <a:buNone/>
              </a:pPr>
              <a:t>22</a:t>
            </a:fld>
            <a:endParaRPr lang="en-US" altLang="en-US" sz="1600" b="1">
              <a:solidFill>
                <a:srgbClr val="FFFFFF"/>
              </a:solidFill>
              <a:latin typeface="Comic Sans MS" panose="030F0702030302020204" pitchFamily="66" charset="0"/>
            </a:endParaRPr>
          </a:p>
        </p:txBody>
      </p:sp>
      <p:sp>
        <p:nvSpPr>
          <p:cNvPr id="36870" name="Date Placeholder 7">
            <a:extLst>
              <a:ext uri="{FF2B5EF4-FFF2-40B4-BE49-F238E27FC236}">
                <a16:creationId xmlns:a16="http://schemas.microsoft.com/office/drawing/2014/main" id="{9EB8C82D-DEFC-4801-AA53-88AF7815FDE4}"/>
              </a:ext>
            </a:extLst>
          </p:cNvPr>
          <p:cNvSpPr>
            <a:spLocks noGrp="1"/>
          </p:cNvSpPr>
          <p:nvPr>
            <p:ph type="dt" sz="quarter" idx="10"/>
          </p:nvPr>
        </p:nvSpPr>
        <p:spPr>
          <a:xfrm>
            <a:off x="0" y="6564313"/>
            <a:ext cx="1752600" cy="412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80F0D9B-2FCB-4E51-9DE4-DEB44FC39F6E}" type="datetime3">
              <a:rPr lang="en-US" altLang="en-US" sz="1400" b="1" smtClean="0">
                <a:solidFill>
                  <a:srgbClr val="FF0066"/>
                </a:solidFill>
                <a:latin typeface="Arial Rounded MT Bold" panose="020F0704030504030204" pitchFamily="34" charset="0"/>
              </a:rPr>
              <a:pPr>
                <a:spcBef>
                  <a:spcPct val="0"/>
                </a:spcBef>
                <a:buFontTx/>
                <a:buNone/>
              </a:pPr>
              <a:t>18 April 2023</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F91DF1A8-F08B-4BFE-B4BC-1E8E2A31B81A}"/>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2" name="Oval 11">
            <a:extLst>
              <a:ext uri="{FF2B5EF4-FFF2-40B4-BE49-F238E27FC236}">
                <a16:creationId xmlns:a16="http://schemas.microsoft.com/office/drawing/2014/main" id="{29A766E0-309D-4A26-812C-8B210FB54A5E}"/>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36873" name="Picture 10" descr="A picture containing text, sign, watch&#10;&#10;Description automatically generated">
            <a:extLst>
              <a:ext uri="{FF2B5EF4-FFF2-40B4-BE49-F238E27FC236}">
                <a16:creationId xmlns:a16="http://schemas.microsoft.com/office/drawing/2014/main" id="{D7A2222C-D3FA-44A1-96FC-6B6E73C0CC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4" name="TextBox 1">
            <a:extLst>
              <a:ext uri="{FF2B5EF4-FFF2-40B4-BE49-F238E27FC236}">
                <a16:creationId xmlns:a16="http://schemas.microsoft.com/office/drawing/2014/main" id="{3C85D3C8-C5FC-4F02-8BB7-C78955787EEB}"/>
              </a:ext>
            </a:extLst>
          </p:cNvPr>
          <p:cNvSpPr txBox="1">
            <a:spLocks noChangeArrowheads="1"/>
          </p:cNvSpPr>
          <p:nvPr/>
        </p:nvSpPr>
        <p:spPr bwMode="auto">
          <a:xfrm>
            <a:off x="209550" y="778351"/>
            <a:ext cx="3581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b="1" u="sng" dirty="0">
                <a:latin typeface="Calibri (Body)"/>
                <a:ea typeface="Verdana" panose="020B0604030504040204" pitchFamily="34" charset="0"/>
                <a:cs typeface="Verdana" panose="020B0604030504040204" pitchFamily="34" charset="0"/>
              </a:rPr>
              <a:t>Module 3:  </a:t>
            </a:r>
          </a:p>
        </p:txBody>
      </p:sp>
      <p:sp>
        <p:nvSpPr>
          <p:cNvPr id="3" name="TextBox 2">
            <a:extLst>
              <a:ext uri="{FF2B5EF4-FFF2-40B4-BE49-F238E27FC236}">
                <a16:creationId xmlns:a16="http://schemas.microsoft.com/office/drawing/2014/main" id="{9F902A73-9630-4D7C-9D53-7DF705F9CC47}"/>
              </a:ext>
            </a:extLst>
          </p:cNvPr>
          <p:cNvSpPr txBox="1"/>
          <p:nvPr/>
        </p:nvSpPr>
        <p:spPr>
          <a:xfrm>
            <a:off x="209550" y="1195764"/>
            <a:ext cx="8534400" cy="4278094"/>
          </a:xfrm>
          <a:prstGeom prst="rect">
            <a:avLst/>
          </a:prstGeom>
          <a:noFill/>
        </p:spPr>
        <p:txBody>
          <a:bodyPr>
            <a:spAutoFit/>
          </a:bodyPr>
          <a:lstStyle/>
          <a:p>
            <a:pPr algn="just">
              <a:defRPr/>
            </a:pPr>
            <a:r>
              <a:rPr lang="en-US" sz="1600" b="1" u="sng" dirty="0">
                <a:latin typeface="Calibri (Body)"/>
                <a:cs typeface="Times New Roman" panose="02020603050405020304" pitchFamily="18" charset="0"/>
              </a:rPr>
              <a:t>Model Building</a:t>
            </a:r>
          </a:p>
          <a:p>
            <a:pPr algn="just">
              <a:defRPr/>
            </a:pPr>
            <a:endParaRPr lang="en-US" sz="1600" b="1" u="sng" dirty="0">
              <a:latin typeface="Calibri (Body)"/>
              <a:cs typeface="Times New Roman" panose="02020603050405020304" pitchFamily="18" charset="0"/>
            </a:endParaRPr>
          </a:p>
          <a:p>
            <a:pPr marL="342900" indent="-342900" algn="just">
              <a:buAutoNum type="arabicPeriod"/>
              <a:defRPr/>
            </a:pPr>
            <a:r>
              <a:rPr lang="en-US" sz="1600" b="1" dirty="0">
                <a:latin typeface="Calibri (Body)"/>
                <a:cs typeface="Times New Roman" panose="02020603050405020304" pitchFamily="18" charset="0"/>
              </a:rPr>
              <a:t>Random Forest Classifier:</a:t>
            </a:r>
          </a:p>
          <a:p>
            <a:pPr marL="285750" indent="-285750" algn="just">
              <a:lnSpc>
                <a:spcPct val="150000"/>
              </a:lnSpc>
              <a:buFont typeface="Arial" panose="020B0604020202020204" pitchFamily="34" charset="0"/>
              <a:buChar char="•"/>
              <a:defRPr/>
            </a:pPr>
            <a:r>
              <a:rPr lang="en-US" sz="1600" b="1" dirty="0">
                <a:latin typeface="Calibri (Body)"/>
                <a:cs typeface="Times New Roman" panose="02020603050405020304" pitchFamily="18" charset="0"/>
              </a:rPr>
              <a:t>	</a:t>
            </a:r>
            <a:r>
              <a:rPr lang="en-US" sz="1600" dirty="0">
                <a:latin typeface="Calibri (Body)"/>
                <a:cs typeface="Times New Roman" panose="02020603050405020304" pitchFamily="18" charset="0"/>
              </a:rPr>
              <a:t>A random forest is an ensemble classifier that fits a number of decision tree classifiers on several sub-samples of a dataset and uses averaging to improve accuracy and to control overfitting. </a:t>
            </a:r>
          </a:p>
          <a:p>
            <a:pPr marL="285750" indent="-285750" algn="just">
              <a:lnSpc>
                <a:spcPct val="150000"/>
              </a:lnSpc>
              <a:buFont typeface="Arial" panose="020B0604020202020204" pitchFamily="34" charset="0"/>
              <a:buChar char="•"/>
              <a:defRPr/>
            </a:pPr>
            <a:r>
              <a:rPr lang="en-US" sz="1600" dirty="0">
                <a:latin typeface="Calibri (Body)"/>
                <a:cs typeface="Times New Roman" panose="02020603050405020304" pitchFamily="18" charset="0"/>
              </a:rPr>
              <a:t>	It takes prediction from each decision tree and based on the majority votes of predictions, it predicts the final output.</a:t>
            </a:r>
          </a:p>
          <a:p>
            <a:pPr algn="just">
              <a:lnSpc>
                <a:spcPct val="150000"/>
              </a:lnSpc>
              <a:defRPr/>
            </a:pPr>
            <a:endParaRPr lang="en-US" sz="1600" dirty="0">
              <a:latin typeface="Calibri (Body)"/>
              <a:cs typeface="Times New Roman" panose="02020603050405020304" pitchFamily="18" charset="0"/>
            </a:endParaRPr>
          </a:p>
          <a:p>
            <a:pPr algn="just">
              <a:defRPr/>
            </a:pPr>
            <a:r>
              <a:rPr lang="en-US" sz="1600" b="1" dirty="0">
                <a:latin typeface="Calibri (Body)"/>
                <a:cs typeface="Times New Roman" panose="02020603050405020304" pitchFamily="18" charset="0"/>
              </a:rPr>
              <a:t>2.  K Nearest Neighbor:</a:t>
            </a:r>
          </a:p>
          <a:p>
            <a:pPr marL="285750" indent="-285750" algn="just">
              <a:lnSpc>
                <a:spcPct val="150000"/>
              </a:lnSpc>
              <a:buFont typeface="Arial" panose="020B0604020202020204" pitchFamily="34" charset="0"/>
              <a:buChar char="•"/>
              <a:defRPr/>
            </a:pPr>
            <a:r>
              <a:rPr lang="en-IN" sz="1600" b="0" i="0" dirty="0">
                <a:effectLst/>
                <a:latin typeface="inter-regular"/>
              </a:rPr>
              <a:t>	</a:t>
            </a:r>
            <a:r>
              <a:rPr lang="en-IN" sz="1600" dirty="0">
                <a:latin typeface="Söhne"/>
              </a:rPr>
              <a:t>KNN </a:t>
            </a:r>
            <a:r>
              <a:rPr lang="en-IN" sz="1600" b="0" i="0" dirty="0">
                <a:effectLst/>
                <a:latin typeface="Söhne"/>
              </a:rPr>
              <a:t>algorithm is based on the principle that data points that are close to each other in a feature space are likely to belong to the same class or have similar output values.	</a:t>
            </a:r>
          </a:p>
          <a:p>
            <a:pPr algn="just">
              <a:defRPr/>
            </a:pPr>
            <a:r>
              <a:rPr lang="en-IN" sz="1600" b="0" i="0" dirty="0">
                <a:solidFill>
                  <a:srgbClr val="000000"/>
                </a:solidFill>
                <a:effectLst/>
                <a:latin typeface="inter-regular"/>
              </a:rPr>
              <a:t>	</a:t>
            </a:r>
            <a:endParaRPr lang="en-US" sz="1600" b="1" dirty="0">
              <a:latin typeface="Calibri (Body)"/>
              <a:cs typeface="Times New Roman" panose="02020603050405020304" pitchFamily="18" charset="0"/>
            </a:endParaRPr>
          </a:p>
        </p:txBody>
      </p:sp>
    </p:spTree>
    <p:extLst>
      <p:ext uri="{BB962C8B-B14F-4D97-AF65-F5344CB8AC3E}">
        <p14:creationId xmlns:p14="http://schemas.microsoft.com/office/powerpoint/2010/main" val="10695611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a:extLst>
              <a:ext uri="{FF2B5EF4-FFF2-40B4-BE49-F238E27FC236}">
                <a16:creationId xmlns:a16="http://schemas.microsoft.com/office/drawing/2014/main" id="{BE7A8330-E4CB-4F06-AF3D-78EE7FBABC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 Box 4">
            <a:extLst>
              <a:ext uri="{FF2B5EF4-FFF2-40B4-BE49-F238E27FC236}">
                <a16:creationId xmlns:a16="http://schemas.microsoft.com/office/drawing/2014/main" id="{F4A11A03-1EE7-46BA-8B1E-07E5382C441D}"/>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36868" name="Picture 2">
            <a:extLst>
              <a:ext uri="{FF2B5EF4-FFF2-40B4-BE49-F238E27FC236}">
                <a16:creationId xmlns:a16="http://schemas.microsoft.com/office/drawing/2014/main" id="{A4104424-5FCD-4DB8-9BC4-375CD291B9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B427FDA7-43DD-4DA4-893B-C5CB6018355A}"/>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fld id="{841F66B6-980C-43F1-92A2-E9BCCE6784FD}" type="slidenum">
              <a:rPr lang="en-US" altLang="en-US" sz="1600" b="1">
                <a:solidFill>
                  <a:srgbClr val="FFFFFF"/>
                </a:solidFill>
                <a:latin typeface="Comic Sans MS" panose="030F0702030302020204" pitchFamily="66" charset="0"/>
              </a:rPr>
              <a:pPr algn="ctr" eaLnBrk="1" hangingPunct="1">
                <a:spcBef>
                  <a:spcPct val="0"/>
                </a:spcBef>
                <a:buFontTx/>
                <a:buNone/>
              </a:pPr>
              <a:t>23</a:t>
            </a:fld>
            <a:endParaRPr lang="en-US" altLang="en-US" sz="1600" b="1">
              <a:solidFill>
                <a:srgbClr val="FFFFFF"/>
              </a:solidFill>
              <a:latin typeface="Comic Sans MS" panose="030F0702030302020204" pitchFamily="66" charset="0"/>
            </a:endParaRPr>
          </a:p>
        </p:txBody>
      </p:sp>
      <p:sp>
        <p:nvSpPr>
          <p:cNvPr id="36870" name="Date Placeholder 7">
            <a:extLst>
              <a:ext uri="{FF2B5EF4-FFF2-40B4-BE49-F238E27FC236}">
                <a16:creationId xmlns:a16="http://schemas.microsoft.com/office/drawing/2014/main" id="{9EB8C82D-DEFC-4801-AA53-88AF7815FDE4}"/>
              </a:ext>
            </a:extLst>
          </p:cNvPr>
          <p:cNvSpPr>
            <a:spLocks noGrp="1"/>
          </p:cNvSpPr>
          <p:nvPr>
            <p:ph type="dt" sz="quarter" idx="10"/>
          </p:nvPr>
        </p:nvSpPr>
        <p:spPr>
          <a:xfrm>
            <a:off x="0" y="6564313"/>
            <a:ext cx="1752600" cy="412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80F0D9B-2FCB-4E51-9DE4-DEB44FC39F6E}" type="datetime3">
              <a:rPr lang="en-US" altLang="en-US" sz="1400" b="1" smtClean="0">
                <a:solidFill>
                  <a:srgbClr val="FF0066"/>
                </a:solidFill>
                <a:latin typeface="Arial Rounded MT Bold" panose="020F0704030504030204" pitchFamily="34" charset="0"/>
              </a:rPr>
              <a:pPr>
                <a:spcBef>
                  <a:spcPct val="0"/>
                </a:spcBef>
                <a:buFontTx/>
                <a:buNone/>
              </a:pPr>
              <a:t>18 April 2023</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F91DF1A8-F08B-4BFE-B4BC-1E8E2A31B81A}"/>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2" name="Oval 11">
            <a:extLst>
              <a:ext uri="{FF2B5EF4-FFF2-40B4-BE49-F238E27FC236}">
                <a16:creationId xmlns:a16="http://schemas.microsoft.com/office/drawing/2014/main" id="{29A766E0-309D-4A26-812C-8B210FB54A5E}"/>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36873" name="Picture 10" descr="A picture containing text, sign, watch&#10;&#10;Description automatically generated">
            <a:extLst>
              <a:ext uri="{FF2B5EF4-FFF2-40B4-BE49-F238E27FC236}">
                <a16:creationId xmlns:a16="http://schemas.microsoft.com/office/drawing/2014/main" id="{D7A2222C-D3FA-44A1-96FC-6B6E73C0CC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4" name="TextBox 1">
            <a:extLst>
              <a:ext uri="{FF2B5EF4-FFF2-40B4-BE49-F238E27FC236}">
                <a16:creationId xmlns:a16="http://schemas.microsoft.com/office/drawing/2014/main" id="{3C85D3C8-C5FC-4F02-8BB7-C78955787EEB}"/>
              </a:ext>
            </a:extLst>
          </p:cNvPr>
          <p:cNvSpPr txBox="1">
            <a:spLocks noChangeArrowheads="1"/>
          </p:cNvSpPr>
          <p:nvPr/>
        </p:nvSpPr>
        <p:spPr bwMode="auto">
          <a:xfrm>
            <a:off x="209550" y="788216"/>
            <a:ext cx="3581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b="1" u="sng" dirty="0">
                <a:latin typeface="Calibri (Body)"/>
                <a:ea typeface="Verdana" panose="020B0604030504040204" pitchFamily="34" charset="0"/>
                <a:cs typeface="Verdana" panose="020B0604030504040204" pitchFamily="34" charset="0"/>
              </a:rPr>
              <a:t>Module 3:  </a:t>
            </a:r>
          </a:p>
        </p:txBody>
      </p:sp>
      <p:sp>
        <p:nvSpPr>
          <p:cNvPr id="3" name="TextBox 2">
            <a:extLst>
              <a:ext uri="{FF2B5EF4-FFF2-40B4-BE49-F238E27FC236}">
                <a16:creationId xmlns:a16="http://schemas.microsoft.com/office/drawing/2014/main" id="{9F902A73-9630-4D7C-9D53-7DF705F9CC47}"/>
              </a:ext>
            </a:extLst>
          </p:cNvPr>
          <p:cNvSpPr txBox="1"/>
          <p:nvPr/>
        </p:nvSpPr>
        <p:spPr>
          <a:xfrm>
            <a:off x="209550" y="1195764"/>
            <a:ext cx="8534400" cy="5847755"/>
          </a:xfrm>
          <a:prstGeom prst="rect">
            <a:avLst/>
          </a:prstGeom>
          <a:noFill/>
        </p:spPr>
        <p:txBody>
          <a:bodyPr>
            <a:spAutoFit/>
          </a:bodyPr>
          <a:lstStyle/>
          <a:p>
            <a:pPr algn="just">
              <a:defRPr/>
            </a:pPr>
            <a:r>
              <a:rPr lang="en-US" sz="1600" b="1" u="sng" dirty="0">
                <a:latin typeface="Calibri (Body)"/>
                <a:cs typeface="Times New Roman" panose="02020603050405020304" pitchFamily="18" charset="0"/>
              </a:rPr>
              <a:t>Model Building</a:t>
            </a:r>
          </a:p>
          <a:p>
            <a:pPr algn="just">
              <a:defRPr/>
            </a:pPr>
            <a:endParaRPr lang="en-US" sz="1600" dirty="0">
              <a:latin typeface="Calibri (Body)"/>
              <a:cs typeface="Times New Roman" panose="02020603050405020304" pitchFamily="18" charset="0"/>
            </a:endParaRPr>
          </a:p>
          <a:p>
            <a:pPr algn="just">
              <a:defRPr/>
            </a:pPr>
            <a:r>
              <a:rPr lang="en-US" sz="1600" b="1" dirty="0">
                <a:latin typeface="Calibri (Body)"/>
                <a:cs typeface="Times New Roman" panose="02020603050405020304" pitchFamily="18" charset="0"/>
              </a:rPr>
              <a:t>3. Extreme Gradient Boosting (XGBoost):</a:t>
            </a:r>
          </a:p>
          <a:p>
            <a:pPr marL="285750" indent="-285750" algn="just">
              <a:lnSpc>
                <a:spcPct val="150000"/>
              </a:lnSpc>
              <a:buFont typeface="Arial" panose="020B0604020202020204" pitchFamily="34" charset="0"/>
              <a:buChar char="•"/>
              <a:defRPr/>
            </a:pPr>
            <a:r>
              <a:rPr lang="en-US" sz="1600" b="1" dirty="0">
                <a:latin typeface="Calibri (Body)"/>
                <a:cs typeface="Times New Roman" panose="02020603050405020304" pitchFamily="18" charset="0"/>
              </a:rPr>
              <a:t>	</a:t>
            </a:r>
            <a:r>
              <a:rPr lang="en-US" sz="1600" dirty="0">
                <a:latin typeface="Calibri (Body)"/>
                <a:cs typeface="Times New Roman" panose="02020603050405020304" pitchFamily="18" charset="0"/>
              </a:rPr>
              <a:t>XGBoost is an implementation of Gradient Boosted decision trees. Here, decision trees are created in a sequential form. </a:t>
            </a:r>
          </a:p>
          <a:p>
            <a:pPr marL="285750" indent="-285750" algn="just">
              <a:lnSpc>
                <a:spcPct val="150000"/>
              </a:lnSpc>
              <a:buFont typeface="Arial" panose="020B0604020202020204" pitchFamily="34" charset="0"/>
              <a:buChar char="•"/>
              <a:defRPr/>
            </a:pPr>
            <a:r>
              <a:rPr lang="en-US" sz="1600" dirty="0">
                <a:latin typeface="Calibri (Body)"/>
                <a:cs typeface="Times New Roman" panose="02020603050405020304" pitchFamily="18" charset="0"/>
              </a:rPr>
              <a:t>	Weights are assigned to all independent variables and are fed as inputs to decision tree which predicts the result. </a:t>
            </a:r>
          </a:p>
          <a:p>
            <a:pPr marL="285750" indent="-285750" algn="just">
              <a:lnSpc>
                <a:spcPct val="150000"/>
              </a:lnSpc>
              <a:buFont typeface="Arial" panose="020B0604020202020204" pitchFamily="34" charset="0"/>
              <a:buChar char="•"/>
              <a:defRPr/>
            </a:pPr>
            <a:r>
              <a:rPr lang="en-US" sz="1600" dirty="0">
                <a:latin typeface="Calibri (Body)"/>
                <a:cs typeface="Times New Roman" panose="02020603050405020304" pitchFamily="18" charset="0"/>
              </a:rPr>
              <a:t>	The weights of variables that are predicted wrong are increased and is fed to another decision tree.</a:t>
            </a:r>
          </a:p>
          <a:p>
            <a:pPr algn="just">
              <a:lnSpc>
                <a:spcPct val="150000"/>
              </a:lnSpc>
              <a:defRPr/>
            </a:pPr>
            <a:r>
              <a:rPr lang="en-US" sz="1600" b="1" dirty="0">
                <a:latin typeface="Calibri (Body)"/>
                <a:cs typeface="Times New Roman" panose="02020603050405020304" pitchFamily="18" charset="0"/>
              </a:rPr>
              <a:t>4. Ensemble</a:t>
            </a:r>
          </a:p>
          <a:p>
            <a:pPr marL="285750" indent="-285750" algn="just">
              <a:lnSpc>
                <a:spcPct val="150000"/>
              </a:lnSpc>
              <a:buFont typeface="Arial" panose="020B0604020202020204" pitchFamily="34" charset="0"/>
              <a:buChar char="•"/>
              <a:defRPr/>
            </a:pPr>
            <a:r>
              <a:rPr lang="en-US" sz="1600" dirty="0">
                <a:latin typeface="Calibri (Body)"/>
                <a:cs typeface="Times New Roman" panose="02020603050405020304" pitchFamily="18" charset="0"/>
              </a:rPr>
              <a:t>               Stacking and Voting based Ensemble models are build using the three classifiers.</a:t>
            </a:r>
          </a:p>
          <a:p>
            <a:pPr marL="285750" indent="-285750" algn="just">
              <a:lnSpc>
                <a:spcPct val="150000"/>
              </a:lnSpc>
              <a:buFont typeface="Arial" panose="020B0604020202020204" pitchFamily="34" charset="0"/>
              <a:buChar char="•"/>
              <a:defRPr/>
            </a:pPr>
            <a:r>
              <a:rPr lang="en-US" sz="1600" dirty="0">
                <a:latin typeface="Calibri (Body)"/>
                <a:cs typeface="Times New Roman" panose="02020603050405020304" pitchFamily="18" charset="0"/>
              </a:rPr>
              <a:t>               Voting ensemble classifiers take predictions of all classifiers and provides output based on majority votes.</a:t>
            </a:r>
          </a:p>
          <a:p>
            <a:pPr marL="285750" indent="-285750" algn="just">
              <a:lnSpc>
                <a:spcPct val="150000"/>
              </a:lnSpc>
              <a:buFont typeface="Arial" panose="020B0604020202020204" pitchFamily="34" charset="0"/>
              <a:buChar char="•"/>
              <a:defRPr/>
            </a:pPr>
            <a:r>
              <a:rPr lang="en-US" sz="1600" dirty="0">
                <a:latin typeface="Calibri (Body)"/>
              </a:rPr>
              <a:t>               Stacking ensembles train multiple models to solve similar problems, and based on their combined output, it builds a new model with improved performance.</a:t>
            </a:r>
            <a:endParaRPr lang="en-US" sz="1600" dirty="0">
              <a:latin typeface="Calibri (Body)"/>
              <a:cs typeface="Times New Roman" panose="02020603050405020304" pitchFamily="18" charset="0"/>
            </a:endParaRPr>
          </a:p>
          <a:p>
            <a:pPr algn="just">
              <a:defRPr/>
            </a:pPr>
            <a:endParaRPr lang="en-US" sz="1600" dirty="0">
              <a:latin typeface="Calibri (Body)"/>
              <a:cs typeface="Times New Roman" panose="02020603050405020304" pitchFamily="18" charset="0"/>
            </a:endParaRPr>
          </a:p>
          <a:p>
            <a:pPr algn="just">
              <a:defRPr/>
            </a:pPr>
            <a:endParaRPr lang="en-US" sz="1600" b="1" dirty="0">
              <a:latin typeface="Calibri (Body)"/>
              <a:cs typeface="Times New Roman" panose="02020603050405020304" pitchFamily="18" charset="0"/>
            </a:endParaRPr>
          </a:p>
        </p:txBody>
      </p:sp>
    </p:spTree>
    <p:extLst>
      <p:ext uri="{BB962C8B-B14F-4D97-AF65-F5344CB8AC3E}">
        <p14:creationId xmlns:p14="http://schemas.microsoft.com/office/powerpoint/2010/main" val="20282862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a:extLst>
              <a:ext uri="{FF2B5EF4-FFF2-40B4-BE49-F238E27FC236}">
                <a16:creationId xmlns:a16="http://schemas.microsoft.com/office/drawing/2014/main" id="{BE7A8330-E4CB-4F06-AF3D-78EE7FBABC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 Box 4">
            <a:extLst>
              <a:ext uri="{FF2B5EF4-FFF2-40B4-BE49-F238E27FC236}">
                <a16:creationId xmlns:a16="http://schemas.microsoft.com/office/drawing/2014/main" id="{F4A11A03-1EE7-46BA-8B1E-07E5382C441D}"/>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36868" name="Picture 2">
            <a:extLst>
              <a:ext uri="{FF2B5EF4-FFF2-40B4-BE49-F238E27FC236}">
                <a16:creationId xmlns:a16="http://schemas.microsoft.com/office/drawing/2014/main" id="{A4104424-5FCD-4DB8-9BC4-375CD291B9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B427FDA7-43DD-4DA4-893B-C5CB6018355A}"/>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fld id="{841F66B6-980C-43F1-92A2-E9BCCE6784FD}" type="slidenum">
              <a:rPr lang="en-US" altLang="en-US" sz="1600" b="1">
                <a:solidFill>
                  <a:srgbClr val="FFFFFF"/>
                </a:solidFill>
                <a:latin typeface="Comic Sans MS" panose="030F0702030302020204" pitchFamily="66" charset="0"/>
              </a:rPr>
              <a:pPr algn="ctr" eaLnBrk="1" hangingPunct="1">
                <a:spcBef>
                  <a:spcPct val="0"/>
                </a:spcBef>
                <a:buFontTx/>
                <a:buNone/>
              </a:pPr>
              <a:t>24</a:t>
            </a:fld>
            <a:endParaRPr lang="en-US" altLang="en-US" sz="1600" b="1">
              <a:solidFill>
                <a:srgbClr val="FFFFFF"/>
              </a:solidFill>
              <a:latin typeface="Comic Sans MS" panose="030F0702030302020204" pitchFamily="66" charset="0"/>
            </a:endParaRPr>
          </a:p>
        </p:txBody>
      </p:sp>
      <p:sp>
        <p:nvSpPr>
          <p:cNvPr id="36870" name="Date Placeholder 7">
            <a:extLst>
              <a:ext uri="{FF2B5EF4-FFF2-40B4-BE49-F238E27FC236}">
                <a16:creationId xmlns:a16="http://schemas.microsoft.com/office/drawing/2014/main" id="{9EB8C82D-DEFC-4801-AA53-88AF7815FDE4}"/>
              </a:ext>
            </a:extLst>
          </p:cNvPr>
          <p:cNvSpPr>
            <a:spLocks noGrp="1"/>
          </p:cNvSpPr>
          <p:nvPr>
            <p:ph type="dt" sz="quarter" idx="10"/>
          </p:nvPr>
        </p:nvSpPr>
        <p:spPr>
          <a:xfrm>
            <a:off x="0" y="6564313"/>
            <a:ext cx="1752600" cy="412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80F0D9B-2FCB-4E51-9DE4-DEB44FC39F6E}" type="datetime3">
              <a:rPr lang="en-US" altLang="en-US" sz="1400" b="1" smtClean="0">
                <a:solidFill>
                  <a:srgbClr val="FF0066"/>
                </a:solidFill>
                <a:latin typeface="Arial Rounded MT Bold" panose="020F0704030504030204" pitchFamily="34" charset="0"/>
              </a:rPr>
              <a:pPr>
                <a:spcBef>
                  <a:spcPct val="0"/>
                </a:spcBef>
                <a:buFontTx/>
                <a:buNone/>
              </a:pPr>
              <a:t>18 April 2023</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F91DF1A8-F08B-4BFE-B4BC-1E8E2A31B81A}"/>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2" name="Oval 11">
            <a:extLst>
              <a:ext uri="{FF2B5EF4-FFF2-40B4-BE49-F238E27FC236}">
                <a16:creationId xmlns:a16="http://schemas.microsoft.com/office/drawing/2014/main" id="{29A766E0-309D-4A26-812C-8B210FB54A5E}"/>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36873" name="Picture 10" descr="A picture containing text, sign, watch&#10;&#10;Description automatically generated">
            <a:extLst>
              <a:ext uri="{FF2B5EF4-FFF2-40B4-BE49-F238E27FC236}">
                <a16:creationId xmlns:a16="http://schemas.microsoft.com/office/drawing/2014/main" id="{D7A2222C-D3FA-44A1-96FC-6B6E73C0CC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4" name="TextBox 1">
            <a:extLst>
              <a:ext uri="{FF2B5EF4-FFF2-40B4-BE49-F238E27FC236}">
                <a16:creationId xmlns:a16="http://schemas.microsoft.com/office/drawing/2014/main" id="{3C85D3C8-C5FC-4F02-8BB7-C78955787EEB}"/>
              </a:ext>
            </a:extLst>
          </p:cNvPr>
          <p:cNvSpPr txBox="1">
            <a:spLocks noChangeArrowheads="1"/>
          </p:cNvSpPr>
          <p:nvPr/>
        </p:nvSpPr>
        <p:spPr bwMode="auto">
          <a:xfrm>
            <a:off x="190500" y="1119335"/>
            <a:ext cx="3581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b="1" u="sng" dirty="0">
                <a:latin typeface="Calibri (Body)"/>
                <a:ea typeface="Verdana" panose="020B0604030504040204" pitchFamily="34" charset="0"/>
                <a:cs typeface="Verdana" panose="020B0604030504040204" pitchFamily="34" charset="0"/>
              </a:rPr>
              <a:t>Module 4:  </a:t>
            </a:r>
          </a:p>
        </p:txBody>
      </p:sp>
      <p:sp>
        <p:nvSpPr>
          <p:cNvPr id="3" name="TextBox 2">
            <a:extLst>
              <a:ext uri="{FF2B5EF4-FFF2-40B4-BE49-F238E27FC236}">
                <a16:creationId xmlns:a16="http://schemas.microsoft.com/office/drawing/2014/main" id="{9F902A73-9630-4D7C-9D53-7DF705F9CC47}"/>
              </a:ext>
            </a:extLst>
          </p:cNvPr>
          <p:cNvSpPr txBox="1"/>
          <p:nvPr/>
        </p:nvSpPr>
        <p:spPr>
          <a:xfrm>
            <a:off x="304800" y="1639085"/>
            <a:ext cx="8534400" cy="3747436"/>
          </a:xfrm>
          <a:prstGeom prst="rect">
            <a:avLst/>
          </a:prstGeom>
          <a:noFill/>
        </p:spPr>
        <p:txBody>
          <a:bodyPr>
            <a:spAutoFit/>
          </a:bodyPr>
          <a:lstStyle/>
          <a:p>
            <a:pPr algn="just">
              <a:defRPr/>
            </a:pPr>
            <a:r>
              <a:rPr lang="en-US" sz="1600" b="1" u="sng" dirty="0">
                <a:latin typeface="Calibri (Body)"/>
                <a:cs typeface="Times New Roman" panose="02020603050405020304" pitchFamily="18" charset="0"/>
              </a:rPr>
              <a:t>Hyper Parameter Optimization</a:t>
            </a:r>
          </a:p>
          <a:p>
            <a:pPr algn="just">
              <a:defRPr/>
            </a:pPr>
            <a:endParaRPr lang="en-US" sz="1600" b="1" u="sng" dirty="0">
              <a:latin typeface="Calibri (Body)"/>
              <a:cs typeface="Times New Roman" panose="02020603050405020304" pitchFamily="18" charset="0"/>
            </a:endParaRPr>
          </a:p>
          <a:p>
            <a:pPr algn="just">
              <a:defRPr/>
            </a:pPr>
            <a:r>
              <a:rPr lang="en-US" sz="1600" b="1" dirty="0">
                <a:latin typeface="Calibri (Body)"/>
                <a:cs typeface="Times New Roman" panose="02020603050405020304" pitchFamily="18" charset="0"/>
              </a:rPr>
              <a:t>1. Grid Search</a:t>
            </a:r>
          </a:p>
          <a:p>
            <a:pPr marL="285750" indent="-285750" algn="just">
              <a:lnSpc>
                <a:spcPct val="150000"/>
              </a:lnSpc>
              <a:buFont typeface="Arial" panose="020B0604020202020204" pitchFamily="34" charset="0"/>
              <a:buChar char="•"/>
              <a:defRPr/>
            </a:pPr>
            <a:r>
              <a:rPr lang="en-IN" sz="1600" dirty="0">
                <a:latin typeface="Calibri (Body)"/>
                <a:cs typeface="Times New Roman" panose="02020603050405020304" pitchFamily="18" charset="0"/>
              </a:rPr>
              <a:t>	 It is an exhaustive search that is performed in a specific parameter values of a model, also called as an estimator. </a:t>
            </a:r>
          </a:p>
          <a:p>
            <a:pPr marL="285750" indent="-285750" algn="just">
              <a:lnSpc>
                <a:spcPct val="150000"/>
              </a:lnSpc>
              <a:buFont typeface="Arial" panose="020B0604020202020204" pitchFamily="34" charset="0"/>
              <a:buChar char="•"/>
              <a:defRPr/>
            </a:pPr>
            <a:r>
              <a:rPr lang="en-IN" sz="1600" dirty="0">
                <a:latin typeface="Calibri (Body)"/>
                <a:cs typeface="Times New Roman" panose="02020603050405020304" pitchFamily="18" charset="0"/>
              </a:rPr>
              <a:t>	Grid search brute-forces all possible combinations to find the best value of parameter.</a:t>
            </a:r>
          </a:p>
          <a:p>
            <a:pPr algn="just">
              <a:defRPr/>
            </a:pPr>
            <a:endParaRPr lang="en-IN" sz="1600" dirty="0">
              <a:latin typeface="Calibri (Body)"/>
              <a:cs typeface="Times New Roman" panose="02020603050405020304" pitchFamily="18" charset="0"/>
            </a:endParaRPr>
          </a:p>
          <a:p>
            <a:pPr algn="just">
              <a:defRPr/>
            </a:pPr>
            <a:endParaRPr lang="en-IN" sz="1600" dirty="0">
              <a:latin typeface="Calibri (Body)"/>
              <a:cs typeface="Times New Roman" panose="02020603050405020304" pitchFamily="18" charset="0"/>
            </a:endParaRPr>
          </a:p>
          <a:p>
            <a:pPr algn="just">
              <a:defRPr/>
            </a:pPr>
            <a:r>
              <a:rPr lang="en-IN" sz="1600" b="1" dirty="0">
                <a:latin typeface="Calibri (Body)"/>
                <a:cs typeface="Times New Roman" panose="02020603050405020304" pitchFamily="18" charset="0"/>
              </a:rPr>
              <a:t>2. Randomized Search</a:t>
            </a:r>
          </a:p>
          <a:p>
            <a:pPr marL="285750" indent="-285750" algn="just">
              <a:lnSpc>
                <a:spcPct val="150000"/>
              </a:lnSpc>
              <a:buFont typeface="Arial" panose="020B0604020202020204" pitchFamily="34" charset="0"/>
              <a:buChar char="•"/>
              <a:defRPr/>
            </a:pPr>
            <a:r>
              <a:rPr lang="en-IN" sz="1600" b="1" dirty="0">
                <a:latin typeface="Calibri (Body)"/>
                <a:cs typeface="Times New Roman" panose="02020603050405020304" pitchFamily="18" charset="0"/>
              </a:rPr>
              <a:t>	</a:t>
            </a:r>
            <a:r>
              <a:rPr lang="en-IN" sz="1600" dirty="0">
                <a:latin typeface="Calibri (Body)"/>
                <a:cs typeface="Times New Roman" panose="02020603050405020304" pitchFamily="18" charset="0"/>
              </a:rPr>
              <a:t>Random Search is similar to Grid Search but it chooses random combination of hyperparameters rather than brute forcing. </a:t>
            </a:r>
          </a:p>
          <a:p>
            <a:pPr marL="285750" indent="-285750" algn="just">
              <a:lnSpc>
                <a:spcPct val="150000"/>
              </a:lnSpc>
              <a:buFont typeface="Arial" panose="020B0604020202020204" pitchFamily="34" charset="0"/>
              <a:buChar char="•"/>
              <a:defRPr/>
            </a:pPr>
            <a:r>
              <a:rPr lang="en-IN" sz="1600" dirty="0">
                <a:latin typeface="Calibri (Body)"/>
                <a:cs typeface="Times New Roman" panose="02020603050405020304" pitchFamily="18" charset="0"/>
              </a:rPr>
              <a:t>	Here, we don’t specify a set of possible values for every hyperparameter. </a:t>
            </a:r>
          </a:p>
        </p:txBody>
      </p:sp>
    </p:spTree>
    <p:extLst>
      <p:ext uri="{BB962C8B-B14F-4D97-AF65-F5344CB8AC3E}">
        <p14:creationId xmlns:p14="http://schemas.microsoft.com/office/powerpoint/2010/main" val="9326332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a:extLst>
              <a:ext uri="{FF2B5EF4-FFF2-40B4-BE49-F238E27FC236}">
                <a16:creationId xmlns:a16="http://schemas.microsoft.com/office/drawing/2014/main" id="{BE7A8330-E4CB-4F06-AF3D-78EE7FBABC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 Box 4">
            <a:extLst>
              <a:ext uri="{FF2B5EF4-FFF2-40B4-BE49-F238E27FC236}">
                <a16:creationId xmlns:a16="http://schemas.microsoft.com/office/drawing/2014/main" id="{F4A11A03-1EE7-46BA-8B1E-07E5382C441D}"/>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36868" name="Picture 2">
            <a:extLst>
              <a:ext uri="{FF2B5EF4-FFF2-40B4-BE49-F238E27FC236}">
                <a16:creationId xmlns:a16="http://schemas.microsoft.com/office/drawing/2014/main" id="{A4104424-5FCD-4DB8-9BC4-375CD291B9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B427FDA7-43DD-4DA4-893B-C5CB6018355A}"/>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fld id="{841F66B6-980C-43F1-92A2-E9BCCE6784FD}" type="slidenum">
              <a:rPr lang="en-US" altLang="en-US" sz="1600" b="1">
                <a:solidFill>
                  <a:srgbClr val="FFFFFF"/>
                </a:solidFill>
                <a:latin typeface="Comic Sans MS" panose="030F0702030302020204" pitchFamily="66" charset="0"/>
              </a:rPr>
              <a:pPr algn="ctr" eaLnBrk="1" hangingPunct="1">
                <a:spcBef>
                  <a:spcPct val="0"/>
                </a:spcBef>
                <a:buFontTx/>
                <a:buNone/>
              </a:pPr>
              <a:t>25</a:t>
            </a:fld>
            <a:endParaRPr lang="en-US" altLang="en-US" sz="1600" b="1">
              <a:solidFill>
                <a:srgbClr val="FFFFFF"/>
              </a:solidFill>
              <a:latin typeface="Comic Sans MS" panose="030F0702030302020204" pitchFamily="66" charset="0"/>
            </a:endParaRPr>
          </a:p>
        </p:txBody>
      </p:sp>
      <p:sp>
        <p:nvSpPr>
          <p:cNvPr id="36870" name="Date Placeholder 7">
            <a:extLst>
              <a:ext uri="{FF2B5EF4-FFF2-40B4-BE49-F238E27FC236}">
                <a16:creationId xmlns:a16="http://schemas.microsoft.com/office/drawing/2014/main" id="{9EB8C82D-DEFC-4801-AA53-88AF7815FDE4}"/>
              </a:ext>
            </a:extLst>
          </p:cNvPr>
          <p:cNvSpPr>
            <a:spLocks noGrp="1"/>
          </p:cNvSpPr>
          <p:nvPr>
            <p:ph type="dt" sz="quarter" idx="10"/>
          </p:nvPr>
        </p:nvSpPr>
        <p:spPr>
          <a:xfrm>
            <a:off x="0" y="6564313"/>
            <a:ext cx="1752600" cy="412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80F0D9B-2FCB-4E51-9DE4-DEB44FC39F6E}" type="datetime3">
              <a:rPr lang="en-US" altLang="en-US" sz="1400" b="1" smtClean="0">
                <a:solidFill>
                  <a:srgbClr val="FF0066"/>
                </a:solidFill>
                <a:latin typeface="Arial Rounded MT Bold" panose="020F0704030504030204" pitchFamily="34" charset="0"/>
              </a:rPr>
              <a:pPr>
                <a:spcBef>
                  <a:spcPct val="0"/>
                </a:spcBef>
                <a:buFontTx/>
                <a:buNone/>
              </a:pPr>
              <a:t>18 April 2023</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F91DF1A8-F08B-4BFE-B4BC-1E8E2A31B81A}"/>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2" name="Oval 11">
            <a:extLst>
              <a:ext uri="{FF2B5EF4-FFF2-40B4-BE49-F238E27FC236}">
                <a16:creationId xmlns:a16="http://schemas.microsoft.com/office/drawing/2014/main" id="{29A766E0-309D-4A26-812C-8B210FB54A5E}"/>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36873" name="Picture 10" descr="A picture containing text, sign, watch&#10;&#10;Description automatically generated">
            <a:extLst>
              <a:ext uri="{FF2B5EF4-FFF2-40B4-BE49-F238E27FC236}">
                <a16:creationId xmlns:a16="http://schemas.microsoft.com/office/drawing/2014/main" id="{D7A2222C-D3FA-44A1-96FC-6B6E73C0CC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9F902A73-9630-4D7C-9D53-7DF705F9CC47}"/>
              </a:ext>
            </a:extLst>
          </p:cNvPr>
          <p:cNvSpPr txBox="1"/>
          <p:nvPr/>
        </p:nvSpPr>
        <p:spPr>
          <a:xfrm>
            <a:off x="209550" y="975420"/>
            <a:ext cx="8534400" cy="6001643"/>
          </a:xfrm>
          <a:prstGeom prst="rect">
            <a:avLst/>
          </a:prstGeom>
          <a:noFill/>
        </p:spPr>
        <p:txBody>
          <a:bodyPr>
            <a:spAutoFit/>
          </a:bodyPr>
          <a:lstStyle/>
          <a:p>
            <a:pPr algn="just">
              <a:defRPr/>
            </a:pPr>
            <a:r>
              <a:rPr lang="en-US" sz="1600" b="1" dirty="0">
                <a:cs typeface="Times New Roman" panose="02020603050405020304" pitchFamily="18" charset="0"/>
              </a:rPr>
              <a:t>3. Tree-Based Pipeline Optimization Tool (TPOT)</a:t>
            </a:r>
          </a:p>
          <a:p>
            <a:pPr marL="285750" indent="-285750" algn="just">
              <a:lnSpc>
                <a:spcPct val="150000"/>
              </a:lnSpc>
              <a:buFont typeface="Arial" panose="020B0604020202020204" pitchFamily="34" charset="0"/>
              <a:buChar char="•"/>
              <a:defRPr/>
            </a:pPr>
            <a:r>
              <a:rPr lang="en-US" sz="1600" b="1" dirty="0">
                <a:cs typeface="Times New Roman" panose="02020603050405020304" pitchFamily="18" charset="0"/>
              </a:rPr>
              <a:t>	</a:t>
            </a:r>
            <a:r>
              <a:rPr lang="en-US" sz="1600" dirty="0">
                <a:cs typeface="Times New Roman" panose="02020603050405020304" pitchFamily="18" charset="0"/>
              </a:rPr>
              <a:t>TPOT is an </a:t>
            </a:r>
            <a:r>
              <a:rPr lang="en-US" sz="1600" dirty="0" err="1">
                <a:cs typeface="Times New Roman" panose="02020603050405020304" pitchFamily="18" charset="0"/>
              </a:rPr>
              <a:t>AutoML</a:t>
            </a:r>
            <a:r>
              <a:rPr lang="en-US" sz="1600" dirty="0">
                <a:cs typeface="Times New Roman" panose="02020603050405020304" pitchFamily="18" charset="0"/>
              </a:rPr>
              <a:t> tool designed for efficient construction of optimal pipelines through genetic algorithm. </a:t>
            </a:r>
          </a:p>
          <a:p>
            <a:pPr marL="285750" indent="-285750" algn="just">
              <a:lnSpc>
                <a:spcPct val="150000"/>
              </a:lnSpc>
              <a:buFont typeface="Arial" panose="020B0604020202020204" pitchFamily="34" charset="0"/>
              <a:buChar char="•"/>
              <a:defRPr/>
            </a:pPr>
            <a:r>
              <a:rPr lang="en-US" sz="1600" dirty="0">
                <a:cs typeface="Times New Roman" panose="02020603050405020304" pitchFamily="18" charset="0"/>
              </a:rPr>
              <a:t>	The goal of TPOT is to automate the building of ML pipelines by combining a flexible expression tree representation of pipelines with stochastic search algorithms such as genetic programming.</a:t>
            </a:r>
          </a:p>
          <a:p>
            <a:pPr marL="285750" indent="-285750" algn="just">
              <a:lnSpc>
                <a:spcPct val="150000"/>
              </a:lnSpc>
              <a:buFont typeface="Arial" panose="020B0604020202020204" pitchFamily="34" charset="0"/>
              <a:buChar char="•"/>
              <a:defRPr/>
            </a:pPr>
            <a:endParaRPr lang="en-US" sz="1600" dirty="0">
              <a:cs typeface="Times New Roman" panose="02020603050405020304" pitchFamily="18" charset="0"/>
            </a:endParaRPr>
          </a:p>
          <a:p>
            <a:pPr algn="just">
              <a:defRPr/>
            </a:pPr>
            <a:r>
              <a:rPr lang="en-IN" sz="1600" b="0" dirty="0">
                <a:effectLst/>
              </a:rPr>
              <a:t>	</a:t>
            </a:r>
            <a:endParaRPr lang="en-IN" sz="1600" dirty="0">
              <a:cs typeface="Times New Roman" panose="02020603050405020304" pitchFamily="18" charset="0"/>
            </a:endParaRPr>
          </a:p>
          <a:p>
            <a:pPr algn="just">
              <a:defRPr/>
            </a:pPr>
            <a:r>
              <a:rPr lang="en-IN" sz="1600" b="1" dirty="0">
                <a:cs typeface="Times New Roman" panose="02020603050405020304" pitchFamily="18" charset="0"/>
              </a:rPr>
              <a:t>4. Bayesian Optimization: </a:t>
            </a:r>
          </a:p>
          <a:p>
            <a:pPr marL="285750" indent="-285750" algn="just">
              <a:lnSpc>
                <a:spcPct val="150000"/>
              </a:lnSpc>
              <a:buFont typeface="Arial" panose="020B0604020202020204" pitchFamily="34" charset="0"/>
              <a:buChar char="•"/>
              <a:defRPr/>
            </a:pPr>
            <a:r>
              <a:rPr lang="en-IN" sz="1600" dirty="0"/>
              <a:t>	Bayesian methods differ from random or grid search in that they </a:t>
            </a:r>
            <a:r>
              <a:rPr lang="en-IN" sz="1600" dirty="0">
                <a:effectLst/>
              </a:rPr>
              <a:t>use past evaluation results to choose the next values to evaluate</a:t>
            </a:r>
            <a:r>
              <a:rPr lang="en-IN" sz="1600" dirty="0"/>
              <a:t>.</a:t>
            </a:r>
          </a:p>
          <a:p>
            <a:pPr marL="285750" indent="-285750" algn="just">
              <a:lnSpc>
                <a:spcPct val="150000"/>
              </a:lnSpc>
              <a:buFont typeface="Arial" panose="020B0604020202020204" pitchFamily="34" charset="0"/>
              <a:buChar char="•"/>
              <a:defRPr/>
            </a:pPr>
            <a:r>
              <a:rPr lang="en-IN" sz="1600" dirty="0">
                <a:solidFill>
                  <a:srgbClr val="292929"/>
                </a:solidFill>
                <a:latin typeface="source-serif-pro"/>
              </a:rPr>
              <a:t>	</a:t>
            </a:r>
            <a:r>
              <a:rPr lang="en-IN" sz="1600" dirty="0">
                <a:solidFill>
                  <a:srgbClr val="292929"/>
                </a:solidFill>
                <a:effectLst/>
                <a:latin typeface="source-serif-pro"/>
              </a:rPr>
              <a:t>The concept is limit expensive evaluations of the objective function by choosing the next input values based on those that have done well in the past.</a:t>
            </a:r>
          </a:p>
          <a:p>
            <a:pPr marL="285750" indent="-285750" algn="l">
              <a:lnSpc>
                <a:spcPct val="150000"/>
              </a:lnSpc>
              <a:buFont typeface="Arial" panose="020B0604020202020204" pitchFamily="34" charset="0"/>
              <a:buChar char="•"/>
            </a:pPr>
            <a:r>
              <a:rPr lang="en-IN" sz="1600" b="0" i="0" dirty="0">
                <a:solidFill>
                  <a:srgbClr val="000000"/>
                </a:solidFill>
                <a:effectLst/>
              </a:rPr>
              <a:t>	Bayesian Optimization is efficient with all types of Hyperparameters (continuous or categorical).</a:t>
            </a:r>
            <a:endParaRPr lang="en-IN" sz="1600" dirty="0">
              <a:cs typeface="Times New Roman" panose="02020603050405020304" pitchFamily="18" charset="0"/>
            </a:endParaRPr>
          </a:p>
          <a:p>
            <a:pPr algn="just">
              <a:defRPr/>
            </a:pPr>
            <a:r>
              <a:rPr lang="en-IN" sz="1600" dirty="0">
                <a:cs typeface="Times New Roman" panose="02020603050405020304" pitchFamily="18" charset="0"/>
              </a:rPr>
              <a:t>				</a:t>
            </a:r>
          </a:p>
          <a:p>
            <a:pPr algn="just">
              <a:defRPr/>
            </a:pPr>
            <a:r>
              <a:rPr lang="en-IN" sz="1600" dirty="0">
                <a:cs typeface="Times New Roman" panose="02020603050405020304" pitchFamily="18" charset="0"/>
              </a:rPr>
              <a:t>				</a:t>
            </a:r>
          </a:p>
          <a:p>
            <a:pPr algn="just">
              <a:defRPr/>
            </a:pPr>
            <a:endParaRPr lang="en-US" sz="1600" dirty="0">
              <a:cs typeface="Times New Roman" panose="02020603050405020304" pitchFamily="18" charset="0"/>
            </a:endParaRPr>
          </a:p>
        </p:txBody>
      </p:sp>
    </p:spTree>
    <p:extLst>
      <p:ext uri="{BB962C8B-B14F-4D97-AF65-F5344CB8AC3E}">
        <p14:creationId xmlns:p14="http://schemas.microsoft.com/office/powerpoint/2010/main" val="29429304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a:extLst>
              <a:ext uri="{FF2B5EF4-FFF2-40B4-BE49-F238E27FC236}">
                <a16:creationId xmlns:a16="http://schemas.microsoft.com/office/drawing/2014/main" id="{BE7A8330-E4CB-4F06-AF3D-78EE7FBABC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 Box 4">
            <a:extLst>
              <a:ext uri="{FF2B5EF4-FFF2-40B4-BE49-F238E27FC236}">
                <a16:creationId xmlns:a16="http://schemas.microsoft.com/office/drawing/2014/main" id="{F4A11A03-1EE7-46BA-8B1E-07E5382C441D}"/>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36868" name="Picture 2">
            <a:extLst>
              <a:ext uri="{FF2B5EF4-FFF2-40B4-BE49-F238E27FC236}">
                <a16:creationId xmlns:a16="http://schemas.microsoft.com/office/drawing/2014/main" id="{A4104424-5FCD-4DB8-9BC4-375CD291B9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B427FDA7-43DD-4DA4-893B-C5CB6018355A}"/>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fld id="{841F66B6-980C-43F1-92A2-E9BCCE6784FD}" type="slidenum">
              <a:rPr lang="en-US" altLang="en-US" sz="1600" b="1">
                <a:solidFill>
                  <a:srgbClr val="FFFFFF"/>
                </a:solidFill>
                <a:latin typeface="Comic Sans MS" panose="030F0702030302020204" pitchFamily="66" charset="0"/>
              </a:rPr>
              <a:pPr algn="ctr" eaLnBrk="1" hangingPunct="1">
                <a:spcBef>
                  <a:spcPct val="0"/>
                </a:spcBef>
                <a:buFontTx/>
                <a:buNone/>
              </a:pPr>
              <a:t>26</a:t>
            </a:fld>
            <a:endParaRPr lang="en-US" altLang="en-US" sz="1600" b="1">
              <a:solidFill>
                <a:srgbClr val="FFFFFF"/>
              </a:solidFill>
              <a:latin typeface="Comic Sans MS" panose="030F0702030302020204" pitchFamily="66" charset="0"/>
            </a:endParaRPr>
          </a:p>
        </p:txBody>
      </p:sp>
      <p:sp>
        <p:nvSpPr>
          <p:cNvPr id="36870" name="Date Placeholder 7">
            <a:extLst>
              <a:ext uri="{FF2B5EF4-FFF2-40B4-BE49-F238E27FC236}">
                <a16:creationId xmlns:a16="http://schemas.microsoft.com/office/drawing/2014/main" id="{9EB8C82D-DEFC-4801-AA53-88AF7815FDE4}"/>
              </a:ext>
            </a:extLst>
          </p:cNvPr>
          <p:cNvSpPr>
            <a:spLocks noGrp="1"/>
          </p:cNvSpPr>
          <p:nvPr>
            <p:ph type="dt" sz="quarter" idx="10"/>
          </p:nvPr>
        </p:nvSpPr>
        <p:spPr>
          <a:xfrm>
            <a:off x="0" y="6564313"/>
            <a:ext cx="1752600" cy="412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80F0D9B-2FCB-4E51-9DE4-DEB44FC39F6E}" type="datetime3">
              <a:rPr lang="en-US" altLang="en-US" sz="1400" b="1" smtClean="0">
                <a:solidFill>
                  <a:srgbClr val="FF0066"/>
                </a:solidFill>
                <a:latin typeface="Arial Rounded MT Bold" panose="020F0704030504030204" pitchFamily="34" charset="0"/>
              </a:rPr>
              <a:pPr>
                <a:spcBef>
                  <a:spcPct val="0"/>
                </a:spcBef>
                <a:buFontTx/>
                <a:buNone/>
              </a:pPr>
              <a:t>18 April 2023</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F91DF1A8-F08B-4BFE-B4BC-1E8E2A31B81A}"/>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2" name="Oval 11">
            <a:extLst>
              <a:ext uri="{FF2B5EF4-FFF2-40B4-BE49-F238E27FC236}">
                <a16:creationId xmlns:a16="http://schemas.microsoft.com/office/drawing/2014/main" id="{29A766E0-309D-4A26-812C-8B210FB54A5E}"/>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36873" name="Picture 10" descr="A picture containing text, sign, watch&#10;&#10;Description automatically generated">
            <a:extLst>
              <a:ext uri="{FF2B5EF4-FFF2-40B4-BE49-F238E27FC236}">
                <a16:creationId xmlns:a16="http://schemas.microsoft.com/office/drawing/2014/main" id="{D7A2222C-D3FA-44A1-96FC-6B6E73C0CC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9F902A73-9630-4D7C-9D53-7DF705F9CC47}"/>
              </a:ext>
            </a:extLst>
          </p:cNvPr>
          <p:cNvSpPr txBox="1"/>
          <p:nvPr/>
        </p:nvSpPr>
        <p:spPr>
          <a:xfrm>
            <a:off x="209550" y="1193225"/>
            <a:ext cx="8534400" cy="3170099"/>
          </a:xfrm>
          <a:prstGeom prst="rect">
            <a:avLst/>
          </a:prstGeom>
          <a:noFill/>
        </p:spPr>
        <p:txBody>
          <a:bodyPr>
            <a:spAutoFit/>
          </a:bodyPr>
          <a:lstStyle/>
          <a:p>
            <a:pPr algn="just">
              <a:defRPr/>
            </a:pPr>
            <a:r>
              <a:rPr lang="en-IN" sz="1600" b="1" dirty="0">
                <a:cs typeface="Times New Roman" panose="02020603050405020304" pitchFamily="18" charset="0"/>
              </a:rPr>
              <a:t>5. Hyperband feature selection:</a:t>
            </a:r>
          </a:p>
          <a:p>
            <a:pPr marL="285750" indent="-285750" algn="l">
              <a:lnSpc>
                <a:spcPct val="150000"/>
              </a:lnSpc>
              <a:buFont typeface="Arial" panose="020B0604020202020204" pitchFamily="34" charset="0"/>
              <a:buChar char="•"/>
            </a:pPr>
            <a:r>
              <a:rPr lang="en-IN" sz="1600" b="0" i="0" dirty="0">
                <a:solidFill>
                  <a:srgbClr val="000000"/>
                </a:solidFill>
                <a:effectLst/>
              </a:rPr>
              <a:t>	Generate small-sized subsets and allocate budgets to each hyper-parameter combination based on its performance.</a:t>
            </a:r>
            <a:r>
              <a:rPr lang="en-IN" sz="1600" b="0" i="0" dirty="0">
                <a:solidFill>
                  <a:srgbClr val="292929"/>
                </a:solidFill>
                <a:effectLst/>
                <a:latin typeface="source-serif-pro"/>
              </a:rPr>
              <a:t>  </a:t>
            </a:r>
          </a:p>
          <a:p>
            <a:pPr marL="285750" indent="-285750" algn="l">
              <a:lnSpc>
                <a:spcPct val="150000"/>
              </a:lnSpc>
              <a:buFont typeface="Arial" panose="020B0604020202020204" pitchFamily="34" charset="0"/>
              <a:buChar char="•"/>
            </a:pPr>
            <a:r>
              <a:rPr lang="en-IN" sz="1600" dirty="0">
                <a:solidFill>
                  <a:srgbClr val="292929"/>
                </a:solidFill>
                <a:latin typeface="source-serif-pro"/>
              </a:rPr>
              <a:t>	</a:t>
            </a:r>
            <a:r>
              <a:rPr lang="en-IN" sz="1600" b="0" i="0" dirty="0">
                <a:solidFill>
                  <a:srgbClr val="292929"/>
                </a:solidFill>
                <a:effectLst/>
                <a:latin typeface="source-serif-pro"/>
              </a:rPr>
              <a:t>Hyperband is essentially just a grid search over the optimal allocation strategy. </a:t>
            </a:r>
          </a:p>
          <a:p>
            <a:pPr marL="285750" indent="-285750" algn="l">
              <a:lnSpc>
                <a:spcPct val="150000"/>
              </a:lnSpc>
              <a:buFont typeface="Arial" panose="020B0604020202020204" pitchFamily="34" charset="0"/>
              <a:buChar char="•"/>
            </a:pPr>
            <a:r>
              <a:rPr lang="en-IN" sz="1600" dirty="0">
                <a:solidFill>
                  <a:srgbClr val="292929"/>
                </a:solidFill>
                <a:latin typeface="source-serif-pro"/>
              </a:rPr>
              <a:t>	</a:t>
            </a:r>
            <a:r>
              <a:rPr lang="en-IN" sz="1600" b="0" i="0" dirty="0">
                <a:solidFill>
                  <a:srgbClr val="292929"/>
                </a:solidFill>
                <a:effectLst/>
                <a:latin typeface="source-serif-pro"/>
              </a:rPr>
              <a:t>So at each individual trial the set of hyper parameters is chosen randomly.</a:t>
            </a:r>
            <a:endParaRPr lang="en-IN" sz="1600" b="0" i="0" dirty="0">
              <a:solidFill>
                <a:srgbClr val="000000"/>
              </a:solidFill>
              <a:effectLst/>
            </a:endParaRPr>
          </a:p>
          <a:p>
            <a:pPr marL="285750" indent="-285750" algn="l">
              <a:lnSpc>
                <a:spcPct val="150000"/>
              </a:lnSpc>
              <a:buFont typeface="Arial" panose="020B0604020202020204" pitchFamily="34" charset="0"/>
              <a:buChar char="•"/>
            </a:pPr>
            <a:r>
              <a:rPr lang="en-IN" sz="1600" b="0" i="0" dirty="0">
                <a:solidFill>
                  <a:srgbClr val="000000"/>
                </a:solidFill>
                <a:effectLst/>
              </a:rPr>
              <a:t>	Since, it enable parallelization, it converges to the best hyperparameter faster.</a:t>
            </a:r>
          </a:p>
          <a:p>
            <a:pPr algn="just">
              <a:defRPr/>
            </a:pPr>
            <a:endParaRPr lang="en-IN" sz="1600" b="1" dirty="0">
              <a:cs typeface="Times New Roman" panose="02020603050405020304" pitchFamily="18" charset="0"/>
            </a:endParaRPr>
          </a:p>
          <a:p>
            <a:pPr algn="just">
              <a:defRPr/>
            </a:pPr>
            <a:r>
              <a:rPr lang="en-IN" sz="1600" b="1" dirty="0">
                <a:cs typeface="Times New Roman" panose="02020603050405020304" pitchFamily="18" charset="0"/>
              </a:rPr>
              <a:t>				</a:t>
            </a:r>
          </a:p>
          <a:p>
            <a:pPr algn="just">
              <a:defRPr/>
            </a:pPr>
            <a:r>
              <a:rPr lang="en-IN" sz="1600" b="1" dirty="0">
                <a:cs typeface="Times New Roman" panose="02020603050405020304" pitchFamily="18" charset="0"/>
              </a:rPr>
              <a:t>				</a:t>
            </a:r>
          </a:p>
          <a:p>
            <a:pPr algn="just">
              <a:defRPr/>
            </a:pPr>
            <a:endParaRPr lang="en-US" sz="1600" b="1" dirty="0">
              <a:cs typeface="Times New Roman" panose="02020603050405020304" pitchFamily="18" charset="0"/>
            </a:endParaRPr>
          </a:p>
        </p:txBody>
      </p:sp>
    </p:spTree>
    <p:extLst>
      <p:ext uri="{BB962C8B-B14F-4D97-AF65-F5344CB8AC3E}">
        <p14:creationId xmlns:p14="http://schemas.microsoft.com/office/powerpoint/2010/main" val="27965424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8D4669DB-FB9D-493D-B0D9-33EFC82790DE}"/>
              </a:ext>
            </a:extLst>
          </p:cNvPr>
          <p:cNvPicPr>
            <a:picLocks noChangeAspect="1"/>
          </p:cNvPicPr>
          <p:nvPr/>
        </p:nvPicPr>
        <p:blipFill>
          <a:blip r:embed="rId3">
            <a:lum/>
            <a:alphaModFix/>
          </a:blip>
          <a:srcRect/>
          <a:stretch>
            <a:fillRect/>
          </a:stretch>
        </p:blipFill>
        <p:spPr>
          <a:xfrm>
            <a:off x="0" y="6553084"/>
            <a:ext cx="9144000" cy="308161"/>
          </a:xfrm>
          <a:prstGeom prst="rect">
            <a:avLst/>
          </a:prstGeom>
          <a:noFill/>
          <a:ln cap="flat">
            <a:noFill/>
          </a:ln>
        </p:spPr>
      </p:pic>
      <p:sp>
        <p:nvSpPr>
          <p:cNvPr id="3" name="Text Box 4">
            <a:extLst>
              <a:ext uri="{FF2B5EF4-FFF2-40B4-BE49-F238E27FC236}">
                <a16:creationId xmlns:a16="http://schemas.microsoft.com/office/drawing/2014/main" id="{6F8CE000-001B-477B-AEB1-7B2DF82125E0}"/>
              </a:ext>
            </a:extLst>
          </p:cNvPr>
          <p:cNvSpPr/>
          <p:nvPr/>
        </p:nvSpPr>
        <p:spPr>
          <a:xfrm>
            <a:off x="2299322" y="6550203"/>
            <a:ext cx="4545363" cy="307082"/>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a:effectLst>
            <a:outerShdw dist="17819" dir="2700000" algn="tl">
              <a:srgbClr val="000000"/>
            </a:outerShdw>
          </a:effectLst>
        </p:spPr>
        <p:txBody>
          <a:bodyPr vert="horz" wrap="non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1400" b="1" i="0" u="none" strike="noStrike" kern="1200" cap="none" spc="0" baseline="0">
                <a:solidFill>
                  <a:srgbClr val="47FFD1"/>
                </a:solidFill>
                <a:uFillTx/>
                <a:latin typeface="Comic Sans MS" pitchFamily="66"/>
                <a:ea typeface="Microsoft YaHei" pitchFamily="2"/>
                <a:cs typeface="Lucida Sans" pitchFamily="2"/>
              </a:rPr>
              <a:t>Department of Computer Science and Engineering</a:t>
            </a:r>
          </a:p>
        </p:txBody>
      </p:sp>
      <p:pic>
        <p:nvPicPr>
          <p:cNvPr id="4" name="Picture 2">
            <a:extLst>
              <a:ext uri="{FF2B5EF4-FFF2-40B4-BE49-F238E27FC236}">
                <a16:creationId xmlns:a16="http://schemas.microsoft.com/office/drawing/2014/main" id="{EFEADD32-D603-4B11-8D98-E7FD48C6130F}"/>
              </a:ext>
            </a:extLst>
          </p:cNvPr>
          <p:cNvPicPr>
            <a:picLocks noChangeAspect="1"/>
          </p:cNvPicPr>
          <p:nvPr/>
        </p:nvPicPr>
        <p:blipFill>
          <a:blip r:embed="rId3">
            <a:lum/>
            <a:alphaModFix/>
          </a:blip>
          <a:srcRect/>
          <a:stretch>
            <a:fillRect/>
          </a:stretch>
        </p:blipFill>
        <p:spPr>
          <a:xfrm>
            <a:off x="0" y="0"/>
            <a:ext cx="9144000" cy="609484"/>
          </a:xfrm>
          <a:prstGeom prst="rect">
            <a:avLst/>
          </a:prstGeom>
          <a:noFill/>
          <a:ln cap="flat">
            <a:noFill/>
          </a:ln>
        </p:spPr>
      </p:pic>
      <p:sp>
        <p:nvSpPr>
          <p:cNvPr id="5" name="Rectangle: Rounded Corners 3">
            <a:extLst>
              <a:ext uri="{FF2B5EF4-FFF2-40B4-BE49-F238E27FC236}">
                <a16:creationId xmlns:a16="http://schemas.microsoft.com/office/drawing/2014/main" id="{6BBED2D9-BCDF-4E94-8182-A159447629CE}"/>
              </a:ext>
            </a:extLst>
          </p:cNvPr>
          <p:cNvSpPr/>
          <p:nvPr/>
        </p:nvSpPr>
        <p:spPr>
          <a:xfrm>
            <a:off x="8550362" y="6553084"/>
            <a:ext cx="593637" cy="306360"/>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0066"/>
          </a:solidFill>
          <a:ln w="12600" cap="flat">
            <a:solidFill>
              <a:srgbClr val="000000"/>
            </a:solidFill>
            <a:prstDash val="solid"/>
            <a:miter/>
          </a:ln>
        </p:spPr>
        <p:txBody>
          <a:bodyPr vert="horz" wrap="square" lIns="90004" tIns="46798" rIns="90004" bIns="46798" anchor="ctr" anchorCtr="1" compatLnSpc="1">
            <a:normAutofit fontScale="92500" lnSpcReduction="20000"/>
          </a:bodyPr>
          <a:lstStyle/>
          <a:p>
            <a:pPr marL="0" marR="0" lvl="0" indent="0" algn="ctr" defTabSz="914400" rtl="0" fontAlgn="auto" hangingPunct="1">
              <a:lnSpc>
                <a:spcPct val="8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AB8CC7BD-5D93-4C0A-AAD8-B765ACB170F4}" type="slidenum">
              <a:t>27</a:t>
            </a:fld>
            <a:endParaRPr lang="en-US" sz="1400" b="1" i="0" u="none" strike="noStrike" kern="1200" cap="none" spc="0" baseline="0">
              <a:solidFill>
                <a:srgbClr val="FFFFFF"/>
              </a:solidFill>
              <a:uFillTx/>
              <a:latin typeface="Comic Sans MS" pitchFamily="66"/>
              <a:ea typeface="Microsoft YaHei" pitchFamily="2"/>
              <a:cs typeface="Lucida Sans" pitchFamily="2"/>
            </a:endParaRPr>
          </a:p>
        </p:txBody>
      </p:sp>
      <p:sp>
        <p:nvSpPr>
          <p:cNvPr id="6" name="Date Placeholder 7">
            <a:extLst>
              <a:ext uri="{FF2B5EF4-FFF2-40B4-BE49-F238E27FC236}">
                <a16:creationId xmlns:a16="http://schemas.microsoft.com/office/drawing/2014/main" id="{D0C2D5F8-2A4E-45AD-9E19-29D2B63406A3}"/>
              </a:ext>
            </a:extLst>
          </p:cNvPr>
          <p:cNvSpPr/>
          <p:nvPr/>
        </p:nvSpPr>
        <p:spPr>
          <a:xfrm>
            <a:off x="0" y="6564239"/>
            <a:ext cx="1447915" cy="41291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norm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5E5B1732-3D3F-4E1A-AD91-1223FC4CF4BB}" type="datetime1">
              <a:rPr lang="en-US" sz="1400" b="1" i="0" u="none" strike="noStrike" kern="1200" cap="none" spc="0" baseline="0">
                <a:solidFill>
                  <a:srgbClr val="FF0066"/>
                </a:solidFill>
                <a:uFillTx/>
                <a:latin typeface="Arial Rounded MT Bold" pitchFamily="34"/>
                <a:ea typeface="Microsoft YaHei" pitchFamily="2"/>
                <a:cs typeface="Lucida Sans" pitchFamily="2"/>
              </a:rPr>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t>4/18/2023</a:t>
            </a:fld>
            <a:endParaRPr lang="en-US" sz="1400" b="1" i="0" u="none" strike="noStrike" kern="1200" cap="none" spc="0" baseline="0">
              <a:solidFill>
                <a:srgbClr val="FF0066"/>
              </a:solidFill>
              <a:uFillTx/>
              <a:latin typeface="Arial Rounded MT Bold" pitchFamily="34"/>
              <a:ea typeface="Microsoft YaHei" pitchFamily="2"/>
              <a:cs typeface="Lucida Sans" pitchFamily="2"/>
            </a:endParaRPr>
          </a:p>
        </p:txBody>
      </p:sp>
      <p:sp>
        <p:nvSpPr>
          <p:cNvPr id="7" name="TextBox 8">
            <a:extLst>
              <a:ext uri="{FF2B5EF4-FFF2-40B4-BE49-F238E27FC236}">
                <a16:creationId xmlns:a16="http://schemas.microsoft.com/office/drawing/2014/main" id="{9BE241AC-2867-401B-8952-98D39C4F5A63}"/>
              </a:ext>
            </a:extLst>
          </p:cNvPr>
          <p:cNvSpPr/>
          <p:nvPr/>
        </p:nvSpPr>
        <p:spPr>
          <a:xfrm>
            <a:off x="919081" y="0"/>
            <a:ext cx="7305836" cy="47483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500" b="1" i="0" u="none" strike="noStrike" kern="1200" cap="none" spc="0" baseline="0">
                <a:solidFill>
                  <a:srgbClr val="47FFD1"/>
                </a:solidFill>
                <a:uFillTx/>
                <a:latin typeface="Comic Sans MS" pitchFamily="66"/>
                <a:ea typeface="Microsoft YaHei" pitchFamily="2"/>
                <a:cs typeface="Lucida Sans" pitchFamily="2"/>
              </a:rPr>
              <a:t>Mepco Schlenk Engineering College </a:t>
            </a:r>
            <a:r>
              <a:rPr lang="en-US" sz="1800" b="1" i="0" u="none" strike="noStrike" kern="1200" cap="none" spc="0" baseline="0">
                <a:solidFill>
                  <a:srgbClr val="47FFD1"/>
                </a:solidFill>
                <a:uFillTx/>
                <a:latin typeface="Comic Sans MS" pitchFamily="66"/>
                <a:ea typeface="Microsoft YaHei" pitchFamily="2"/>
                <a:cs typeface="Lucida Sans" pitchFamily="2"/>
              </a:rPr>
              <a:t>(Autonomous)</a:t>
            </a:r>
          </a:p>
        </p:txBody>
      </p:sp>
      <p:sp>
        <p:nvSpPr>
          <p:cNvPr id="8" name="Oval 11">
            <a:extLst>
              <a:ext uri="{FF2B5EF4-FFF2-40B4-BE49-F238E27FC236}">
                <a16:creationId xmlns:a16="http://schemas.microsoft.com/office/drawing/2014/main" id="{E67FA03A-95C6-4908-B4C7-A0B37595DAFE}"/>
              </a:ext>
            </a:extLst>
          </p:cNvPr>
          <p:cNvSpPr/>
          <p:nvPr/>
        </p:nvSpPr>
        <p:spPr>
          <a:xfrm>
            <a:off x="8354881" y="20519"/>
            <a:ext cx="777962" cy="777962"/>
          </a:xfrm>
          <a:custGeom>
            <a:avLst/>
            <a:gdLst>
              <a:gd name="f0" fmla="val 10800000"/>
              <a:gd name="f1" fmla="val 5400000"/>
              <a:gd name="f2" fmla="val 180"/>
              <a:gd name="f3" fmla="val w"/>
              <a:gd name="f4" fmla="val h"/>
              <a:gd name="f5" fmla="val 0"/>
              <a:gd name="f6" fmla="val 21600"/>
              <a:gd name="f7" fmla="*/ 5419351 1 1725033"/>
              <a:gd name="f8" fmla="*/ 10800 10800 1"/>
              <a:gd name="f9" fmla="+- 0 0 360"/>
              <a:gd name="f10" fmla="val 10800"/>
              <a:gd name="f11" fmla="+- 0 0 0"/>
              <a:gd name="f12" fmla="*/ f3 1 21600"/>
              <a:gd name="f13" fmla="*/ f4 1 21600"/>
              <a:gd name="f14" fmla="*/ 0 f7 1"/>
              <a:gd name="f15" fmla="*/ f5 f0 1"/>
              <a:gd name="f16" fmla="*/ f9 f0 1"/>
              <a:gd name="f17" fmla="+- f6 0 f5"/>
              <a:gd name="f18" fmla="*/ f11 f0 1"/>
              <a:gd name="f19" fmla="*/ f14 1 f2"/>
              <a:gd name="f20" fmla="*/ f15 1 f2"/>
              <a:gd name="f21" fmla="*/ f16 1 f2"/>
              <a:gd name="f22" fmla="*/ f17 1 21600"/>
              <a:gd name="f23" fmla="*/ f18 1 f2"/>
              <a:gd name="f24" fmla="+- 0 0 f19"/>
              <a:gd name="f25" fmla="+- f20 0 f1"/>
              <a:gd name="f26" fmla="+- f21 0 f1"/>
              <a:gd name="f27" fmla="*/ 3163 f22 1"/>
              <a:gd name="f28" fmla="*/ 18437 f22 1"/>
              <a:gd name="f29" fmla="*/ 10800 f22 1"/>
              <a:gd name="f30" fmla="*/ 0 f22 1"/>
              <a:gd name="f31" fmla="*/ 21600 f22 1"/>
              <a:gd name="f32" fmla="+- f23 0 f1"/>
              <a:gd name="f33" fmla="*/ f24 f0 1"/>
              <a:gd name="f34" fmla="+- f26 0 f25"/>
              <a:gd name="f35" fmla="*/ f29 1 f22"/>
              <a:gd name="f36" fmla="*/ f30 1 f22"/>
              <a:gd name="f37" fmla="*/ f27 1 f22"/>
              <a:gd name="f38" fmla="*/ f28 1 f22"/>
              <a:gd name="f39" fmla="*/ f31 1 f22"/>
              <a:gd name="f40" fmla="*/ f33 1 f7"/>
              <a:gd name="f41" fmla="*/ f37 f12 1"/>
              <a:gd name="f42" fmla="*/ f38 f12 1"/>
              <a:gd name="f43" fmla="*/ f38 f13 1"/>
              <a:gd name="f44" fmla="*/ f37 f13 1"/>
              <a:gd name="f45" fmla="*/ f35 f12 1"/>
              <a:gd name="f46" fmla="*/ f36 f13 1"/>
              <a:gd name="f47" fmla="*/ f36 f12 1"/>
              <a:gd name="f48" fmla="*/ f35 f13 1"/>
              <a:gd name="f49" fmla="*/ f39 f13 1"/>
              <a:gd name="f50" fmla="*/ f39 f12 1"/>
              <a:gd name="f51" fmla="+- f40 0 f1"/>
              <a:gd name="f52" fmla="+- f51 f1 0"/>
              <a:gd name="f53" fmla="*/ f52 f7 1"/>
              <a:gd name="f54" fmla="*/ f53 1 f0"/>
              <a:gd name="f55" fmla="+- 0 0 f54"/>
              <a:gd name="f56" fmla="+- 0 0 f55"/>
              <a:gd name="f57" fmla="*/ f56 f0 1"/>
              <a:gd name="f58" fmla="*/ f57 1 f7"/>
              <a:gd name="f59" fmla="+- f58 0 f1"/>
              <a:gd name="f60" fmla="cos 1 f59"/>
              <a:gd name="f61" fmla="sin 1 f59"/>
              <a:gd name="f62" fmla="+- 0 0 f60"/>
              <a:gd name="f63" fmla="+- 0 0 f61"/>
              <a:gd name="f64" fmla="+- 0 0 f62"/>
              <a:gd name="f65" fmla="+- 0 0 f63"/>
              <a:gd name="f66" fmla="val f64"/>
              <a:gd name="f67" fmla="val f65"/>
              <a:gd name="f68" fmla="+- 0 0 f66"/>
              <a:gd name="f69" fmla="+- 0 0 f67"/>
              <a:gd name="f70" fmla="*/ 10800 f68 1"/>
              <a:gd name="f71" fmla="*/ 10800 f69 1"/>
              <a:gd name="f72" fmla="*/ f70 f70 1"/>
              <a:gd name="f73" fmla="*/ f71 f71 1"/>
              <a:gd name="f74" fmla="+- f72 f73 0"/>
              <a:gd name="f75" fmla="sqrt f74"/>
              <a:gd name="f76" fmla="*/ f8 1 f75"/>
              <a:gd name="f77" fmla="*/ f68 f76 1"/>
              <a:gd name="f78" fmla="*/ f69 f76 1"/>
              <a:gd name="f79" fmla="+- 10800 0 f77"/>
              <a:gd name="f80" fmla="+- 10800 0 f78"/>
            </a:gdLst>
            <a:ahLst/>
            <a:cxnLst>
              <a:cxn ang="3cd4">
                <a:pos x="hc" y="t"/>
              </a:cxn>
              <a:cxn ang="0">
                <a:pos x="r" y="vc"/>
              </a:cxn>
              <a:cxn ang="cd4">
                <a:pos x="hc" y="b"/>
              </a:cxn>
              <a:cxn ang="cd2">
                <a:pos x="l" y="vc"/>
              </a:cxn>
              <a:cxn ang="f32">
                <a:pos x="f45" y="f46"/>
              </a:cxn>
              <a:cxn ang="f32">
                <a:pos x="f41" y="f44"/>
              </a:cxn>
              <a:cxn ang="f32">
                <a:pos x="f47" y="f48"/>
              </a:cxn>
              <a:cxn ang="f32">
                <a:pos x="f41" y="f43"/>
              </a:cxn>
              <a:cxn ang="f32">
                <a:pos x="f45" y="f49"/>
              </a:cxn>
              <a:cxn ang="f32">
                <a:pos x="f42" y="f43"/>
              </a:cxn>
              <a:cxn ang="f32">
                <a:pos x="f50" y="f48"/>
              </a:cxn>
              <a:cxn ang="f32">
                <a:pos x="f42" y="f44"/>
              </a:cxn>
            </a:cxnLst>
            <a:rect l="f41" t="f44" r="f42" b="f43"/>
            <a:pathLst>
              <a:path w="21600" h="21600">
                <a:moveTo>
                  <a:pt x="f79" y="f80"/>
                </a:moveTo>
                <a:arcTo wR="f10" hR="f10" stAng="f25" swAng="f34"/>
                <a:close/>
              </a:path>
            </a:pathLst>
          </a:custGeom>
          <a:solidFill>
            <a:srgbClr val="FFFFFF"/>
          </a:solidFill>
          <a:ln w="12600" cap="flat">
            <a:solidFill>
              <a:srgbClr val="BCBCBC"/>
            </a:solidFill>
            <a:prstDash val="solid"/>
            <a:miter/>
          </a:ln>
        </p:spPr>
        <p:txBody>
          <a:bodyPr vert="horz" wrap="square" lIns="90004" tIns="46798" rIns="90004" bIns="46798" anchor="ctr" anchorCtr="0" compatLnSpc="1">
            <a:no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IN" sz="2400" b="0" i="0" u="none" strike="noStrike" kern="1200" cap="none" spc="0" baseline="0">
              <a:solidFill>
                <a:srgbClr val="000000"/>
              </a:solidFill>
              <a:uFillTx/>
              <a:latin typeface="Times New Roman" pitchFamily="18"/>
              <a:ea typeface="Microsoft YaHei" pitchFamily="2"/>
              <a:cs typeface="Lucida Sans" pitchFamily="2"/>
            </a:endParaRPr>
          </a:p>
        </p:txBody>
      </p:sp>
      <p:pic>
        <p:nvPicPr>
          <p:cNvPr id="9" name="Picture 10" descr="A picture containing text, sign, watch&#10;&#10;Description automatically generated">
            <a:extLst>
              <a:ext uri="{FF2B5EF4-FFF2-40B4-BE49-F238E27FC236}">
                <a16:creationId xmlns:a16="http://schemas.microsoft.com/office/drawing/2014/main" id="{D3EAC155-9D7D-4454-AF3C-C9B1622F5B98}"/>
              </a:ext>
            </a:extLst>
          </p:cNvPr>
          <p:cNvPicPr>
            <a:picLocks noChangeAspect="1"/>
          </p:cNvPicPr>
          <p:nvPr/>
        </p:nvPicPr>
        <p:blipFill>
          <a:blip r:embed="rId4">
            <a:lum/>
            <a:alphaModFix/>
          </a:blip>
          <a:srcRect/>
          <a:stretch>
            <a:fillRect/>
          </a:stretch>
        </p:blipFill>
        <p:spPr>
          <a:xfrm>
            <a:off x="8381875" y="47521"/>
            <a:ext cx="731876" cy="714603"/>
          </a:xfrm>
          <a:prstGeom prst="rect">
            <a:avLst/>
          </a:prstGeom>
          <a:noFill/>
          <a:ln cap="flat">
            <a:noFill/>
          </a:ln>
        </p:spPr>
      </p:pic>
      <p:sp>
        <p:nvSpPr>
          <p:cNvPr id="10" name="TextBox 1">
            <a:extLst>
              <a:ext uri="{FF2B5EF4-FFF2-40B4-BE49-F238E27FC236}">
                <a16:creationId xmlns:a16="http://schemas.microsoft.com/office/drawing/2014/main" id="{F6405D90-0623-4D07-945F-DC4D16056F56}"/>
              </a:ext>
            </a:extLst>
          </p:cNvPr>
          <p:cNvSpPr/>
          <p:nvPr/>
        </p:nvSpPr>
        <p:spPr>
          <a:xfrm>
            <a:off x="254524" y="861826"/>
            <a:ext cx="3950773" cy="371509"/>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b="1" i="0" u="sng" strike="noStrike" kern="1200" cap="none" spc="0" baseline="0" dirty="0">
                <a:solidFill>
                  <a:srgbClr val="000000"/>
                </a:solidFill>
                <a:uFillTx/>
                <a:latin typeface="Calibri (Body)"/>
                <a:ea typeface="Verdana" pitchFamily="34"/>
                <a:cs typeface="Verdana" pitchFamily="34"/>
              </a:rPr>
              <a:t>Dataset Description:</a:t>
            </a:r>
          </a:p>
        </p:txBody>
      </p:sp>
      <p:sp>
        <p:nvSpPr>
          <p:cNvPr id="13" name="TextBox 12">
            <a:extLst>
              <a:ext uri="{FF2B5EF4-FFF2-40B4-BE49-F238E27FC236}">
                <a16:creationId xmlns:a16="http://schemas.microsoft.com/office/drawing/2014/main" id="{A2A73D55-0275-4A8E-930E-D3C7588CAF3C}"/>
              </a:ext>
            </a:extLst>
          </p:cNvPr>
          <p:cNvSpPr txBox="1"/>
          <p:nvPr/>
        </p:nvSpPr>
        <p:spPr>
          <a:xfrm>
            <a:off x="254524" y="1215374"/>
            <a:ext cx="8455843" cy="1107996"/>
          </a:xfrm>
          <a:prstGeom prst="rect">
            <a:avLst/>
          </a:prstGeom>
          <a:noFill/>
        </p:spPr>
        <p:txBody>
          <a:bodyPr wrap="square" rtlCol="0">
            <a:spAutoFit/>
          </a:bodyPr>
          <a:lstStyle/>
          <a:p>
            <a:pPr algn="just"/>
            <a:r>
              <a:rPr lang="en-IN" b="0" i="0" dirty="0">
                <a:solidFill>
                  <a:srgbClr val="3C4043"/>
                </a:solidFill>
                <a:effectLst/>
                <a:latin typeface="Calibri (Body)"/>
                <a:cs typeface="Times New Roman" panose="02020603050405020304" pitchFamily="18" charset="0"/>
              </a:rPr>
              <a:t>	</a:t>
            </a:r>
            <a:r>
              <a:rPr lang="en-IN" sz="1600" b="0" i="0" dirty="0">
                <a:effectLst/>
                <a:latin typeface="Calibri (Body)"/>
                <a:cs typeface="Times New Roman" panose="02020603050405020304" pitchFamily="18" charset="0"/>
              </a:rPr>
              <a:t>This data set dates from 1988 and consists of four databases: Cleveland, Hungary, Switzerland, and Long Beach V. It contains 76 attributes, including the predicted attribute, but all published experiments refer to using a subset of 14 of them. The "target" field refers to the presence of heart disease in the patient. It is integer valued 0 = no disease and 1 = disease.</a:t>
            </a:r>
            <a:endParaRPr lang="en-IN" dirty="0">
              <a:latin typeface="Calibri (Body)"/>
              <a:cs typeface="Times New Roman" panose="02020603050405020304" pitchFamily="18" charset="0"/>
            </a:endParaRPr>
          </a:p>
        </p:txBody>
      </p:sp>
      <p:pic>
        <p:nvPicPr>
          <p:cNvPr id="18" name="Picture 17">
            <a:extLst>
              <a:ext uri="{FF2B5EF4-FFF2-40B4-BE49-F238E27FC236}">
                <a16:creationId xmlns:a16="http://schemas.microsoft.com/office/drawing/2014/main" id="{89B26BB0-77A3-4ECD-ABAF-FA1C531BA320}"/>
              </a:ext>
            </a:extLst>
          </p:cNvPr>
          <p:cNvPicPr/>
          <p:nvPr/>
        </p:nvPicPr>
        <p:blipFill>
          <a:blip r:embed="rId5">
            <a:extLst>
              <a:ext uri="{28A0092B-C50C-407E-A947-70E740481C1C}">
                <a14:useLocalDpi xmlns:a14="http://schemas.microsoft.com/office/drawing/2010/main" val="0"/>
              </a:ext>
            </a:extLst>
          </a:blip>
          <a:stretch>
            <a:fillRect/>
          </a:stretch>
        </p:blipFill>
        <p:spPr>
          <a:xfrm>
            <a:off x="1247118" y="2804229"/>
            <a:ext cx="6470654" cy="3358986"/>
          </a:xfrm>
          <a:prstGeom prst="rect">
            <a:avLst/>
          </a:prstGeom>
        </p:spPr>
      </p:pic>
    </p:spTree>
    <p:extLst>
      <p:ext uri="{BB962C8B-B14F-4D97-AF65-F5344CB8AC3E}">
        <p14:creationId xmlns:p14="http://schemas.microsoft.com/office/powerpoint/2010/main" val="519095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8D4669DB-FB9D-493D-B0D9-33EFC82790DE}"/>
              </a:ext>
            </a:extLst>
          </p:cNvPr>
          <p:cNvPicPr>
            <a:picLocks noChangeAspect="1"/>
          </p:cNvPicPr>
          <p:nvPr/>
        </p:nvPicPr>
        <p:blipFill>
          <a:blip r:embed="rId3">
            <a:lum/>
            <a:alphaModFix/>
          </a:blip>
          <a:srcRect/>
          <a:stretch>
            <a:fillRect/>
          </a:stretch>
        </p:blipFill>
        <p:spPr>
          <a:xfrm>
            <a:off x="0" y="6553084"/>
            <a:ext cx="9144000" cy="308161"/>
          </a:xfrm>
          <a:prstGeom prst="rect">
            <a:avLst/>
          </a:prstGeom>
          <a:noFill/>
          <a:ln cap="flat">
            <a:noFill/>
          </a:ln>
        </p:spPr>
      </p:pic>
      <p:sp>
        <p:nvSpPr>
          <p:cNvPr id="3" name="Text Box 4">
            <a:extLst>
              <a:ext uri="{FF2B5EF4-FFF2-40B4-BE49-F238E27FC236}">
                <a16:creationId xmlns:a16="http://schemas.microsoft.com/office/drawing/2014/main" id="{6F8CE000-001B-477B-AEB1-7B2DF82125E0}"/>
              </a:ext>
            </a:extLst>
          </p:cNvPr>
          <p:cNvSpPr/>
          <p:nvPr/>
        </p:nvSpPr>
        <p:spPr>
          <a:xfrm>
            <a:off x="2299322" y="6550203"/>
            <a:ext cx="4545363" cy="307082"/>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a:effectLst>
            <a:outerShdw dist="17819" dir="2700000" algn="tl">
              <a:srgbClr val="000000"/>
            </a:outerShdw>
          </a:effectLst>
        </p:spPr>
        <p:txBody>
          <a:bodyPr vert="horz" wrap="non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1400" b="1" i="0" u="none" strike="noStrike" kern="1200" cap="none" spc="0" baseline="0">
                <a:solidFill>
                  <a:srgbClr val="47FFD1"/>
                </a:solidFill>
                <a:uFillTx/>
                <a:latin typeface="Comic Sans MS" pitchFamily="66"/>
                <a:ea typeface="Microsoft YaHei" pitchFamily="2"/>
                <a:cs typeface="Lucida Sans" pitchFamily="2"/>
              </a:rPr>
              <a:t>Department of Computer Science and Engineering</a:t>
            </a:r>
          </a:p>
        </p:txBody>
      </p:sp>
      <p:pic>
        <p:nvPicPr>
          <p:cNvPr id="4" name="Picture 2">
            <a:extLst>
              <a:ext uri="{FF2B5EF4-FFF2-40B4-BE49-F238E27FC236}">
                <a16:creationId xmlns:a16="http://schemas.microsoft.com/office/drawing/2014/main" id="{EFEADD32-D603-4B11-8D98-E7FD48C6130F}"/>
              </a:ext>
            </a:extLst>
          </p:cNvPr>
          <p:cNvPicPr>
            <a:picLocks noChangeAspect="1"/>
          </p:cNvPicPr>
          <p:nvPr/>
        </p:nvPicPr>
        <p:blipFill>
          <a:blip r:embed="rId3">
            <a:lum/>
            <a:alphaModFix/>
          </a:blip>
          <a:srcRect/>
          <a:stretch>
            <a:fillRect/>
          </a:stretch>
        </p:blipFill>
        <p:spPr>
          <a:xfrm>
            <a:off x="0" y="0"/>
            <a:ext cx="9144000" cy="609484"/>
          </a:xfrm>
          <a:prstGeom prst="rect">
            <a:avLst/>
          </a:prstGeom>
          <a:noFill/>
          <a:ln cap="flat">
            <a:noFill/>
          </a:ln>
        </p:spPr>
      </p:pic>
      <p:sp>
        <p:nvSpPr>
          <p:cNvPr id="5" name="Rectangle: Rounded Corners 3">
            <a:extLst>
              <a:ext uri="{FF2B5EF4-FFF2-40B4-BE49-F238E27FC236}">
                <a16:creationId xmlns:a16="http://schemas.microsoft.com/office/drawing/2014/main" id="{6BBED2D9-BCDF-4E94-8182-A159447629CE}"/>
              </a:ext>
            </a:extLst>
          </p:cNvPr>
          <p:cNvSpPr/>
          <p:nvPr/>
        </p:nvSpPr>
        <p:spPr>
          <a:xfrm>
            <a:off x="8550362" y="6553084"/>
            <a:ext cx="593637" cy="306360"/>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0066"/>
          </a:solidFill>
          <a:ln w="12600" cap="flat">
            <a:solidFill>
              <a:srgbClr val="000000"/>
            </a:solidFill>
            <a:prstDash val="solid"/>
            <a:miter/>
          </a:ln>
        </p:spPr>
        <p:txBody>
          <a:bodyPr vert="horz" wrap="square" lIns="90004" tIns="46798" rIns="90004" bIns="46798" anchor="ctr" anchorCtr="1" compatLnSpc="1">
            <a:normAutofit fontScale="92500" lnSpcReduction="20000"/>
          </a:bodyPr>
          <a:lstStyle/>
          <a:p>
            <a:pPr marL="0" marR="0" lvl="0" indent="0" algn="ctr" defTabSz="914400" rtl="0" fontAlgn="auto" hangingPunct="1">
              <a:lnSpc>
                <a:spcPct val="8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AB8CC7BD-5D93-4C0A-AAD8-B765ACB170F4}" type="slidenum">
              <a:t>28</a:t>
            </a:fld>
            <a:endParaRPr lang="en-US" sz="1400" b="1" i="0" u="none" strike="noStrike" kern="1200" cap="none" spc="0" baseline="0">
              <a:solidFill>
                <a:srgbClr val="FFFFFF"/>
              </a:solidFill>
              <a:uFillTx/>
              <a:latin typeface="Comic Sans MS" pitchFamily="66"/>
              <a:ea typeface="Microsoft YaHei" pitchFamily="2"/>
              <a:cs typeface="Lucida Sans" pitchFamily="2"/>
            </a:endParaRPr>
          </a:p>
        </p:txBody>
      </p:sp>
      <p:sp>
        <p:nvSpPr>
          <p:cNvPr id="6" name="Date Placeholder 7">
            <a:extLst>
              <a:ext uri="{FF2B5EF4-FFF2-40B4-BE49-F238E27FC236}">
                <a16:creationId xmlns:a16="http://schemas.microsoft.com/office/drawing/2014/main" id="{D0C2D5F8-2A4E-45AD-9E19-29D2B63406A3}"/>
              </a:ext>
            </a:extLst>
          </p:cNvPr>
          <p:cNvSpPr/>
          <p:nvPr/>
        </p:nvSpPr>
        <p:spPr>
          <a:xfrm>
            <a:off x="0" y="6564239"/>
            <a:ext cx="1447915" cy="41291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norm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5E5B1732-3D3F-4E1A-AD91-1223FC4CF4BB}" type="datetime1">
              <a:rPr lang="en-US" sz="1400" b="1" i="0" u="none" strike="noStrike" kern="1200" cap="none" spc="0" baseline="0">
                <a:solidFill>
                  <a:srgbClr val="FF0066"/>
                </a:solidFill>
                <a:uFillTx/>
                <a:latin typeface="Arial Rounded MT Bold" pitchFamily="34"/>
                <a:ea typeface="Microsoft YaHei" pitchFamily="2"/>
                <a:cs typeface="Lucida Sans" pitchFamily="2"/>
              </a:rPr>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t>4/18/2023</a:t>
            </a:fld>
            <a:endParaRPr lang="en-US" sz="1400" b="1" i="0" u="none" strike="noStrike" kern="1200" cap="none" spc="0" baseline="0">
              <a:solidFill>
                <a:srgbClr val="FF0066"/>
              </a:solidFill>
              <a:uFillTx/>
              <a:latin typeface="Arial Rounded MT Bold" pitchFamily="34"/>
              <a:ea typeface="Microsoft YaHei" pitchFamily="2"/>
              <a:cs typeface="Lucida Sans" pitchFamily="2"/>
            </a:endParaRPr>
          </a:p>
        </p:txBody>
      </p:sp>
      <p:sp>
        <p:nvSpPr>
          <p:cNvPr id="7" name="TextBox 8">
            <a:extLst>
              <a:ext uri="{FF2B5EF4-FFF2-40B4-BE49-F238E27FC236}">
                <a16:creationId xmlns:a16="http://schemas.microsoft.com/office/drawing/2014/main" id="{9BE241AC-2867-401B-8952-98D39C4F5A63}"/>
              </a:ext>
            </a:extLst>
          </p:cNvPr>
          <p:cNvSpPr/>
          <p:nvPr/>
        </p:nvSpPr>
        <p:spPr>
          <a:xfrm>
            <a:off x="919081" y="0"/>
            <a:ext cx="7305836" cy="47483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500" b="1" i="0" u="none" strike="noStrike" kern="1200" cap="none" spc="0" baseline="0">
                <a:solidFill>
                  <a:srgbClr val="47FFD1"/>
                </a:solidFill>
                <a:uFillTx/>
                <a:latin typeface="Comic Sans MS" pitchFamily="66"/>
                <a:ea typeface="Microsoft YaHei" pitchFamily="2"/>
                <a:cs typeface="Lucida Sans" pitchFamily="2"/>
              </a:rPr>
              <a:t>Mepco Schlenk Engineering College </a:t>
            </a:r>
            <a:r>
              <a:rPr lang="en-US" sz="1800" b="1" i="0" u="none" strike="noStrike" kern="1200" cap="none" spc="0" baseline="0">
                <a:solidFill>
                  <a:srgbClr val="47FFD1"/>
                </a:solidFill>
                <a:uFillTx/>
                <a:latin typeface="Comic Sans MS" pitchFamily="66"/>
                <a:ea typeface="Microsoft YaHei" pitchFamily="2"/>
                <a:cs typeface="Lucida Sans" pitchFamily="2"/>
              </a:rPr>
              <a:t>(Autonomous)</a:t>
            </a:r>
          </a:p>
        </p:txBody>
      </p:sp>
      <p:sp>
        <p:nvSpPr>
          <p:cNvPr id="8" name="Oval 11">
            <a:extLst>
              <a:ext uri="{FF2B5EF4-FFF2-40B4-BE49-F238E27FC236}">
                <a16:creationId xmlns:a16="http://schemas.microsoft.com/office/drawing/2014/main" id="{E67FA03A-95C6-4908-B4C7-A0B37595DAFE}"/>
              </a:ext>
            </a:extLst>
          </p:cNvPr>
          <p:cNvSpPr/>
          <p:nvPr/>
        </p:nvSpPr>
        <p:spPr>
          <a:xfrm>
            <a:off x="8354881" y="20519"/>
            <a:ext cx="777962" cy="777962"/>
          </a:xfrm>
          <a:custGeom>
            <a:avLst/>
            <a:gdLst>
              <a:gd name="f0" fmla="val 10800000"/>
              <a:gd name="f1" fmla="val 5400000"/>
              <a:gd name="f2" fmla="val 180"/>
              <a:gd name="f3" fmla="val w"/>
              <a:gd name="f4" fmla="val h"/>
              <a:gd name="f5" fmla="val 0"/>
              <a:gd name="f6" fmla="val 21600"/>
              <a:gd name="f7" fmla="*/ 5419351 1 1725033"/>
              <a:gd name="f8" fmla="*/ 10800 10800 1"/>
              <a:gd name="f9" fmla="+- 0 0 360"/>
              <a:gd name="f10" fmla="val 10800"/>
              <a:gd name="f11" fmla="+- 0 0 0"/>
              <a:gd name="f12" fmla="*/ f3 1 21600"/>
              <a:gd name="f13" fmla="*/ f4 1 21600"/>
              <a:gd name="f14" fmla="*/ 0 f7 1"/>
              <a:gd name="f15" fmla="*/ f5 f0 1"/>
              <a:gd name="f16" fmla="*/ f9 f0 1"/>
              <a:gd name="f17" fmla="+- f6 0 f5"/>
              <a:gd name="f18" fmla="*/ f11 f0 1"/>
              <a:gd name="f19" fmla="*/ f14 1 f2"/>
              <a:gd name="f20" fmla="*/ f15 1 f2"/>
              <a:gd name="f21" fmla="*/ f16 1 f2"/>
              <a:gd name="f22" fmla="*/ f17 1 21600"/>
              <a:gd name="f23" fmla="*/ f18 1 f2"/>
              <a:gd name="f24" fmla="+- 0 0 f19"/>
              <a:gd name="f25" fmla="+- f20 0 f1"/>
              <a:gd name="f26" fmla="+- f21 0 f1"/>
              <a:gd name="f27" fmla="*/ 3163 f22 1"/>
              <a:gd name="f28" fmla="*/ 18437 f22 1"/>
              <a:gd name="f29" fmla="*/ 10800 f22 1"/>
              <a:gd name="f30" fmla="*/ 0 f22 1"/>
              <a:gd name="f31" fmla="*/ 21600 f22 1"/>
              <a:gd name="f32" fmla="+- f23 0 f1"/>
              <a:gd name="f33" fmla="*/ f24 f0 1"/>
              <a:gd name="f34" fmla="+- f26 0 f25"/>
              <a:gd name="f35" fmla="*/ f29 1 f22"/>
              <a:gd name="f36" fmla="*/ f30 1 f22"/>
              <a:gd name="f37" fmla="*/ f27 1 f22"/>
              <a:gd name="f38" fmla="*/ f28 1 f22"/>
              <a:gd name="f39" fmla="*/ f31 1 f22"/>
              <a:gd name="f40" fmla="*/ f33 1 f7"/>
              <a:gd name="f41" fmla="*/ f37 f12 1"/>
              <a:gd name="f42" fmla="*/ f38 f12 1"/>
              <a:gd name="f43" fmla="*/ f38 f13 1"/>
              <a:gd name="f44" fmla="*/ f37 f13 1"/>
              <a:gd name="f45" fmla="*/ f35 f12 1"/>
              <a:gd name="f46" fmla="*/ f36 f13 1"/>
              <a:gd name="f47" fmla="*/ f36 f12 1"/>
              <a:gd name="f48" fmla="*/ f35 f13 1"/>
              <a:gd name="f49" fmla="*/ f39 f13 1"/>
              <a:gd name="f50" fmla="*/ f39 f12 1"/>
              <a:gd name="f51" fmla="+- f40 0 f1"/>
              <a:gd name="f52" fmla="+- f51 f1 0"/>
              <a:gd name="f53" fmla="*/ f52 f7 1"/>
              <a:gd name="f54" fmla="*/ f53 1 f0"/>
              <a:gd name="f55" fmla="+- 0 0 f54"/>
              <a:gd name="f56" fmla="+- 0 0 f55"/>
              <a:gd name="f57" fmla="*/ f56 f0 1"/>
              <a:gd name="f58" fmla="*/ f57 1 f7"/>
              <a:gd name="f59" fmla="+- f58 0 f1"/>
              <a:gd name="f60" fmla="cos 1 f59"/>
              <a:gd name="f61" fmla="sin 1 f59"/>
              <a:gd name="f62" fmla="+- 0 0 f60"/>
              <a:gd name="f63" fmla="+- 0 0 f61"/>
              <a:gd name="f64" fmla="+- 0 0 f62"/>
              <a:gd name="f65" fmla="+- 0 0 f63"/>
              <a:gd name="f66" fmla="val f64"/>
              <a:gd name="f67" fmla="val f65"/>
              <a:gd name="f68" fmla="+- 0 0 f66"/>
              <a:gd name="f69" fmla="+- 0 0 f67"/>
              <a:gd name="f70" fmla="*/ 10800 f68 1"/>
              <a:gd name="f71" fmla="*/ 10800 f69 1"/>
              <a:gd name="f72" fmla="*/ f70 f70 1"/>
              <a:gd name="f73" fmla="*/ f71 f71 1"/>
              <a:gd name="f74" fmla="+- f72 f73 0"/>
              <a:gd name="f75" fmla="sqrt f74"/>
              <a:gd name="f76" fmla="*/ f8 1 f75"/>
              <a:gd name="f77" fmla="*/ f68 f76 1"/>
              <a:gd name="f78" fmla="*/ f69 f76 1"/>
              <a:gd name="f79" fmla="+- 10800 0 f77"/>
              <a:gd name="f80" fmla="+- 10800 0 f78"/>
            </a:gdLst>
            <a:ahLst/>
            <a:cxnLst>
              <a:cxn ang="3cd4">
                <a:pos x="hc" y="t"/>
              </a:cxn>
              <a:cxn ang="0">
                <a:pos x="r" y="vc"/>
              </a:cxn>
              <a:cxn ang="cd4">
                <a:pos x="hc" y="b"/>
              </a:cxn>
              <a:cxn ang="cd2">
                <a:pos x="l" y="vc"/>
              </a:cxn>
              <a:cxn ang="f32">
                <a:pos x="f45" y="f46"/>
              </a:cxn>
              <a:cxn ang="f32">
                <a:pos x="f41" y="f44"/>
              </a:cxn>
              <a:cxn ang="f32">
                <a:pos x="f47" y="f48"/>
              </a:cxn>
              <a:cxn ang="f32">
                <a:pos x="f41" y="f43"/>
              </a:cxn>
              <a:cxn ang="f32">
                <a:pos x="f45" y="f49"/>
              </a:cxn>
              <a:cxn ang="f32">
                <a:pos x="f42" y="f43"/>
              </a:cxn>
              <a:cxn ang="f32">
                <a:pos x="f50" y="f48"/>
              </a:cxn>
              <a:cxn ang="f32">
                <a:pos x="f42" y="f44"/>
              </a:cxn>
            </a:cxnLst>
            <a:rect l="f41" t="f44" r="f42" b="f43"/>
            <a:pathLst>
              <a:path w="21600" h="21600">
                <a:moveTo>
                  <a:pt x="f79" y="f80"/>
                </a:moveTo>
                <a:arcTo wR="f10" hR="f10" stAng="f25" swAng="f34"/>
                <a:close/>
              </a:path>
            </a:pathLst>
          </a:custGeom>
          <a:solidFill>
            <a:srgbClr val="FFFFFF"/>
          </a:solidFill>
          <a:ln w="12600" cap="flat">
            <a:solidFill>
              <a:srgbClr val="BCBCBC"/>
            </a:solidFill>
            <a:prstDash val="solid"/>
            <a:miter/>
          </a:ln>
        </p:spPr>
        <p:txBody>
          <a:bodyPr vert="horz" wrap="square" lIns="90004" tIns="46798" rIns="90004" bIns="46798" anchor="ctr" anchorCtr="0" compatLnSpc="1">
            <a:no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IN" sz="2400" b="0" i="0" u="none" strike="noStrike" kern="1200" cap="none" spc="0" baseline="0">
              <a:solidFill>
                <a:srgbClr val="000000"/>
              </a:solidFill>
              <a:uFillTx/>
              <a:latin typeface="Times New Roman" pitchFamily="18"/>
              <a:ea typeface="Microsoft YaHei" pitchFamily="2"/>
              <a:cs typeface="Lucida Sans" pitchFamily="2"/>
            </a:endParaRPr>
          </a:p>
        </p:txBody>
      </p:sp>
      <p:pic>
        <p:nvPicPr>
          <p:cNvPr id="9" name="Picture 10" descr="A picture containing text, sign, watch&#10;&#10;Description automatically generated">
            <a:extLst>
              <a:ext uri="{FF2B5EF4-FFF2-40B4-BE49-F238E27FC236}">
                <a16:creationId xmlns:a16="http://schemas.microsoft.com/office/drawing/2014/main" id="{D3EAC155-9D7D-4454-AF3C-C9B1622F5B98}"/>
              </a:ext>
            </a:extLst>
          </p:cNvPr>
          <p:cNvPicPr>
            <a:picLocks noChangeAspect="1"/>
          </p:cNvPicPr>
          <p:nvPr/>
        </p:nvPicPr>
        <p:blipFill>
          <a:blip r:embed="rId4">
            <a:lum/>
            <a:alphaModFix/>
          </a:blip>
          <a:srcRect/>
          <a:stretch>
            <a:fillRect/>
          </a:stretch>
        </p:blipFill>
        <p:spPr>
          <a:xfrm>
            <a:off x="8381875" y="47521"/>
            <a:ext cx="731876" cy="714603"/>
          </a:xfrm>
          <a:prstGeom prst="rect">
            <a:avLst/>
          </a:prstGeom>
          <a:noFill/>
          <a:ln cap="flat">
            <a:noFill/>
          </a:ln>
        </p:spPr>
      </p:pic>
      <p:sp>
        <p:nvSpPr>
          <p:cNvPr id="10" name="TextBox 1">
            <a:extLst>
              <a:ext uri="{FF2B5EF4-FFF2-40B4-BE49-F238E27FC236}">
                <a16:creationId xmlns:a16="http://schemas.microsoft.com/office/drawing/2014/main" id="{F6405D90-0623-4D07-945F-DC4D16056F56}"/>
              </a:ext>
            </a:extLst>
          </p:cNvPr>
          <p:cNvSpPr/>
          <p:nvPr/>
        </p:nvSpPr>
        <p:spPr>
          <a:xfrm>
            <a:off x="165780" y="923491"/>
            <a:ext cx="4267084" cy="371509"/>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b="1" i="0" u="sng" strike="noStrike" kern="1200" cap="none" spc="0" baseline="0" dirty="0">
                <a:solidFill>
                  <a:srgbClr val="000000"/>
                </a:solidFill>
                <a:uFillTx/>
                <a:latin typeface="Calibri (Body)"/>
                <a:ea typeface="Verdana" pitchFamily="34"/>
                <a:cs typeface="Verdana" pitchFamily="34"/>
              </a:rPr>
              <a:t>Dataset Description:</a:t>
            </a:r>
          </a:p>
        </p:txBody>
      </p:sp>
      <p:sp>
        <p:nvSpPr>
          <p:cNvPr id="15" name="TextBox 14">
            <a:extLst>
              <a:ext uri="{FF2B5EF4-FFF2-40B4-BE49-F238E27FC236}">
                <a16:creationId xmlns:a16="http://schemas.microsoft.com/office/drawing/2014/main" id="{5984A3EC-1B7E-4A27-AC9C-BA0BD377A958}"/>
              </a:ext>
            </a:extLst>
          </p:cNvPr>
          <p:cNvSpPr txBox="1"/>
          <p:nvPr/>
        </p:nvSpPr>
        <p:spPr>
          <a:xfrm>
            <a:off x="677300" y="1518553"/>
            <a:ext cx="3894699" cy="4401205"/>
          </a:xfrm>
          <a:prstGeom prst="rect">
            <a:avLst/>
          </a:prstGeom>
          <a:noFill/>
        </p:spPr>
        <p:txBody>
          <a:bodyPr wrap="square">
            <a:spAutoFit/>
          </a:bodyPr>
          <a:lstStyle/>
          <a:p>
            <a:pPr fontAlgn="base"/>
            <a:r>
              <a:rPr lang="en-IN" sz="1400" b="1" i="0" dirty="0">
                <a:effectLst/>
                <a:latin typeface="Calibri (Body)"/>
                <a:cs typeface="Times New Roman" panose="02020603050405020304" pitchFamily="18" charset="0"/>
              </a:rPr>
              <a:t>1. age:   </a:t>
            </a:r>
            <a:r>
              <a:rPr lang="en-IN" sz="1400" i="0" dirty="0">
                <a:effectLst/>
                <a:latin typeface="Calibri (Body)"/>
                <a:cs typeface="Times New Roman" panose="02020603050405020304" pitchFamily="18" charset="0"/>
              </a:rPr>
              <a:t>age in years</a:t>
            </a:r>
          </a:p>
          <a:p>
            <a:pPr fontAlgn="base"/>
            <a:r>
              <a:rPr lang="en-IN" sz="1400" b="1" i="0" dirty="0">
                <a:effectLst/>
                <a:latin typeface="Calibri (Body)"/>
                <a:cs typeface="Times New Roman" panose="02020603050405020304" pitchFamily="18" charset="0"/>
              </a:rPr>
              <a:t>2. sex:     </a:t>
            </a:r>
            <a:r>
              <a:rPr lang="en-IN" sz="1400" i="0" dirty="0">
                <a:effectLst/>
                <a:latin typeface="Calibri (Body)"/>
                <a:cs typeface="Times New Roman" panose="02020603050405020304" pitchFamily="18" charset="0"/>
              </a:rPr>
              <a:t>sex (1 = male; 0 = female)</a:t>
            </a:r>
          </a:p>
          <a:p>
            <a:pPr fontAlgn="base"/>
            <a:r>
              <a:rPr lang="en-IN" sz="1400" b="1" i="0" dirty="0">
                <a:effectLst/>
                <a:latin typeface="Calibri (Body)"/>
                <a:cs typeface="Times New Roman" panose="02020603050405020304" pitchFamily="18" charset="0"/>
              </a:rPr>
              <a:t>3. cp:     </a:t>
            </a:r>
            <a:r>
              <a:rPr lang="en-IN" sz="1400" i="0" dirty="0">
                <a:effectLst/>
                <a:latin typeface="Calibri (Body)"/>
                <a:cs typeface="Times New Roman" panose="02020603050405020304" pitchFamily="18" charset="0"/>
              </a:rPr>
              <a:t>chest pain type</a:t>
            </a:r>
            <a:br>
              <a:rPr lang="en-IN" sz="1400" i="0" dirty="0">
                <a:effectLst/>
                <a:latin typeface="Calibri (Body)"/>
                <a:cs typeface="Times New Roman" panose="02020603050405020304" pitchFamily="18" charset="0"/>
              </a:rPr>
            </a:br>
            <a:r>
              <a:rPr lang="en-IN" sz="1400" i="0" dirty="0">
                <a:effectLst/>
                <a:latin typeface="Calibri (Body)"/>
                <a:cs typeface="Times New Roman" panose="02020603050405020304" pitchFamily="18" charset="0"/>
              </a:rPr>
              <a:t>-- Value 0: typical angina</a:t>
            </a:r>
            <a:br>
              <a:rPr lang="en-IN" sz="1400" i="0" dirty="0">
                <a:effectLst/>
                <a:latin typeface="Calibri (Body)"/>
                <a:cs typeface="Times New Roman" panose="02020603050405020304" pitchFamily="18" charset="0"/>
              </a:rPr>
            </a:br>
            <a:r>
              <a:rPr lang="en-IN" sz="1400" i="0" dirty="0">
                <a:effectLst/>
                <a:latin typeface="Calibri (Body)"/>
                <a:cs typeface="Times New Roman" panose="02020603050405020304" pitchFamily="18" charset="0"/>
              </a:rPr>
              <a:t>-- Value 1: atypical angina</a:t>
            </a:r>
            <a:br>
              <a:rPr lang="en-IN" sz="1400" i="0" dirty="0">
                <a:effectLst/>
                <a:latin typeface="Calibri (Body)"/>
                <a:cs typeface="Times New Roman" panose="02020603050405020304" pitchFamily="18" charset="0"/>
              </a:rPr>
            </a:br>
            <a:r>
              <a:rPr lang="en-IN" sz="1400" i="0" dirty="0">
                <a:effectLst/>
                <a:latin typeface="Calibri (Body)"/>
                <a:cs typeface="Times New Roman" panose="02020603050405020304" pitchFamily="18" charset="0"/>
              </a:rPr>
              <a:t>-- Value 2: non-anginal pain</a:t>
            </a:r>
            <a:br>
              <a:rPr lang="en-IN" sz="1400" i="0" dirty="0">
                <a:effectLst/>
                <a:latin typeface="Calibri (Body)"/>
                <a:cs typeface="Times New Roman" panose="02020603050405020304" pitchFamily="18" charset="0"/>
              </a:rPr>
            </a:br>
            <a:r>
              <a:rPr lang="en-IN" sz="1400" i="0" dirty="0">
                <a:effectLst/>
                <a:latin typeface="Calibri (Body)"/>
                <a:cs typeface="Times New Roman" panose="02020603050405020304" pitchFamily="18" charset="0"/>
              </a:rPr>
              <a:t>-- Value 3: asymptomatic</a:t>
            </a:r>
          </a:p>
          <a:p>
            <a:pPr fontAlgn="base"/>
            <a:r>
              <a:rPr lang="en-IN" sz="1400" b="1" i="0" dirty="0">
                <a:effectLst/>
                <a:latin typeface="Calibri (Body)"/>
                <a:cs typeface="Times New Roman" panose="02020603050405020304" pitchFamily="18" charset="0"/>
              </a:rPr>
              <a:t>4. </a:t>
            </a:r>
            <a:r>
              <a:rPr lang="en-IN" sz="1400" b="1" i="0" dirty="0" err="1">
                <a:effectLst/>
                <a:latin typeface="Calibri (Body)"/>
                <a:cs typeface="Times New Roman" panose="02020603050405020304" pitchFamily="18" charset="0"/>
              </a:rPr>
              <a:t>trestbps</a:t>
            </a:r>
            <a:r>
              <a:rPr lang="en-IN" sz="1400" b="1" i="0" dirty="0">
                <a:effectLst/>
                <a:latin typeface="Calibri (Body)"/>
                <a:cs typeface="Times New Roman" panose="02020603050405020304" pitchFamily="18" charset="0"/>
              </a:rPr>
              <a:t>:    </a:t>
            </a:r>
            <a:r>
              <a:rPr lang="en-IN" sz="1400" i="0" dirty="0">
                <a:effectLst/>
                <a:latin typeface="Calibri (Body)"/>
                <a:cs typeface="Times New Roman" panose="02020603050405020304" pitchFamily="18" charset="0"/>
              </a:rPr>
              <a:t>resting blood pressure (in mm Hg on admission to the hospital)</a:t>
            </a:r>
          </a:p>
          <a:p>
            <a:pPr fontAlgn="base"/>
            <a:r>
              <a:rPr lang="en-IN" sz="1400" b="1" i="0" dirty="0">
                <a:effectLst/>
                <a:latin typeface="Calibri (Body)"/>
                <a:cs typeface="Times New Roman" panose="02020603050405020304" pitchFamily="18" charset="0"/>
              </a:rPr>
              <a:t>5. </a:t>
            </a:r>
            <a:r>
              <a:rPr lang="en-IN" sz="1400" b="1" i="0" dirty="0" err="1">
                <a:effectLst/>
                <a:latin typeface="Calibri (Body)"/>
                <a:cs typeface="Times New Roman" panose="02020603050405020304" pitchFamily="18" charset="0"/>
              </a:rPr>
              <a:t>chol</a:t>
            </a:r>
            <a:r>
              <a:rPr lang="en-IN" sz="1400" b="1" i="0" dirty="0">
                <a:effectLst/>
                <a:latin typeface="Calibri (Body)"/>
                <a:cs typeface="Times New Roman" panose="02020603050405020304" pitchFamily="18" charset="0"/>
              </a:rPr>
              <a:t>:    </a:t>
            </a:r>
            <a:r>
              <a:rPr lang="en-IN" sz="1400" i="0" dirty="0">
                <a:effectLst/>
                <a:latin typeface="Calibri (Body)"/>
                <a:cs typeface="Times New Roman" panose="02020603050405020304" pitchFamily="18" charset="0"/>
              </a:rPr>
              <a:t>serum </a:t>
            </a:r>
            <a:r>
              <a:rPr lang="en-IN" sz="1400" i="0" dirty="0" err="1">
                <a:effectLst/>
                <a:latin typeface="Calibri (Body)"/>
                <a:cs typeface="Times New Roman" panose="02020603050405020304" pitchFamily="18" charset="0"/>
              </a:rPr>
              <a:t>cholestoral</a:t>
            </a:r>
            <a:r>
              <a:rPr lang="en-IN" sz="1400" i="0" dirty="0">
                <a:effectLst/>
                <a:latin typeface="Calibri (Body)"/>
                <a:cs typeface="Times New Roman" panose="02020603050405020304" pitchFamily="18" charset="0"/>
              </a:rPr>
              <a:t> in mg/dl</a:t>
            </a:r>
          </a:p>
          <a:p>
            <a:pPr fontAlgn="base"/>
            <a:r>
              <a:rPr lang="en-IN" sz="1400" b="1" i="0" dirty="0">
                <a:effectLst/>
                <a:latin typeface="Calibri (Body)"/>
                <a:cs typeface="Times New Roman" panose="02020603050405020304" pitchFamily="18" charset="0"/>
              </a:rPr>
              <a:t>6. </a:t>
            </a:r>
            <a:r>
              <a:rPr lang="en-IN" sz="1400" b="1" i="0" dirty="0" err="1">
                <a:effectLst/>
                <a:latin typeface="Calibri (Body)"/>
                <a:cs typeface="Times New Roman" panose="02020603050405020304" pitchFamily="18" charset="0"/>
              </a:rPr>
              <a:t>restecg</a:t>
            </a:r>
            <a:r>
              <a:rPr lang="en-IN" sz="1400" b="1" i="0" dirty="0">
                <a:effectLst/>
                <a:latin typeface="Calibri (Body)"/>
                <a:cs typeface="Times New Roman" panose="02020603050405020304" pitchFamily="18" charset="0"/>
              </a:rPr>
              <a:t>:    </a:t>
            </a:r>
            <a:r>
              <a:rPr lang="en-IN" sz="1400" i="0" dirty="0">
                <a:effectLst/>
                <a:latin typeface="Calibri (Body)"/>
                <a:cs typeface="Times New Roman" panose="02020603050405020304" pitchFamily="18" charset="0"/>
              </a:rPr>
              <a:t>resting electrocardiographic results</a:t>
            </a:r>
            <a:br>
              <a:rPr lang="en-IN" sz="1400" i="0" dirty="0">
                <a:effectLst/>
                <a:latin typeface="Calibri (Body)"/>
                <a:cs typeface="Times New Roman" panose="02020603050405020304" pitchFamily="18" charset="0"/>
              </a:rPr>
            </a:br>
            <a:r>
              <a:rPr lang="en-IN" sz="1400" i="0" dirty="0">
                <a:effectLst/>
                <a:latin typeface="Calibri (Body)"/>
                <a:cs typeface="Times New Roman" panose="02020603050405020304" pitchFamily="18" charset="0"/>
              </a:rPr>
              <a:t>-- Value 0: normal</a:t>
            </a:r>
            <a:br>
              <a:rPr lang="en-IN" sz="1400" i="0" dirty="0">
                <a:effectLst/>
                <a:latin typeface="Calibri (Body)"/>
                <a:cs typeface="Times New Roman" panose="02020603050405020304" pitchFamily="18" charset="0"/>
              </a:rPr>
            </a:br>
            <a:r>
              <a:rPr lang="en-IN" sz="1400" i="0" dirty="0">
                <a:effectLst/>
                <a:latin typeface="Calibri (Body)"/>
                <a:cs typeface="Times New Roman" panose="02020603050405020304" pitchFamily="18" charset="0"/>
              </a:rPr>
              <a:t>-- Value 1: having ST-T wave abnormality (T wave inversions and/or ST elevation or depression of &gt; 0.05 mV)</a:t>
            </a:r>
            <a:br>
              <a:rPr lang="en-IN" sz="1400" i="0" dirty="0">
                <a:effectLst/>
                <a:latin typeface="Calibri (Body)"/>
                <a:cs typeface="Times New Roman" panose="02020603050405020304" pitchFamily="18" charset="0"/>
              </a:rPr>
            </a:br>
            <a:r>
              <a:rPr lang="en-IN" sz="1400" i="0" dirty="0">
                <a:effectLst/>
                <a:latin typeface="Calibri (Body)"/>
                <a:cs typeface="Times New Roman" panose="02020603050405020304" pitchFamily="18" charset="0"/>
              </a:rPr>
              <a:t>-- Value 2: showing probable or definite left ventricular hypertrophy by Estes' criteria</a:t>
            </a:r>
          </a:p>
          <a:p>
            <a:pPr fontAlgn="base"/>
            <a:r>
              <a:rPr lang="en-IN" sz="1400" b="1" i="0" dirty="0">
                <a:effectLst/>
                <a:latin typeface="Calibri (Body)"/>
                <a:cs typeface="Times New Roman" panose="02020603050405020304" pitchFamily="18" charset="0"/>
              </a:rPr>
              <a:t>7. </a:t>
            </a:r>
            <a:r>
              <a:rPr lang="en-IN" sz="1400" b="1" i="0" dirty="0" err="1">
                <a:effectLst/>
                <a:latin typeface="Calibri (Body)"/>
                <a:cs typeface="Times New Roman" panose="02020603050405020304" pitchFamily="18" charset="0"/>
              </a:rPr>
              <a:t>thalach</a:t>
            </a:r>
            <a:r>
              <a:rPr lang="en-IN" sz="1400" b="1" i="0" dirty="0">
                <a:effectLst/>
                <a:latin typeface="Calibri (Body)"/>
                <a:cs typeface="Times New Roman" panose="02020603050405020304" pitchFamily="18" charset="0"/>
              </a:rPr>
              <a:t>:    </a:t>
            </a:r>
            <a:r>
              <a:rPr lang="en-IN" sz="1400" i="0" dirty="0">
                <a:effectLst/>
                <a:latin typeface="Calibri (Body)"/>
                <a:cs typeface="Times New Roman" panose="02020603050405020304" pitchFamily="18" charset="0"/>
              </a:rPr>
              <a:t>maximum heart rate achieved</a:t>
            </a:r>
          </a:p>
          <a:p>
            <a:pPr fontAlgn="base"/>
            <a:endParaRPr lang="en-IN" sz="1400" i="0" dirty="0">
              <a:effectLst/>
              <a:latin typeface="Calibri (Body)"/>
              <a:cs typeface="Times New Roman" panose="02020603050405020304" pitchFamily="18" charset="0"/>
            </a:endParaRPr>
          </a:p>
          <a:p>
            <a:pPr fontAlgn="base">
              <a:buFont typeface="+mj-lt"/>
              <a:buAutoNum type="arabicPeriod"/>
            </a:pPr>
            <a:endParaRPr lang="en-IN" sz="1400" i="0" dirty="0">
              <a:effectLst/>
              <a:latin typeface="Calibri (Body)"/>
              <a:cs typeface="Times New Roman" panose="02020603050405020304" pitchFamily="18" charset="0"/>
            </a:endParaRPr>
          </a:p>
        </p:txBody>
      </p:sp>
      <p:sp>
        <p:nvSpPr>
          <p:cNvPr id="12" name="TextBox 11">
            <a:extLst>
              <a:ext uri="{FF2B5EF4-FFF2-40B4-BE49-F238E27FC236}">
                <a16:creationId xmlns:a16="http://schemas.microsoft.com/office/drawing/2014/main" id="{6D75318B-B200-4A00-BE5E-BD455D7D58E9}"/>
              </a:ext>
            </a:extLst>
          </p:cNvPr>
          <p:cNvSpPr txBox="1"/>
          <p:nvPr/>
        </p:nvSpPr>
        <p:spPr>
          <a:xfrm>
            <a:off x="4711138" y="1518553"/>
            <a:ext cx="3894699" cy="3754874"/>
          </a:xfrm>
          <a:prstGeom prst="rect">
            <a:avLst/>
          </a:prstGeom>
          <a:noFill/>
        </p:spPr>
        <p:txBody>
          <a:bodyPr wrap="square" rtlCol="0">
            <a:spAutoFit/>
          </a:bodyPr>
          <a:lstStyle/>
          <a:p>
            <a:pPr fontAlgn="base"/>
            <a:r>
              <a:rPr lang="en-IN" sz="1400" b="1" i="0" dirty="0">
                <a:effectLst/>
                <a:latin typeface="Calibri (Body)"/>
                <a:cs typeface="Times New Roman" panose="02020603050405020304" pitchFamily="18" charset="0"/>
              </a:rPr>
              <a:t>8. </a:t>
            </a:r>
            <a:r>
              <a:rPr lang="en-IN" sz="1400" b="1" i="0" dirty="0" err="1">
                <a:effectLst/>
                <a:latin typeface="Calibri (Body)"/>
                <a:cs typeface="Times New Roman" panose="02020603050405020304" pitchFamily="18" charset="0"/>
              </a:rPr>
              <a:t>exang</a:t>
            </a:r>
            <a:r>
              <a:rPr lang="en-IN" sz="1400" i="0" dirty="0">
                <a:effectLst/>
                <a:latin typeface="Calibri (Body)"/>
                <a:cs typeface="Times New Roman" panose="02020603050405020304" pitchFamily="18" charset="0"/>
              </a:rPr>
              <a:t>:    exercise induced angina (1 = yes; 0 = no)</a:t>
            </a:r>
          </a:p>
          <a:p>
            <a:pPr fontAlgn="base"/>
            <a:r>
              <a:rPr lang="en-IN" sz="1400" b="1" i="0" dirty="0">
                <a:effectLst/>
                <a:latin typeface="Calibri (Body)"/>
                <a:cs typeface="Times New Roman" panose="02020603050405020304" pitchFamily="18" charset="0"/>
              </a:rPr>
              <a:t>9. </a:t>
            </a:r>
            <a:r>
              <a:rPr lang="en-IN" sz="1400" b="1" i="0" dirty="0" err="1">
                <a:effectLst/>
                <a:latin typeface="Calibri (Body)"/>
                <a:cs typeface="Times New Roman" panose="02020603050405020304" pitchFamily="18" charset="0"/>
              </a:rPr>
              <a:t>oldpeak</a:t>
            </a:r>
            <a:r>
              <a:rPr lang="en-IN" sz="1400" b="1" i="0" dirty="0">
                <a:effectLst/>
                <a:latin typeface="Calibri (Body)"/>
                <a:cs typeface="Times New Roman" panose="02020603050405020304" pitchFamily="18" charset="0"/>
              </a:rPr>
              <a:t> </a:t>
            </a:r>
            <a:r>
              <a:rPr lang="en-IN" sz="1400" i="0" dirty="0">
                <a:effectLst/>
                <a:latin typeface="Calibri (Body)"/>
                <a:cs typeface="Times New Roman" panose="02020603050405020304" pitchFamily="18" charset="0"/>
              </a:rPr>
              <a:t>=    ST depression induced by exercise relative to rest</a:t>
            </a:r>
          </a:p>
          <a:p>
            <a:pPr fontAlgn="base"/>
            <a:r>
              <a:rPr lang="en-IN" sz="1400" b="1" i="0" dirty="0">
                <a:effectLst/>
                <a:latin typeface="Calibri (Body)"/>
                <a:cs typeface="Times New Roman" panose="02020603050405020304" pitchFamily="18" charset="0"/>
              </a:rPr>
              <a:t>10. slope:   </a:t>
            </a:r>
            <a:r>
              <a:rPr lang="en-IN" sz="1400" i="0" dirty="0">
                <a:effectLst/>
                <a:latin typeface="Calibri (Body)"/>
                <a:cs typeface="Times New Roman" panose="02020603050405020304" pitchFamily="18" charset="0"/>
              </a:rPr>
              <a:t> the slope of the peak exercise ST segment</a:t>
            </a:r>
            <a:br>
              <a:rPr lang="en-IN" sz="1400" i="0" dirty="0">
                <a:effectLst/>
                <a:latin typeface="Calibri (Body)"/>
                <a:cs typeface="Times New Roman" panose="02020603050405020304" pitchFamily="18" charset="0"/>
              </a:rPr>
            </a:br>
            <a:r>
              <a:rPr lang="en-IN" sz="1400" i="0" dirty="0">
                <a:effectLst/>
                <a:latin typeface="Calibri (Body)"/>
                <a:cs typeface="Times New Roman" panose="02020603050405020304" pitchFamily="18" charset="0"/>
              </a:rPr>
              <a:t>-- Value 0: upsloping</a:t>
            </a:r>
            <a:br>
              <a:rPr lang="en-IN" sz="1400" i="0" dirty="0">
                <a:effectLst/>
                <a:latin typeface="Calibri (Body)"/>
                <a:cs typeface="Times New Roman" panose="02020603050405020304" pitchFamily="18" charset="0"/>
              </a:rPr>
            </a:br>
            <a:r>
              <a:rPr lang="en-IN" sz="1400" i="0" dirty="0">
                <a:effectLst/>
                <a:latin typeface="Calibri (Body)"/>
                <a:cs typeface="Times New Roman" panose="02020603050405020304" pitchFamily="18" charset="0"/>
              </a:rPr>
              <a:t>-- Value 1: flat</a:t>
            </a:r>
            <a:br>
              <a:rPr lang="en-IN" sz="1400" i="0" dirty="0">
                <a:effectLst/>
                <a:latin typeface="Calibri (Body)"/>
                <a:cs typeface="Times New Roman" panose="02020603050405020304" pitchFamily="18" charset="0"/>
              </a:rPr>
            </a:br>
            <a:r>
              <a:rPr lang="en-IN" sz="1400" i="0" dirty="0">
                <a:effectLst/>
                <a:latin typeface="Calibri (Body)"/>
                <a:cs typeface="Times New Roman" panose="02020603050405020304" pitchFamily="18" charset="0"/>
              </a:rPr>
              <a:t>-- Value 2: </a:t>
            </a:r>
            <a:r>
              <a:rPr lang="en-IN" sz="1400" i="0" dirty="0" err="1">
                <a:effectLst/>
                <a:latin typeface="Calibri (Body)"/>
                <a:cs typeface="Times New Roman" panose="02020603050405020304" pitchFamily="18" charset="0"/>
              </a:rPr>
              <a:t>downsloping</a:t>
            </a:r>
            <a:endParaRPr lang="en-IN" sz="1400" i="0" dirty="0">
              <a:effectLst/>
              <a:latin typeface="Calibri (Body)"/>
              <a:cs typeface="Times New Roman" panose="02020603050405020304" pitchFamily="18" charset="0"/>
            </a:endParaRPr>
          </a:p>
          <a:p>
            <a:pPr fontAlgn="base"/>
            <a:r>
              <a:rPr lang="en-IN" sz="1400" b="1" i="0" dirty="0">
                <a:effectLst/>
                <a:latin typeface="Calibri (Body)"/>
                <a:cs typeface="Times New Roman" panose="02020603050405020304" pitchFamily="18" charset="0"/>
              </a:rPr>
              <a:t>11. ca:    </a:t>
            </a:r>
            <a:r>
              <a:rPr lang="en-IN" sz="1400" i="0" dirty="0">
                <a:effectLst/>
                <a:latin typeface="Calibri (Body)"/>
                <a:cs typeface="Times New Roman" panose="02020603050405020304" pitchFamily="18" charset="0"/>
              </a:rPr>
              <a:t>number of major vessels (0-3) </a:t>
            </a:r>
            <a:r>
              <a:rPr lang="en-IN" sz="1400" i="0" dirty="0" err="1">
                <a:effectLst/>
                <a:latin typeface="Calibri (Body)"/>
                <a:cs typeface="Times New Roman" panose="02020603050405020304" pitchFamily="18" charset="0"/>
              </a:rPr>
              <a:t>colored</a:t>
            </a:r>
            <a:r>
              <a:rPr lang="en-IN" sz="1400" i="0" dirty="0">
                <a:effectLst/>
                <a:latin typeface="Calibri (Body)"/>
                <a:cs typeface="Times New Roman" panose="02020603050405020304" pitchFamily="18" charset="0"/>
              </a:rPr>
              <a:t> by </a:t>
            </a:r>
            <a:r>
              <a:rPr lang="en-IN" sz="1400" i="0" dirty="0" err="1">
                <a:effectLst/>
                <a:latin typeface="Calibri (Body)"/>
                <a:cs typeface="Times New Roman" panose="02020603050405020304" pitchFamily="18" charset="0"/>
              </a:rPr>
              <a:t>flourosopy</a:t>
            </a:r>
            <a:endParaRPr lang="en-IN" sz="1400" i="0" dirty="0">
              <a:effectLst/>
              <a:latin typeface="Calibri (Body)"/>
              <a:cs typeface="Times New Roman" panose="02020603050405020304" pitchFamily="18" charset="0"/>
            </a:endParaRPr>
          </a:p>
          <a:p>
            <a:pPr fontAlgn="base"/>
            <a:r>
              <a:rPr lang="en-IN" sz="1400" b="1" i="0" dirty="0">
                <a:effectLst/>
                <a:latin typeface="Calibri (Body)"/>
                <a:cs typeface="Times New Roman" panose="02020603050405020304" pitchFamily="18" charset="0"/>
              </a:rPr>
              <a:t>12. </a:t>
            </a:r>
            <a:r>
              <a:rPr lang="en-IN" sz="1400" b="1" i="0" dirty="0" err="1">
                <a:effectLst/>
                <a:latin typeface="Calibri (Body)"/>
                <a:cs typeface="Times New Roman" panose="02020603050405020304" pitchFamily="18" charset="0"/>
              </a:rPr>
              <a:t>thal</a:t>
            </a:r>
            <a:r>
              <a:rPr lang="en-IN" sz="1400" i="0" dirty="0">
                <a:effectLst/>
                <a:latin typeface="Calibri (Body)"/>
                <a:cs typeface="Times New Roman" panose="02020603050405020304" pitchFamily="18" charset="0"/>
              </a:rPr>
              <a:t>:    0 = normal; 1 = fixed defect; 2 = reversable defect</a:t>
            </a:r>
            <a:br>
              <a:rPr lang="en-IN" sz="1400" i="0" dirty="0">
                <a:effectLst/>
                <a:latin typeface="Calibri (Body)"/>
                <a:cs typeface="Times New Roman" panose="02020603050405020304" pitchFamily="18" charset="0"/>
              </a:rPr>
            </a:br>
            <a:r>
              <a:rPr lang="en-IN" sz="1400" i="0" dirty="0">
                <a:effectLst/>
                <a:latin typeface="Calibri (Body)"/>
                <a:cs typeface="Times New Roman" panose="02020603050405020304" pitchFamily="18" charset="0"/>
              </a:rPr>
              <a:t>and the label</a:t>
            </a:r>
          </a:p>
          <a:p>
            <a:pPr fontAlgn="base"/>
            <a:r>
              <a:rPr lang="en-IN" sz="1400" b="1" i="0" dirty="0">
                <a:effectLst/>
                <a:latin typeface="Calibri (Body)"/>
                <a:cs typeface="Times New Roman" panose="02020603050405020304" pitchFamily="18" charset="0"/>
              </a:rPr>
              <a:t>13. </a:t>
            </a:r>
            <a:r>
              <a:rPr lang="en-IN" sz="1400" b="1" i="0" dirty="0" err="1">
                <a:effectLst/>
                <a:latin typeface="Calibri (Body)"/>
                <a:cs typeface="Times New Roman" panose="02020603050405020304" pitchFamily="18" charset="0"/>
              </a:rPr>
              <a:t>fbs</a:t>
            </a:r>
            <a:r>
              <a:rPr lang="en-IN" sz="1400" b="1" i="0" dirty="0">
                <a:effectLst/>
                <a:latin typeface="Calibri (Body)"/>
                <a:cs typeface="Times New Roman" panose="02020603050405020304" pitchFamily="18" charset="0"/>
              </a:rPr>
              <a:t>:   </a:t>
            </a:r>
            <a:r>
              <a:rPr lang="en-IN" sz="1400" i="0" dirty="0">
                <a:effectLst/>
                <a:latin typeface="Calibri (Body)"/>
                <a:cs typeface="Times New Roman" panose="02020603050405020304" pitchFamily="18" charset="0"/>
              </a:rPr>
              <a:t> (fasting blood sugar &gt; 120 mg/dl) (1 = true; 0 = false)</a:t>
            </a:r>
          </a:p>
          <a:p>
            <a:pPr fontAlgn="base"/>
            <a:r>
              <a:rPr lang="en-IN" sz="1400" b="1" i="0" dirty="0">
                <a:effectLst/>
                <a:latin typeface="Calibri (Body)"/>
                <a:cs typeface="Times New Roman" panose="02020603050405020304" pitchFamily="18" charset="0"/>
              </a:rPr>
              <a:t>14. condition:    </a:t>
            </a:r>
            <a:r>
              <a:rPr lang="en-IN" sz="1400" i="0" dirty="0">
                <a:effectLst/>
                <a:latin typeface="Calibri (Body)"/>
                <a:cs typeface="Times New Roman" panose="02020603050405020304" pitchFamily="18" charset="0"/>
              </a:rPr>
              <a:t>0 = no disease, 1 = disease</a:t>
            </a:r>
            <a:endParaRPr lang="en-IN" sz="1400" dirty="0"/>
          </a:p>
        </p:txBody>
      </p:sp>
    </p:spTree>
    <p:extLst>
      <p:ext uri="{BB962C8B-B14F-4D97-AF65-F5344CB8AC3E}">
        <p14:creationId xmlns:p14="http://schemas.microsoft.com/office/powerpoint/2010/main" val="34575722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8D4669DB-FB9D-493D-B0D9-33EFC82790DE}"/>
              </a:ext>
            </a:extLst>
          </p:cNvPr>
          <p:cNvPicPr>
            <a:picLocks noChangeAspect="1"/>
          </p:cNvPicPr>
          <p:nvPr/>
        </p:nvPicPr>
        <p:blipFill>
          <a:blip r:embed="rId3">
            <a:lum/>
            <a:alphaModFix/>
          </a:blip>
          <a:srcRect/>
          <a:stretch>
            <a:fillRect/>
          </a:stretch>
        </p:blipFill>
        <p:spPr>
          <a:xfrm>
            <a:off x="0" y="6553084"/>
            <a:ext cx="9144000" cy="308161"/>
          </a:xfrm>
          <a:prstGeom prst="rect">
            <a:avLst/>
          </a:prstGeom>
          <a:noFill/>
          <a:ln cap="flat">
            <a:noFill/>
          </a:ln>
        </p:spPr>
      </p:pic>
      <p:sp>
        <p:nvSpPr>
          <p:cNvPr id="3" name="Text Box 4">
            <a:extLst>
              <a:ext uri="{FF2B5EF4-FFF2-40B4-BE49-F238E27FC236}">
                <a16:creationId xmlns:a16="http://schemas.microsoft.com/office/drawing/2014/main" id="{6F8CE000-001B-477B-AEB1-7B2DF82125E0}"/>
              </a:ext>
            </a:extLst>
          </p:cNvPr>
          <p:cNvSpPr/>
          <p:nvPr/>
        </p:nvSpPr>
        <p:spPr>
          <a:xfrm>
            <a:off x="2299322" y="6550203"/>
            <a:ext cx="4545363" cy="307082"/>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a:effectLst>
            <a:outerShdw dist="17819" dir="2700000" algn="tl">
              <a:srgbClr val="000000"/>
            </a:outerShdw>
          </a:effectLst>
        </p:spPr>
        <p:txBody>
          <a:bodyPr vert="horz" wrap="non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1400" b="1" i="0" u="none" strike="noStrike" kern="1200" cap="none" spc="0" baseline="0">
                <a:solidFill>
                  <a:srgbClr val="47FFD1"/>
                </a:solidFill>
                <a:uFillTx/>
                <a:latin typeface="Comic Sans MS" pitchFamily="66"/>
                <a:ea typeface="Microsoft YaHei" pitchFamily="2"/>
                <a:cs typeface="Lucida Sans" pitchFamily="2"/>
              </a:rPr>
              <a:t>Department of Computer Science and Engineering</a:t>
            </a:r>
          </a:p>
        </p:txBody>
      </p:sp>
      <p:pic>
        <p:nvPicPr>
          <p:cNvPr id="4" name="Picture 2">
            <a:extLst>
              <a:ext uri="{FF2B5EF4-FFF2-40B4-BE49-F238E27FC236}">
                <a16:creationId xmlns:a16="http://schemas.microsoft.com/office/drawing/2014/main" id="{EFEADD32-D603-4B11-8D98-E7FD48C6130F}"/>
              </a:ext>
            </a:extLst>
          </p:cNvPr>
          <p:cNvPicPr>
            <a:picLocks noChangeAspect="1"/>
          </p:cNvPicPr>
          <p:nvPr/>
        </p:nvPicPr>
        <p:blipFill>
          <a:blip r:embed="rId3">
            <a:lum/>
            <a:alphaModFix/>
          </a:blip>
          <a:srcRect/>
          <a:stretch>
            <a:fillRect/>
          </a:stretch>
        </p:blipFill>
        <p:spPr>
          <a:xfrm>
            <a:off x="0" y="0"/>
            <a:ext cx="9144000" cy="609484"/>
          </a:xfrm>
          <a:prstGeom prst="rect">
            <a:avLst/>
          </a:prstGeom>
          <a:noFill/>
          <a:ln cap="flat">
            <a:noFill/>
          </a:ln>
        </p:spPr>
      </p:pic>
      <p:sp>
        <p:nvSpPr>
          <p:cNvPr id="5" name="Rectangle: Rounded Corners 3">
            <a:extLst>
              <a:ext uri="{FF2B5EF4-FFF2-40B4-BE49-F238E27FC236}">
                <a16:creationId xmlns:a16="http://schemas.microsoft.com/office/drawing/2014/main" id="{6BBED2D9-BCDF-4E94-8182-A159447629CE}"/>
              </a:ext>
            </a:extLst>
          </p:cNvPr>
          <p:cNvSpPr/>
          <p:nvPr/>
        </p:nvSpPr>
        <p:spPr>
          <a:xfrm>
            <a:off x="8550362" y="6553084"/>
            <a:ext cx="593637" cy="306360"/>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0066"/>
          </a:solidFill>
          <a:ln w="12600" cap="flat">
            <a:solidFill>
              <a:srgbClr val="000000"/>
            </a:solidFill>
            <a:prstDash val="solid"/>
            <a:miter/>
          </a:ln>
        </p:spPr>
        <p:txBody>
          <a:bodyPr vert="horz" wrap="square" lIns="90004" tIns="46798" rIns="90004" bIns="46798" anchor="ctr" anchorCtr="1" compatLnSpc="1">
            <a:normAutofit fontScale="92500" lnSpcReduction="20000"/>
          </a:bodyPr>
          <a:lstStyle/>
          <a:p>
            <a:pPr marL="0" marR="0" lvl="0" indent="0" algn="ctr" defTabSz="914400" rtl="0" fontAlgn="auto" hangingPunct="1">
              <a:lnSpc>
                <a:spcPct val="8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AB8CC7BD-5D93-4C0A-AAD8-B765ACB170F4}" type="slidenum">
              <a:t>29</a:t>
            </a:fld>
            <a:endParaRPr lang="en-US" sz="1400" b="1" i="0" u="none" strike="noStrike" kern="1200" cap="none" spc="0" baseline="0">
              <a:solidFill>
                <a:srgbClr val="FFFFFF"/>
              </a:solidFill>
              <a:uFillTx/>
              <a:latin typeface="Comic Sans MS" pitchFamily="66"/>
              <a:ea typeface="Microsoft YaHei" pitchFamily="2"/>
              <a:cs typeface="Lucida Sans" pitchFamily="2"/>
            </a:endParaRPr>
          </a:p>
        </p:txBody>
      </p:sp>
      <p:sp>
        <p:nvSpPr>
          <p:cNvPr id="6" name="Date Placeholder 7">
            <a:extLst>
              <a:ext uri="{FF2B5EF4-FFF2-40B4-BE49-F238E27FC236}">
                <a16:creationId xmlns:a16="http://schemas.microsoft.com/office/drawing/2014/main" id="{D0C2D5F8-2A4E-45AD-9E19-29D2B63406A3}"/>
              </a:ext>
            </a:extLst>
          </p:cNvPr>
          <p:cNvSpPr/>
          <p:nvPr/>
        </p:nvSpPr>
        <p:spPr>
          <a:xfrm>
            <a:off x="0" y="6564239"/>
            <a:ext cx="1447915" cy="41291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norm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5E5B1732-3D3F-4E1A-AD91-1223FC4CF4BB}" type="datetime1">
              <a:rPr lang="en-US" sz="1400" b="1" i="0" u="none" strike="noStrike" kern="1200" cap="none" spc="0" baseline="0">
                <a:solidFill>
                  <a:srgbClr val="FF0066"/>
                </a:solidFill>
                <a:uFillTx/>
                <a:latin typeface="Arial Rounded MT Bold" pitchFamily="34"/>
                <a:ea typeface="Microsoft YaHei" pitchFamily="2"/>
                <a:cs typeface="Lucida Sans" pitchFamily="2"/>
              </a:rPr>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t>4/18/2023</a:t>
            </a:fld>
            <a:endParaRPr lang="en-US" sz="1400" b="1" i="0" u="none" strike="noStrike" kern="1200" cap="none" spc="0" baseline="0">
              <a:solidFill>
                <a:srgbClr val="FF0066"/>
              </a:solidFill>
              <a:uFillTx/>
              <a:latin typeface="Arial Rounded MT Bold" pitchFamily="34"/>
              <a:ea typeface="Microsoft YaHei" pitchFamily="2"/>
              <a:cs typeface="Lucida Sans" pitchFamily="2"/>
            </a:endParaRPr>
          </a:p>
        </p:txBody>
      </p:sp>
      <p:sp>
        <p:nvSpPr>
          <p:cNvPr id="7" name="TextBox 8">
            <a:extLst>
              <a:ext uri="{FF2B5EF4-FFF2-40B4-BE49-F238E27FC236}">
                <a16:creationId xmlns:a16="http://schemas.microsoft.com/office/drawing/2014/main" id="{9BE241AC-2867-401B-8952-98D39C4F5A63}"/>
              </a:ext>
            </a:extLst>
          </p:cNvPr>
          <p:cNvSpPr/>
          <p:nvPr/>
        </p:nvSpPr>
        <p:spPr>
          <a:xfrm>
            <a:off x="919081" y="0"/>
            <a:ext cx="7305836" cy="47483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500" b="1" i="0" u="none" strike="noStrike" kern="1200" cap="none" spc="0" baseline="0">
                <a:solidFill>
                  <a:srgbClr val="47FFD1"/>
                </a:solidFill>
                <a:uFillTx/>
                <a:latin typeface="Comic Sans MS" pitchFamily="66"/>
                <a:ea typeface="Microsoft YaHei" pitchFamily="2"/>
                <a:cs typeface="Lucida Sans" pitchFamily="2"/>
              </a:rPr>
              <a:t>Mepco Schlenk Engineering College </a:t>
            </a:r>
            <a:r>
              <a:rPr lang="en-US" sz="1800" b="1" i="0" u="none" strike="noStrike" kern="1200" cap="none" spc="0" baseline="0">
                <a:solidFill>
                  <a:srgbClr val="47FFD1"/>
                </a:solidFill>
                <a:uFillTx/>
                <a:latin typeface="Comic Sans MS" pitchFamily="66"/>
                <a:ea typeface="Microsoft YaHei" pitchFamily="2"/>
                <a:cs typeface="Lucida Sans" pitchFamily="2"/>
              </a:rPr>
              <a:t>(Autonomous)</a:t>
            </a:r>
          </a:p>
        </p:txBody>
      </p:sp>
      <p:sp>
        <p:nvSpPr>
          <p:cNvPr id="8" name="Oval 11">
            <a:extLst>
              <a:ext uri="{FF2B5EF4-FFF2-40B4-BE49-F238E27FC236}">
                <a16:creationId xmlns:a16="http://schemas.microsoft.com/office/drawing/2014/main" id="{E67FA03A-95C6-4908-B4C7-A0B37595DAFE}"/>
              </a:ext>
            </a:extLst>
          </p:cNvPr>
          <p:cNvSpPr/>
          <p:nvPr/>
        </p:nvSpPr>
        <p:spPr>
          <a:xfrm>
            <a:off x="8354881" y="20519"/>
            <a:ext cx="777962" cy="777962"/>
          </a:xfrm>
          <a:custGeom>
            <a:avLst/>
            <a:gdLst>
              <a:gd name="f0" fmla="val 10800000"/>
              <a:gd name="f1" fmla="val 5400000"/>
              <a:gd name="f2" fmla="val 180"/>
              <a:gd name="f3" fmla="val w"/>
              <a:gd name="f4" fmla="val h"/>
              <a:gd name="f5" fmla="val 0"/>
              <a:gd name="f6" fmla="val 21600"/>
              <a:gd name="f7" fmla="*/ 5419351 1 1725033"/>
              <a:gd name="f8" fmla="*/ 10800 10800 1"/>
              <a:gd name="f9" fmla="+- 0 0 360"/>
              <a:gd name="f10" fmla="val 10800"/>
              <a:gd name="f11" fmla="+- 0 0 0"/>
              <a:gd name="f12" fmla="*/ f3 1 21600"/>
              <a:gd name="f13" fmla="*/ f4 1 21600"/>
              <a:gd name="f14" fmla="*/ 0 f7 1"/>
              <a:gd name="f15" fmla="*/ f5 f0 1"/>
              <a:gd name="f16" fmla="*/ f9 f0 1"/>
              <a:gd name="f17" fmla="+- f6 0 f5"/>
              <a:gd name="f18" fmla="*/ f11 f0 1"/>
              <a:gd name="f19" fmla="*/ f14 1 f2"/>
              <a:gd name="f20" fmla="*/ f15 1 f2"/>
              <a:gd name="f21" fmla="*/ f16 1 f2"/>
              <a:gd name="f22" fmla="*/ f17 1 21600"/>
              <a:gd name="f23" fmla="*/ f18 1 f2"/>
              <a:gd name="f24" fmla="+- 0 0 f19"/>
              <a:gd name="f25" fmla="+- f20 0 f1"/>
              <a:gd name="f26" fmla="+- f21 0 f1"/>
              <a:gd name="f27" fmla="*/ 3163 f22 1"/>
              <a:gd name="f28" fmla="*/ 18437 f22 1"/>
              <a:gd name="f29" fmla="*/ 10800 f22 1"/>
              <a:gd name="f30" fmla="*/ 0 f22 1"/>
              <a:gd name="f31" fmla="*/ 21600 f22 1"/>
              <a:gd name="f32" fmla="+- f23 0 f1"/>
              <a:gd name="f33" fmla="*/ f24 f0 1"/>
              <a:gd name="f34" fmla="+- f26 0 f25"/>
              <a:gd name="f35" fmla="*/ f29 1 f22"/>
              <a:gd name="f36" fmla="*/ f30 1 f22"/>
              <a:gd name="f37" fmla="*/ f27 1 f22"/>
              <a:gd name="f38" fmla="*/ f28 1 f22"/>
              <a:gd name="f39" fmla="*/ f31 1 f22"/>
              <a:gd name="f40" fmla="*/ f33 1 f7"/>
              <a:gd name="f41" fmla="*/ f37 f12 1"/>
              <a:gd name="f42" fmla="*/ f38 f12 1"/>
              <a:gd name="f43" fmla="*/ f38 f13 1"/>
              <a:gd name="f44" fmla="*/ f37 f13 1"/>
              <a:gd name="f45" fmla="*/ f35 f12 1"/>
              <a:gd name="f46" fmla="*/ f36 f13 1"/>
              <a:gd name="f47" fmla="*/ f36 f12 1"/>
              <a:gd name="f48" fmla="*/ f35 f13 1"/>
              <a:gd name="f49" fmla="*/ f39 f13 1"/>
              <a:gd name="f50" fmla="*/ f39 f12 1"/>
              <a:gd name="f51" fmla="+- f40 0 f1"/>
              <a:gd name="f52" fmla="+- f51 f1 0"/>
              <a:gd name="f53" fmla="*/ f52 f7 1"/>
              <a:gd name="f54" fmla="*/ f53 1 f0"/>
              <a:gd name="f55" fmla="+- 0 0 f54"/>
              <a:gd name="f56" fmla="+- 0 0 f55"/>
              <a:gd name="f57" fmla="*/ f56 f0 1"/>
              <a:gd name="f58" fmla="*/ f57 1 f7"/>
              <a:gd name="f59" fmla="+- f58 0 f1"/>
              <a:gd name="f60" fmla="cos 1 f59"/>
              <a:gd name="f61" fmla="sin 1 f59"/>
              <a:gd name="f62" fmla="+- 0 0 f60"/>
              <a:gd name="f63" fmla="+- 0 0 f61"/>
              <a:gd name="f64" fmla="+- 0 0 f62"/>
              <a:gd name="f65" fmla="+- 0 0 f63"/>
              <a:gd name="f66" fmla="val f64"/>
              <a:gd name="f67" fmla="val f65"/>
              <a:gd name="f68" fmla="+- 0 0 f66"/>
              <a:gd name="f69" fmla="+- 0 0 f67"/>
              <a:gd name="f70" fmla="*/ 10800 f68 1"/>
              <a:gd name="f71" fmla="*/ 10800 f69 1"/>
              <a:gd name="f72" fmla="*/ f70 f70 1"/>
              <a:gd name="f73" fmla="*/ f71 f71 1"/>
              <a:gd name="f74" fmla="+- f72 f73 0"/>
              <a:gd name="f75" fmla="sqrt f74"/>
              <a:gd name="f76" fmla="*/ f8 1 f75"/>
              <a:gd name="f77" fmla="*/ f68 f76 1"/>
              <a:gd name="f78" fmla="*/ f69 f76 1"/>
              <a:gd name="f79" fmla="+- 10800 0 f77"/>
              <a:gd name="f80" fmla="+- 10800 0 f78"/>
            </a:gdLst>
            <a:ahLst/>
            <a:cxnLst>
              <a:cxn ang="3cd4">
                <a:pos x="hc" y="t"/>
              </a:cxn>
              <a:cxn ang="0">
                <a:pos x="r" y="vc"/>
              </a:cxn>
              <a:cxn ang="cd4">
                <a:pos x="hc" y="b"/>
              </a:cxn>
              <a:cxn ang="cd2">
                <a:pos x="l" y="vc"/>
              </a:cxn>
              <a:cxn ang="f32">
                <a:pos x="f45" y="f46"/>
              </a:cxn>
              <a:cxn ang="f32">
                <a:pos x="f41" y="f44"/>
              </a:cxn>
              <a:cxn ang="f32">
                <a:pos x="f47" y="f48"/>
              </a:cxn>
              <a:cxn ang="f32">
                <a:pos x="f41" y="f43"/>
              </a:cxn>
              <a:cxn ang="f32">
                <a:pos x="f45" y="f49"/>
              </a:cxn>
              <a:cxn ang="f32">
                <a:pos x="f42" y="f43"/>
              </a:cxn>
              <a:cxn ang="f32">
                <a:pos x="f50" y="f48"/>
              </a:cxn>
              <a:cxn ang="f32">
                <a:pos x="f42" y="f44"/>
              </a:cxn>
            </a:cxnLst>
            <a:rect l="f41" t="f44" r="f42" b="f43"/>
            <a:pathLst>
              <a:path w="21600" h="21600">
                <a:moveTo>
                  <a:pt x="f79" y="f80"/>
                </a:moveTo>
                <a:arcTo wR="f10" hR="f10" stAng="f25" swAng="f34"/>
                <a:close/>
              </a:path>
            </a:pathLst>
          </a:custGeom>
          <a:solidFill>
            <a:srgbClr val="FFFFFF"/>
          </a:solidFill>
          <a:ln w="12600" cap="flat">
            <a:solidFill>
              <a:srgbClr val="BCBCBC"/>
            </a:solidFill>
            <a:prstDash val="solid"/>
            <a:miter/>
          </a:ln>
        </p:spPr>
        <p:txBody>
          <a:bodyPr vert="horz" wrap="square" lIns="90004" tIns="46798" rIns="90004" bIns="46798" anchor="ctr" anchorCtr="0" compatLnSpc="1">
            <a:no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IN" sz="2400" b="0" i="0" u="none" strike="noStrike" kern="1200" cap="none" spc="0" baseline="0">
              <a:solidFill>
                <a:srgbClr val="000000"/>
              </a:solidFill>
              <a:uFillTx/>
              <a:latin typeface="Times New Roman" pitchFamily="18"/>
              <a:ea typeface="Microsoft YaHei" pitchFamily="2"/>
              <a:cs typeface="Lucida Sans" pitchFamily="2"/>
            </a:endParaRPr>
          </a:p>
        </p:txBody>
      </p:sp>
      <p:pic>
        <p:nvPicPr>
          <p:cNvPr id="9" name="Picture 10" descr="A picture containing text, sign, watch&#10;&#10;Description automatically generated">
            <a:extLst>
              <a:ext uri="{FF2B5EF4-FFF2-40B4-BE49-F238E27FC236}">
                <a16:creationId xmlns:a16="http://schemas.microsoft.com/office/drawing/2014/main" id="{D3EAC155-9D7D-4454-AF3C-C9B1622F5B98}"/>
              </a:ext>
            </a:extLst>
          </p:cNvPr>
          <p:cNvPicPr>
            <a:picLocks noChangeAspect="1"/>
          </p:cNvPicPr>
          <p:nvPr/>
        </p:nvPicPr>
        <p:blipFill>
          <a:blip r:embed="rId4">
            <a:lum/>
            <a:alphaModFix/>
          </a:blip>
          <a:srcRect/>
          <a:stretch>
            <a:fillRect/>
          </a:stretch>
        </p:blipFill>
        <p:spPr>
          <a:xfrm>
            <a:off x="8381875" y="47521"/>
            <a:ext cx="731876" cy="714603"/>
          </a:xfrm>
          <a:prstGeom prst="rect">
            <a:avLst/>
          </a:prstGeom>
          <a:noFill/>
          <a:ln cap="flat">
            <a:noFill/>
          </a:ln>
        </p:spPr>
      </p:pic>
      <p:sp>
        <p:nvSpPr>
          <p:cNvPr id="12" name="TextBox 11">
            <a:extLst>
              <a:ext uri="{FF2B5EF4-FFF2-40B4-BE49-F238E27FC236}">
                <a16:creationId xmlns:a16="http://schemas.microsoft.com/office/drawing/2014/main" id="{549FCD40-A681-494B-8DC6-3BCEBC1999A2}"/>
              </a:ext>
            </a:extLst>
          </p:cNvPr>
          <p:cNvSpPr txBox="1"/>
          <p:nvPr/>
        </p:nvSpPr>
        <p:spPr>
          <a:xfrm>
            <a:off x="302299" y="1131579"/>
            <a:ext cx="8298810" cy="2085443"/>
          </a:xfrm>
          <a:prstGeom prst="rect">
            <a:avLst/>
          </a:prstGeom>
          <a:noFill/>
        </p:spPr>
        <p:txBody>
          <a:bodyPr wrap="none" rtlCol="0">
            <a:spAutoFit/>
          </a:bodyPr>
          <a:lstStyle/>
          <a:p>
            <a:r>
              <a:rPr lang="en-US" b="1" dirty="0"/>
              <a:t>Previous review comments:</a:t>
            </a:r>
          </a:p>
          <a:p>
            <a:endParaRPr lang="en-US" b="1" u="sng" dirty="0"/>
          </a:p>
          <a:p>
            <a:pPr>
              <a:lnSpc>
                <a:spcPct val="150000"/>
              </a:lnSpc>
            </a:pPr>
            <a:r>
              <a:rPr lang="en-US" sz="1600" b="1" u="sng" dirty="0"/>
              <a:t>We have been asked to expand the feature selection module</a:t>
            </a:r>
          </a:p>
          <a:p>
            <a:pPr>
              <a:lnSpc>
                <a:spcPct val="150000"/>
              </a:lnSpc>
            </a:pPr>
            <a:r>
              <a:rPr lang="en-US" sz="1600" b="1" dirty="0"/>
              <a:t>Action taken:   </a:t>
            </a:r>
            <a:r>
              <a:rPr lang="en-US" sz="1600" dirty="0"/>
              <a:t>We have used 9 different feature selection techniques, 3 from each categories and</a:t>
            </a:r>
          </a:p>
          <a:p>
            <a:pPr>
              <a:lnSpc>
                <a:spcPct val="150000"/>
              </a:lnSpc>
            </a:pPr>
            <a:r>
              <a:rPr lang="en-US" sz="1600" dirty="0"/>
              <a:t>We have tried to compare how a model behaves based on the feature subsets selected  by </a:t>
            </a:r>
          </a:p>
          <a:p>
            <a:pPr>
              <a:lnSpc>
                <a:spcPct val="150000"/>
              </a:lnSpc>
            </a:pPr>
            <a:r>
              <a:rPr lang="en-US" sz="1600" dirty="0"/>
              <a:t>different feature selection techniques</a:t>
            </a:r>
          </a:p>
        </p:txBody>
      </p:sp>
    </p:spTree>
    <p:extLst>
      <p:ext uri="{BB962C8B-B14F-4D97-AF65-F5344CB8AC3E}">
        <p14:creationId xmlns:p14="http://schemas.microsoft.com/office/powerpoint/2010/main" val="26513716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8D4669DB-FB9D-493D-B0D9-33EFC82790DE}"/>
              </a:ext>
            </a:extLst>
          </p:cNvPr>
          <p:cNvPicPr>
            <a:picLocks noChangeAspect="1"/>
          </p:cNvPicPr>
          <p:nvPr/>
        </p:nvPicPr>
        <p:blipFill>
          <a:blip r:embed="rId3">
            <a:lum/>
            <a:alphaModFix/>
          </a:blip>
          <a:srcRect/>
          <a:stretch>
            <a:fillRect/>
          </a:stretch>
        </p:blipFill>
        <p:spPr>
          <a:xfrm>
            <a:off x="0" y="6553084"/>
            <a:ext cx="9144000" cy="308161"/>
          </a:xfrm>
          <a:prstGeom prst="rect">
            <a:avLst/>
          </a:prstGeom>
          <a:noFill/>
          <a:ln cap="flat">
            <a:noFill/>
          </a:ln>
        </p:spPr>
      </p:pic>
      <p:sp>
        <p:nvSpPr>
          <p:cNvPr id="3" name="Text Box 4">
            <a:extLst>
              <a:ext uri="{FF2B5EF4-FFF2-40B4-BE49-F238E27FC236}">
                <a16:creationId xmlns:a16="http://schemas.microsoft.com/office/drawing/2014/main" id="{6F8CE000-001B-477B-AEB1-7B2DF82125E0}"/>
              </a:ext>
            </a:extLst>
          </p:cNvPr>
          <p:cNvSpPr/>
          <p:nvPr/>
        </p:nvSpPr>
        <p:spPr>
          <a:xfrm>
            <a:off x="2299322" y="6550203"/>
            <a:ext cx="4545363" cy="307082"/>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a:effectLst>
            <a:outerShdw dist="17819" dir="2700000" algn="tl">
              <a:srgbClr val="000000"/>
            </a:outerShdw>
          </a:effectLst>
        </p:spPr>
        <p:txBody>
          <a:bodyPr vert="horz" wrap="non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1400" b="1" i="0" u="none" strike="noStrike" kern="1200" cap="none" spc="0" baseline="0">
                <a:solidFill>
                  <a:srgbClr val="47FFD1"/>
                </a:solidFill>
                <a:uFillTx/>
                <a:latin typeface="Comic Sans MS" pitchFamily="66"/>
                <a:ea typeface="Microsoft YaHei" pitchFamily="2"/>
                <a:cs typeface="Lucida Sans" pitchFamily="2"/>
              </a:rPr>
              <a:t>Department of Computer Science and Engineering</a:t>
            </a:r>
          </a:p>
        </p:txBody>
      </p:sp>
      <p:pic>
        <p:nvPicPr>
          <p:cNvPr id="4" name="Picture 2">
            <a:extLst>
              <a:ext uri="{FF2B5EF4-FFF2-40B4-BE49-F238E27FC236}">
                <a16:creationId xmlns:a16="http://schemas.microsoft.com/office/drawing/2014/main" id="{EFEADD32-D603-4B11-8D98-E7FD48C6130F}"/>
              </a:ext>
            </a:extLst>
          </p:cNvPr>
          <p:cNvPicPr>
            <a:picLocks noChangeAspect="1"/>
          </p:cNvPicPr>
          <p:nvPr/>
        </p:nvPicPr>
        <p:blipFill>
          <a:blip r:embed="rId3">
            <a:lum/>
            <a:alphaModFix/>
          </a:blip>
          <a:srcRect/>
          <a:stretch>
            <a:fillRect/>
          </a:stretch>
        </p:blipFill>
        <p:spPr>
          <a:xfrm>
            <a:off x="0" y="0"/>
            <a:ext cx="9144000" cy="609484"/>
          </a:xfrm>
          <a:prstGeom prst="rect">
            <a:avLst/>
          </a:prstGeom>
          <a:noFill/>
          <a:ln cap="flat">
            <a:noFill/>
          </a:ln>
        </p:spPr>
      </p:pic>
      <p:sp>
        <p:nvSpPr>
          <p:cNvPr id="5" name="Rectangle: Rounded Corners 3">
            <a:extLst>
              <a:ext uri="{FF2B5EF4-FFF2-40B4-BE49-F238E27FC236}">
                <a16:creationId xmlns:a16="http://schemas.microsoft.com/office/drawing/2014/main" id="{6BBED2D9-BCDF-4E94-8182-A159447629CE}"/>
              </a:ext>
            </a:extLst>
          </p:cNvPr>
          <p:cNvSpPr/>
          <p:nvPr/>
        </p:nvSpPr>
        <p:spPr>
          <a:xfrm>
            <a:off x="8550362" y="6553084"/>
            <a:ext cx="593637" cy="306360"/>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0066"/>
          </a:solidFill>
          <a:ln w="12600" cap="flat">
            <a:solidFill>
              <a:srgbClr val="000000"/>
            </a:solidFill>
            <a:prstDash val="solid"/>
            <a:miter/>
          </a:ln>
        </p:spPr>
        <p:txBody>
          <a:bodyPr vert="horz" wrap="square" lIns="90004" tIns="46798" rIns="90004" bIns="46798" anchor="ctr" anchorCtr="1" compatLnSpc="1">
            <a:normAutofit fontScale="92500" lnSpcReduction="20000"/>
          </a:bodyPr>
          <a:lstStyle/>
          <a:p>
            <a:pPr marL="0" marR="0" lvl="0" indent="0" algn="ctr" defTabSz="914400" rtl="0" fontAlgn="auto" hangingPunct="1">
              <a:lnSpc>
                <a:spcPct val="8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AB8CC7BD-5D93-4C0A-AAD8-B765ACB170F4}" type="slidenum">
              <a:t>30</a:t>
            </a:fld>
            <a:endParaRPr lang="en-US" sz="1400" b="1" i="0" u="none" strike="noStrike" kern="1200" cap="none" spc="0" baseline="0">
              <a:solidFill>
                <a:srgbClr val="FFFFFF"/>
              </a:solidFill>
              <a:uFillTx/>
              <a:latin typeface="Comic Sans MS" pitchFamily="66"/>
              <a:ea typeface="Microsoft YaHei" pitchFamily="2"/>
              <a:cs typeface="Lucida Sans" pitchFamily="2"/>
            </a:endParaRPr>
          </a:p>
        </p:txBody>
      </p:sp>
      <p:sp>
        <p:nvSpPr>
          <p:cNvPr id="6" name="Date Placeholder 7">
            <a:extLst>
              <a:ext uri="{FF2B5EF4-FFF2-40B4-BE49-F238E27FC236}">
                <a16:creationId xmlns:a16="http://schemas.microsoft.com/office/drawing/2014/main" id="{D0C2D5F8-2A4E-45AD-9E19-29D2B63406A3}"/>
              </a:ext>
            </a:extLst>
          </p:cNvPr>
          <p:cNvSpPr/>
          <p:nvPr/>
        </p:nvSpPr>
        <p:spPr>
          <a:xfrm>
            <a:off x="0" y="6564239"/>
            <a:ext cx="1447915" cy="41291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norm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5E5B1732-3D3F-4E1A-AD91-1223FC4CF4BB}" type="datetime1">
              <a:rPr lang="en-US" sz="1400" b="1" i="0" u="none" strike="noStrike" kern="1200" cap="none" spc="0" baseline="0">
                <a:solidFill>
                  <a:srgbClr val="FF0066"/>
                </a:solidFill>
                <a:uFillTx/>
                <a:latin typeface="Arial Rounded MT Bold" pitchFamily="34"/>
                <a:ea typeface="Microsoft YaHei" pitchFamily="2"/>
                <a:cs typeface="Lucida Sans" pitchFamily="2"/>
              </a:rPr>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t>4/18/2023</a:t>
            </a:fld>
            <a:endParaRPr lang="en-US" sz="1400" b="1" i="0" u="none" strike="noStrike" kern="1200" cap="none" spc="0" baseline="0">
              <a:solidFill>
                <a:srgbClr val="FF0066"/>
              </a:solidFill>
              <a:uFillTx/>
              <a:latin typeface="Arial Rounded MT Bold" pitchFamily="34"/>
              <a:ea typeface="Microsoft YaHei" pitchFamily="2"/>
              <a:cs typeface="Lucida Sans" pitchFamily="2"/>
            </a:endParaRPr>
          </a:p>
        </p:txBody>
      </p:sp>
      <p:sp>
        <p:nvSpPr>
          <p:cNvPr id="7" name="TextBox 8">
            <a:extLst>
              <a:ext uri="{FF2B5EF4-FFF2-40B4-BE49-F238E27FC236}">
                <a16:creationId xmlns:a16="http://schemas.microsoft.com/office/drawing/2014/main" id="{9BE241AC-2867-401B-8952-98D39C4F5A63}"/>
              </a:ext>
            </a:extLst>
          </p:cNvPr>
          <p:cNvSpPr/>
          <p:nvPr/>
        </p:nvSpPr>
        <p:spPr>
          <a:xfrm>
            <a:off x="919081" y="0"/>
            <a:ext cx="7305836" cy="47483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500" b="1" i="0" u="none" strike="noStrike" kern="1200" cap="none" spc="0" baseline="0">
                <a:solidFill>
                  <a:srgbClr val="47FFD1"/>
                </a:solidFill>
                <a:uFillTx/>
                <a:latin typeface="Comic Sans MS" pitchFamily="66"/>
                <a:ea typeface="Microsoft YaHei" pitchFamily="2"/>
                <a:cs typeface="Lucida Sans" pitchFamily="2"/>
              </a:rPr>
              <a:t>Mepco Schlenk Engineering College </a:t>
            </a:r>
            <a:r>
              <a:rPr lang="en-US" sz="1800" b="1" i="0" u="none" strike="noStrike" kern="1200" cap="none" spc="0" baseline="0">
                <a:solidFill>
                  <a:srgbClr val="47FFD1"/>
                </a:solidFill>
                <a:uFillTx/>
                <a:latin typeface="Comic Sans MS" pitchFamily="66"/>
                <a:ea typeface="Microsoft YaHei" pitchFamily="2"/>
                <a:cs typeface="Lucida Sans" pitchFamily="2"/>
              </a:rPr>
              <a:t>(Autonomous)</a:t>
            </a:r>
          </a:p>
        </p:txBody>
      </p:sp>
      <p:sp>
        <p:nvSpPr>
          <p:cNvPr id="8" name="Oval 11">
            <a:extLst>
              <a:ext uri="{FF2B5EF4-FFF2-40B4-BE49-F238E27FC236}">
                <a16:creationId xmlns:a16="http://schemas.microsoft.com/office/drawing/2014/main" id="{E67FA03A-95C6-4908-B4C7-A0B37595DAFE}"/>
              </a:ext>
            </a:extLst>
          </p:cNvPr>
          <p:cNvSpPr/>
          <p:nvPr/>
        </p:nvSpPr>
        <p:spPr>
          <a:xfrm>
            <a:off x="8354881" y="20519"/>
            <a:ext cx="777962" cy="777962"/>
          </a:xfrm>
          <a:custGeom>
            <a:avLst/>
            <a:gdLst>
              <a:gd name="f0" fmla="val 10800000"/>
              <a:gd name="f1" fmla="val 5400000"/>
              <a:gd name="f2" fmla="val 180"/>
              <a:gd name="f3" fmla="val w"/>
              <a:gd name="f4" fmla="val h"/>
              <a:gd name="f5" fmla="val 0"/>
              <a:gd name="f6" fmla="val 21600"/>
              <a:gd name="f7" fmla="*/ 5419351 1 1725033"/>
              <a:gd name="f8" fmla="*/ 10800 10800 1"/>
              <a:gd name="f9" fmla="+- 0 0 360"/>
              <a:gd name="f10" fmla="val 10800"/>
              <a:gd name="f11" fmla="+- 0 0 0"/>
              <a:gd name="f12" fmla="*/ f3 1 21600"/>
              <a:gd name="f13" fmla="*/ f4 1 21600"/>
              <a:gd name="f14" fmla="*/ 0 f7 1"/>
              <a:gd name="f15" fmla="*/ f5 f0 1"/>
              <a:gd name="f16" fmla="*/ f9 f0 1"/>
              <a:gd name="f17" fmla="+- f6 0 f5"/>
              <a:gd name="f18" fmla="*/ f11 f0 1"/>
              <a:gd name="f19" fmla="*/ f14 1 f2"/>
              <a:gd name="f20" fmla="*/ f15 1 f2"/>
              <a:gd name="f21" fmla="*/ f16 1 f2"/>
              <a:gd name="f22" fmla="*/ f17 1 21600"/>
              <a:gd name="f23" fmla="*/ f18 1 f2"/>
              <a:gd name="f24" fmla="+- 0 0 f19"/>
              <a:gd name="f25" fmla="+- f20 0 f1"/>
              <a:gd name="f26" fmla="+- f21 0 f1"/>
              <a:gd name="f27" fmla="*/ 3163 f22 1"/>
              <a:gd name="f28" fmla="*/ 18437 f22 1"/>
              <a:gd name="f29" fmla="*/ 10800 f22 1"/>
              <a:gd name="f30" fmla="*/ 0 f22 1"/>
              <a:gd name="f31" fmla="*/ 21600 f22 1"/>
              <a:gd name="f32" fmla="+- f23 0 f1"/>
              <a:gd name="f33" fmla="*/ f24 f0 1"/>
              <a:gd name="f34" fmla="+- f26 0 f25"/>
              <a:gd name="f35" fmla="*/ f29 1 f22"/>
              <a:gd name="f36" fmla="*/ f30 1 f22"/>
              <a:gd name="f37" fmla="*/ f27 1 f22"/>
              <a:gd name="f38" fmla="*/ f28 1 f22"/>
              <a:gd name="f39" fmla="*/ f31 1 f22"/>
              <a:gd name="f40" fmla="*/ f33 1 f7"/>
              <a:gd name="f41" fmla="*/ f37 f12 1"/>
              <a:gd name="f42" fmla="*/ f38 f12 1"/>
              <a:gd name="f43" fmla="*/ f38 f13 1"/>
              <a:gd name="f44" fmla="*/ f37 f13 1"/>
              <a:gd name="f45" fmla="*/ f35 f12 1"/>
              <a:gd name="f46" fmla="*/ f36 f13 1"/>
              <a:gd name="f47" fmla="*/ f36 f12 1"/>
              <a:gd name="f48" fmla="*/ f35 f13 1"/>
              <a:gd name="f49" fmla="*/ f39 f13 1"/>
              <a:gd name="f50" fmla="*/ f39 f12 1"/>
              <a:gd name="f51" fmla="+- f40 0 f1"/>
              <a:gd name="f52" fmla="+- f51 f1 0"/>
              <a:gd name="f53" fmla="*/ f52 f7 1"/>
              <a:gd name="f54" fmla="*/ f53 1 f0"/>
              <a:gd name="f55" fmla="+- 0 0 f54"/>
              <a:gd name="f56" fmla="+- 0 0 f55"/>
              <a:gd name="f57" fmla="*/ f56 f0 1"/>
              <a:gd name="f58" fmla="*/ f57 1 f7"/>
              <a:gd name="f59" fmla="+- f58 0 f1"/>
              <a:gd name="f60" fmla="cos 1 f59"/>
              <a:gd name="f61" fmla="sin 1 f59"/>
              <a:gd name="f62" fmla="+- 0 0 f60"/>
              <a:gd name="f63" fmla="+- 0 0 f61"/>
              <a:gd name="f64" fmla="+- 0 0 f62"/>
              <a:gd name="f65" fmla="+- 0 0 f63"/>
              <a:gd name="f66" fmla="val f64"/>
              <a:gd name="f67" fmla="val f65"/>
              <a:gd name="f68" fmla="+- 0 0 f66"/>
              <a:gd name="f69" fmla="+- 0 0 f67"/>
              <a:gd name="f70" fmla="*/ 10800 f68 1"/>
              <a:gd name="f71" fmla="*/ 10800 f69 1"/>
              <a:gd name="f72" fmla="*/ f70 f70 1"/>
              <a:gd name="f73" fmla="*/ f71 f71 1"/>
              <a:gd name="f74" fmla="+- f72 f73 0"/>
              <a:gd name="f75" fmla="sqrt f74"/>
              <a:gd name="f76" fmla="*/ f8 1 f75"/>
              <a:gd name="f77" fmla="*/ f68 f76 1"/>
              <a:gd name="f78" fmla="*/ f69 f76 1"/>
              <a:gd name="f79" fmla="+- 10800 0 f77"/>
              <a:gd name="f80" fmla="+- 10800 0 f78"/>
            </a:gdLst>
            <a:ahLst/>
            <a:cxnLst>
              <a:cxn ang="3cd4">
                <a:pos x="hc" y="t"/>
              </a:cxn>
              <a:cxn ang="0">
                <a:pos x="r" y="vc"/>
              </a:cxn>
              <a:cxn ang="cd4">
                <a:pos x="hc" y="b"/>
              </a:cxn>
              <a:cxn ang="cd2">
                <a:pos x="l" y="vc"/>
              </a:cxn>
              <a:cxn ang="f32">
                <a:pos x="f45" y="f46"/>
              </a:cxn>
              <a:cxn ang="f32">
                <a:pos x="f41" y="f44"/>
              </a:cxn>
              <a:cxn ang="f32">
                <a:pos x="f47" y="f48"/>
              </a:cxn>
              <a:cxn ang="f32">
                <a:pos x="f41" y="f43"/>
              </a:cxn>
              <a:cxn ang="f32">
                <a:pos x="f45" y="f49"/>
              </a:cxn>
              <a:cxn ang="f32">
                <a:pos x="f42" y="f43"/>
              </a:cxn>
              <a:cxn ang="f32">
                <a:pos x="f50" y="f48"/>
              </a:cxn>
              <a:cxn ang="f32">
                <a:pos x="f42" y="f44"/>
              </a:cxn>
            </a:cxnLst>
            <a:rect l="f41" t="f44" r="f42" b="f43"/>
            <a:pathLst>
              <a:path w="21600" h="21600">
                <a:moveTo>
                  <a:pt x="f79" y="f80"/>
                </a:moveTo>
                <a:arcTo wR="f10" hR="f10" stAng="f25" swAng="f34"/>
                <a:close/>
              </a:path>
            </a:pathLst>
          </a:custGeom>
          <a:solidFill>
            <a:srgbClr val="FFFFFF"/>
          </a:solidFill>
          <a:ln w="12600" cap="flat">
            <a:solidFill>
              <a:srgbClr val="BCBCBC"/>
            </a:solidFill>
            <a:prstDash val="solid"/>
            <a:miter/>
          </a:ln>
        </p:spPr>
        <p:txBody>
          <a:bodyPr vert="horz" wrap="square" lIns="90004" tIns="46798" rIns="90004" bIns="46798" anchor="ctr" anchorCtr="0" compatLnSpc="1">
            <a:no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IN" sz="2400" b="0" i="0" u="none" strike="noStrike" kern="1200" cap="none" spc="0" baseline="0">
              <a:solidFill>
                <a:srgbClr val="000000"/>
              </a:solidFill>
              <a:uFillTx/>
              <a:latin typeface="Times New Roman" pitchFamily="18"/>
              <a:ea typeface="Microsoft YaHei" pitchFamily="2"/>
              <a:cs typeface="Lucida Sans" pitchFamily="2"/>
            </a:endParaRPr>
          </a:p>
        </p:txBody>
      </p:sp>
      <p:pic>
        <p:nvPicPr>
          <p:cNvPr id="9" name="Picture 10" descr="A picture containing text, sign, watch&#10;&#10;Description automatically generated">
            <a:extLst>
              <a:ext uri="{FF2B5EF4-FFF2-40B4-BE49-F238E27FC236}">
                <a16:creationId xmlns:a16="http://schemas.microsoft.com/office/drawing/2014/main" id="{D3EAC155-9D7D-4454-AF3C-C9B1622F5B98}"/>
              </a:ext>
            </a:extLst>
          </p:cNvPr>
          <p:cNvPicPr>
            <a:picLocks noChangeAspect="1"/>
          </p:cNvPicPr>
          <p:nvPr/>
        </p:nvPicPr>
        <p:blipFill>
          <a:blip r:embed="rId4">
            <a:lum/>
            <a:alphaModFix/>
          </a:blip>
          <a:srcRect/>
          <a:stretch>
            <a:fillRect/>
          </a:stretch>
        </p:blipFill>
        <p:spPr>
          <a:xfrm>
            <a:off x="8381875" y="47521"/>
            <a:ext cx="731876" cy="714603"/>
          </a:xfrm>
          <a:prstGeom prst="rect">
            <a:avLst/>
          </a:prstGeom>
          <a:noFill/>
          <a:ln cap="flat">
            <a:noFill/>
          </a:ln>
        </p:spPr>
      </p:pic>
      <p:sp>
        <p:nvSpPr>
          <p:cNvPr id="12" name="TextBox 11">
            <a:extLst>
              <a:ext uri="{FF2B5EF4-FFF2-40B4-BE49-F238E27FC236}">
                <a16:creationId xmlns:a16="http://schemas.microsoft.com/office/drawing/2014/main" id="{549FCD40-A681-494B-8DC6-3BCEBC1999A2}"/>
              </a:ext>
            </a:extLst>
          </p:cNvPr>
          <p:cNvSpPr txBox="1"/>
          <p:nvPr/>
        </p:nvSpPr>
        <p:spPr>
          <a:xfrm>
            <a:off x="2932094" y="3105834"/>
            <a:ext cx="3279809" cy="646331"/>
          </a:xfrm>
          <a:prstGeom prst="rect">
            <a:avLst/>
          </a:prstGeom>
          <a:noFill/>
        </p:spPr>
        <p:txBody>
          <a:bodyPr wrap="none" rtlCol="0">
            <a:spAutoFit/>
          </a:bodyPr>
          <a:lstStyle/>
          <a:p>
            <a:r>
              <a:rPr lang="en-IN" sz="3600" b="1" dirty="0"/>
              <a:t>Implementation</a:t>
            </a:r>
            <a:endParaRPr lang="en-IN" sz="2400" b="1" dirty="0"/>
          </a:p>
        </p:txBody>
      </p:sp>
    </p:spTree>
    <p:extLst>
      <p:ext uri="{BB962C8B-B14F-4D97-AF65-F5344CB8AC3E}">
        <p14:creationId xmlns:p14="http://schemas.microsoft.com/office/powerpoint/2010/main" val="6810448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8D4669DB-FB9D-493D-B0D9-33EFC82790DE}"/>
              </a:ext>
            </a:extLst>
          </p:cNvPr>
          <p:cNvPicPr>
            <a:picLocks noChangeAspect="1"/>
          </p:cNvPicPr>
          <p:nvPr/>
        </p:nvPicPr>
        <p:blipFill>
          <a:blip r:embed="rId3">
            <a:lum/>
            <a:alphaModFix/>
          </a:blip>
          <a:srcRect/>
          <a:stretch>
            <a:fillRect/>
          </a:stretch>
        </p:blipFill>
        <p:spPr>
          <a:xfrm>
            <a:off x="0" y="6553084"/>
            <a:ext cx="9144000" cy="308161"/>
          </a:xfrm>
          <a:prstGeom prst="rect">
            <a:avLst/>
          </a:prstGeom>
          <a:noFill/>
          <a:ln cap="flat">
            <a:noFill/>
          </a:ln>
        </p:spPr>
      </p:pic>
      <p:sp>
        <p:nvSpPr>
          <p:cNvPr id="3" name="Text Box 4">
            <a:extLst>
              <a:ext uri="{FF2B5EF4-FFF2-40B4-BE49-F238E27FC236}">
                <a16:creationId xmlns:a16="http://schemas.microsoft.com/office/drawing/2014/main" id="{6F8CE000-001B-477B-AEB1-7B2DF82125E0}"/>
              </a:ext>
            </a:extLst>
          </p:cNvPr>
          <p:cNvSpPr/>
          <p:nvPr/>
        </p:nvSpPr>
        <p:spPr>
          <a:xfrm>
            <a:off x="2299322" y="6550203"/>
            <a:ext cx="4545363" cy="307082"/>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a:effectLst>
            <a:outerShdw dist="17819" dir="2700000" algn="tl">
              <a:srgbClr val="000000"/>
            </a:outerShdw>
          </a:effectLst>
        </p:spPr>
        <p:txBody>
          <a:bodyPr vert="horz" wrap="non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1400" b="1" i="0" u="none" strike="noStrike" kern="1200" cap="none" spc="0" baseline="0">
                <a:solidFill>
                  <a:srgbClr val="47FFD1"/>
                </a:solidFill>
                <a:uFillTx/>
                <a:latin typeface="Comic Sans MS" pitchFamily="66"/>
                <a:ea typeface="Microsoft YaHei" pitchFamily="2"/>
                <a:cs typeface="Lucida Sans" pitchFamily="2"/>
              </a:rPr>
              <a:t>Department of Computer Science and Engineering</a:t>
            </a:r>
          </a:p>
        </p:txBody>
      </p:sp>
      <p:pic>
        <p:nvPicPr>
          <p:cNvPr id="4" name="Picture 2">
            <a:extLst>
              <a:ext uri="{FF2B5EF4-FFF2-40B4-BE49-F238E27FC236}">
                <a16:creationId xmlns:a16="http://schemas.microsoft.com/office/drawing/2014/main" id="{EFEADD32-D603-4B11-8D98-E7FD48C6130F}"/>
              </a:ext>
            </a:extLst>
          </p:cNvPr>
          <p:cNvPicPr>
            <a:picLocks noChangeAspect="1"/>
          </p:cNvPicPr>
          <p:nvPr/>
        </p:nvPicPr>
        <p:blipFill>
          <a:blip r:embed="rId3">
            <a:lum/>
            <a:alphaModFix/>
          </a:blip>
          <a:srcRect/>
          <a:stretch>
            <a:fillRect/>
          </a:stretch>
        </p:blipFill>
        <p:spPr>
          <a:xfrm>
            <a:off x="0" y="0"/>
            <a:ext cx="9144000" cy="609484"/>
          </a:xfrm>
          <a:prstGeom prst="rect">
            <a:avLst/>
          </a:prstGeom>
          <a:noFill/>
          <a:ln cap="flat">
            <a:noFill/>
          </a:ln>
        </p:spPr>
      </p:pic>
      <p:sp>
        <p:nvSpPr>
          <p:cNvPr id="5" name="Rectangle: Rounded Corners 3">
            <a:extLst>
              <a:ext uri="{FF2B5EF4-FFF2-40B4-BE49-F238E27FC236}">
                <a16:creationId xmlns:a16="http://schemas.microsoft.com/office/drawing/2014/main" id="{6BBED2D9-BCDF-4E94-8182-A159447629CE}"/>
              </a:ext>
            </a:extLst>
          </p:cNvPr>
          <p:cNvSpPr/>
          <p:nvPr/>
        </p:nvSpPr>
        <p:spPr>
          <a:xfrm>
            <a:off x="8550362" y="6553084"/>
            <a:ext cx="593637" cy="306360"/>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0066"/>
          </a:solidFill>
          <a:ln w="12600" cap="flat">
            <a:solidFill>
              <a:srgbClr val="000000"/>
            </a:solidFill>
            <a:prstDash val="solid"/>
            <a:miter/>
          </a:ln>
        </p:spPr>
        <p:txBody>
          <a:bodyPr vert="horz" wrap="square" lIns="90004" tIns="46798" rIns="90004" bIns="46798" anchor="ctr" anchorCtr="1" compatLnSpc="1">
            <a:normAutofit fontScale="92500" lnSpcReduction="20000"/>
          </a:bodyPr>
          <a:lstStyle/>
          <a:p>
            <a:pPr marL="0" marR="0" lvl="0" indent="0" algn="ctr" defTabSz="914400" rtl="0" fontAlgn="auto" hangingPunct="1">
              <a:lnSpc>
                <a:spcPct val="8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AB8CC7BD-5D93-4C0A-AAD8-B765ACB170F4}" type="slidenum">
              <a:t>31</a:t>
            </a:fld>
            <a:endParaRPr lang="en-US" sz="1400" b="1" i="0" u="none" strike="noStrike" kern="1200" cap="none" spc="0" baseline="0">
              <a:solidFill>
                <a:srgbClr val="FFFFFF"/>
              </a:solidFill>
              <a:uFillTx/>
              <a:latin typeface="Comic Sans MS" pitchFamily="66"/>
              <a:ea typeface="Microsoft YaHei" pitchFamily="2"/>
              <a:cs typeface="Lucida Sans" pitchFamily="2"/>
            </a:endParaRPr>
          </a:p>
        </p:txBody>
      </p:sp>
      <p:sp>
        <p:nvSpPr>
          <p:cNvPr id="6" name="Date Placeholder 7">
            <a:extLst>
              <a:ext uri="{FF2B5EF4-FFF2-40B4-BE49-F238E27FC236}">
                <a16:creationId xmlns:a16="http://schemas.microsoft.com/office/drawing/2014/main" id="{D0C2D5F8-2A4E-45AD-9E19-29D2B63406A3}"/>
              </a:ext>
            </a:extLst>
          </p:cNvPr>
          <p:cNvSpPr/>
          <p:nvPr/>
        </p:nvSpPr>
        <p:spPr>
          <a:xfrm>
            <a:off x="0" y="6564239"/>
            <a:ext cx="1447915" cy="41291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norm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5E5B1732-3D3F-4E1A-AD91-1223FC4CF4BB}" type="datetime1">
              <a:rPr lang="en-US" sz="1400" b="1" i="0" u="none" strike="noStrike" kern="1200" cap="none" spc="0" baseline="0">
                <a:solidFill>
                  <a:srgbClr val="FF0066"/>
                </a:solidFill>
                <a:uFillTx/>
                <a:latin typeface="Arial Rounded MT Bold" pitchFamily="34"/>
                <a:ea typeface="Microsoft YaHei" pitchFamily="2"/>
                <a:cs typeface="Lucida Sans" pitchFamily="2"/>
              </a:rPr>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t>4/18/2023</a:t>
            </a:fld>
            <a:endParaRPr lang="en-US" sz="1400" b="1" i="0" u="none" strike="noStrike" kern="1200" cap="none" spc="0" baseline="0">
              <a:solidFill>
                <a:srgbClr val="FF0066"/>
              </a:solidFill>
              <a:uFillTx/>
              <a:latin typeface="Arial Rounded MT Bold" pitchFamily="34"/>
              <a:ea typeface="Microsoft YaHei" pitchFamily="2"/>
              <a:cs typeface="Lucida Sans" pitchFamily="2"/>
            </a:endParaRPr>
          </a:p>
        </p:txBody>
      </p:sp>
      <p:sp>
        <p:nvSpPr>
          <p:cNvPr id="7" name="TextBox 8">
            <a:extLst>
              <a:ext uri="{FF2B5EF4-FFF2-40B4-BE49-F238E27FC236}">
                <a16:creationId xmlns:a16="http://schemas.microsoft.com/office/drawing/2014/main" id="{9BE241AC-2867-401B-8952-98D39C4F5A63}"/>
              </a:ext>
            </a:extLst>
          </p:cNvPr>
          <p:cNvSpPr/>
          <p:nvPr/>
        </p:nvSpPr>
        <p:spPr>
          <a:xfrm>
            <a:off x="919081" y="0"/>
            <a:ext cx="7305836" cy="47483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500" b="1" i="0" u="none" strike="noStrike" kern="1200" cap="none" spc="0" baseline="0">
                <a:solidFill>
                  <a:srgbClr val="47FFD1"/>
                </a:solidFill>
                <a:uFillTx/>
                <a:latin typeface="Comic Sans MS" pitchFamily="66"/>
                <a:ea typeface="Microsoft YaHei" pitchFamily="2"/>
                <a:cs typeface="Lucida Sans" pitchFamily="2"/>
              </a:rPr>
              <a:t>Mepco Schlenk Engineering College </a:t>
            </a:r>
            <a:r>
              <a:rPr lang="en-US" sz="1800" b="1" i="0" u="none" strike="noStrike" kern="1200" cap="none" spc="0" baseline="0">
                <a:solidFill>
                  <a:srgbClr val="47FFD1"/>
                </a:solidFill>
                <a:uFillTx/>
                <a:latin typeface="Comic Sans MS" pitchFamily="66"/>
                <a:ea typeface="Microsoft YaHei" pitchFamily="2"/>
                <a:cs typeface="Lucida Sans" pitchFamily="2"/>
              </a:rPr>
              <a:t>(Autonomous)</a:t>
            </a:r>
          </a:p>
        </p:txBody>
      </p:sp>
      <p:sp>
        <p:nvSpPr>
          <p:cNvPr id="8" name="Oval 11">
            <a:extLst>
              <a:ext uri="{FF2B5EF4-FFF2-40B4-BE49-F238E27FC236}">
                <a16:creationId xmlns:a16="http://schemas.microsoft.com/office/drawing/2014/main" id="{E67FA03A-95C6-4908-B4C7-A0B37595DAFE}"/>
              </a:ext>
            </a:extLst>
          </p:cNvPr>
          <p:cNvSpPr/>
          <p:nvPr/>
        </p:nvSpPr>
        <p:spPr>
          <a:xfrm>
            <a:off x="8354881" y="20519"/>
            <a:ext cx="777962" cy="777962"/>
          </a:xfrm>
          <a:custGeom>
            <a:avLst/>
            <a:gdLst>
              <a:gd name="f0" fmla="val 10800000"/>
              <a:gd name="f1" fmla="val 5400000"/>
              <a:gd name="f2" fmla="val 180"/>
              <a:gd name="f3" fmla="val w"/>
              <a:gd name="f4" fmla="val h"/>
              <a:gd name="f5" fmla="val 0"/>
              <a:gd name="f6" fmla="val 21600"/>
              <a:gd name="f7" fmla="*/ 5419351 1 1725033"/>
              <a:gd name="f8" fmla="*/ 10800 10800 1"/>
              <a:gd name="f9" fmla="+- 0 0 360"/>
              <a:gd name="f10" fmla="val 10800"/>
              <a:gd name="f11" fmla="+- 0 0 0"/>
              <a:gd name="f12" fmla="*/ f3 1 21600"/>
              <a:gd name="f13" fmla="*/ f4 1 21600"/>
              <a:gd name="f14" fmla="*/ 0 f7 1"/>
              <a:gd name="f15" fmla="*/ f5 f0 1"/>
              <a:gd name="f16" fmla="*/ f9 f0 1"/>
              <a:gd name="f17" fmla="+- f6 0 f5"/>
              <a:gd name="f18" fmla="*/ f11 f0 1"/>
              <a:gd name="f19" fmla="*/ f14 1 f2"/>
              <a:gd name="f20" fmla="*/ f15 1 f2"/>
              <a:gd name="f21" fmla="*/ f16 1 f2"/>
              <a:gd name="f22" fmla="*/ f17 1 21600"/>
              <a:gd name="f23" fmla="*/ f18 1 f2"/>
              <a:gd name="f24" fmla="+- 0 0 f19"/>
              <a:gd name="f25" fmla="+- f20 0 f1"/>
              <a:gd name="f26" fmla="+- f21 0 f1"/>
              <a:gd name="f27" fmla="*/ 3163 f22 1"/>
              <a:gd name="f28" fmla="*/ 18437 f22 1"/>
              <a:gd name="f29" fmla="*/ 10800 f22 1"/>
              <a:gd name="f30" fmla="*/ 0 f22 1"/>
              <a:gd name="f31" fmla="*/ 21600 f22 1"/>
              <a:gd name="f32" fmla="+- f23 0 f1"/>
              <a:gd name="f33" fmla="*/ f24 f0 1"/>
              <a:gd name="f34" fmla="+- f26 0 f25"/>
              <a:gd name="f35" fmla="*/ f29 1 f22"/>
              <a:gd name="f36" fmla="*/ f30 1 f22"/>
              <a:gd name="f37" fmla="*/ f27 1 f22"/>
              <a:gd name="f38" fmla="*/ f28 1 f22"/>
              <a:gd name="f39" fmla="*/ f31 1 f22"/>
              <a:gd name="f40" fmla="*/ f33 1 f7"/>
              <a:gd name="f41" fmla="*/ f37 f12 1"/>
              <a:gd name="f42" fmla="*/ f38 f12 1"/>
              <a:gd name="f43" fmla="*/ f38 f13 1"/>
              <a:gd name="f44" fmla="*/ f37 f13 1"/>
              <a:gd name="f45" fmla="*/ f35 f12 1"/>
              <a:gd name="f46" fmla="*/ f36 f13 1"/>
              <a:gd name="f47" fmla="*/ f36 f12 1"/>
              <a:gd name="f48" fmla="*/ f35 f13 1"/>
              <a:gd name="f49" fmla="*/ f39 f13 1"/>
              <a:gd name="f50" fmla="*/ f39 f12 1"/>
              <a:gd name="f51" fmla="+- f40 0 f1"/>
              <a:gd name="f52" fmla="+- f51 f1 0"/>
              <a:gd name="f53" fmla="*/ f52 f7 1"/>
              <a:gd name="f54" fmla="*/ f53 1 f0"/>
              <a:gd name="f55" fmla="+- 0 0 f54"/>
              <a:gd name="f56" fmla="+- 0 0 f55"/>
              <a:gd name="f57" fmla="*/ f56 f0 1"/>
              <a:gd name="f58" fmla="*/ f57 1 f7"/>
              <a:gd name="f59" fmla="+- f58 0 f1"/>
              <a:gd name="f60" fmla="cos 1 f59"/>
              <a:gd name="f61" fmla="sin 1 f59"/>
              <a:gd name="f62" fmla="+- 0 0 f60"/>
              <a:gd name="f63" fmla="+- 0 0 f61"/>
              <a:gd name="f64" fmla="+- 0 0 f62"/>
              <a:gd name="f65" fmla="+- 0 0 f63"/>
              <a:gd name="f66" fmla="val f64"/>
              <a:gd name="f67" fmla="val f65"/>
              <a:gd name="f68" fmla="+- 0 0 f66"/>
              <a:gd name="f69" fmla="+- 0 0 f67"/>
              <a:gd name="f70" fmla="*/ 10800 f68 1"/>
              <a:gd name="f71" fmla="*/ 10800 f69 1"/>
              <a:gd name="f72" fmla="*/ f70 f70 1"/>
              <a:gd name="f73" fmla="*/ f71 f71 1"/>
              <a:gd name="f74" fmla="+- f72 f73 0"/>
              <a:gd name="f75" fmla="sqrt f74"/>
              <a:gd name="f76" fmla="*/ f8 1 f75"/>
              <a:gd name="f77" fmla="*/ f68 f76 1"/>
              <a:gd name="f78" fmla="*/ f69 f76 1"/>
              <a:gd name="f79" fmla="+- 10800 0 f77"/>
              <a:gd name="f80" fmla="+- 10800 0 f78"/>
            </a:gdLst>
            <a:ahLst/>
            <a:cxnLst>
              <a:cxn ang="3cd4">
                <a:pos x="hc" y="t"/>
              </a:cxn>
              <a:cxn ang="0">
                <a:pos x="r" y="vc"/>
              </a:cxn>
              <a:cxn ang="cd4">
                <a:pos x="hc" y="b"/>
              </a:cxn>
              <a:cxn ang="cd2">
                <a:pos x="l" y="vc"/>
              </a:cxn>
              <a:cxn ang="f32">
                <a:pos x="f45" y="f46"/>
              </a:cxn>
              <a:cxn ang="f32">
                <a:pos x="f41" y="f44"/>
              </a:cxn>
              <a:cxn ang="f32">
                <a:pos x="f47" y="f48"/>
              </a:cxn>
              <a:cxn ang="f32">
                <a:pos x="f41" y="f43"/>
              </a:cxn>
              <a:cxn ang="f32">
                <a:pos x="f45" y="f49"/>
              </a:cxn>
              <a:cxn ang="f32">
                <a:pos x="f42" y="f43"/>
              </a:cxn>
              <a:cxn ang="f32">
                <a:pos x="f50" y="f48"/>
              </a:cxn>
              <a:cxn ang="f32">
                <a:pos x="f42" y="f44"/>
              </a:cxn>
            </a:cxnLst>
            <a:rect l="f41" t="f44" r="f42" b="f43"/>
            <a:pathLst>
              <a:path w="21600" h="21600">
                <a:moveTo>
                  <a:pt x="f79" y="f80"/>
                </a:moveTo>
                <a:arcTo wR="f10" hR="f10" stAng="f25" swAng="f34"/>
                <a:close/>
              </a:path>
            </a:pathLst>
          </a:custGeom>
          <a:solidFill>
            <a:srgbClr val="FFFFFF"/>
          </a:solidFill>
          <a:ln w="12600" cap="flat">
            <a:solidFill>
              <a:srgbClr val="BCBCBC"/>
            </a:solidFill>
            <a:prstDash val="solid"/>
            <a:miter/>
          </a:ln>
        </p:spPr>
        <p:txBody>
          <a:bodyPr vert="horz" wrap="square" lIns="90004" tIns="46798" rIns="90004" bIns="46798" anchor="ctr" anchorCtr="0" compatLnSpc="1">
            <a:no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IN" sz="2400" b="0" i="0" u="none" strike="noStrike" kern="1200" cap="none" spc="0" baseline="0">
              <a:solidFill>
                <a:srgbClr val="000000"/>
              </a:solidFill>
              <a:uFillTx/>
              <a:latin typeface="Times New Roman" pitchFamily="18"/>
              <a:ea typeface="Microsoft YaHei" pitchFamily="2"/>
              <a:cs typeface="Lucida Sans" pitchFamily="2"/>
            </a:endParaRPr>
          </a:p>
        </p:txBody>
      </p:sp>
      <p:pic>
        <p:nvPicPr>
          <p:cNvPr id="9" name="Picture 10" descr="A picture containing text, sign, watch&#10;&#10;Description automatically generated">
            <a:extLst>
              <a:ext uri="{FF2B5EF4-FFF2-40B4-BE49-F238E27FC236}">
                <a16:creationId xmlns:a16="http://schemas.microsoft.com/office/drawing/2014/main" id="{D3EAC155-9D7D-4454-AF3C-C9B1622F5B98}"/>
              </a:ext>
            </a:extLst>
          </p:cNvPr>
          <p:cNvPicPr>
            <a:picLocks noChangeAspect="1"/>
          </p:cNvPicPr>
          <p:nvPr/>
        </p:nvPicPr>
        <p:blipFill>
          <a:blip r:embed="rId4">
            <a:lum/>
            <a:alphaModFix/>
          </a:blip>
          <a:srcRect/>
          <a:stretch>
            <a:fillRect/>
          </a:stretch>
        </p:blipFill>
        <p:spPr>
          <a:xfrm>
            <a:off x="8381875" y="47521"/>
            <a:ext cx="731876" cy="714603"/>
          </a:xfrm>
          <a:prstGeom prst="rect">
            <a:avLst/>
          </a:prstGeom>
          <a:noFill/>
          <a:ln cap="flat">
            <a:noFill/>
          </a:ln>
        </p:spPr>
      </p:pic>
      <p:sp>
        <p:nvSpPr>
          <p:cNvPr id="11" name="TextBox 10">
            <a:extLst>
              <a:ext uri="{FF2B5EF4-FFF2-40B4-BE49-F238E27FC236}">
                <a16:creationId xmlns:a16="http://schemas.microsoft.com/office/drawing/2014/main" id="{E1F82A4A-2BD7-425D-9305-CF45EF880A29}"/>
              </a:ext>
            </a:extLst>
          </p:cNvPr>
          <p:cNvSpPr txBox="1"/>
          <p:nvPr/>
        </p:nvSpPr>
        <p:spPr>
          <a:xfrm>
            <a:off x="75414" y="784594"/>
            <a:ext cx="3478491" cy="584775"/>
          </a:xfrm>
          <a:prstGeom prst="rect">
            <a:avLst/>
          </a:prstGeom>
          <a:noFill/>
        </p:spPr>
        <p:txBody>
          <a:bodyPr wrap="square" rtlCol="0">
            <a:spAutoFit/>
          </a:bodyPr>
          <a:lstStyle/>
          <a:p>
            <a:r>
              <a:rPr lang="en-IN" sz="1600" b="1" u="sng" dirty="0"/>
              <a:t>Random Forest Classifier:</a:t>
            </a:r>
          </a:p>
          <a:p>
            <a:endParaRPr lang="en-IN" sz="1600" b="1" u="sng" dirty="0"/>
          </a:p>
        </p:txBody>
      </p:sp>
      <p:sp>
        <p:nvSpPr>
          <p:cNvPr id="14" name="TextBox 13">
            <a:extLst>
              <a:ext uri="{FF2B5EF4-FFF2-40B4-BE49-F238E27FC236}">
                <a16:creationId xmlns:a16="http://schemas.microsoft.com/office/drawing/2014/main" id="{E6591941-61AA-4C73-B194-16C8C75B48C7}"/>
              </a:ext>
            </a:extLst>
          </p:cNvPr>
          <p:cNvSpPr txBox="1"/>
          <p:nvPr/>
        </p:nvSpPr>
        <p:spPr>
          <a:xfrm>
            <a:off x="75414" y="1175628"/>
            <a:ext cx="4586908" cy="338554"/>
          </a:xfrm>
          <a:prstGeom prst="rect">
            <a:avLst/>
          </a:prstGeom>
          <a:noFill/>
        </p:spPr>
        <p:txBody>
          <a:bodyPr wrap="square">
            <a:spAutoFit/>
          </a:bodyPr>
          <a:lstStyle/>
          <a:p>
            <a:pPr algn="just"/>
            <a:r>
              <a:rPr lang="en-IN" sz="1600" b="1" i="0" dirty="0">
                <a:solidFill>
                  <a:srgbClr val="000000"/>
                </a:solidFill>
                <a:effectLst/>
                <a:latin typeface="inter-regular"/>
              </a:rPr>
              <a:t>Filter method:</a:t>
            </a:r>
          </a:p>
        </p:txBody>
      </p:sp>
      <p:graphicFrame>
        <p:nvGraphicFramePr>
          <p:cNvPr id="12" name="Table 14">
            <a:extLst>
              <a:ext uri="{FF2B5EF4-FFF2-40B4-BE49-F238E27FC236}">
                <a16:creationId xmlns:a16="http://schemas.microsoft.com/office/drawing/2014/main" id="{53E25F5A-A5A5-4BAF-B11E-56CC0F6E7235}"/>
              </a:ext>
            </a:extLst>
          </p:cNvPr>
          <p:cNvGraphicFramePr>
            <a:graphicFrameLocks noGrp="1"/>
          </p:cNvGraphicFramePr>
          <p:nvPr>
            <p:extLst>
              <p:ext uri="{D42A27DB-BD31-4B8C-83A1-F6EECF244321}">
                <p14:modId xmlns:p14="http://schemas.microsoft.com/office/powerpoint/2010/main" val="4044321602"/>
              </p:ext>
            </p:extLst>
          </p:nvPr>
        </p:nvGraphicFramePr>
        <p:xfrm>
          <a:off x="723957" y="1509364"/>
          <a:ext cx="7315088" cy="914400"/>
        </p:xfrm>
        <a:graphic>
          <a:graphicData uri="http://schemas.openxmlformats.org/drawingml/2006/table">
            <a:tbl>
              <a:tblPr firstRow="1" bandRow="1">
                <a:tableStyleId>{5C22544A-7EE6-4342-B048-85BDC9FD1C3A}</a:tableStyleId>
              </a:tblPr>
              <a:tblGrid>
                <a:gridCol w="1828772">
                  <a:extLst>
                    <a:ext uri="{9D8B030D-6E8A-4147-A177-3AD203B41FA5}">
                      <a16:colId xmlns:a16="http://schemas.microsoft.com/office/drawing/2014/main" val="1396222540"/>
                    </a:ext>
                  </a:extLst>
                </a:gridCol>
                <a:gridCol w="1828772">
                  <a:extLst>
                    <a:ext uri="{9D8B030D-6E8A-4147-A177-3AD203B41FA5}">
                      <a16:colId xmlns:a16="http://schemas.microsoft.com/office/drawing/2014/main" val="2023279697"/>
                    </a:ext>
                  </a:extLst>
                </a:gridCol>
                <a:gridCol w="1828772">
                  <a:extLst>
                    <a:ext uri="{9D8B030D-6E8A-4147-A177-3AD203B41FA5}">
                      <a16:colId xmlns:a16="http://schemas.microsoft.com/office/drawing/2014/main" val="1656600714"/>
                    </a:ext>
                  </a:extLst>
                </a:gridCol>
                <a:gridCol w="1828772">
                  <a:extLst>
                    <a:ext uri="{9D8B030D-6E8A-4147-A177-3AD203B41FA5}">
                      <a16:colId xmlns:a16="http://schemas.microsoft.com/office/drawing/2014/main" val="293886267"/>
                    </a:ext>
                  </a:extLst>
                </a:gridCol>
              </a:tblGrid>
              <a:tr h="259321">
                <a:tc>
                  <a:txBody>
                    <a:bodyPr/>
                    <a:lstStyle/>
                    <a:p>
                      <a:r>
                        <a:rPr lang="en-US" sz="1400" dirty="0">
                          <a:solidFill>
                            <a:schemeClr val="bg1"/>
                          </a:solidFill>
                        </a:rPr>
                        <a:t>Technique</a:t>
                      </a:r>
                      <a:endParaRPr lang="en-IN" sz="1400" dirty="0">
                        <a:solidFill>
                          <a:schemeClr val="bg1"/>
                        </a:solidFill>
                      </a:endParaRPr>
                    </a:p>
                  </a:txBody>
                  <a:tcPr>
                    <a:solidFill>
                      <a:schemeClr val="accent1"/>
                    </a:solidFill>
                  </a:tcPr>
                </a:tc>
                <a:tc>
                  <a:txBody>
                    <a:bodyPr/>
                    <a:lstStyle/>
                    <a:p>
                      <a:r>
                        <a:rPr lang="en-IN" sz="1400" dirty="0"/>
                        <a:t>Mutual information</a:t>
                      </a:r>
                    </a:p>
                  </a:txBody>
                  <a:tcPr/>
                </a:tc>
                <a:tc>
                  <a:txBody>
                    <a:bodyPr/>
                    <a:lstStyle/>
                    <a:p>
                      <a:r>
                        <a:rPr lang="en-IN" sz="1400" dirty="0"/>
                        <a:t>ANOVA test</a:t>
                      </a:r>
                    </a:p>
                  </a:txBody>
                  <a:tcPr/>
                </a:tc>
                <a:tc>
                  <a:txBody>
                    <a:bodyPr/>
                    <a:lstStyle/>
                    <a:p>
                      <a:r>
                        <a:rPr lang="en-IN" sz="1400" dirty="0">
                          <a:solidFill>
                            <a:schemeClr val="tx1"/>
                          </a:solidFill>
                        </a:rPr>
                        <a:t>Chi - Square</a:t>
                      </a:r>
                    </a:p>
                  </a:txBody>
                  <a:tcPr>
                    <a:solidFill>
                      <a:schemeClr val="accent6"/>
                    </a:solidFill>
                  </a:tcPr>
                </a:tc>
                <a:extLst>
                  <a:ext uri="{0D108BD9-81ED-4DB2-BD59-A6C34878D82A}">
                    <a16:rowId xmlns:a16="http://schemas.microsoft.com/office/drawing/2014/main" val="1220602002"/>
                  </a:ext>
                </a:extLst>
              </a:tr>
              <a:tr h="259321">
                <a:tc>
                  <a:txBody>
                    <a:bodyPr/>
                    <a:lstStyle/>
                    <a:p>
                      <a:r>
                        <a:rPr lang="en-US" sz="1400" b="1" dirty="0">
                          <a:solidFill>
                            <a:schemeClr val="bg1"/>
                          </a:solidFill>
                        </a:rPr>
                        <a:t>Accuracy</a:t>
                      </a:r>
                      <a:endParaRPr lang="en-IN" sz="1400" b="1" dirty="0">
                        <a:solidFill>
                          <a:schemeClr val="bg1"/>
                        </a:solidFill>
                      </a:endParaRPr>
                    </a:p>
                  </a:txBody>
                  <a:tcPr>
                    <a:solidFill>
                      <a:schemeClr val="accent1"/>
                    </a:solidFill>
                  </a:tcPr>
                </a:tc>
                <a:tc>
                  <a:txBody>
                    <a:bodyPr/>
                    <a:lstStyle/>
                    <a:p>
                      <a:r>
                        <a:rPr lang="en-IN" sz="1400" dirty="0"/>
                        <a:t>91.8027</a:t>
                      </a:r>
                    </a:p>
                  </a:txBody>
                  <a:tcPr>
                    <a:noFill/>
                  </a:tcPr>
                </a:tc>
                <a:tc>
                  <a:txBody>
                    <a:bodyPr/>
                    <a:lstStyle/>
                    <a:p>
                      <a:r>
                        <a:rPr lang="en-IN" sz="1400" dirty="0"/>
                        <a:t>91.8027</a:t>
                      </a:r>
                    </a:p>
                  </a:txBody>
                  <a:tcPr>
                    <a:noFill/>
                  </a:tcPr>
                </a:tc>
                <a:tc>
                  <a:txBody>
                    <a:bodyPr/>
                    <a:lstStyle/>
                    <a:p>
                      <a:r>
                        <a:rPr lang="en-IN" sz="1400" b="1" dirty="0">
                          <a:solidFill>
                            <a:schemeClr val="tx1"/>
                          </a:solidFill>
                        </a:rPr>
                        <a:t>93.4426</a:t>
                      </a:r>
                    </a:p>
                  </a:txBody>
                  <a:tcPr>
                    <a:solidFill>
                      <a:schemeClr val="accent6"/>
                    </a:solidFill>
                  </a:tcPr>
                </a:tc>
                <a:extLst>
                  <a:ext uri="{0D108BD9-81ED-4DB2-BD59-A6C34878D82A}">
                    <a16:rowId xmlns:a16="http://schemas.microsoft.com/office/drawing/2014/main" val="2854151783"/>
                  </a:ext>
                </a:extLst>
              </a:tr>
              <a:tr h="259321">
                <a:tc>
                  <a:txBody>
                    <a:bodyPr/>
                    <a:lstStyle/>
                    <a:p>
                      <a:r>
                        <a:rPr lang="en-US" sz="1400" b="1" dirty="0" err="1">
                          <a:solidFill>
                            <a:schemeClr val="bg1"/>
                          </a:solidFill>
                        </a:rPr>
                        <a:t>No.of</a:t>
                      </a:r>
                      <a:r>
                        <a:rPr lang="en-US" sz="1400" b="1" dirty="0">
                          <a:solidFill>
                            <a:schemeClr val="bg1"/>
                          </a:solidFill>
                        </a:rPr>
                        <a:t> features</a:t>
                      </a:r>
                      <a:endParaRPr lang="en-IN" sz="1400" b="1" dirty="0">
                        <a:solidFill>
                          <a:schemeClr val="bg1"/>
                        </a:solidFill>
                      </a:endParaRPr>
                    </a:p>
                  </a:txBody>
                  <a:tcPr>
                    <a:solidFill>
                      <a:schemeClr val="accent1"/>
                    </a:solidFill>
                  </a:tcPr>
                </a:tc>
                <a:tc>
                  <a:txBody>
                    <a:bodyPr/>
                    <a:lstStyle/>
                    <a:p>
                      <a:r>
                        <a:rPr lang="en-IN" sz="1400" dirty="0"/>
                        <a:t>11</a:t>
                      </a:r>
                    </a:p>
                  </a:txBody>
                  <a:tcPr>
                    <a:noFill/>
                  </a:tcPr>
                </a:tc>
                <a:tc>
                  <a:txBody>
                    <a:bodyPr/>
                    <a:lstStyle/>
                    <a:p>
                      <a:r>
                        <a:rPr lang="en-IN" sz="1400" dirty="0"/>
                        <a:t>13</a:t>
                      </a:r>
                    </a:p>
                  </a:txBody>
                  <a:tcPr>
                    <a:noFill/>
                  </a:tcPr>
                </a:tc>
                <a:tc>
                  <a:txBody>
                    <a:bodyPr/>
                    <a:lstStyle/>
                    <a:p>
                      <a:r>
                        <a:rPr lang="en-IN" sz="1400" b="1" dirty="0">
                          <a:solidFill>
                            <a:schemeClr val="tx1"/>
                          </a:solidFill>
                        </a:rPr>
                        <a:t>10</a:t>
                      </a:r>
                    </a:p>
                  </a:txBody>
                  <a:tcPr>
                    <a:solidFill>
                      <a:schemeClr val="accent6"/>
                    </a:solidFill>
                  </a:tcPr>
                </a:tc>
                <a:extLst>
                  <a:ext uri="{0D108BD9-81ED-4DB2-BD59-A6C34878D82A}">
                    <a16:rowId xmlns:a16="http://schemas.microsoft.com/office/drawing/2014/main" val="3788322261"/>
                  </a:ext>
                </a:extLst>
              </a:tr>
            </a:tbl>
          </a:graphicData>
        </a:graphic>
      </p:graphicFrame>
      <p:graphicFrame>
        <p:nvGraphicFramePr>
          <p:cNvPr id="17" name="Table 14">
            <a:extLst>
              <a:ext uri="{FF2B5EF4-FFF2-40B4-BE49-F238E27FC236}">
                <a16:creationId xmlns:a16="http://schemas.microsoft.com/office/drawing/2014/main" id="{DB9A384C-2AAC-4E95-B2A5-259EF967002E}"/>
              </a:ext>
            </a:extLst>
          </p:cNvPr>
          <p:cNvGraphicFramePr>
            <a:graphicFrameLocks noGrp="1"/>
          </p:cNvGraphicFramePr>
          <p:nvPr>
            <p:extLst>
              <p:ext uri="{D42A27DB-BD31-4B8C-83A1-F6EECF244321}">
                <p14:modId xmlns:p14="http://schemas.microsoft.com/office/powerpoint/2010/main" val="4280805294"/>
              </p:ext>
            </p:extLst>
          </p:nvPr>
        </p:nvGraphicFramePr>
        <p:xfrm>
          <a:off x="723957" y="3234699"/>
          <a:ext cx="7315088" cy="914400"/>
        </p:xfrm>
        <a:graphic>
          <a:graphicData uri="http://schemas.openxmlformats.org/drawingml/2006/table">
            <a:tbl>
              <a:tblPr firstRow="1" bandRow="1">
                <a:tableStyleId>{5C22544A-7EE6-4342-B048-85BDC9FD1C3A}</a:tableStyleId>
              </a:tblPr>
              <a:tblGrid>
                <a:gridCol w="1828772">
                  <a:extLst>
                    <a:ext uri="{9D8B030D-6E8A-4147-A177-3AD203B41FA5}">
                      <a16:colId xmlns:a16="http://schemas.microsoft.com/office/drawing/2014/main" val="3878211810"/>
                    </a:ext>
                  </a:extLst>
                </a:gridCol>
                <a:gridCol w="1828772">
                  <a:extLst>
                    <a:ext uri="{9D8B030D-6E8A-4147-A177-3AD203B41FA5}">
                      <a16:colId xmlns:a16="http://schemas.microsoft.com/office/drawing/2014/main" val="2023279697"/>
                    </a:ext>
                  </a:extLst>
                </a:gridCol>
                <a:gridCol w="1828772">
                  <a:extLst>
                    <a:ext uri="{9D8B030D-6E8A-4147-A177-3AD203B41FA5}">
                      <a16:colId xmlns:a16="http://schemas.microsoft.com/office/drawing/2014/main" val="1656600714"/>
                    </a:ext>
                  </a:extLst>
                </a:gridCol>
                <a:gridCol w="1828772">
                  <a:extLst>
                    <a:ext uri="{9D8B030D-6E8A-4147-A177-3AD203B41FA5}">
                      <a16:colId xmlns:a16="http://schemas.microsoft.com/office/drawing/2014/main" val="293886267"/>
                    </a:ext>
                  </a:extLst>
                </a:gridCol>
              </a:tblGrid>
              <a:tr h="259321">
                <a:tc>
                  <a:txBody>
                    <a:bodyPr/>
                    <a:lstStyle/>
                    <a:p>
                      <a:r>
                        <a:rPr lang="en-US" sz="1400" dirty="0">
                          <a:solidFill>
                            <a:schemeClr val="bg1"/>
                          </a:solidFill>
                        </a:rPr>
                        <a:t>Technique</a:t>
                      </a:r>
                      <a:endParaRPr lang="en-IN" sz="1400" dirty="0">
                        <a:solidFill>
                          <a:schemeClr val="bg1"/>
                        </a:solidFill>
                      </a:endParaRPr>
                    </a:p>
                  </a:txBody>
                  <a:tcPr>
                    <a:solidFill>
                      <a:schemeClr val="accent1"/>
                    </a:solidFill>
                  </a:tcPr>
                </a:tc>
                <a:tc>
                  <a:txBody>
                    <a:bodyPr/>
                    <a:lstStyle/>
                    <a:p>
                      <a:r>
                        <a:rPr lang="en-IN" sz="1400" dirty="0">
                          <a:solidFill>
                            <a:schemeClr val="tx1"/>
                          </a:solidFill>
                        </a:rPr>
                        <a:t>Seq. </a:t>
                      </a:r>
                      <a:r>
                        <a:rPr lang="en-IN" sz="1400" dirty="0" err="1">
                          <a:solidFill>
                            <a:schemeClr val="tx1"/>
                          </a:solidFill>
                        </a:rPr>
                        <a:t>Frwd</a:t>
                      </a:r>
                      <a:r>
                        <a:rPr lang="en-IN" sz="1400" dirty="0">
                          <a:solidFill>
                            <a:schemeClr val="tx1"/>
                          </a:solidFill>
                        </a:rPr>
                        <a:t> Selection</a:t>
                      </a:r>
                    </a:p>
                  </a:txBody>
                  <a:tcPr>
                    <a:solidFill>
                      <a:schemeClr val="accent6"/>
                    </a:solidFill>
                  </a:tcPr>
                </a:tc>
                <a:tc>
                  <a:txBody>
                    <a:bodyPr/>
                    <a:lstStyle/>
                    <a:p>
                      <a:r>
                        <a:rPr lang="en-IN" sz="1400" dirty="0" err="1"/>
                        <a:t>Seq.Bkwd</a:t>
                      </a:r>
                      <a:r>
                        <a:rPr lang="en-IN" sz="1400" dirty="0"/>
                        <a:t> Elimination</a:t>
                      </a:r>
                    </a:p>
                  </a:txBody>
                  <a:tcPr/>
                </a:tc>
                <a:tc>
                  <a:txBody>
                    <a:bodyPr/>
                    <a:lstStyle/>
                    <a:p>
                      <a:r>
                        <a:rPr lang="en-IN" sz="1400" dirty="0"/>
                        <a:t>Boruta FS</a:t>
                      </a:r>
                    </a:p>
                  </a:txBody>
                  <a:tcPr/>
                </a:tc>
                <a:extLst>
                  <a:ext uri="{0D108BD9-81ED-4DB2-BD59-A6C34878D82A}">
                    <a16:rowId xmlns:a16="http://schemas.microsoft.com/office/drawing/2014/main" val="1220602002"/>
                  </a:ext>
                </a:extLst>
              </a:tr>
              <a:tr h="259321">
                <a:tc>
                  <a:txBody>
                    <a:bodyPr/>
                    <a:lstStyle/>
                    <a:p>
                      <a:r>
                        <a:rPr lang="en-US" sz="1400" b="1" dirty="0">
                          <a:solidFill>
                            <a:schemeClr val="bg1"/>
                          </a:solidFill>
                        </a:rPr>
                        <a:t>Accuracy</a:t>
                      </a:r>
                      <a:endParaRPr lang="en-IN" sz="1400" b="1" dirty="0">
                        <a:solidFill>
                          <a:schemeClr val="bg1"/>
                        </a:solidFill>
                      </a:endParaRPr>
                    </a:p>
                  </a:txBody>
                  <a:tcPr>
                    <a:solidFill>
                      <a:schemeClr val="accent1"/>
                    </a:solidFill>
                  </a:tcPr>
                </a:tc>
                <a:tc>
                  <a:txBody>
                    <a:bodyPr/>
                    <a:lstStyle/>
                    <a:p>
                      <a:r>
                        <a:rPr lang="en-IN" sz="1400" b="1" dirty="0">
                          <a:solidFill>
                            <a:schemeClr val="tx1"/>
                          </a:solidFill>
                        </a:rPr>
                        <a:t>90.1639</a:t>
                      </a:r>
                    </a:p>
                  </a:txBody>
                  <a:tcPr>
                    <a:solidFill>
                      <a:schemeClr val="accent6"/>
                    </a:solidFill>
                  </a:tcPr>
                </a:tc>
                <a:tc>
                  <a:txBody>
                    <a:bodyPr/>
                    <a:lstStyle/>
                    <a:p>
                      <a:r>
                        <a:rPr lang="en-IN" sz="1400" dirty="0"/>
                        <a:t>88.5246</a:t>
                      </a:r>
                    </a:p>
                  </a:txBody>
                  <a:tcPr>
                    <a:noFill/>
                  </a:tcPr>
                </a:tc>
                <a:tc>
                  <a:txBody>
                    <a:bodyPr/>
                    <a:lstStyle/>
                    <a:p>
                      <a:r>
                        <a:rPr lang="en-IN" sz="1400" b="0" dirty="0"/>
                        <a:t>88.5246</a:t>
                      </a:r>
                    </a:p>
                  </a:txBody>
                  <a:tcPr>
                    <a:noFill/>
                  </a:tcPr>
                </a:tc>
                <a:extLst>
                  <a:ext uri="{0D108BD9-81ED-4DB2-BD59-A6C34878D82A}">
                    <a16:rowId xmlns:a16="http://schemas.microsoft.com/office/drawing/2014/main" val="2854151783"/>
                  </a:ext>
                </a:extLst>
              </a:tr>
              <a:tr h="251625">
                <a:tc>
                  <a:txBody>
                    <a:bodyPr/>
                    <a:lstStyle/>
                    <a:p>
                      <a:r>
                        <a:rPr lang="en-US" sz="1400" b="1" dirty="0" err="1">
                          <a:solidFill>
                            <a:schemeClr val="bg1"/>
                          </a:solidFill>
                        </a:rPr>
                        <a:t>No.of</a:t>
                      </a:r>
                      <a:r>
                        <a:rPr lang="en-US" sz="1400" b="1" dirty="0">
                          <a:solidFill>
                            <a:schemeClr val="bg1"/>
                          </a:solidFill>
                        </a:rPr>
                        <a:t> features</a:t>
                      </a:r>
                      <a:endParaRPr lang="en-IN" sz="1400" b="1" dirty="0">
                        <a:solidFill>
                          <a:schemeClr val="bg1"/>
                        </a:solidFill>
                      </a:endParaRPr>
                    </a:p>
                  </a:txBody>
                  <a:tcPr>
                    <a:solidFill>
                      <a:schemeClr val="accent1"/>
                    </a:solidFill>
                  </a:tcPr>
                </a:tc>
                <a:tc>
                  <a:txBody>
                    <a:bodyPr/>
                    <a:lstStyle/>
                    <a:p>
                      <a:r>
                        <a:rPr lang="en-IN" sz="1400" b="1" dirty="0">
                          <a:solidFill>
                            <a:schemeClr val="tx1"/>
                          </a:solidFill>
                        </a:rPr>
                        <a:t>10</a:t>
                      </a:r>
                    </a:p>
                  </a:txBody>
                  <a:tcPr>
                    <a:solidFill>
                      <a:schemeClr val="accent6"/>
                    </a:solidFill>
                  </a:tcPr>
                </a:tc>
                <a:tc>
                  <a:txBody>
                    <a:bodyPr/>
                    <a:lstStyle/>
                    <a:p>
                      <a:r>
                        <a:rPr lang="en-IN" sz="1400" dirty="0"/>
                        <a:t>9</a:t>
                      </a:r>
                    </a:p>
                  </a:txBody>
                  <a:tcPr>
                    <a:noFill/>
                  </a:tcPr>
                </a:tc>
                <a:tc>
                  <a:txBody>
                    <a:bodyPr/>
                    <a:lstStyle/>
                    <a:p>
                      <a:r>
                        <a:rPr lang="en-IN" sz="1400" dirty="0"/>
                        <a:t>8</a:t>
                      </a:r>
                    </a:p>
                  </a:txBody>
                  <a:tcPr>
                    <a:noFill/>
                  </a:tcPr>
                </a:tc>
                <a:extLst>
                  <a:ext uri="{0D108BD9-81ED-4DB2-BD59-A6C34878D82A}">
                    <a16:rowId xmlns:a16="http://schemas.microsoft.com/office/drawing/2014/main" val="3788322261"/>
                  </a:ext>
                </a:extLst>
              </a:tr>
            </a:tbl>
          </a:graphicData>
        </a:graphic>
      </p:graphicFrame>
      <p:graphicFrame>
        <p:nvGraphicFramePr>
          <p:cNvPr id="18" name="Table 14">
            <a:extLst>
              <a:ext uri="{FF2B5EF4-FFF2-40B4-BE49-F238E27FC236}">
                <a16:creationId xmlns:a16="http://schemas.microsoft.com/office/drawing/2014/main" id="{9AF8B4C6-3D70-4120-99AD-D325D581737C}"/>
              </a:ext>
            </a:extLst>
          </p:cNvPr>
          <p:cNvGraphicFramePr>
            <a:graphicFrameLocks noGrp="1"/>
          </p:cNvGraphicFramePr>
          <p:nvPr>
            <p:extLst>
              <p:ext uri="{D42A27DB-BD31-4B8C-83A1-F6EECF244321}">
                <p14:modId xmlns:p14="http://schemas.microsoft.com/office/powerpoint/2010/main" val="2024227781"/>
              </p:ext>
            </p:extLst>
          </p:nvPr>
        </p:nvGraphicFramePr>
        <p:xfrm>
          <a:off x="723957" y="4960034"/>
          <a:ext cx="7315088" cy="914400"/>
        </p:xfrm>
        <a:graphic>
          <a:graphicData uri="http://schemas.openxmlformats.org/drawingml/2006/table">
            <a:tbl>
              <a:tblPr firstRow="1" bandRow="1">
                <a:tableStyleId>{5C22544A-7EE6-4342-B048-85BDC9FD1C3A}</a:tableStyleId>
              </a:tblPr>
              <a:tblGrid>
                <a:gridCol w="1828772">
                  <a:extLst>
                    <a:ext uri="{9D8B030D-6E8A-4147-A177-3AD203B41FA5}">
                      <a16:colId xmlns:a16="http://schemas.microsoft.com/office/drawing/2014/main" val="2759562630"/>
                    </a:ext>
                  </a:extLst>
                </a:gridCol>
                <a:gridCol w="1828772">
                  <a:extLst>
                    <a:ext uri="{9D8B030D-6E8A-4147-A177-3AD203B41FA5}">
                      <a16:colId xmlns:a16="http://schemas.microsoft.com/office/drawing/2014/main" val="2023279697"/>
                    </a:ext>
                  </a:extLst>
                </a:gridCol>
                <a:gridCol w="1828772">
                  <a:extLst>
                    <a:ext uri="{9D8B030D-6E8A-4147-A177-3AD203B41FA5}">
                      <a16:colId xmlns:a16="http://schemas.microsoft.com/office/drawing/2014/main" val="1656600714"/>
                    </a:ext>
                  </a:extLst>
                </a:gridCol>
                <a:gridCol w="1828772">
                  <a:extLst>
                    <a:ext uri="{9D8B030D-6E8A-4147-A177-3AD203B41FA5}">
                      <a16:colId xmlns:a16="http://schemas.microsoft.com/office/drawing/2014/main" val="293886267"/>
                    </a:ext>
                  </a:extLst>
                </a:gridCol>
              </a:tblGrid>
              <a:tr h="259321">
                <a:tc>
                  <a:txBody>
                    <a:bodyPr/>
                    <a:lstStyle/>
                    <a:p>
                      <a:r>
                        <a:rPr lang="en-US" sz="1400" b="1" dirty="0">
                          <a:solidFill>
                            <a:schemeClr val="bg1"/>
                          </a:solidFill>
                        </a:rPr>
                        <a:t>Technique</a:t>
                      </a:r>
                      <a:endParaRPr lang="en-IN" sz="1400" b="1" dirty="0">
                        <a:solidFill>
                          <a:schemeClr val="bg1"/>
                        </a:solidFill>
                      </a:endParaRPr>
                    </a:p>
                  </a:txBody>
                  <a:tcPr>
                    <a:solidFill>
                      <a:schemeClr val="accent1"/>
                    </a:solidFill>
                  </a:tcPr>
                </a:tc>
                <a:tc>
                  <a:txBody>
                    <a:bodyPr/>
                    <a:lstStyle/>
                    <a:p>
                      <a:r>
                        <a:rPr lang="en-IN" sz="1400" dirty="0"/>
                        <a:t>Lasso </a:t>
                      </a:r>
                    </a:p>
                  </a:txBody>
                  <a:tcPr/>
                </a:tc>
                <a:tc>
                  <a:txBody>
                    <a:bodyPr/>
                    <a:lstStyle/>
                    <a:p>
                      <a:r>
                        <a:rPr lang="en-US" sz="1400" dirty="0"/>
                        <a:t>D</a:t>
                      </a:r>
                      <a:r>
                        <a:rPr lang="en-IN" sz="1400" dirty="0" err="1"/>
                        <a:t>ecision</a:t>
                      </a:r>
                      <a:r>
                        <a:rPr lang="en-IN" sz="1400" dirty="0"/>
                        <a:t> tree</a:t>
                      </a:r>
                    </a:p>
                  </a:txBody>
                  <a:tcPr/>
                </a:tc>
                <a:tc>
                  <a:txBody>
                    <a:bodyPr/>
                    <a:lstStyle/>
                    <a:p>
                      <a:r>
                        <a:rPr lang="en-IN" sz="1400" dirty="0">
                          <a:solidFill>
                            <a:schemeClr val="tx1"/>
                          </a:solidFill>
                        </a:rPr>
                        <a:t>Genetic algorithm</a:t>
                      </a:r>
                    </a:p>
                  </a:txBody>
                  <a:tcPr>
                    <a:solidFill>
                      <a:schemeClr val="accent6"/>
                    </a:solidFill>
                  </a:tcPr>
                </a:tc>
                <a:extLst>
                  <a:ext uri="{0D108BD9-81ED-4DB2-BD59-A6C34878D82A}">
                    <a16:rowId xmlns:a16="http://schemas.microsoft.com/office/drawing/2014/main" val="1220602002"/>
                  </a:ext>
                </a:extLst>
              </a:tr>
              <a:tr h="259321">
                <a:tc>
                  <a:txBody>
                    <a:bodyPr/>
                    <a:lstStyle/>
                    <a:p>
                      <a:r>
                        <a:rPr lang="en-US" sz="1400" b="1" dirty="0">
                          <a:solidFill>
                            <a:schemeClr val="bg1"/>
                          </a:solidFill>
                        </a:rPr>
                        <a:t>Accuracy</a:t>
                      </a:r>
                      <a:endParaRPr lang="en-IN" sz="1400" b="1" dirty="0">
                        <a:solidFill>
                          <a:schemeClr val="bg1"/>
                        </a:solidFill>
                      </a:endParaRPr>
                    </a:p>
                  </a:txBody>
                  <a:tcPr>
                    <a:solidFill>
                      <a:schemeClr val="accent1"/>
                    </a:solidFill>
                  </a:tcPr>
                </a:tc>
                <a:tc>
                  <a:txBody>
                    <a:bodyPr/>
                    <a:lstStyle/>
                    <a:p>
                      <a:r>
                        <a:rPr lang="en-IN" sz="1400" dirty="0"/>
                        <a:t>85.2459</a:t>
                      </a:r>
                    </a:p>
                  </a:txBody>
                  <a:tcPr>
                    <a:noFill/>
                  </a:tcPr>
                </a:tc>
                <a:tc>
                  <a:txBody>
                    <a:bodyPr/>
                    <a:lstStyle/>
                    <a:p>
                      <a:r>
                        <a:rPr lang="en-IN" sz="1400" dirty="0"/>
                        <a:t>83.6065</a:t>
                      </a:r>
                    </a:p>
                  </a:txBody>
                  <a:tcPr>
                    <a:noFill/>
                  </a:tcPr>
                </a:tc>
                <a:tc>
                  <a:txBody>
                    <a:bodyPr/>
                    <a:lstStyle/>
                    <a:p>
                      <a:r>
                        <a:rPr lang="en-IN" sz="1400" b="1" dirty="0">
                          <a:solidFill>
                            <a:schemeClr val="tx1"/>
                          </a:solidFill>
                        </a:rPr>
                        <a:t>88.5246</a:t>
                      </a:r>
                    </a:p>
                  </a:txBody>
                  <a:tcPr>
                    <a:solidFill>
                      <a:schemeClr val="accent6"/>
                    </a:solidFill>
                  </a:tcPr>
                </a:tc>
                <a:extLst>
                  <a:ext uri="{0D108BD9-81ED-4DB2-BD59-A6C34878D82A}">
                    <a16:rowId xmlns:a16="http://schemas.microsoft.com/office/drawing/2014/main" val="2854151783"/>
                  </a:ext>
                </a:extLst>
              </a:tr>
              <a:tr h="259321">
                <a:tc>
                  <a:txBody>
                    <a:bodyPr/>
                    <a:lstStyle/>
                    <a:p>
                      <a:r>
                        <a:rPr lang="en-US" sz="1400" b="1" dirty="0" err="1">
                          <a:solidFill>
                            <a:schemeClr val="bg1"/>
                          </a:solidFill>
                        </a:rPr>
                        <a:t>No.of</a:t>
                      </a:r>
                      <a:r>
                        <a:rPr lang="en-US" sz="1400" b="1" dirty="0">
                          <a:solidFill>
                            <a:schemeClr val="bg1"/>
                          </a:solidFill>
                        </a:rPr>
                        <a:t> features</a:t>
                      </a:r>
                      <a:endParaRPr lang="en-IN" sz="1400" b="1" dirty="0">
                        <a:solidFill>
                          <a:schemeClr val="bg1"/>
                        </a:solidFill>
                      </a:endParaRPr>
                    </a:p>
                  </a:txBody>
                  <a:tcPr>
                    <a:solidFill>
                      <a:schemeClr val="accent1"/>
                    </a:solidFill>
                  </a:tcPr>
                </a:tc>
                <a:tc>
                  <a:txBody>
                    <a:bodyPr/>
                    <a:lstStyle/>
                    <a:p>
                      <a:r>
                        <a:rPr lang="en-IN" sz="1400" dirty="0"/>
                        <a:t>7</a:t>
                      </a:r>
                    </a:p>
                  </a:txBody>
                  <a:tcPr>
                    <a:noFill/>
                  </a:tcPr>
                </a:tc>
                <a:tc>
                  <a:txBody>
                    <a:bodyPr/>
                    <a:lstStyle/>
                    <a:p>
                      <a:r>
                        <a:rPr lang="en-IN" sz="1400" dirty="0"/>
                        <a:t>7</a:t>
                      </a:r>
                    </a:p>
                  </a:txBody>
                  <a:tcPr>
                    <a:noFill/>
                  </a:tcPr>
                </a:tc>
                <a:tc>
                  <a:txBody>
                    <a:bodyPr/>
                    <a:lstStyle/>
                    <a:p>
                      <a:r>
                        <a:rPr lang="en-IN" sz="1400" b="1" dirty="0">
                          <a:solidFill>
                            <a:schemeClr val="tx1"/>
                          </a:solidFill>
                        </a:rPr>
                        <a:t>9</a:t>
                      </a:r>
                    </a:p>
                  </a:txBody>
                  <a:tcPr>
                    <a:solidFill>
                      <a:schemeClr val="accent6"/>
                    </a:solidFill>
                  </a:tcPr>
                </a:tc>
                <a:extLst>
                  <a:ext uri="{0D108BD9-81ED-4DB2-BD59-A6C34878D82A}">
                    <a16:rowId xmlns:a16="http://schemas.microsoft.com/office/drawing/2014/main" val="3788322261"/>
                  </a:ext>
                </a:extLst>
              </a:tr>
            </a:tbl>
          </a:graphicData>
        </a:graphic>
      </p:graphicFrame>
      <p:sp>
        <p:nvSpPr>
          <p:cNvPr id="19" name="TextBox 18">
            <a:extLst>
              <a:ext uri="{FF2B5EF4-FFF2-40B4-BE49-F238E27FC236}">
                <a16:creationId xmlns:a16="http://schemas.microsoft.com/office/drawing/2014/main" id="{7C102110-962E-4C9A-A0AF-827D4FA6AE1D}"/>
              </a:ext>
            </a:extLst>
          </p:cNvPr>
          <p:cNvSpPr txBox="1"/>
          <p:nvPr/>
        </p:nvSpPr>
        <p:spPr>
          <a:xfrm>
            <a:off x="75414" y="4645979"/>
            <a:ext cx="4586908" cy="338554"/>
          </a:xfrm>
          <a:prstGeom prst="rect">
            <a:avLst/>
          </a:prstGeom>
          <a:noFill/>
        </p:spPr>
        <p:txBody>
          <a:bodyPr wrap="square">
            <a:spAutoFit/>
          </a:bodyPr>
          <a:lstStyle/>
          <a:p>
            <a:pPr algn="just"/>
            <a:r>
              <a:rPr lang="en-IN" sz="1600" b="1" dirty="0">
                <a:solidFill>
                  <a:srgbClr val="000000"/>
                </a:solidFill>
                <a:latin typeface="inter-regular"/>
              </a:rPr>
              <a:t>Embedded</a:t>
            </a:r>
            <a:r>
              <a:rPr lang="en-IN" sz="1600" b="1" i="0" dirty="0">
                <a:solidFill>
                  <a:srgbClr val="000000"/>
                </a:solidFill>
                <a:effectLst/>
                <a:latin typeface="inter-regular"/>
              </a:rPr>
              <a:t> method:</a:t>
            </a:r>
          </a:p>
        </p:txBody>
      </p:sp>
      <p:sp>
        <p:nvSpPr>
          <p:cNvPr id="20" name="TextBox 19">
            <a:extLst>
              <a:ext uri="{FF2B5EF4-FFF2-40B4-BE49-F238E27FC236}">
                <a16:creationId xmlns:a16="http://schemas.microsoft.com/office/drawing/2014/main" id="{AA867335-5991-4CB9-80D0-0B7D0769388F}"/>
              </a:ext>
            </a:extLst>
          </p:cNvPr>
          <p:cNvSpPr txBox="1"/>
          <p:nvPr/>
        </p:nvSpPr>
        <p:spPr>
          <a:xfrm>
            <a:off x="75414" y="2892640"/>
            <a:ext cx="4586908" cy="338554"/>
          </a:xfrm>
          <a:prstGeom prst="rect">
            <a:avLst/>
          </a:prstGeom>
          <a:noFill/>
        </p:spPr>
        <p:txBody>
          <a:bodyPr wrap="square">
            <a:spAutoFit/>
          </a:bodyPr>
          <a:lstStyle/>
          <a:p>
            <a:pPr algn="just"/>
            <a:r>
              <a:rPr lang="en-IN" sz="1600" b="1" dirty="0">
                <a:solidFill>
                  <a:srgbClr val="000000"/>
                </a:solidFill>
                <a:latin typeface="inter-regular"/>
              </a:rPr>
              <a:t>Wrapper</a:t>
            </a:r>
            <a:r>
              <a:rPr lang="en-IN" sz="1600" b="1" i="0" dirty="0">
                <a:solidFill>
                  <a:srgbClr val="000000"/>
                </a:solidFill>
                <a:effectLst/>
                <a:latin typeface="inter-regular"/>
              </a:rPr>
              <a:t> method:</a:t>
            </a:r>
          </a:p>
        </p:txBody>
      </p:sp>
      <p:sp>
        <p:nvSpPr>
          <p:cNvPr id="21" name="TextBox 20">
            <a:extLst>
              <a:ext uri="{FF2B5EF4-FFF2-40B4-BE49-F238E27FC236}">
                <a16:creationId xmlns:a16="http://schemas.microsoft.com/office/drawing/2014/main" id="{E827404D-89A0-4580-9123-C2EFCFB70D6E}"/>
              </a:ext>
            </a:extLst>
          </p:cNvPr>
          <p:cNvSpPr txBox="1"/>
          <p:nvPr/>
        </p:nvSpPr>
        <p:spPr>
          <a:xfrm>
            <a:off x="723957" y="4165830"/>
            <a:ext cx="7852396" cy="338554"/>
          </a:xfrm>
          <a:prstGeom prst="rect">
            <a:avLst/>
          </a:prstGeom>
          <a:noFill/>
        </p:spPr>
        <p:txBody>
          <a:bodyPr wrap="square">
            <a:spAutoFit/>
          </a:bodyPr>
          <a:lstStyle/>
          <a:p>
            <a:pPr algn="just"/>
            <a:r>
              <a:rPr lang="en-IN" sz="1600" i="0" dirty="0">
                <a:solidFill>
                  <a:srgbClr val="000000"/>
                </a:solidFill>
                <a:effectLst/>
                <a:latin typeface="inter-regular"/>
              </a:rPr>
              <a:t>Features:   </a:t>
            </a:r>
            <a:r>
              <a:rPr lang="en-IN" sz="1600" b="1" i="0" dirty="0">
                <a:solidFill>
                  <a:srgbClr val="000000"/>
                </a:solidFill>
                <a:effectLst/>
                <a:latin typeface="inter-regular"/>
              </a:rPr>
              <a:t>'age’,  'sex',  'cp',   '</a:t>
            </a:r>
            <a:r>
              <a:rPr lang="en-IN" sz="1600" b="1" i="0" dirty="0" err="1">
                <a:solidFill>
                  <a:srgbClr val="000000"/>
                </a:solidFill>
                <a:effectLst/>
                <a:latin typeface="inter-regular"/>
              </a:rPr>
              <a:t>trestbps</a:t>
            </a:r>
            <a:r>
              <a:rPr lang="en-IN" sz="1600" b="1" i="0" dirty="0">
                <a:solidFill>
                  <a:srgbClr val="000000"/>
                </a:solidFill>
                <a:effectLst/>
                <a:latin typeface="inter-regular"/>
              </a:rPr>
              <a:t>',   '</a:t>
            </a:r>
            <a:r>
              <a:rPr lang="en-IN" sz="1600" b="1" i="0" dirty="0" err="1">
                <a:solidFill>
                  <a:srgbClr val="000000"/>
                </a:solidFill>
                <a:effectLst/>
                <a:latin typeface="inter-regular"/>
              </a:rPr>
              <a:t>fbs</a:t>
            </a:r>
            <a:r>
              <a:rPr lang="en-IN" sz="1600" b="1" i="0" dirty="0">
                <a:solidFill>
                  <a:srgbClr val="000000"/>
                </a:solidFill>
                <a:effectLst/>
                <a:latin typeface="inter-regular"/>
              </a:rPr>
              <a:t>',   '</a:t>
            </a:r>
            <a:r>
              <a:rPr lang="en-IN" sz="1600" b="1" i="0" dirty="0" err="1">
                <a:solidFill>
                  <a:srgbClr val="000000"/>
                </a:solidFill>
                <a:effectLst/>
                <a:latin typeface="inter-regular"/>
              </a:rPr>
              <a:t>restecg</a:t>
            </a:r>
            <a:r>
              <a:rPr lang="en-IN" sz="1600" b="1" i="0" dirty="0">
                <a:solidFill>
                  <a:srgbClr val="000000"/>
                </a:solidFill>
                <a:effectLst/>
                <a:latin typeface="inter-regular"/>
              </a:rPr>
              <a:t>',   '</a:t>
            </a:r>
            <a:r>
              <a:rPr lang="en-IN" sz="1600" b="1" i="0" dirty="0" err="1">
                <a:solidFill>
                  <a:srgbClr val="000000"/>
                </a:solidFill>
                <a:effectLst/>
                <a:latin typeface="inter-regular"/>
              </a:rPr>
              <a:t>exang</a:t>
            </a:r>
            <a:r>
              <a:rPr lang="en-IN" sz="1600" b="1" i="0" dirty="0">
                <a:solidFill>
                  <a:srgbClr val="000000"/>
                </a:solidFill>
                <a:effectLst/>
                <a:latin typeface="inter-regular"/>
              </a:rPr>
              <a:t>',   'slope',   'ca',   '</a:t>
            </a:r>
            <a:r>
              <a:rPr lang="en-IN" sz="1600" b="1" i="0" dirty="0" err="1">
                <a:solidFill>
                  <a:srgbClr val="000000"/>
                </a:solidFill>
                <a:effectLst/>
                <a:latin typeface="inter-regular"/>
              </a:rPr>
              <a:t>thal</a:t>
            </a:r>
            <a:r>
              <a:rPr lang="en-IN" sz="1600" b="1" i="0" dirty="0">
                <a:solidFill>
                  <a:srgbClr val="000000"/>
                </a:solidFill>
                <a:effectLst/>
                <a:latin typeface="inter-regular"/>
              </a:rPr>
              <a:t>'</a:t>
            </a:r>
          </a:p>
        </p:txBody>
      </p:sp>
      <p:sp>
        <p:nvSpPr>
          <p:cNvPr id="22" name="TextBox 21">
            <a:extLst>
              <a:ext uri="{FF2B5EF4-FFF2-40B4-BE49-F238E27FC236}">
                <a16:creationId xmlns:a16="http://schemas.microsoft.com/office/drawing/2014/main" id="{488267F7-A381-46A4-933B-45FC508AB1EA}"/>
              </a:ext>
            </a:extLst>
          </p:cNvPr>
          <p:cNvSpPr txBox="1"/>
          <p:nvPr/>
        </p:nvSpPr>
        <p:spPr>
          <a:xfrm>
            <a:off x="723956" y="2434711"/>
            <a:ext cx="7942965" cy="338554"/>
          </a:xfrm>
          <a:prstGeom prst="rect">
            <a:avLst/>
          </a:prstGeom>
          <a:noFill/>
        </p:spPr>
        <p:txBody>
          <a:bodyPr wrap="square">
            <a:spAutoFit/>
          </a:bodyPr>
          <a:lstStyle/>
          <a:p>
            <a:pPr algn="just"/>
            <a:r>
              <a:rPr lang="en-IN" sz="1600" dirty="0">
                <a:solidFill>
                  <a:srgbClr val="000000"/>
                </a:solidFill>
                <a:latin typeface="inter-regular"/>
              </a:rPr>
              <a:t>Features</a:t>
            </a:r>
            <a:r>
              <a:rPr lang="en-IN" sz="1600" i="0" dirty="0">
                <a:solidFill>
                  <a:srgbClr val="000000"/>
                </a:solidFill>
                <a:effectLst/>
                <a:latin typeface="inter-regular"/>
              </a:rPr>
              <a:t>:</a:t>
            </a:r>
            <a:r>
              <a:rPr lang="en-IN" sz="1600" b="1" i="0" dirty="0">
                <a:solidFill>
                  <a:srgbClr val="000000"/>
                </a:solidFill>
                <a:effectLst/>
                <a:latin typeface="inter-regular"/>
              </a:rPr>
              <a:t>  '</a:t>
            </a:r>
            <a:r>
              <a:rPr lang="en-IN" sz="1600" b="1" i="0" dirty="0" err="1">
                <a:solidFill>
                  <a:srgbClr val="000000"/>
                </a:solidFill>
                <a:effectLst/>
                <a:latin typeface="inter-regular"/>
              </a:rPr>
              <a:t>thalach</a:t>
            </a:r>
            <a:r>
              <a:rPr lang="en-IN" sz="1600" b="1" i="0" dirty="0">
                <a:solidFill>
                  <a:srgbClr val="000000"/>
                </a:solidFill>
                <a:effectLst/>
                <a:latin typeface="inter-regular"/>
              </a:rPr>
              <a:t>’,  '</a:t>
            </a:r>
            <a:r>
              <a:rPr lang="en-IN" sz="1600" b="1" i="0" dirty="0" err="1">
                <a:solidFill>
                  <a:srgbClr val="000000"/>
                </a:solidFill>
                <a:effectLst/>
                <a:latin typeface="inter-regular"/>
              </a:rPr>
              <a:t>oldpeak</a:t>
            </a:r>
            <a:r>
              <a:rPr lang="en-IN" sz="1600" b="1" i="0" dirty="0">
                <a:solidFill>
                  <a:srgbClr val="000000"/>
                </a:solidFill>
                <a:effectLst/>
                <a:latin typeface="inter-regular"/>
              </a:rPr>
              <a:t>’,  'ca’,  'cp’,  '</a:t>
            </a:r>
            <a:r>
              <a:rPr lang="en-IN" sz="1600" b="1" i="0" dirty="0" err="1">
                <a:solidFill>
                  <a:srgbClr val="000000"/>
                </a:solidFill>
                <a:effectLst/>
                <a:latin typeface="inter-regular"/>
              </a:rPr>
              <a:t>exang</a:t>
            </a:r>
            <a:r>
              <a:rPr lang="en-IN" sz="1600" b="1" i="0" dirty="0">
                <a:solidFill>
                  <a:srgbClr val="000000"/>
                </a:solidFill>
                <a:effectLst/>
                <a:latin typeface="inter-regular"/>
              </a:rPr>
              <a:t>’,  '</a:t>
            </a:r>
            <a:r>
              <a:rPr lang="en-IN" sz="1600" b="1" i="0" dirty="0" err="1">
                <a:solidFill>
                  <a:srgbClr val="000000"/>
                </a:solidFill>
                <a:effectLst/>
                <a:latin typeface="inter-regular"/>
              </a:rPr>
              <a:t>chol</a:t>
            </a:r>
            <a:r>
              <a:rPr lang="en-IN" sz="1600" b="1" i="0" dirty="0">
                <a:solidFill>
                  <a:srgbClr val="000000"/>
                </a:solidFill>
                <a:effectLst/>
                <a:latin typeface="inter-regular"/>
              </a:rPr>
              <a:t>’,  'age', '</a:t>
            </a:r>
            <a:r>
              <a:rPr lang="en-IN" sz="1600" b="1" i="0" dirty="0" err="1">
                <a:solidFill>
                  <a:srgbClr val="000000"/>
                </a:solidFill>
                <a:effectLst/>
                <a:latin typeface="inter-regular"/>
              </a:rPr>
              <a:t>trestbps</a:t>
            </a:r>
            <a:r>
              <a:rPr lang="en-IN" sz="1600" b="1" i="0" dirty="0">
                <a:solidFill>
                  <a:srgbClr val="000000"/>
                </a:solidFill>
                <a:effectLst/>
                <a:latin typeface="inter-regular"/>
              </a:rPr>
              <a:t>’,  'slope’,  'sex'</a:t>
            </a:r>
          </a:p>
        </p:txBody>
      </p:sp>
      <p:sp>
        <p:nvSpPr>
          <p:cNvPr id="23" name="TextBox 22">
            <a:extLst>
              <a:ext uri="{FF2B5EF4-FFF2-40B4-BE49-F238E27FC236}">
                <a16:creationId xmlns:a16="http://schemas.microsoft.com/office/drawing/2014/main" id="{BB3B6BF6-73F7-4457-A3F8-E4565E8BBC92}"/>
              </a:ext>
            </a:extLst>
          </p:cNvPr>
          <p:cNvSpPr txBox="1"/>
          <p:nvPr/>
        </p:nvSpPr>
        <p:spPr>
          <a:xfrm>
            <a:off x="723956" y="5890887"/>
            <a:ext cx="7734243" cy="338554"/>
          </a:xfrm>
          <a:prstGeom prst="rect">
            <a:avLst/>
          </a:prstGeom>
          <a:noFill/>
        </p:spPr>
        <p:txBody>
          <a:bodyPr wrap="square">
            <a:spAutoFit/>
          </a:bodyPr>
          <a:lstStyle/>
          <a:p>
            <a:pPr algn="just"/>
            <a:r>
              <a:rPr lang="en-IN" sz="1600" i="0" dirty="0">
                <a:solidFill>
                  <a:srgbClr val="000000"/>
                </a:solidFill>
                <a:effectLst/>
                <a:latin typeface="inter-regular"/>
              </a:rPr>
              <a:t>Features:</a:t>
            </a:r>
            <a:r>
              <a:rPr lang="en-IN" sz="1600" b="1" i="0" dirty="0">
                <a:solidFill>
                  <a:srgbClr val="000000"/>
                </a:solidFill>
                <a:effectLst/>
                <a:latin typeface="inter-regular"/>
              </a:rPr>
              <a:t>  'age’,  'sex’,  'cp’,  '</a:t>
            </a:r>
            <a:r>
              <a:rPr lang="en-IN" sz="1600" b="1" i="0" dirty="0" err="1">
                <a:solidFill>
                  <a:srgbClr val="000000"/>
                </a:solidFill>
                <a:effectLst/>
                <a:latin typeface="inter-regular"/>
              </a:rPr>
              <a:t>trestbps</a:t>
            </a:r>
            <a:r>
              <a:rPr lang="en-IN" sz="1600" b="1" i="0" dirty="0">
                <a:solidFill>
                  <a:srgbClr val="000000"/>
                </a:solidFill>
                <a:effectLst/>
                <a:latin typeface="inter-regular"/>
              </a:rPr>
              <a:t>’,  '</a:t>
            </a:r>
            <a:r>
              <a:rPr lang="en-IN" sz="1600" b="1" i="0" dirty="0" err="1">
                <a:solidFill>
                  <a:srgbClr val="000000"/>
                </a:solidFill>
                <a:effectLst/>
                <a:latin typeface="inter-regular"/>
              </a:rPr>
              <a:t>restecg</a:t>
            </a:r>
            <a:r>
              <a:rPr lang="en-IN" sz="1600" b="1" i="0" dirty="0">
                <a:solidFill>
                  <a:srgbClr val="000000"/>
                </a:solidFill>
                <a:effectLst/>
                <a:latin typeface="inter-regular"/>
              </a:rPr>
              <a:t>’,  '</a:t>
            </a:r>
            <a:r>
              <a:rPr lang="en-IN" sz="1600" b="1" i="0" dirty="0" err="1">
                <a:solidFill>
                  <a:srgbClr val="000000"/>
                </a:solidFill>
                <a:effectLst/>
                <a:latin typeface="inter-regular"/>
              </a:rPr>
              <a:t>exang</a:t>
            </a:r>
            <a:r>
              <a:rPr lang="en-IN" sz="1600" b="1" i="0" dirty="0">
                <a:solidFill>
                  <a:srgbClr val="000000"/>
                </a:solidFill>
                <a:effectLst/>
                <a:latin typeface="inter-regular"/>
              </a:rPr>
              <a:t>’,  'slope’,  'ca’,  '</a:t>
            </a:r>
            <a:r>
              <a:rPr lang="en-IN" sz="1600" b="1" i="0" dirty="0" err="1">
                <a:solidFill>
                  <a:srgbClr val="000000"/>
                </a:solidFill>
                <a:effectLst/>
                <a:latin typeface="inter-regular"/>
              </a:rPr>
              <a:t>thal</a:t>
            </a:r>
            <a:r>
              <a:rPr lang="en-IN" sz="1600" b="1" i="0" dirty="0">
                <a:solidFill>
                  <a:srgbClr val="000000"/>
                </a:solidFill>
                <a:effectLst/>
                <a:latin typeface="inter-regular"/>
              </a:rPr>
              <a:t>'</a:t>
            </a:r>
          </a:p>
        </p:txBody>
      </p:sp>
    </p:spTree>
    <p:extLst>
      <p:ext uri="{BB962C8B-B14F-4D97-AF65-F5344CB8AC3E}">
        <p14:creationId xmlns:p14="http://schemas.microsoft.com/office/powerpoint/2010/main" val="18905925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8D4669DB-FB9D-493D-B0D9-33EFC82790DE}"/>
              </a:ext>
            </a:extLst>
          </p:cNvPr>
          <p:cNvPicPr>
            <a:picLocks noChangeAspect="1"/>
          </p:cNvPicPr>
          <p:nvPr/>
        </p:nvPicPr>
        <p:blipFill>
          <a:blip r:embed="rId3">
            <a:lum/>
            <a:alphaModFix/>
          </a:blip>
          <a:srcRect/>
          <a:stretch>
            <a:fillRect/>
          </a:stretch>
        </p:blipFill>
        <p:spPr>
          <a:xfrm>
            <a:off x="0" y="6553084"/>
            <a:ext cx="9144000" cy="308161"/>
          </a:xfrm>
          <a:prstGeom prst="rect">
            <a:avLst/>
          </a:prstGeom>
          <a:noFill/>
          <a:ln cap="flat">
            <a:noFill/>
          </a:ln>
        </p:spPr>
      </p:pic>
      <p:sp>
        <p:nvSpPr>
          <p:cNvPr id="3" name="Text Box 4">
            <a:extLst>
              <a:ext uri="{FF2B5EF4-FFF2-40B4-BE49-F238E27FC236}">
                <a16:creationId xmlns:a16="http://schemas.microsoft.com/office/drawing/2014/main" id="{6F8CE000-001B-477B-AEB1-7B2DF82125E0}"/>
              </a:ext>
            </a:extLst>
          </p:cNvPr>
          <p:cNvSpPr/>
          <p:nvPr/>
        </p:nvSpPr>
        <p:spPr>
          <a:xfrm>
            <a:off x="2299322" y="6550203"/>
            <a:ext cx="4545363" cy="307082"/>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a:effectLst>
            <a:outerShdw dist="17819" dir="2700000" algn="tl">
              <a:srgbClr val="000000"/>
            </a:outerShdw>
          </a:effectLst>
        </p:spPr>
        <p:txBody>
          <a:bodyPr vert="horz" wrap="non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1400" b="1" i="0" u="none" strike="noStrike" kern="1200" cap="none" spc="0" baseline="0">
                <a:solidFill>
                  <a:srgbClr val="47FFD1"/>
                </a:solidFill>
                <a:uFillTx/>
                <a:latin typeface="Comic Sans MS" pitchFamily="66"/>
                <a:ea typeface="Microsoft YaHei" pitchFamily="2"/>
                <a:cs typeface="Lucida Sans" pitchFamily="2"/>
              </a:rPr>
              <a:t>Department of Computer Science and Engineering</a:t>
            </a:r>
          </a:p>
        </p:txBody>
      </p:sp>
      <p:pic>
        <p:nvPicPr>
          <p:cNvPr id="4" name="Picture 2">
            <a:extLst>
              <a:ext uri="{FF2B5EF4-FFF2-40B4-BE49-F238E27FC236}">
                <a16:creationId xmlns:a16="http://schemas.microsoft.com/office/drawing/2014/main" id="{EFEADD32-D603-4B11-8D98-E7FD48C6130F}"/>
              </a:ext>
            </a:extLst>
          </p:cNvPr>
          <p:cNvPicPr>
            <a:picLocks noChangeAspect="1"/>
          </p:cNvPicPr>
          <p:nvPr/>
        </p:nvPicPr>
        <p:blipFill>
          <a:blip r:embed="rId3">
            <a:lum/>
            <a:alphaModFix/>
          </a:blip>
          <a:srcRect/>
          <a:stretch>
            <a:fillRect/>
          </a:stretch>
        </p:blipFill>
        <p:spPr>
          <a:xfrm>
            <a:off x="0" y="0"/>
            <a:ext cx="9144000" cy="609484"/>
          </a:xfrm>
          <a:prstGeom prst="rect">
            <a:avLst/>
          </a:prstGeom>
          <a:noFill/>
          <a:ln cap="flat">
            <a:noFill/>
          </a:ln>
        </p:spPr>
      </p:pic>
      <p:sp>
        <p:nvSpPr>
          <p:cNvPr id="5" name="Rectangle: Rounded Corners 3">
            <a:extLst>
              <a:ext uri="{FF2B5EF4-FFF2-40B4-BE49-F238E27FC236}">
                <a16:creationId xmlns:a16="http://schemas.microsoft.com/office/drawing/2014/main" id="{6BBED2D9-BCDF-4E94-8182-A159447629CE}"/>
              </a:ext>
            </a:extLst>
          </p:cNvPr>
          <p:cNvSpPr/>
          <p:nvPr/>
        </p:nvSpPr>
        <p:spPr>
          <a:xfrm>
            <a:off x="8550362" y="6553084"/>
            <a:ext cx="593637" cy="306360"/>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0066"/>
          </a:solidFill>
          <a:ln w="12600" cap="flat">
            <a:solidFill>
              <a:srgbClr val="000000"/>
            </a:solidFill>
            <a:prstDash val="solid"/>
            <a:miter/>
          </a:ln>
        </p:spPr>
        <p:txBody>
          <a:bodyPr vert="horz" wrap="square" lIns="90004" tIns="46798" rIns="90004" bIns="46798" anchor="ctr" anchorCtr="1" compatLnSpc="1">
            <a:normAutofit fontScale="92500" lnSpcReduction="20000"/>
          </a:bodyPr>
          <a:lstStyle/>
          <a:p>
            <a:pPr marL="0" marR="0" lvl="0" indent="0" algn="ctr" defTabSz="914400" rtl="0" fontAlgn="auto" hangingPunct="1">
              <a:lnSpc>
                <a:spcPct val="8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AB8CC7BD-5D93-4C0A-AAD8-B765ACB170F4}" type="slidenum">
              <a:t>32</a:t>
            </a:fld>
            <a:endParaRPr lang="en-US" sz="1400" b="1" i="0" u="none" strike="noStrike" kern="1200" cap="none" spc="0" baseline="0">
              <a:solidFill>
                <a:srgbClr val="FFFFFF"/>
              </a:solidFill>
              <a:uFillTx/>
              <a:latin typeface="Comic Sans MS" pitchFamily="66"/>
              <a:ea typeface="Microsoft YaHei" pitchFamily="2"/>
              <a:cs typeface="Lucida Sans" pitchFamily="2"/>
            </a:endParaRPr>
          </a:p>
        </p:txBody>
      </p:sp>
      <p:sp>
        <p:nvSpPr>
          <p:cNvPr id="6" name="Date Placeholder 7">
            <a:extLst>
              <a:ext uri="{FF2B5EF4-FFF2-40B4-BE49-F238E27FC236}">
                <a16:creationId xmlns:a16="http://schemas.microsoft.com/office/drawing/2014/main" id="{D0C2D5F8-2A4E-45AD-9E19-29D2B63406A3}"/>
              </a:ext>
            </a:extLst>
          </p:cNvPr>
          <p:cNvSpPr/>
          <p:nvPr/>
        </p:nvSpPr>
        <p:spPr>
          <a:xfrm>
            <a:off x="0" y="6564239"/>
            <a:ext cx="1447915" cy="41291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norm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5E5B1732-3D3F-4E1A-AD91-1223FC4CF4BB}" type="datetime1">
              <a:rPr lang="en-US" sz="1400" b="1" i="0" u="none" strike="noStrike" kern="1200" cap="none" spc="0" baseline="0">
                <a:solidFill>
                  <a:srgbClr val="FF0066"/>
                </a:solidFill>
                <a:uFillTx/>
                <a:latin typeface="Arial Rounded MT Bold" pitchFamily="34"/>
                <a:ea typeface="Microsoft YaHei" pitchFamily="2"/>
                <a:cs typeface="Lucida Sans" pitchFamily="2"/>
              </a:rPr>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t>4/18/2023</a:t>
            </a:fld>
            <a:endParaRPr lang="en-US" sz="1400" b="1" i="0" u="none" strike="noStrike" kern="1200" cap="none" spc="0" baseline="0">
              <a:solidFill>
                <a:srgbClr val="FF0066"/>
              </a:solidFill>
              <a:uFillTx/>
              <a:latin typeface="Arial Rounded MT Bold" pitchFamily="34"/>
              <a:ea typeface="Microsoft YaHei" pitchFamily="2"/>
              <a:cs typeface="Lucida Sans" pitchFamily="2"/>
            </a:endParaRPr>
          </a:p>
        </p:txBody>
      </p:sp>
      <p:sp>
        <p:nvSpPr>
          <p:cNvPr id="7" name="TextBox 8">
            <a:extLst>
              <a:ext uri="{FF2B5EF4-FFF2-40B4-BE49-F238E27FC236}">
                <a16:creationId xmlns:a16="http://schemas.microsoft.com/office/drawing/2014/main" id="{9BE241AC-2867-401B-8952-98D39C4F5A63}"/>
              </a:ext>
            </a:extLst>
          </p:cNvPr>
          <p:cNvSpPr/>
          <p:nvPr/>
        </p:nvSpPr>
        <p:spPr>
          <a:xfrm>
            <a:off x="919081" y="0"/>
            <a:ext cx="7305836" cy="47483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500" b="1" i="0" u="none" strike="noStrike" kern="1200" cap="none" spc="0" baseline="0">
                <a:solidFill>
                  <a:srgbClr val="47FFD1"/>
                </a:solidFill>
                <a:uFillTx/>
                <a:latin typeface="Comic Sans MS" pitchFamily="66"/>
                <a:ea typeface="Microsoft YaHei" pitchFamily="2"/>
                <a:cs typeface="Lucida Sans" pitchFamily="2"/>
              </a:rPr>
              <a:t>Mepco Schlenk Engineering College </a:t>
            </a:r>
            <a:r>
              <a:rPr lang="en-US" sz="1800" b="1" i="0" u="none" strike="noStrike" kern="1200" cap="none" spc="0" baseline="0">
                <a:solidFill>
                  <a:srgbClr val="47FFD1"/>
                </a:solidFill>
                <a:uFillTx/>
                <a:latin typeface="Comic Sans MS" pitchFamily="66"/>
                <a:ea typeface="Microsoft YaHei" pitchFamily="2"/>
                <a:cs typeface="Lucida Sans" pitchFamily="2"/>
              </a:rPr>
              <a:t>(Autonomous)</a:t>
            </a:r>
          </a:p>
        </p:txBody>
      </p:sp>
      <p:sp>
        <p:nvSpPr>
          <p:cNvPr id="8" name="Oval 11">
            <a:extLst>
              <a:ext uri="{FF2B5EF4-FFF2-40B4-BE49-F238E27FC236}">
                <a16:creationId xmlns:a16="http://schemas.microsoft.com/office/drawing/2014/main" id="{E67FA03A-95C6-4908-B4C7-A0B37595DAFE}"/>
              </a:ext>
            </a:extLst>
          </p:cNvPr>
          <p:cNvSpPr/>
          <p:nvPr/>
        </p:nvSpPr>
        <p:spPr>
          <a:xfrm>
            <a:off x="8354881" y="20519"/>
            <a:ext cx="777962" cy="777962"/>
          </a:xfrm>
          <a:custGeom>
            <a:avLst/>
            <a:gdLst>
              <a:gd name="f0" fmla="val 10800000"/>
              <a:gd name="f1" fmla="val 5400000"/>
              <a:gd name="f2" fmla="val 180"/>
              <a:gd name="f3" fmla="val w"/>
              <a:gd name="f4" fmla="val h"/>
              <a:gd name="f5" fmla="val 0"/>
              <a:gd name="f6" fmla="val 21600"/>
              <a:gd name="f7" fmla="*/ 5419351 1 1725033"/>
              <a:gd name="f8" fmla="*/ 10800 10800 1"/>
              <a:gd name="f9" fmla="+- 0 0 360"/>
              <a:gd name="f10" fmla="val 10800"/>
              <a:gd name="f11" fmla="+- 0 0 0"/>
              <a:gd name="f12" fmla="*/ f3 1 21600"/>
              <a:gd name="f13" fmla="*/ f4 1 21600"/>
              <a:gd name="f14" fmla="*/ 0 f7 1"/>
              <a:gd name="f15" fmla="*/ f5 f0 1"/>
              <a:gd name="f16" fmla="*/ f9 f0 1"/>
              <a:gd name="f17" fmla="+- f6 0 f5"/>
              <a:gd name="f18" fmla="*/ f11 f0 1"/>
              <a:gd name="f19" fmla="*/ f14 1 f2"/>
              <a:gd name="f20" fmla="*/ f15 1 f2"/>
              <a:gd name="f21" fmla="*/ f16 1 f2"/>
              <a:gd name="f22" fmla="*/ f17 1 21600"/>
              <a:gd name="f23" fmla="*/ f18 1 f2"/>
              <a:gd name="f24" fmla="+- 0 0 f19"/>
              <a:gd name="f25" fmla="+- f20 0 f1"/>
              <a:gd name="f26" fmla="+- f21 0 f1"/>
              <a:gd name="f27" fmla="*/ 3163 f22 1"/>
              <a:gd name="f28" fmla="*/ 18437 f22 1"/>
              <a:gd name="f29" fmla="*/ 10800 f22 1"/>
              <a:gd name="f30" fmla="*/ 0 f22 1"/>
              <a:gd name="f31" fmla="*/ 21600 f22 1"/>
              <a:gd name="f32" fmla="+- f23 0 f1"/>
              <a:gd name="f33" fmla="*/ f24 f0 1"/>
              <a:gd name="f34" fmla="+- f26 0 f25"/>
              <a:gd name="f35" fmla="*/ f29 1 f22"/>
              <a:gd name="f36" fmla="*/ f30 1 f22"/>
              <a:gd name="f37" fmla="*/ f27 1 f22"/>
              <a:gd name="f38" fmla="*/ f28 1 f22"/>
              <a:gd name="f39" fmla="*/ f31 1 f22"/>
              <a:gd name="f40" fmla="*/ f33 1 f7"/>
              <a:gd name="f41" fmla="*/ f37 f12 1"/>
              <a:gd name="f42" fmla="*/ f38 f12 1"/>
              <a:gd name="f43" fmla="*/ f38 f13 1"/>
              <a:gd name="f44" fmla="*/ f37 f13 1"/>
              <a:gd name="f45" fmla="*/ f35 f12 1"/>
              <a:gd name="f46" fmla="*/ f36 f13 1"/>
              <a:gd name="f47" fmla="*/ f36 f12 1"/>
              <a:gd name="f48" fmla="*/ f35 f13 1"/>
              <a:gd name="f49" fmla="*/ f39 f13 1"/>
              <a:gd name="f50" fmla="*/ f39 f12 1"/>
              <a:gd name="f51" fmla="+- f40 0 f1"/>
              <a:gd name="f52" fmla="+- f51 f1 0"/>
              <a:gd name="f53" fmla="*/ f52 f7 1"/>
              <a:gd name="f54" fmla="*/ f53 1 f0"/>
              <a:gd name="f55" fmla="+- 0 0 f54"/>
              <a:gd name="f56" fmla="+- 0 0 f55"/>
              <a:gd name="f57" fmla="*/ f56 f0 1"/>
              <a:gd name="f58" fmla="*/ f57 1 f7"/>
              <a:gd name="f59" fmla="+- f58 0 f1"/>
              <a:gd name="f60" fmla="cos 1 f59"/>
              <a:gd name="f61" fmla="sin 1 f59"/>
              <a:gd name="f62" fmla="+- 0 0 f60"/>
              <a:gd name="f63" fmla="+- 0 0 f61"/>
              <a:gd name="f64" fmla="+- 0 0 f62"/>
              <a:gd name="f65" fmla="+- 0 0 f63"/>
              <a:gd name="f66" fmla="val f64"/>
              <a:gd name="f67" fmla="val f65"/>
              <a:gd name="f68" fmla="+- 0 0 f66"/>
              <a:gd name="f69" fmla="+- 0 0 f67"/>
              <a:gd name="f70" fmla="*/ 10800 f68 1"/>
              <a:gd name="f71" fmla="*/ 10800 f69 1"/>
              <a:gd name="f72" fmla="*/ f70 f70 1"/>
              <a:gd name="f73" fmla="*/ f71 f71 1"/>
              <a:gd name="f74" fmla="+- f72 f73 0"/>
              <a:gd name="f75" fmla="sqrt f74"/>
              <a:gd name="f76" fmla="*/ f8 1 f75"/>
              <a:gd name="f77" fmla="*/ f68 f76 1"/>
              <a:gd name="f78" fmla="*/ f69 f76 1"/>
              <a:gd name="f79" fmla="+- 10800 0 f77"/>
              <a:gd name="f80" fmla="+- 10800 0 f78"/>
            </a:gdLst>
            <a:ahLst/>
            <a:cxnLst>
              <a:cxn ang="3cd4">
                <a:pos x="hc" y="t"/>
              </a:cxn>
              <a:cxn ang="0">
                <a:pos x="r" y="vc"/>
              </a:cxn>
              <a:cxn ang="cd4">
                <a:pos x="hc" y="b"/>
              </a:cxn>
              <a:cxn ang="cd2">
                <a:pos x="l" y="vc"/>
              </a:cxn>
              <a:cxn ang="f32">
                <a:pos x="f45" y="f46"/>
              </a:cxn>
              <a:cxn ang="f32">
                <a:pos x="f41" y="f44"/>
              </a:cxn>
              <a:cxn ang="f32">
                <a:pos x="f47" y="f48"/>
              </a:cxn>
              <a:cxn ang="f32">
                <a:pos x="f41" y="f43"/>
              </a:cxn>
              <a:cxn ang="f32">
                <a:pos x="f45" y="f49"/>
              </a:cxn>
              <a:cxn ang="f32">
                <a:pos x="f42" y="f43"/>
              </a:cxn>
              <a:cxn ang="f32">
                <a:pos x="f50" y="f48"/>
              </a:cxn>
              <a:cxn ang="f32">
                <a:pos x="f42" y="f44"/>
              </a:cxn>
            </a:cxnLst>
            <a:rect l="f41" t="f44" r="f42" b="f43"/>
            <a:pathLst>
              <a:path w="21600" h="21600">
                <a:moveTo>
                  <a:pt x="f79" y="f80"/>
                </a:moveTo>
                <a:arcTo wR="f10" hR="f10" stAng="f25" swAng="f34"/>
                <a:close/>
              </a:path>
            </a:pathLst>
          </a:custGeom>
          <a:solidFill>
            <a:srgbClr val="FFFFFF"/>
          </a:solidFill>
          <a:ln w="12600" cap="flat">
            <a:solidFill>
              <a:srgbClr val="BCBCBC"/>
            </a:solidFill>
            <a:prstDash val="solid"/>
            <a:miter/>
          </a:ln>
        </p:spPr>
        <p:txBody>
          <a:bodyPr vert="horz" wrap="square" lIns="90004" tIns="46798" rIns="90004" bIns="46798" anchor="ctr" anchorCtr="0" compatLnSpc="1">
            <a:no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IN" sz="2400" b="0" i="0" u="none" strike="noStrike" kern="1200" cap="none" spc="0" baseline="0">
              <a:solidFill>
                <a:srgbClr val="000000"/>
              </a:solidFill>
              <a:uFillTx/>
              <a:latin typeface="Times New Roman" pitchFamily="18"/>
              <a:ea typeface="Microsoft YaHei" pitchFamily="2"/>
              <a:cs typeface="Lucida Sans" pitchFamily="2"/>
            </a:endParaRPr>
          </a:p>
        </p:txBody>
      </p:sp>
      <p:pic>
        <p:nvPicPr>
          <p:cNvPr id="9" name="Picture 10" descr="A picture containing text, sign, watch&#10;&#10;Description automatically generated">
            <a:extLst>
              <a:ext uri="{FF2B5EF4-FFF2-40B4-BE49-F238E27FC236}">
                <a16:creationId xmlns:a16="http://schemas.microsoft.com/office/drawing/2014/main" id="{D3EAC155-9D7D-4454-AF3C-C9B1622F5B98}"/>
              </a:ext>
            </a:extLst>
          </p:cNvPr>
          <p:cNvPicPr>
            <a:picLocks noChangeAspect="1"/>
          </p:cNvPicPr>
          <p:nvPr/>
        </p:nvPicPr>
        <p:blipFill>
          <a:blip r:embed="rId4">
            <a:lum/>
            <a:alphaModFix/>
          </a:blip>
          <a:srcRect/>
          <a:stretch>
            <a:fillRect/>
          </a:stretch>
        </p:blipFill>
        <p:spPr>
          <a:xfrm>
            <a:off x="8381875" y="47521"/>
            <a:ext cx="731876" cy="714603"/>
          </a:xfrm>
          <a:prstGeom prst="rect">
            <a:avLst/>
          </a:prstGeom>
          <a:noFill/>
          <a:ln cap="flat">
            <a:noFill/>
          </a:ln>
        </p:spPr>
      </p:pic>
      <p:sp>
        <p:nvSpPr>
          <p:cNvPr id="11" name="TextBox 10">
            <a:extLst>
              <a:ext uri="{FF2B5EF4-FFF2-40B4-BE49-F238E27FC236}">
                <a16:creationId xmlns:a16="http://schemas.microsoft.com/office/drawing/2014/main" id="{E1F82A4A-2BD7-425D-9305-CF45EF880A29}"/>
              </a:ext>
            </a:extLst>
          </p:cNvPr>
          <p:cNvSpPr txBox="1"/>
          <p:nvPr/>
        </p:nvSpPr>
        <p:spPr>
          <a:xfrm>
            <a:off x="75414" y="784594"/>
            <a:ext cx="3478491" cy="584775"/>
          </a:xfrm>
          <a:prstGeom prst="rect">
            <a:avLst/>
          </a:prstGeom>
          <a:noFill/>
        </p:spPr>
        <p:txBody>
          <a:bodyPr wrap="square" rtlCol="0">
            <a:spAutoFit/>
          </a:bodyPr>
          <a:lstStyle/>
          <a:p>
            <a:r>
              <a:rPr lang="en-IN" sz="1600" b="1" u="sng" dirty="0"/>
              <a:t>Random Forest Classifier:</a:t>
            </a:r>
          </a:p>
          <a:p>
            <a:endParaRPr lang="en-IN" sz="1600" b="1" u="sng" dirty="0"/>
          </a:p>
        </p:txBody>
      </p:sp>
      <p:sp>
        <p:nvSpPr>
          <p:cNvPr id="14" name="TextBox 13">
            <a:extLst>
              <a:ext uri="{FF2B5EF4-FFF2-40B4-BE49-F238E27FC236}">
                <a16:creationId xmlns:a16="http://schemas.microsoft.com/office/drawing/2014/main" id="{E6591941-61AA-4C73-B194-16C8C75B48C7}"/>
              </a:ext>
            </a:extLst>
          </p:cNvPr>
          <p:cNvSpPr txBox="1"/>
          <p:nvPr/>
        </p:nvSpPr>
        <p:spPr>
          <a:xfrm>
            <a:off x="75413" y="1281032"/>
            <a:ext cx="9426395" cy="338554"/>
          </a:xfrm>
          <a:prstGeom prst="rect">
            <a:avLst/>
          </a:prstGeom>
          <a:noFill/>
        </p:spPr>
        <p:txBody>
          <a:bodyPr wrap="square">
            <a:spAutoFit/>
          </a:bodyPr>
          <a:lstStyle/>
          <a:p>
            <a:pPr algn="just"/>
            <a:r>
              <a:rPr lang="en-IN" sz="1600" dirty="0">
                <a:solidFill>
                  <a:srgbClr val="000000"/>
                </a:solidFill>
                <a:latin typeface="inter-regular"/>
              </a:rPr>
              <a:t>Chi – square features</a:t>
            </a:r>
            <a:r>
              <a:rPr lang="en-IN" sz="1600" b="0" i="0" dirty="0">
                <a:solidFill>
                  <a:srgbClr val="000000"/>
                </a:solidFill>
                <a:effectLst/>
                <a:latin typeface="inter-regular"/>
              </a:rPr>
              <a:t>:   </a:t>
            </a:r>
            <a:r>
              <a:rPr lang="en-IN" sz="1600" b="1" i="0" dirty="0">
                <a:solidFill>
                  <a:srgbClr val="000000"/>
                </a:solidFill>
                <a:effectLst/>
                <a:latin typeface="inter-regular"/>
              </a:rPr>
              <a:t>'</a:t>
            </a:r>
            <a:r>
              <a:rPr lang="en-IN" sz="1600" b="1" i="0" dirty="0" err="1">
                <a:solidFill>
                  <a:srgbClr val="000000"/>
                </a:solidFill>
                <a:effectLst/>
                <a:latin typeface="inter-regular"/>
              </a:rPr>
              <a:t>thalach</a:t>
            </a:r>
            <a:r>
              <a:rPr lang="en-IN" sz="1600" b="1" i="0" dirty="0">
                <a:solidFill>
                  <a:srgbClr val="000000"/>
                </a:solidFill>
                <a:effectLst/>
                <a:latin typeface="inter-regular"/>
              </a:rPr>
              <a:t>', '</a:t>
            </a:r>
            <a:r>
              <a:rPr lang="en-IN" sz="1600" b="1" i="0" dirty="0" err="1">
                <a:solidFill>
                  <a:srgbClr val="000000"/>
                </a:solidFill>
                <a:effectLst/>
                <a:latin typeface="inter-regular"/>
              </a:rPr>
              <a:t>oldpeak</a:t>
            </a:r>
            <a:r>
              <a:rPr lang="en-IN" sz="1600" b="1" i="0" dirty="0">
                <a:solidFill>
                  <a:srgbClr val="000000"/>
                </a:solidFill>
                <a:effectLst/>
                <a:latin typeface="inter-regular"/>
              </a:rPr>
              <a:t>', 'ca', 'cp', '</a:t>
            </a:r>
            <a:r>
              <a:rPr lang="en-IN" sz="1600" b="1" i="0" dirty="0" err="1">
                <a:solidFill>
                  <a:srgbClr val="000000"/>
                </a:solidFill>
                <a:effectLst/>
                <a:latin typeface="inter-regular"/>
              </a:rPr>
              <a:t>exang</a:t>
            </a:r>
            <a:r>
              <a:rPr lang="en-IN" sz="1600" b="1" i="0" dirty="0">
                <a:solidFill>
                  <a:srgbClr val="000000"/>
                </a:solidFill>
                <a:effectLst/>
                <a:latin typeface="inter-regular"/>
              </a:rPr>
              <a:t>', '</a:t>
            </a:r>
            <a:r>
              <a:rPr lang="en-IN" sz="1600" b="1" i="0" dirty="0" err="1">
                <a:solidFill>
                  <a:srgbClr val="000000"/>
                </a:solidFill>
                <a:effectLst/>
                <a:latin typeface="inter-regular"/>
              </a:rPr>
              <a:t>chol</a:t>
            </a:r>
            <a:r>
              <a:rPr lang="en-IN" sz="1600" b="1" i="0" dirty="0">
                <a:solidFill>
                  <a:srgbClr val="000000"/>
                </a:solidFill>
                <a:effectLst/>
                <a:latin typeface="inter-regular"/>
              </a:rPr>
              <a:t>', 'age', '</a:t>
            </a:r>
            <a:r>
              <a:rPr lang="en-IN" sz="1600" b="1" i="0" dirty="0" err="1">
                <a:solidFill>
                  <a:srgbClr val="000000"/>
                </a:solidFill>
                <a:effectLst/>
                <a:latin typeface="inter-regular"/>
              </a:rPr>
              <a:t>trestbps</a:t>
            </a:r>
            <a:r>
              <a:rPr lang="en-IN" sz="1600" b="1" i="0" dirty="0">
                <a:solidFill>
                  <a:srgbClr val="000000"/>
                </a:solidFill>
                <a:effectLst/>
                <a:latin typeface="inter-regular"/>
              </a:rPr>
              <a:t>', 'slope', 'sex'</a:t>
            </a:r>
            <a:endParaRPr lang="en-IN" sz="1600" b="0" i="0" dirty="0">
              <a:solidFill>
                <a:srgbClr val="000000"/>
              </a:solidFill>
              <a:effectLst/>
              <a:latin typeface="inter-regular"/>
            </a:endParaRPr>
          </a:p>
        </p:txBody>
      </p:sp>
      <p:graphicFrame>
        <p:nvGraphicFramePr>
          <p:cNvPr id="10" name="Table 12">
            <a:extLst>
              <a:ext uri="{FF2B5EF4-FFF2-40B4-BE49-F238E27FC236}">
                <a16:creationId xmlns:a16="http://schemas.microsoft.com/office/drawing/2014/main" id="{80FBB806-2109-4F48-83CC-EC53BE33EA7F}"/>
              </a:ext>
            </a:extLst>
          </p:cNvPr>
          <p:cNvGraphicFramePr>
            <a:graphicFrameLocks noGrp="1"/>
          </p:cNvGraphicFramePr>
          <p:nvPr>
            <p:extLst>
              <p:ext uri="{D42A27DB-BD31-4B8C-83A1-F6EECF244321}">
                <p14:modId xmlns:p14="http://schemas.microsoft.com/office/powerpoint/2010/main" val="298614857"/>
              </p:ext>
            </p:extLst>
          </p:nvPr>
        </p:nvGraphicFramePr>
        <p:xfrm>
          <a:off x="919081" y="3890402"/>
          <a:ext cx="7006544" cy="2159000"/>
        </p:xfrm>
        <a:graphic>
          <a:graphicData uri="http://schemas.openxmlformats.org/drawingml/2006/table">
            <a:tbl>
              <a:tblPr firstRow="1" bandRow="1">
                <a:tableStyleId>{5C22544A-7EE6-4342-B048-85BDC9FD1C3A}</a:tableStyleId>
              </a:tblPr>
              <a:tblGrid>
                <a:gridCol w="2662847">
                  <a:extLst>
                    <a:ext uri="{9D8B030D-6E8A-4147-A177-3AD203B41FA5}">
                      <a16:colId xmlns:a16="http://schemas.microsoft.com/office/drawing/2014/main" val="1544629757"/>
                    </a:ext>
                  </a:extLst>
                </a:gridCol>
                <a:gridCol w="1172233">
                  <a:extLst>
                    <a:ext uri="{9D8B030D-6E8A-4147-A177-3AD203B41FA5}">
                      <a16:colId xmlns:a16="http://schemas.microsoft.com/office/drawing/2014/main" val="2942069285"/>
                    </a:ext>
                  </a:extLst>
                </a:gridCol>
                <a:gridCol w="1481560">
                  <a:extLst>
                    <a:ext uri="{9D8B030D-6E8A-4147-A177-3AD203B41FA5}">
                      <a16:colId xmlns:a16="http://schemas.microsoft.com/office/drawing/2014/main" val="1914153064"/>
                    </a:ext>
                  </a:extLst>
                </a:gridCol>
                <a:gridCol w="1689904">
                  <a:extLst>
                    <a:ext uri="{9D8B030D-6E8A-4147-A177-3AD203B41FA5}">
                      <a16:colId xmlns:a16="http://schemas.microsoft.com/office/drawing/2014/main" val="416246459"/>
                    </a:ext>
                  </a:extLst>
                </a:gridCol>
              </a:tblGrid>
              <a:tr h="370840">
                <a:tc>
                  <a:txBody>
                    <a:bodyPr/>
                    <a:lstStyle/>
                    <a:p>
                      <a:endParaRPr lang="en-IN" sz="1400" dirty="0"/>
                    </a:p>
                  </a:txBody>
                  <a:tcPr/>
                </a:tc>
                <a:tc>
                  <a:txBody>
                    <a:bodyPr/>
                    <a:lstStyle/>
                    <a:p>
                      <a:r>
                        <a:rPr lang="en-IN" sz="1400" dirty="0"/>
                        <a:t>Chi-</a:t>
                      </a:r>
                      <a:r>
                        <a:rPr lang="en-IN" sz="1400" dirty="0" err="1"/>
                        <a:t>sq</a:t>
                      </a:r>
                      <a:endParaRPr lang="en-IN" sz="1400" dirty="0"/>
                    </a:p>
                  </a:txBody>
                  <a:tcPr/>
                </a:tc>
                <a:tc>
                  <a:txBody>
                    <a:bodyPr/>
                    <a:lstStyle/>
                    <a:p>
                      <a:r>
                        <a:rPr lang="en-IN" sz="1400" dirty="0"/>
                        <a:t>SFS</a:t>
                      </a:r>
                    </a:p>
                  </a:txBody>
                  <a:tcPr/>
                </a:tc>
                <a:tc>
                  <a:txBody>
                    <a:bodyPr/>
                    <a:lstStyle/>
                    <a:p>
                      <a:r>
                        <a:rPr lang="en-IN" sz="1400" dirty="0"/>
                        <a:t>Genetic algorithm</a:t>
                      </a:r>
                    </a:p>
                  </a:txBody>
                  <a:tcPr/>
                </a:tc>
                <a:extLst>
                  <a:ext uri="{0D108BD9-81ED-4DB2-BD59-A6C34878D82A}">
                    <a16:rowId xmlns:a16="http://schemas.microsoft.com/office/drawing/2014/main" val="807902088"/>
                  </a:ext>
                </a:extLst>
              </a:tr>
              <a:tr h="370840">
                <a:tc>
                  <a:txBody>
                    <a:bodyPr/>
                    <a:lstStyle/>
                    <a:p>
                      <a:r>
                        <a:rPr lang="en-IN" sz="1400" dirty="0"/>
                        <a:t>Grid search</a:t>
                      </a:r>
                    </a:p>
                  </a:txBody>
                  <a:tcPr>
                    <a:noFill/>
                  </a:tcPr>
                </a:tc>
                <a:tc>
                  <a:txBody>
                    <a:bodyPr/>
                    <a:lstStyle/>
                    <a:p>
                      <a:r>
                        <a:rPr lang="en-IN" sz="1400" b="1" dirty="0"/>
                        <a:t>95.0819</a:t>
                      </a:r>
                    </a:p>
                  </a:txBody>
                  <a:tcPr>
                    <a:noFill/>
                  </a:tcPr>
                </a:tc>
                <a:tc>
                  <a:txBody>
                    <a:bodyPr/>
                    <a:lstStyle/>
                    <a:p>
                      <a:r>
                        <a:rPr lang="en-IN" sz="1400" b="1" dirty="0"/>
                        <a:t>91.8033</a:t>
                      </a:r>
                    </a:p>
                  </a:txBody>
                  <a:tcPr>
                    <a:noFill/>
                  </a:tcPr>
                </a:tc>
                <a:tc>
                  <a:txBody>
                    <a:bodyPr/>
                    <a:lstStyle/>
                    <a:p>
                      <a:r>
                        <a:rPr lang="en-IN" sz="1400" dirty="0"/>
                        <a:t>90.1639</a:t>
                      </a:r>
                    </a:p>
                  </a:txBody>
                  <a:tcPr>
                    <a:noFill/>
                  </a:tcPr>
                </a:tc>
                <a:extLst>
                  <a:ext uri="{0D108BD9-81ED-4DB2-BD59-A6C34878D82A}">
                    <a16:rowId xmlns:a16="http://schemas.microsoft.com/office/drawing/2014/main" val="2129566122"/>
                  </a:ext>
                </a:extLst>
              </a:tr>
              <a:tr h="370840">
                <a:tc>
                  <a:txBody>
                    <a:bodyPr/>
                    <a:lstStyle/>
                    <a:p>
                      <a:r>
                        <a:rPr lang="en-IN" sz="1400" dirty="0"/>
                        <a:t>Randomized search</a:t>
                      </a:r>
                    </a:p>
                  </a:txBody>
                  <a:tcPr>
                    <a:noFill/>
                  </a:tcPr>
                </a:tc>
                <a:tc>
                  <a:txBody>
                    <a:bodyPr/>
                    <a:lstStyle/>
                    <a:p>
                      <a:r>
                        <a:rPr lang="en-IN" sz="1400" dirty="0"/>
                        <a:t>93.4426</a:t>
                      </a:r>
                    </a:p>
                  </a:txBody>
                  <a:tcPr>
                    <a:noFill/>
                  </a:tcPr>
                </a:tc>
                <a:tc>
                  <a:txBody>
                    <a:bodyPr/>
                    <a:lstStyle/>
                    <a:p>
                      <a:r>
                        <a:rPr lang="en-IN" sz="1400" b="1" dirty="0"/>
                        <a:t>91.8033</a:t>
                      </a:r>
                    </a:p>
                  </a:txBody>
                  <a:tcPr>
                    <a:noFill/>
                  </a:tcPr>
                </a:tc>
                <a:tc>
                  <a:txBody>
                    <a:bodyPr/>
                    <a:lstStyle/>
                    <a:p>
                      <a:r>
                        <a:rPr lang="en-IN" sz="1400" dirty="0"/>
                        <a:t>91.8033</a:t>
                      </a:r>
                    </a:p>
                  </a:txBody>
                  <a:tcPr>
                    <a:noFill/>
                  </a:tcPr>
                </a:tc>
                <a:extLst>
                  <a:ext uri="{0D108BD9-81ED-4DB2-BD59-A6C34878D82A}">
                    <a16:rowId xmlns:a16="http://schemas.microsoft.com/office/drawing/2014/main" val="4059174602"/>
                  </a:ext>
                </a:extLst>
              </a:tr>
              <a:tr h="370840">
                <a:tc>
                  <a:txBody>
                    <a:bodyPr/>
                    <a:lstStyle/>
                    <a:p>
                      <a:r>
                        <a:rPr lang="en-IN" sz="1400" dirty="0"/>
                        <a:t>TPOT</a:t>
                      </a:r>
                    </a:p>
                  </a:txBody>
                  <a:tcPr>
                    <a:noFill/>
                  </a:tcPr>
                </a:tc>
                <a:tc>
                  <a:txBody>
                    <a:bodyPr/>
                    <a:lstStyle/>
                    <a:p>
                      <a:r>
                        <a:rPr lang="en-IN" sz="1400" b="1" dirty="0"/>
                        <a:t>95.0819</a:t>
                      </a:r>
                    </a:p>
                  </a:txBody>
                  <a:tcPr>
                    <a:noFill/>
                  </a:tcPr>
                </a:tc>
                <a:tc>
                  <a:txBody>
                    <a:bodyPr/>
                    <a:lstStyle/>
                    <a:p>
                      <a:r>
                        <a:rPr lang="en-IN" sz="1400" dirty="0"/>
                        <a:t>90.1639</a:t>
                      </a:r>
                    </a:p>
                  </a:txBody>
                  <a:tcPr>
                    <a:noFill/>
                  </a:tcPr>
                </a:tc>
                <a:tc>
                  <a:txBody>
                    <a:bodyPr/>
                    <a:lstStyle/>
                    <a:p>
                      <a:r>
                        <a:rPr lang="en-IN" sz="1400" b="1" dirty="0"/>
                        <a:t>93.4426</a:t>
                      </a:r>
                    </a:p>
                  </a:txBody>
                  <a:tcPr>
                    <a:noFill/>
                  </a:tcPr>
                </a:tc>
                <a:extLst>
                  <a:ext uri="{0D108BD9-81ED-4DB2-BD59-A6C34878D82A}">
                    <a16:rowId xmlns:a16="http://schemas.microsoft.com/office/drawing/2014/main" val="3539072419"/>
                  </a:ext>
                </a:extLst>
              </a:tr>
              <a:tr h="370840">
                <a:tc>
                  <a:txBody>
                    <a:bodyPr/>
                    <a:lstStyle/>
                    <a:p>
                      <a:r>
                        <a:rPr lang="en-IN" sz="1400" dirty="0"/>
                        <a:t>Bayesian Optimization</a:t>
                      </a:r>
                    </a:p>
                  </a:txBody>
                  <a:tcPr>
                    <a:noFill/>
                  </a:tcPr>
                </a:tc>
                <a:tc>
                  <a:txBody>
                    <a:bodyPr/>
                    <a:lstStyle/>
                    <a:p>
                      <a:r>
                        <a:rPr lang="en-IN" sz="1400" dirty="0"/>
                        <a:t>93.4426</a:t>
                      </a:r>
                    </a:p>
                  </a:txBody>
                  <a:tcPr>
                    <a:noFill/>
                  </a:tcPr>
                </a:tc>
                <a:tc>
                  <a:txBody>
                    <a:bodyPr/>
                    <a:lstStyle/>
                    <a:p>
                      <a:r>
                        <a:rPr lang="en-IN" sz="1400" b="1" dirty="0"/>
                        <a:t>91.8033</a:t>
                      </a:r>
                    </a:p>
                  </a:txBody>
                  <a:tcPr>
                    <a:noFill/>
                  </a:tcPr>
                </a:tc>
                <a:tc>
                  <a:txBody>
                    <a:bodyPr/>
                    <a:lstStyle/>
                    <a:p>
                      <a:r>
                        <a:rPr lang="en-IN" sz="1400" dirty="0"/>
                        <a:t>90.1639</a:t>
                      </a:r>
                    </a:p>
                  </a:txBody>
                  <a:tcPr>
                    <a:noFill/>
                  </a:tcPr>
                </a:tc>
                <a:extLst>
                  <a:ext uri="{0D108BD9-81ED-4DB2-BD59-A6C34878D82A}">
                    <a16:rowId xmlns:a16="http://schemas.microsoft.com/office/drawing/2014/main" val="2132698245"/>
                  </a:ext>
                </a:extLst>
              </a:tr>
              <a:tr h="0">
                <a:tc>
                  <a:txBody>
                    <a:bodyPr/>
                    <a:lstStyle/>
                    <a:p>
                      <a:r>
                        <a:rPr lang="en-IN" sz="1400" dirty="0"/>
                        <a:t>hyperband</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90.1639</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90.1639</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90.1639</a:t>
                      </a:r>
                    </a:p>
                  </a:txBody>
                  <a:tcPr>
                    <a:noFill/>
                  </a:tcPr>
                </a:tc>
                <a:extLst>
                  <a:ext uri="{0D108BD9-81ED-4DB2-BD59-A6C34878D82A}">
                    <a16:rowId xmlns:a16="http://schemas.microsoft.com/office/drawing/2014/main" val="122737414"/>
                  </a:ext>
                </a:extLst>
              </a:tr>
            </a:tbl>
          </a:graphicData>
        </a:graphic>
      </p:graphicFrame>
      <p:sp>
        <p:nvSpPr>
          <p:cNvPr id="24" name="TextBox 23">
            <a:extLst>
              <a:ext uri="{FF2B5EF4-FFF2-40B4-BE49-F238E27FC236}">
                <a16:creationId xmlns:a16="http://schemas.microsoft.com/office/drawing/2014/main" id="{35FF1817-DBD8-4C03-A953-45A9C1699928}"/>
              </a:ext>
            </a:extLst>
          </p:cNvPr>
          <p:cNvSpPr txBox="1"/>
          <p:nvPr/>
        </p:nvSpPr>
        <p:spPr>
          <a:xfrm>
            <a:off x="75413" y="1675971"/>
            <a:ext cx="9734508" cy="338554"/>
          </a:xfrm>
          <a:prstGeom prst="rect">
            <a:avLst/>
          </a:prstGeom>
          <a:noFill/>
        </p:spPr>
        <p:txBody>
          <a:bodyPr wrap="square">
            <a:spAutoFit/>
          </a:bodyPr>
          <a:lstStyle/>
          <a:p>
            <a:pPr algn="just"/>
            <a:r>
              <a:rPr lang="en-IN" sz="1600" dirty="0">
                <a:solidFill>
                  <a:srgbClr val="000000"/>
                </a:solidFill>
                <a:latin typeface="inter-regular"/>
              </a:rPr>
              <a:t>SFS features</a:t>
            </a:r>
            <a:r>
              <a:rPr lang="en-IN" sz="1600" b="0" i="0" dirty="0">
                <a:solidFill>
                  <a:srgbClr val="000000"/>
                </a:solidFill>
                <a:effectLst/>
                <a:latin typeface="inter-regular"/>
              </a:rPr>
              <a:t>:</a:t>
            </a:r>
            <a:r>
              <a:rPr lang="en-IN" sz="1600" b="1" i="0" dirty="0">
                <a:solidFill>
                  <a:srgbClr val="000000"/>
                </a:solidFill>
                <a:effectLst/>
                <a:latin typeface="inter-regular"/>
              </a:rPr>
              <a:t>   'age’,  'sex',  'cp',   '</a:t>
            </a:r>
            <a:r>
              <a:rPr lang="en-IN" sz="1600" b="1" i="0" dirty="0" err="1">
                <a:solidFill>
                  <a:srgbClr val="000000"/>
                </a:solidFill>
                <a:effectLst/>
                <a:latin typeface="inter-regular"/>
              </a:rPr>
              <a:t>trestbps</a:t>
            </a:r>
            <a:r>
              <a:rPr lang="en-IN" sz="1600" b="1" i="0" dirty="0">
                <a:solidFill>
                  <a:srgbClr val="000000"/>
                </a:solidFill>
                <a:effectLst/>
                <a:latin typeface="inter-regular"/>
              </a:rPr>
              <a:t>',   '</a:t>
            </a:r>
            <a:r>
              <a:rPr lang="en-IN" sz="1600" b="1" i="0" dirty="0" err="1">
                <a:solidFill>
                  <a:srgbClr val="000000"/>
                </a:solidFill>
                <a:effectLst/>
                <a:latin typeface="inter-regular"/>
              </a:rPr>
              <a:t>fbs</a:t>
            </a:r>
            <a:r>
              <a:rPr lang="en-IN" sz="1600" b="1" i="0" dirty="0">
                <a:solidFill>
                  <a:srgbClr val="000000"/>
                </a:solidFill>
                <a:effectLst/>
                <a:latin typeface="inter-regular"/>
              </a:rPr>
              <a:t>',   '</a:t>
            </a:r>
            <a:r>
              <a:rPr lang="en-IN" sz="1600" b="1" i="0" dirty="0" err="1">
                <a:solidFill>
                  <a:srgbClr val="000000"/>
                </a:solidFill>
                <a:effectLst/>
                <a:latin typeface="inter-regular"/>
              </a:rPr>
              <a:t>restecg</a:t>
            </a:r>
            <a:r>
              <a:rPr lang="en-IN" sz="1600" b="1" i="0" dirty="0">
                <a:solidFill>
                  <a:srgbClr val="000000"/>
                </a:solidFill>
                <a:effectLst/>
                <a:latin typeface="inter-regular"/>
              </a:rPr>
              <a:t>',   '</a:t>
            </a:r>
            <a:r>
              <a:rPr lang="en-IN" sz="1600" b="1" i="0" dirty="0" err="1">
                <a:solidFill>
                  <a:srgbClr val="000000"/>
                </a:solidFill>
                <a:effectLst/>
                <a:latin typeface="inter-regular"/>
              </a:rPr>
              <a:t>exang</a:t>
            </a:r>
            <a:r>
              <a:rPr lang="en-IN" sz="1600" b="1" i="0" dirty="0">
                <a:solidFill>
                  <a:srgbClr val="000000"/>
                </a:solidFill>
                <a:effectLst/>
                <a:latin typeface="inter-regular"/>
              </a:rPr>
              <a:t>',   'slope',   'ca',   '</a:t>
            </a:r>
            <a:r>
              <a:rPr lang="en-IN" sz="1600" b="1" i="0" dirty="0" err="1">
                <a:solidFill>
                  <a:srgbClr val="000000"/>
                </a:solidFill>
                <a:effectLst/>
                <a:latin typeface="inter-regular"/>
              </a:rPr>
              <a:t>thal</a:t>
            </a:r>
            <a:r>
              <a:rPr lang="en-IN" sz="1600" b="1" i="0" dirty="0">
                <a:solidFill>
                  <a:srgbClr val="000000"/>
                </a:solidFill>
                <a:effectLst/>
                <a:latin typeface="inter-regular"/>
              </a:rPr>
              <a:t>'</a:t>
            </a:r>
            <a:endParaRPr lang="en-IN" sz="1600" b="0" i="0" dirty="0">
              <a:solidFill>
                <a:srgbClr val="000000"/>
              </a:solidFill>
              <a:effectLst/>
              <a:latin typeface="inter-regular"/>
            </a:endParaRPr>
          </a:p>
        </p:txBody>
      </p:sp>
      <p:sp>
        <p:nvSpPr>
          <p:cNvPr id="25" name="TextBox 24">
            <a:extLst>
              <a:ext uri="{FF2B5EF4-FFF2-40B4-BE49-F238E27FC236}">
                <a16:creationId xmlns:a16="http://schemas.microsoft.com/office/drawing/2014/main" id="{69290034-517E-44A3-A316-0FB48F26BFB1}"/>
              </a:ext>
            </a:extLst>
          </p:cNvPr>
          <p:cNvSpPr txBox="1"/>
          <p:nvPr/>
        </p:nvSpPr>
        <p:spPr>
          <a:xfrm>
            <a:off x="75413" y="2046227"/>
            <a:ext cx="9903473" cy="338554"/>
          </a:xfrm>
          <a:prstGeom prst="rect">
            <a:avLst/>
          </a:prstGeom>
          <a:noFill/>
        </p:spPr>
        <p:txBody>
          <a:bodyPr wrap="square">
            <a:spAutoFit/>
          </a:bodyPr>
          <a:lstStyle/>
          <a:p>
            <a:pPr algn="just"/>
            <a:r>
              <a:rPr lang="en-IN" sz="1600" dirty="0">
                <a:solidFill>
                  <a:srgbClr val="000000"/>
                </a:solidFill>
                <a:latin typeface="inter-regular"/>
              </a:rPr>
              <a:t>Genetic algorithm features</a:t>
            </a:r>
            <a:r>
              <a:rPr lang="en-IN" sz="1600" b="0" i="0" dirty="0">
                <a:solidFill>
                  <a:srgbClr val="000000"/>
                </a:solidFill>
                <a:effectLst/>
                <a:latin typeface="inter-regular"/>
              </a:rPr>
              <a:t>:   </a:t>
            </a:r>
            <a:r>
              <a:rPr lang="en-IN" sz="1600" b="1" i="0" dirty="0">
                <a:solidFill>
                  <a:srgbClr val="000000"/>
                </a:solidFill>
                <a:effectLst/>
                <a:latin typeface="inter-regular"/>
              </a:rPr>
              <a:t>'age’,  'sex’,  'cp’,  '</a:t>
            </a:r>
            <a:r>
              <a:rPr lang="en-IN" sz="1600" b="1" i="0" dirty="0" err="1">
                <a:solidFill>
                  <a:srgbClr val="000000"/>
                </a:solidFill>
                <a:effectLst/>
                <a:latin typeface="inter-regular"/>
              </a:rPr>
              <a:t>trestbps</a:t>
            </a:r>
            <a:r>
              <a:rPr lang="en-IN" sz="1600" b="1" i="0" dirty="0">
                <a:solidFill>
                  <a:srgbClr val="000000"/>
                </a:solidFill>
                <a:effectLst/>
                <a:latin typeface="inter-regular"/>
              </a:rPr>
              <a:t>’,  '</a:t>
            </a:r>
            <a:r>
              <a:rPr lang="en-IN" sz="1600" b="1" i="0" dirty="0" err="1">
                <a:solidFill>
                  <a:srgbClr val="000000"/>
                </a:solidFill>
                <a:effectLst/>
                <a:latin typeface="inter-regular"/>
              </a:rPr>
              <a:t>restecg</a:t>
            </a:r>
            <a:r>
              <a:rPr lang="en-IN" sz="1600" b="1" i="0" dirty="0">
                <a:solidFill>
                  <a:srgbClr val="000000"/>
                </a:solidFill>
                <a:effectLst/>
                <a:latin typeface="inter-regular"/>
              </a:rPr>
              <a:t>’,  '</a:t>
            </a:r>
            <a:r>
              <a:rPr lang="en-IN" sz="1600" b="1" i="0" dirty="0" err="1">
                <a:solidFill>
                  <a:srgbClr val="000000"/>
                </a:solidFill>
                <a:effectLst/>
                <a:latin typeface="inter-regular"/>
              </a:rPr>
              <a:t>exang</a:t>
            </a:r>
            <a:r>
              <a:rPr lang="en-IN" sz="1600" b="1" i="0" dirty="0">
                <a:solidFill>
                  <a:srgbClr val="000000"/>
                </a:solidFill>
                <a:effectLst/>
                <a:latin typeface="inter-regular"/>
              </a:rPr>
              <a:t>’,  'slope’,  'ca’,  '</a:t>
            </a:r>
            <a:r>
              <a:rPr lang="en-IN" sz="1600" b="1" i="0" dirty="0" err="1">
                <a:solidFill>
                  <a:srgbClr val="000000"/>
                </a:solidFill>
                <a:effectLst/>
                <a:latin typeface="inter-regular"/>
              </a:rPr>
              <a:t>thal</a:t>
            </a:r>
            <a:r>
              <a:rPr lang="en-IN" sz="1600" b="1" i="0" dirty="0">
                <a:solidFill>
                  <a:srgbClr val="000000"/>
                </a:solidFill>
                <a:effectLst/>
                <a:latin typeface="inter-regular"/>
              </a:rPr>
              <a:t>'</a:t>
            </a:r>
            <a:endParaRPr lang="en-IN" sz="1600" b="0" i="0" dirty="0">
              <a:solidFill>
                <a:srgbClr val="000000"/>
              </a:solidFill>
              <a:effectLst/>
              <a:latin typeface="inter-regular"/>
            </a:endParaRPr>
          </a:p>
        </p:txBody>
      </p:sp>
      <p:sp>
        <p:nvSpPr>
          <p:cNvPr id="16" name="TextBox 15">
            <a:extLst>
              <a:ext uri="{FF2B5EF4-FFF2-40B4-BE49-F238E27FC236}">
                <a16:creationId xmlns:a16="http://schemas.microsoft.com/office/drawing/2014/main" id="{B8263613-C9D7-4673-B291-D5DF136178BE}"/>
              </a:ext>
            </a:extLst>
          </p:cNvPr>
          <p:cNvSpPr txBox="1"/>
          <p:nvPr/>
        </p:nvSpPr>
        <p:spPr>
          <a:xfrm>
            <a:off x="146601" y="2616659"/>
            <a:ext cx="8850796" cy="1077218"/>
          </a:xfrm>
          <a:prstGeom prst="rect">
            <a:avLst/>
          </a:prstGeom>
          <a:noFill/>
        </p:spPr>
        <p:txBody>
          <a:bodyPr wrap="square">
            <a:spAutoFit/>
          </a:bodyPr>
          <a:lstStyle/>
          <a:p>
            <a:r>
              <a:rPr lang="en-IN" sz="1600" b="1" u="sng" dirty="0"/>
              <a:t>Random forest hyperparameters:</a:t>
            </a:r>
            <a:br>
              <a:rPr lang="en-IN" sz="1600" b="1" u="sng" dirty="0"/>
            </a:br>
            <a:endParaRPr lang="en-IN" sz="1600" b="1" u="sng" dirty="0"/>
          </a:p>
          <a:p>
            <a:r>
              <a:rPr lang="en-IN" sz="1600" b="1" dirty="0">
                <a:latin typeface="Söhne"/>
              </a:rPr>
              <a:t>        </a:t>
            </a:r>
            <a:r>
              <a:rPr lang="en-IN" sz="1600" b="0" i="0" dirty="0" err="1">
                <a:effectLst/>
                <a:latin typeface="Söhne"/>
              </a:rPr>
              <a:t>n_estimators</a:t>
            </a:r>
            <a:r>
              <a:rPr lang="en-IN" sz="1600" b="0" i="0" dirty="0">
                <a:effectLst/>
                <a:latin typeface="Söhne"/>
              </a:rPr>
              <a:t>,   </a:t>
            </a:r>
            <a:r>
              <a:rPr lang="en-IN" sz="1600" b="0" i="0" dirty="0" err="1">
                <a:effectLst/>
                <a:latin typeface="Söhne"/>
              </a:rPr>
              <a:t>max_depth</a:t>
            </a:r>
            <a:r>
              <a:rPr lang="en-IN" sz="1600" b="0" i="0" dirty="0">
                <a:effectLst/>
                <a:latin typeface="Söhne"/>
              </a:rPr>
              <a:t>,  </a:t>
            </a:r>
            <a:r>
              <a:rPr lang="en-IN" sz="1600" b="0" i="0" dirty="0" err="1">
                <a:effectLst/>
                <a:latin typeface="Söhne"/>
              </a:rPr>
              <a:t>min_samples_split</a:t>
            </a:r>
            <a:r>
              <a:rPr lang="en-IN" sz="1600" b="0" i="0" dirty="0">
                <a:effectLst/>
                <a:latin typeface="Söhne"/>
              </a:rPr>
              <a:t>,   </a:t>
            </a:r>
            <a:r>
              <a:rPr lang="en-IN" sz="1600" b="0" i="0" dirty="0" err="1">
                <a:effectLst/>
                <a:latin typeface="Söhne"/>
              </a:rPr>
              <a:t>min_samples_leaf</a:t>
            </a:r>
            <a:r>
              <a:rPr lang="en-IN" sz="1600" b="0" i="0" dirty="0">
                <a:effectLst/>
                <a:latin typeface="Söhne"/>
              </a:rPr>
              <a:t>,   </a:t>
            </a:r>
            <a:r>
              <a:rPr lang="en-IN" sz="1600" b="0" i="0" dirty="0" err="1">
                <a:effectLst/>
                <a:latin typeface="Söhne"/>
              </a:rPr>
              <a:t>max_features</a:t>
            </a:r>
            <a:r>
              <a:rPr lang="en-IN" sz="1600" b="0" i="0" dirty="0">
                <a:effectLst/>
                <a:latin typeface="Söhne"/>
              </a:rPr>
              <a:t> ,  criterion </a:t>
            </a:r>
            <a:endParaRPr lang="en-IN" sz="1600" b="1" u="sng" dirty="0"/>
          </a:p>
          <a:p>
            <a:endParaRPr lang="en-IN" sz="1600" b="1" u="sng" dirty="0"/>
          </a:p>
        </p:txBody>
      </p:sp>
    </p:spTree>
    <p:extLst>
      <p:ext uri="{BB962C8B-B14F-4D97-AF65-F5344CB8AC3E}">
        <p14:creationId xmlns:p14="http://schemas.microsoft.com/office/powerpoint/2010/main" val="7325252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8D4669DB-FB9D-493D-B0D9-33EFC82790DE}"/>
              </a:ext>
            </a:extLst>
          </p:cNvPr>
          <p:cNvPicPr>
            <a:picLocks noChangeAspect="1"/>
          </p:cNvPicPr>
          <p:nvPr/>
        </p:nvPicPr>
        <p:blipFill>
          <a:blip r:embed="rId3">
            <a:lum/>
            <a:alphaModFix/>
          </a:blip>
          <a:srcRect/>
          <a:stretch>
            <a:fillRect/>
          </a:stretch>
        </p:blipFill>
        <p:spPr>
          <a:xfrm>
            <a:off x="0" y="6553084"/>
            <a:ext cx="9144000" cy="308161"/>
          </a:xfrm>
          <a:prstGeom prst="rect">
            <a:avLst/>
          </a:prstGeom>
          <a:noFill/>
          <a:ln cap="flat">
            <a:noFill/>
          </a:ln>
        </p:spPr>
      </p:pic>
      <p:sp>
        <p:nvSpPr>
          <p:cNvPr id="3" name="Text Box 4">
            <a:extLst>
              <a:ext uri="{FF2B5EF4-FFF2-40B4-BE49-F238E27FC236}">
                <a16:creationId xmlns:a16="http://schemas.microsoft.com/office/drawing/2014/main" id="{6F8CE000-001B-477B-AEB1-7B2DF82125E0}"/>
              </a:ext>
            </a:extLst>
          </p:cNvPr>
          <p:cNvSpPr/>
          <p:nvPr/>
        </p:nvSpPr>
        <p:spPr>
          <a:xfrm>
            <a:off x="2299322" y="6550203"/>
            <a:ext cx="4545363" cy="307082"/>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a:effectLst>
            <a:outerShdw dist="17819" dir="2700000" algn="tl">
              <a:srgbClr val="000000"/>
            </a:outerShdw>
          </a:effectLst>
        </p:spPr>
        <p:txBody>
          <a:bodyPr vert="horz" wrap="non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1400" b="1" i="0" u="none" strike="noStrike" kern="1200" cap="none" spc="0" baseline="0">
                <a:solidFill>
                  <a:srgbClr val="47FFD1"/>
                </a:solidFill>
                <a:uFillTx/>
                <a:latin typeface="Comic Sans MS" pitchFamily="66"/>
                <a:ea typeface="Microsoft YaHei" pitchFamily="2"/>
                <a:cs typeface="Lucida Sans" pitchFamily="2"/>
              </a:rPr>
              <a:t>Department of Computer Science and Engineering</a:t>
            </a:r>
          </a:p>
        </p:txBody>
      </p:sp>
      <p:pic>
        <p:nvPicPr>
          <p:cNvPr id="4" name="Picture 2">
            <a:extLst>
              <a:ext uri="{FF2B5EF4-FFF2-40B4-BE49-F238E27FC236}">
                <a16:creationId xmlns:a16="http://schemas.microsoft.com/office/drawing/2014/main" id="{EFEADD32-D603-4B11-8D98-E7FD48C6130F}"/>
              </a:ext>
            </a:extLst>
          </p:cNvPr>
          <p:cNvPicPr>
            <a:picLocks noChangeAspect="1"/>
          </p:cNvPicPr>
          <p:nvPr/>
        </p:nvPicPr>
        <p:blipFill>
          <a:blip r:embed="rId3">
            <a:lum/>
            <a:alphaModFix/>
          </a:blip>
          <a:srcRect/>
          <a:stretch>
            <a:fillRect/>
          </a:stretch>
        </p:blipFill>
        <p:spPr>
          <a:xfrm>
            <a:off x="0" y="0"/>
            <a:ext cx="9144000" cy="609484"/>
          </a:xfrm>
          <a:prstGeom prst="rect">
            <a:avLst/>
          </a:prstGeom>
          <a:noFill/>
          <a:ln cap="flat">
            <a:noFill/>
          </a:ln>
        </p:spPr>
      </p:pic>
      <p:sp>
        <p:nvSpPr>
          <p:cNvPr id="5" name="Rectangle: Rounded Corners 3">
            <a:extLst>
              <a:ext uri="{FF2B5EF4-FFF2-40B4-BE49-F238E27FC236}">
                <a16:creationId xmlns:a16="http://schemas.microsoft.com/office/drawing/2014/main" id="{6BBED2D9-BCDF-4E94-8182-A159447629CE}"/>
              </a:ext>
            </a:extLst>
          </p:cNvPr>
          <p:cNvSpPr/>
          <p:nvPr/>
        </p:nvSpPr>
        <p:spPr>
          <a:xfrm>
            <a:off x="8550362" y="6553084"/>
            <a:ext cx="593637" cy="306360"/>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0066"/>
          </a:solidFill>
          <a:ln w="12600" cap="flat">
            <a:solidFill>
              <a:srgbClr val="000000"/>
            </a:solidFill>
            <a:prstDash val="solid"/>
            <a:miter/>
          </a:ln>
        </p:spPr>
        <p:txBody>
          <a:bodyPr vert="horz" wrap="square" lIns="90004" tIns="46798" rIns="90004" bIns="46798" anchor="ctr" anchorCtr="1" compatLnSpc="1">
            <a:normAutofit fontScale="92500" lnSpcReduction="20000"/>
          </a:bodyPr>
          <a:lstStyle/>
          <a:p>
            <a:pPr marL="0" marR="0" lvl="0" indent="0" algn="ctr" defTabSz="914400" rtl="0" fontAlgn="auto" hangingPunct="1">
              <a:lnSpc>
                <a:spcPct val="8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AB8CC7BD-5D93-4C0A-AAD8-B765ACB170F4}" type="slidenum">
              <a:t>33</a:t>
            </a:fld>
            <a:endParaRPr lang="en-US" sz="1400" b="1" i="0" u="none" strike="noStrike" kern="1200" cap="none" spc="0" baseline="0">
              <a:solidFill>
                <a:srgbClr val="FFFFFF"/>
              </a:solidFill>
              <a:uFillTx/>
              <a:latin typeface="Comic Sans MS" pitchFamily="66"/>
              <a:ea typeface="Microsoft YaHei" pitchFamily="2"/>
              <a:cs typeface="Lucida Sans" pitchFamily="2"/>
            </a:endParaRPr>
          </a:p>
        </p:txBody>
      </p:sp>
      <p:sp>
        <p:nvSpPr>
          <p:cNvPr id="6" name="Date Placeholder 7">
            <a:extLst>
              <a:ext uri="{FF2B5EF4-FFF2-40B4-BE49-F238E27FC236}">
                <a16:creationId xmlns:a16="http://schemas.microsoft.com/office/drawing/2014/main" id="{D0C2D5F8-2A4E-45AD-9E19-29D2B63406A3}"/>
              </a:ext>
            </a:extLst>
          </p:cNvPr>
          <p:cNvSpPr/>
          <p:nvPr/>
        </p:nvSpPr>
        <p:spPr>
          <a:xfrm>
            <a:off x="0" y="6564239"/>
            <a:ext cx="1447915" cy="41291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norm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5E5B1732-3D3F-4E1A-AD91-1223FC4CF4BB}" type="datetime1">
              <a:rPr lang="en-US" sz="1400" b="1" i="0" u="none" strike="noStrike" kern="1200" cap="none" spc="0" baseline="0">
                <a:solidFill>
                  <a:srgbClr val="FF0066"/>
                </a:solidFill>
                <a:uFillTx/>
                <a:latin typeface="Arial Rounded MT Bold" pitchFamily="34"/>
                <a:ea typeface="Microsoft YaHei" pitchFamily="2"/>
                <a:cs typeface="Lucida Sans" pitchFamily="2"/>
              </a:rPr>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t>4/18/2023</a:t>
            </a:fld>
            <a:endParaRPr lang="en-US" sz="1400" b="1" i="0" u="none" strike="noStrike" kern="1200" cap="none" spc="0" baseline="0">
              <a:solidFill>
                <a:srgbClr val="FF0066"/>
              </a:solidFill>
              <a:uFillTx/>
              <a:latin typeface="Arial Rounded MT Bold" pitchFamily="34"/>
              <a:ea typeface="Microsoft YaHei" pitchFamily="2"/>
              <a:cs typeface="Lucida Sans" pitchFamily="2"/>
            </a:endParaRPr>
          </a:p>
        </p:txBody>
      </p:sp>
      <p:sp>
        <p:nvSpPr>
          <p:cNvPr id="7" name="TextBox 8">
            <a:extLst>
              <a:ext uri="{FF2B5EF4-FFF2-40B4-BE49-F238E27FC236}">
                <a16:creationId xmlns:a16="http://schemas.microsoft.com/office/drawing/2014/main" id="{9BE241AC-2867-401B-8952-98D39C4F5A63}"/>
              </a:ext>
            </a:extLst>
          </p:cNvPr>
          <p:cNvSpPr/>
          <p:nvPr/>
        </p:nvSpPr>
        <p:spPr>
          <a:xfrm>
            <a:off x="919081" y="0"/>
            <a:ext cx="7305836" cy="47483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500" b="1" i="0" u="none" strike="noStrike" kern="1200" cap="none" spc="0" baseline="0">
                <a:solidFill>
                  <a:srgbClr val="47FFD1"/>
                </a:solidFill>
                <a:uFillTx/>
                <a:latin typeface="Comic Sans MS" pitchFamily="66"/>
                <a:ea typeface="Microsoft YaHei" pitchFamily="2"/>
                <a:cs typeface="Lucida Sans" pitchFamily="2"/>
              </a:rPr>
              <a:t>Mepco Schlenk Engineering College </a:t>
            </a:r>
            <a:r>
              <a:rPr lang="en-US" sz="1800" b="1" i="0" u="none" strike="noStrike" kern="1200" cap="none" spc="0" baseline="0">
                <a:solidFill>
                  <a:srgbClr val="47FFD1"/>
                </a:solidFill>
                <a:uFillTx/>
                <a:latin typeface="Comic Sans MS" pitchFamily="66"/>
                <a:ea typeface="Microsoft YaHei" pitchFamily="2"/>
                <a:cs typeface="Lucida Sans" pitchFamily="2"/>
              </a:rPr>
              <a:t>(Autonomous)</a:t>
            </a:r>
          </a:p>
        </p:txBody>
      </p:sp>
      <p:sp>
        <p:nvSpPr>
          <p:cNvPr id="8" name="Oval 11">
            <a:extLst>
              <a:ext uri="{FF2B5EF4-FFF2-40B4-BE49-F238E27FC236}">
                <a16:creationId xmlns:a16="http://schemas.microsoft.com/office/drawing/2014/main" id="{E67FA03A-95C6-4908-B4C7-A0B37595DAFE}"/>
              </a:ext>
            </a:extLst>
          </p:cNvPr>
          <p:cNvSpPr/>
          <p:nvPr/>
        </p:nvSpPr>
        <p:spPr>
          <a:xfrm>
            <a:off x="8354881" y="20519"/>
            <a:ext cx="777962" cy="777962"/>
          </a:xfrm>
          <a:custGeom>
            <a:avLst/>
            <a:gdLst>
              <a:gd name="f0" fmla="val 10800000"/>
              <a:gd name="f1" fmla="val 5400000"/>
              <a:gd name="f2" fmla="val 180"/>
              <a:gd name="f3" fmla="val w"/>
              <a:gd name="f4" fmla="val h"/>
              <a:gd name="f5" fmla="val 0"/>
              <a:gd name="f6" fmla="val 21600"/>
              <a:gd name="f7" fmla="*/ 5419351 1 1725033"/>
              <a:gd name="f8" fmla="*/ 10800 10800 1"/>
              <a:gd name="f9" fmla="+- 0 0 360"/>
              <a:gd name="f10" fmla="val 10800"/>
              <a:gd name="f11" fmla="+- 0 0 0"/>
              <a:gd name="f12" fmla="*/ f3 1 21600"/>
              <a:gd name="f13" fmla="*/ f4 1 21600"/>
              <a:gd name="f14" fmla="*/ 0 f7 1"/>
              <a:gd name="f15" fmla="*/ f5 f0 1"/>
              <a:gd name="f16" fmla="*/ f9 f0 1"/>
              <a:gd name="f17" fmla="+- f6 0 f5"/>
              <a:gd name="f18" fmla="*/ f11 f0 1"/>
              <a:gd name="f19" fmla="*/ f14 1 f2"/>
              <a:gd name="f20" fmla="*/ f15 1 f2"/>
              <a:gd name="f21" fmla="*/ f16 1 f2"/>
              <a:gd name="f22" fmla="*/ f17 1 21600"/>
              <a:gd name="f23" fmla="*/ f18 1 f2"/>
              <a:gd name="f24" fmla="+- 0 0 f19"/>
              <a:gd name="f25" fmla="+- f20 0 f1"/>
              <a:gd name="f26" fmla="+- f21 0 f1"/>
              <a:gd name="f27" fmla="*/ 3163 f22 1"/>
              <a:gd name="f28" fmla="*/ 18437 f22 1"/>
              <a:gd name="f29" fmla="*/ 10800 f22 1"/>
              <a:gd name="f30" fmla="*/ 0 f22 1"/>
              <a:gd name="f31" fmla="*/ 21600 f22 1"/>
              <a:gd name="f32" fmla="+- f23 0 f1"/>
              <a:gd name="f33" fmla="*/ f24 f0 1"/>
              <a:gd name="f34" fmla="+- f26 0 f25"/>
              <a:gd name="f35" fmla="*/ f29 1 f22"/>
              <a:gd name="f36" fmla="*/ f30 1 f22"/>
              <a:gd name="f37" fmla="*/ f27 1 f22"/>
              <a:gd name="f38" fmla="*/ f28 1 f22"/>
              <a:gd name="f39" fmla="*/ f31 1 f22"/>
              <a:gd name="f40" fmla="*/ f33 1 f7"/>
              <a:gd name="f41" fmla="*/ f37 f12 1"/>
              <a:gd name="f42" fmla="*/ f38 f12 1"/>
              <a:gd name="f43" fmla="*/ f38 f13 1"/>
              <a:gd name="f44" fmla="*/ f37 f13 1"/>
              <a:gd name="f45" fmla="*/ f35 f12 1"/>
              <a:gd name="f46" fmla="*/ f36 f13 1"/>
              <a:gd name="f47" fmla="*/ f36 f12 1"/>
              <a:gd name="f48" fmla="*/ f35 f13 1"/>
              <a:gd name="f49" fmla="*/ f39 f13 1"/>
              <a:gd name="f50" fmla="*/ f39 f12 1"/>
              <a:gd name="f51" fmla="+- f40 0 f1"/>
              <a:gd name="f52" fmla="+- f51 f1 0"/>
              <a:gd name="f53" fmla="*/ f52 f7 1"/>
              <a:gd name="f54" fmla="*/ f53 1 f0"/>
              <a:gd name="f55" fmla="+- 0 0 f54"/>
              <a:gd name="f56" fmla="+- 0 0 f55"/>
              <a:gd name="f57" fmla="*/ f56 f0 1"/>
              <a:gd name="f58" fmla="*/ f57 1 f7"/>
              <a:gd name="f59" fmla="+- f58 0 f1"/>
              <a:gd name="f60" fmla="cos 1 f59"/>
              <a:gd name="f61" fmla="sin 1 f59"/>
              <a:gd name="f62" fmla="+- 0 0 f60"/>
              <a:gd name="f63" fmla="+- 0 0 f61"/>
              <a:gd name="f64" fmla="+- 0 0 f62"/>
              <a:gd name="f65" fmla="+- 0 0 f63"/>
              <a:gd name="f66" fmla="val f64"/>
              <a:gd name="f67" fmla="val f65"/>
              <a:gd name="f68" fmla="+- 0 0 f66"/>
              <a:gd name="f69" fmla="+- 0 0 f67"/>
              <a:gd name="f70" fmla="*/ 10800 f68 1"/>
              <a:gd name="f71" fmla="*/ 10800 f69 1"/>
              <a:gd name="f72" fmla="*/ f70 f70 1"/>
              <a:gd name="f73" fmla="*/ f71 f71 1"/>
              <a:gd name="f74" fmla="+- f72 f73 0"/>
              <a:gd name="f75" fmla="sqrt f74"/>
              <a:gd name="f76" fmla="*/ f8 1 f75"/>
              <a:gd name="f77" fmla="*/ f68 f76 1"/>
              <a:gd name="f78" fmla="*/ f69 f76 1"/>
              <a:gd name="f79" fmla="+- 10800 0 f77"/>
              <a:gd name="f80" fmla="+- 10800 0 f78"/>
            </a:gdLst>
            <a:ahLst/>
            <a:cxnLst>
              <a:cxn ang="3cd4">
                <a:pos x="hc" y="t"/>
              </a:cxn>
              <a:cxn ang="0">
                <a:pos x="r" y="vc"/>
              </a:cxn>
              <a:cxn ang="cd4">
                <a:pos x="hc" y="b"/>
              </a:cxn>
              <a:cxn ang="cd2">
                <a:pos x="l" y="vc"/>
              </a:cxn>
              <a:cxn ang="f32">
                <a:pos x="f45" y="f46"/>
              </a:cxn>
              <a:cxn ang="f32">
                <a:pos x="f41" y="f44"/>
              </a:cxn>
              <a:cxn ang="f32">
                <a:pos x="f47" y="f48"/>
              </a:cxn>
              <a:cxn ang="f32">
                <a:pos x="f41" y="f43"/>
              </a:cxn>
              <a:cxn ang="f32">
                <a:pos x="f45" y="f49"/>
              </a:cxn>
              <a:cxn ang="f32">
                <a:pos x="f42" y="f43"/>
              </a:cxn>
              <a:cxn ang="f32">
                <a:pos x="f50" y="f48"/>
              </a:cxn>
              <a:cxn ang="f32">
                <a:pos x="f42" y="f44"/>
              </a:cxn>
            </a:cxnLst>
            <a:rect l="f41" t="f44" r="f42" b="f43"/>
            <a:pathLst>
              <a:path w="21600" h="21600">
                <a:moveTo>
                  <a:pt x="f79" y="f80"/>
                </a:moveTo>
                <a:arcTo wR="f10" hR="f10" stAng="f25" swAng="f34"/>
                <a:close/>
              </a:path>
            </a:pathLst>
          </a:custGeom>
          <a:solidFill>
            <a:srgbClr val="FFFFFF"/>
          </a:solidFill>
          <a:ln w="12600" cap="flat">
            <a:solidFill>
              <a:srgbClr val="BCBCBC"/>
            </a:solidFill>
            <a:prstDash val="solid"/>
            <a:miter/>
          </a:ln>
        </p:spPr>
        <p:txBody>
          <a:bodyPr vert="horz" wrap="square" lIns="90004" tIns="46798" rIns="90004" bIns="46798" anchor="ctr" anchorCtr="0" compatLnSpc="1">
            <a:no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IN" sz="2400" b="0" i="0" u="none" strike="noStrike" kern="1200" cap="none" spc="0" baseline="0">
              <a:solidFill>
                <a:srgbClr val="000000"/>
              </a:solidFill>
              <a:uFillTx/>
              <a:latin typeface="Times New Roman" pitchFamily="18"/>
              <a:ea typeface="Microsoft YaHei" pitchFamily="2"/>
              <a:cs typeface="Lucida Sans" pitchFamily="2"/>
            </a:endParaRPr>
          </a:p>
        </p:txBody>
      </p:sp>
      <p:pic>
        <p:nvPicPr>
          <p:cNvPr id="9" name="Picture 10" descr="A picture containing text, sign, watch&#10;&#10;Description automatically generated">
            <a:extLst>
              <a:ext uri="{FF2B5EF4-FFF2-40B4-BE49-F238E27FC236}">
                <a16:creationId xmlns:a16="http://schemas.microsoft.com/office/drawing/2014/main" id="{D3EAC155-9D7D-4454-AF3C-C9B1622F5B98}"/>
              </a:ext>
            </a:extLst>
          </p:cNvPr>
          <p:cNvPicPr>
            <a:picLocks noChangeAspect="1"/>
          </p:cNvPicPr>
          <p:nvPr/>
        </p:nvPicPr>
        <p:blipFill>
          <a:blip r:embed="rId4">
            <a:lum/>
            <a:alphaModFix/>
          </a:blip>
          <a:srcRect/>
          <a:stretch>
            <a:fillRect/>
          </a:stretch>
        </p:blipFill>
        <p:spPr>
          <a:xfrm>
            <a:off x="8381875" y="47521"/>
            <a:ext cx="731876" cy="714603"/>
          </a:xfrm>
          <a:prstGeom prst="rect">
            <a:avLst/>
          </a:prstGeom>
          <a:noFill/>
          <a:ln cap="flat">
            <a:noFill/>
          </a:ln>
        </p:spPr>
      </p:pic>
      <p:sp>
        <p:nvSpPr>
          <p:cNvPr id="11" name="TextBox 10">
            <a:extLst>
              <a:ext uri="{FF2B5EF4-FFF2-40B4-BE49-F238E27FC236}">
                <a16:creationId xmlns:a16="http://schemas.microsoft.com/office/drawing/2014/main" id="{E1F82A4A-2BD7-425D-9305-CF45EF880A29}"/>
              </a:ext>
            </a:extLst>
          </p:cNvPr>
          <p:cNvSpPr txBox="1"/>
          <p:nvPr/>
        </p:nvSpPr>
        <p:spPr>
          <a:xfrm>
            <a:off x="75414" y="784594"/>
            <a:ext cx="3478491" cy="584775"/>
          </a:xfrm>
          <a:prstGeom prst="rect">
            <a:avLst/>
          </a:prstGeom>
          <a:noFill/>
        </p:spPr>
        <p:txBody>
          <a:bodyPr wrap="square" rtlCol="0">
            <a:spAutoFit/>
          </a:bodyPr>
          <a:lstStyle/>
          <a:p>
            <a:r>
              <a:rPr lang="en-IN" sz="1600" b="1" u="sng" dirty="0"/>
              <a:t>Extreme Gradient boost Classifier:</a:t>
            </a:r>
          </a:p>
          <a:p>
            <a:endParaRPr lang="en-IN" sz="1600" b="1" u="sng" dirty="0"/>
          </a:p>
        </p:txBody>
      </p:sp>
      <p:sp>
        <p:nvSpPr>
          <p:cNvPr id="14" name="TextBox 13">
            <a:extLst>
              <a:ext uri="{FF2B5EF4-FFF2-40B4-BE49-F238E27FC236}">
                <a16:creationId xmlns:a16="http://schemas.microsoft.com/office/drawing/2014/main" id="{E6591941-61AA-4C73-B194-16C8C75B48C7}"/>
              </a:ext>
            </a:extLst>
          </p:cNvPr>
          <p:cNvSpPr txBox="1"/>
          <p:nvPr/>
        </p:nvSpPr>
        <p:spPr>
          <a:xfrm>
            <a:off x="75414" y="1200587"/>
            <a:ext cx="4586908" cy="338554"/>
          </a:xfrm>
          <a:prstGeom prst="rect">
            <a:avLst/>
          </a:prstGeom>
          <a:noFill/>
        </p:spPr>
        <p:txBody>
          <a:bodyPr wrap="square">
            <a:spAutoFit/>
          </a:bodyPr>
          <a:lstStyle/>
          <a:p>
            <a:pPr algn="just"/>
            <a:r>
              <a:rPr lang="en-IN" sz="1600" b="1" i="0" dirty="0">
                <a:solidFill>
                  <a:srgbClr val="000000"/>
                </a:solidFill>
                <a:effectLst/>
                <a:latin typeface="inter-regular"/>
              </a:rPr>
              <a:t>Filter method:</a:t>
            </a:r>
          </a:p>
        </p:txBody>
      </p:sp>
      <p:graphicFrame>
        <p:nvGraphicFramePr>
          <p:cNvPr id="12" name="Table 14">
            <a:extLst>
              <a:ext uri="{FF2B5EF4-FFF2-40B4-BE49-F238E27FC236}">
                <a16:creationId xmlns:a16="http://schemas.microsoft.com/office/drawing/2014/main" id="{53E25F5A-A5A5-4BAF-B11E-56CC0F6E7235}"/>
              </a:ext>
            </a:extLst>
          </p:cNvPr>
          <p:cNvGraphicFramePr>
            <a:graphicFrameLocks noGrp="1"/>
          </p:cNvGraphicFramePr>
          <p:nvPr>
            <p:extLst>
              <p:ext uri="{D42A27DB-BD31-4B8C-83A1-F6EECF244321}">
                <p14:modId xmlns:p14="http://schemas.microsoft.com/office/powerpoint/2010/main" val="1447852501"/>
              </p:ext>
            </p:extLst>
          </p:nvPr>
        </p:nvGraphicFramePr>
        <p:xfrm>
          <a:off x="919081" y="1509387"/>
          <a:ext cx="7315086" cy="914400"/>
        </p:xfrm>
        <a:graphic>
          <a:graphicData uri="http://schemas.openxmlformats.org/drawingml/2006/table">
            <a:tbl>
              <a:tblPr firstRow="1" bandRow="1">
                <a:tableStyleId>{5C22544A-7EE6-4342-B048-85BDC9FD1C3A}</a:tableStyleId>
              </a:tblPr>
              <a:tblGrid>
                <a:gridCol w="2438362">
                  <a:extLst>
                    <a:ext uri="{9D8B030D-6E8A-4147-A177-3AD203B41FA5}">
                      <a16:colId xmlns:a16="http://schemas.microsoft.com/office/drawing/2014/main" val="2023279697"/>
                    </a:ext>
                  </a:extLst>
                </a:gridCol>
                <a:gridCol w="2438362">
                  <a:extLst>
                    <a:ext uri="{9D8B030D-6E8A-4147-A177-3AD203B41FA5}">
                      <a16:colId xmlns:a16="http://schemas.microsoft.com/office/drawing/2014/main" val="1656600714"/>
                    </a:ext>
                  </a:extLst>
                </a:gridCol>
                <a:gridCol w="2438362">
                  <a:extLst>
                    <a:ext uri="{9D8B030D-6E8A-4147-A177-3AD203B41FA5}">
                      <a16:colId xmlns:a16="http://schemas.microsoft.com/office/drawing/2014/main" val="293886267"/>
                    </a:ext>
                  </a:extLst>
                </a:gridCol>
              </a:tblGrid>
              <a:tr h="259321">
                <a:tc>
                  <a:txBody>
                    <a:bodyPr/>
                    <a:lstStyle/>
                    <a:p>
                      <a:r>
                        <a:rPr lang="en-IN" sz="1400" b="1" dirty="0">
                          <a:solidFill>
                            <a:schemeClr val="tx1"/>
                          </a:solidFill>
                        </a:rPr>
                        <a:t>Mutual information</a:t>
                      </a:r>
                    </a:p>
                  </a:txBody>
                  <a:tcPr>
                    <a:solidFill>
                      <a:schemeClr val="accent6"/>
                    </a:solidFill>
                  </a:tcPr>
                </a:tc>
                <a:tc>
                  <a:txBody>
                    <a:bodyPr/>
                    <a:lstStyle/>
                    <a:p>
                      <a:r>
                        <a:rPr lang="en-IN" sz="1400" dirty="0"/>
                        <a:t>ANOVA test</a:t>
                      </a:r>
                    </a:p>
                  </a:txBody>
                  <a:tcPr/>
                </a:tc>
                <a:tc>
                  <a:txBody>
                    <a:bodyPr/>
                    <a:lstStyle/>
                    <a:p>
                      <a:r>
                        <a:rPr lang="en-IN" sz="1400" dirty="0"/>
                        <a:t>Chi - Square</a:t>
                      </a:r>
                    </a:p>
                  </a:txBody>
                  <a:tcPr/>
                </a:tc>
                <a:extLst>
                  <a:ext uri="{0D108BD9-81ED-4DB2-BD59-A6C34878D82A}">
                    <a16:rowId xmlns:a16="http://schemas.microsoft.com/office/drawing/2014/main" val="1220602002"/>
                  </a:ext>
                </a:extLst>
              </a:tr>
              <a:tr h="259321">
                <a:tc>
                  <a:txBody>
                    <a:bodyPr/>
                    <a:lstStyle/>
                    <a:p>
                      <a:r>
                        <a:rPr lang="en-IN" sz="1400" b="1" dirty="0">
                          <a:solidFill>
                            <a:schemeClr val="tx1"/>
                          </a:solidFill>
                        </a:rPr>
                        <a:t>90.1639</a:t>
                      </a:r>
                    </a:p>
                  </a:txBody>
                  <a:tcPr>
                    <a:solidFill>
                      <a:schemeClr val="accent6"/>
                    </a:solidFill>
                  </a:tcPr>
                </a:tc>
                <a:tc>
                  <a:txBody>
                    <a:bodyPr/>
                    <a:lstStyle/>
                    <a:p>
                      <a:r>
                        <a:rPr lang="en-IN" sz="1400" dirty="0"/>
                        <a:t>88.5246</a:t>
                      </a:r>
                    </a:p>
                  </a:txBody>
                  <a:tcPr>
                    <a:noFill/>
                  </a:tcPr>
                </a:tc>
                <a:tc>
                  <a:txBody>
                    <a:bodyPr/>
                    <a:lstStyle/>
                    <a:p>
                      <a:r>
                        <a:rPr lang="en-IN" sz="1400" b="0" dirty="0"/>
                        <a:t>88.8246</a:t>
                      </a:r>
                    </a:p>
                  </a:txBody>
                  <a:tcPr>
                    <a:noFill/>
                  </a:tcPr>
                </a:tc>
                <a:extLst>
                  <a:ext uri="{0D108BD9-81ED-4DB2-BD59-A6C34878D82A}">
                    <a16:rowId xmlns:a16="http://schemas.microsoft.com/office/drawing/2014/main" val="2854151783"/>
                  </a:ext>
                </a:extLst>
              </a:tr>
              <a:tr h="259321">
                <a:tc>
                  <a:txBody>
                    <a:bodyPr/>
                    <a:lstStyle/>
                    <a:p>
                      <a:r>
                        <a:rPr lang="en-IN" sz="1400" b="1" dirty="0">
                          <a:solidFill>
                            <a:schemeClr val="tx1"/>
                          </a:solidFill>
                        </a:rPr>
                        <a:t>9</a:t>
                      </a:r>
                    </a:p>
                  </a:txBody>
                  <a:tcPr>
                    <a:solidFill>
                      <a:schemeClr val="accent6"/>
                    </a:solidFill>
                  </a:tcPr>
                </a:tc>
                <a:tc>
                  <a:txBody>
                    <a:bodyPr/>
                    <a:lstStyle/>
                    <a:p>
                      <a:r>
                        <a:rPr lang="en-IN" sz="1400" dirty="0"/>
                        <a:t>13</a:t>
                      </a:r>
                    </a:p>
                  </a:txBody>
                  <a:tcPr>
                    <a:noFill/>
                  </a:tcPr>
                </a:tc>
                <a:tc>
                  <a:txBody>
                    <a:bodyPr/>
                    <a:lstStyle/>
                    <a:p>
                      <a:r>
                        <a:rPr lang="en-IN" sz="1400" dirty="0"/>
                        <a:t>10</a:t>
                      </a:r>
                    </a:p>
                  </a:txBody>
                  <a:tcPr>
                    <a:noFill/>
                  </a:tcPr>
                </a:tc>
                <a:extLst>
                  <a:ext uri="{0D108BD9-81ED-4DB2-BD59-A6C34878D82A}">
                    <a16:rowId xmlns:a16="http://schemas.microsoft.com/office/drawing/2014/main" val="3788322261"/>
                  </a:ext>
                </a:extLst>
              </a:tr>
            </a:tbl>
          </a:graphicData>
        </a:graphic>
      </p:graphicFrame>
      <p:graphicFrame>
        <p:nvGraphicFramePr>
          <p:cNvPr id="17" name="Table 14">
            <a:extLst>
              <a:ext uri="{FF2B5EF4-FFF2-40B4-BE49-F238E27FC236}">
                <a16:creationId xmlns:a16="http://schemas.microsoft.com/office/drawing/2014/main" id="{DB9A384C-2AAC-4E95-B2A5-259EF967002E}"/>
              </a:ext>
            </a:extLst>
          </p:cNvPr>
          <p:cNvGraphicFramePr>
            <a:graphicFrameLocks noGrp="1"/>
          </p:cNvGraphicFramePr>
          <p:nvPr>
            <p:extLst>
              <p:ext uri="{D42A27DB-BD31-4B8C-83A1-F6EECF244321}">
                <p14:modId xmlns:p14="http://schemas.microsoft.com/office/powerpoint/2010/main" val="2577300284"/>
              </p:ext>
            </p:extLst>
          </p:nvPr>
        </p:nvGraphicFramePr>
        <p:xfrm>
          <a:off x="923153" y="3154278"/>
          <a:ext cx="7315086" cy="914400"/>
        </p:xfrm>
        <a:graphic>
          <a:graphicData uri="http://schemas.openxmlformats.org/drawingml/2006/table">
            <a:tbl>
              <a:tblPr firstRow="1" bandRow="1">
                <a:tableStyleId>{5C22544A-7EE6-4342-B048-85BDC9FD1C3A}</a:tableStyleId>
              </a:tblPr>
              <a:tblGrid>
                <a:gridCol w="2438362">
                  <a:extLst>
                    <a:ext uri="{9D8B030D-6E8A-4147-A177-3AD203B41FA5}">
                      <a16:colId xmlns:a16="http://schemas.microsoft.com/office/drawing/2014/main" val="2023279697"/>
                    </a:ext>
                  </a:extLst>
                </a:gridCol>
                <a:gridCol w="2438362">
                  <a:extLst>
                    <a:ext uri="{9D8B030D-6E8A-4147-A177-3AD203B41FA5}">
                      <a16:colId xmlns:a16="http://schemas.microsoft.com/office/drawing/2014/main" val="1656600714"/>
                    </a:ext>
                  </a:extLst>
                </a:gridCol>
                <a:gridCol w="2438362">
                  <a:extLst>
                    <a:ext uri="{9D8B030D-6E8A-4147-A177-3AD203B41FA5}">
                      <a16:colId xmlns:a16="http://schemas.microsoft.com/office/drawing/2014/main" val="293886267"/>
                    </a:ext>
                  </a:extLst>
                </a:gridCol>
              </a:tblGrid>
              <a:tr h="259321">
                <a:tc>
                  <a:txBody>
                    <a:bodyPr/>
                    <a:lstStyle/>
                    <a:p>
                      <a:r>
                        <a:rPr lang="en-IN" sz="1400" dirty="0"/>
                        <a:t>Sequential </a:t>
                      </a:r>
                      <a:r>
                        <a:rPr lang="en-IN" sz="1400" dirty="0" err="1"/>
                        <a:t>Frwd</a:t>
                      </a:r>
                      <a:r>
                        <a:rPr lang="en-IN" sz="1400" dirty="0"/>
                        <a:t> Selection</a:t>
                      </a:r>
                    </a:p>
                  </a:txBody>
                  <a:tcPr/>
                </a:tc>
                <a:tc>
                  <a:txBody>
                    <a:bodyPr/>
                    <a:lstStyle/>
                    <a:p>
                      <a:r>
                        <a:rPr lang="en-IN" sz="1400" dirty="0"/>
                        <a:t>Sequential </a:t>
                      </a:r>
                      <a:r>
                        <a:rPr lang="en-IN" sz="1400" dirty="0" err="1"/>
                        <a:t>Bkwd</a:t>
                      </a:r>
                      <a:r>
                        <a:rPr lang="en-IN" sz="1400" dirty="0"/>
                        <a:t> Elimination</a:t>
                      </a:r>
                    </a:p>
                  </a:txBody>
                  <a:tcPr/>
                </a:tc>
                <a:tc>
                  <a:txBody>
                    <a:bodyPr/>
                    <a:lstStyle/>
                    <a:p>
                      <a:r>
                        <a:rPr lang="en-IN" sz="1400" b="1" dirty="0">
                          <a:solidFill>
                            <a:schemeClr val="tx1"/>
                          </a:solidFill>
                        </a:rPr>
                        <a:t>Boruta Feature selection</a:t>
                      </a:r>
                    </a:p>
                  </a:txBody>
                  <a:tcPr>
                    <a:solidFill>
                      <a:schemeClr val="accent6"/>
                    </a:solidFill>
                  </a:tcPr>
                </a:tc>
                <a:extLst>
                  <a:ext uri="{0D108BD9-81ED-4DB2-BD59-A6C34878D82A}">
                    <a16:rowId xmlns:a16="http://schemas.microsoft.com/office/drawing/2014/main" val="1220602002"/>
                  </a:ext>
                </a:extLst>
              </a:tr>
              <a:tr h="259321">
                <a:tc>
                  <a:txBody>
                    <a:bodyPr/>
                    <a:lstStyle/>
                    <a:p>
                      <a:r>
                        <a:rPr lang="en-IN" sz="1400" b="0" dirty="0"/>
                        <a:t>91.803</a:t>
                      </a:r>
                    </a:p>
                  </a:txBody>
                  <a:tcPr>
                    <a:noFill/>
                  </a:tcPr>
                </a:tc>
                <a:tc>
                  <a:txBody>
                    <a:bodyPr/>
                    <a:lstStyle/>
                    <a:p>
                      <a:r>
                        <a:rPr lang="en-IN" sz="1400" dirty="0"/>
                        <a:t>88.5246</a:t>
                      </a:r>
                    </a:p>
                  </a:txBody>
                  <a:tcPr>
                    <a:noFill/>
                  </a:tcPr>
                </a:tc>
                <a:tc>
                  <a:txBody>
                    <a:bodyPr/>
                    <a:lstStyle/>
                    <a:p>
                      <a:r>
                        <a:rPr lang="en-IN" sz="1400" b="1" dirty="0">
                          <a:solidFill>
                            <a:schemeClr val="tx1"/>
                          </a:solidFill>
                        </a:rPr>
                        <a:t>91.8033</a:t>
                      </a:r>
                    </a:p>
                  </a:txBody>
                  <a:tcPr>
                    <a:solidFill>
                      <a:schemeClr val="accent6"/>
                    </a:solidFill>
                  </a:tcPr>
                </a:tc>
                <a:extLst>
                  <a:ext uri="{0D108BD9-81ED-4DB2-BD59-A6C34878D82A}">
                    <a16:rowId xmlns:a16="http://schemas.microsoft.com/office/drawing/2014/main" val="2854151783"/>
                  </a:ext>
                </a:extLst>
              </a:tr>
              <a:tr h="259321">
                <a:tc>
                  <a:txBody>
                    <a:bodyPr/>
                    <a:lstStyle/>
                    <a:p>
                      <a:r>
                        <a:rPr lang="en-IN" sz="1400" dirty="0"/>
                        <a:t>5</a:t>
                      </a:r>
                    </a:p>
                  </a:txBody>
                  <a:tcPr>
                    <a:noFill/>
                  </a:tcPr>
                </a:tc>
                <a:tc>
                  <a:txBody>
                    <a:bodyPr/>
                    <a:lstStyle/>
                    <a:p>
                      <a:r>
                        <a:rPr lang="en-IN" sz="1400" dirty="0"/>
                        <a:t>9</a:t>
                      </a:r>
                    </a:p>
                  </a:txBody>
                  <a:tcPr>
                    <a:noFill/>
                  </a:tcPr>
                </a:tc>
                <a:tc>
                  <a:txBody>
                    <a:bodyPr/>
                    <a:lstStyle/>
                    <a:p>
                      <a:r>
                        <a:rPr lang="en-IN" sz="1400" b="1" dirty="0">
                          <a:solidFill>
                            <a:schemeClr val="tx1"/>
                          </a:solidFill>
                        </a:rPr>
                        <a:t>6</a:t>
                      </a:r>
                    </a:p>
                  </a:txBody>
                  <a:tcPr>
                    <a:solidFill>
                      <a:schemeClr val="accent6"/>
                    </a:solidFill>
                  </a:tcPr>
                </a:tc>
                <a:extLst>
                  <a:ext uri="{0D108BD9-81ED-4DB2-BD59-A6C34878D82A}">
                    <a16:rowId xmlns:a16="http://schemas.microsoft.com/office/drawing/2014/main" val="3788322261"/>
                  </a:ext>
                </a:extLst>
              </a:tr>
            </a:tbl>
          </a:graphicData>
        </a:graphic>
      </p:graphicFrame>
      <p:graphicFrame>
        <p:nvGraphicFramePr>
          <p:cNvPr id="18" name="Table 14">
            <a:extLst>
              <a:ext uri="{FF2B5EF4-FFF2-40B4-BE49-F238E27FC236}">
                <a16:creationId xmlns:a16="http://schemas.microsoft.com/office/drawing/2014/main" id="{9AF8B4C6-3D70-4120-99AD-D325D581737C}"/>
              </a:ext>
            </a:extLst>
          </p:cNvPr>
          <p:cNvGraphicFramePr>
            <a:graphicFrameLocks noGrp="1"/>
          </p:cNvGraphicFramePr>
          <p:nvPr>
            <p:extLst>
              <p:ext uri="{D42A27DB-BD31-4B8C-83A1-F6EECF244321}">
                <p14:modId xmlns:p14="http://schemas.microsoft.com/office/powerpoint/2010/main" val="765092310"/>
              </p:ext>
            </p:extLst>
          </p:nvPr>
        </p:nvGraphicFramePr>
        <p:xfrm>
          <a:off x="923153" y="4912720"/>
          <a:ext cx="7315086" cy="914400"/>
        </p:xfrm>
        <a:graphic>
          <a:graphicData uri="http://schemas.openxmlformats.org/drawingml/2006/table">
            <a:tbl>
              <a:tblPr firstRow="1" bandRow="1">
                <a:tableStyleId>{5C22544A-7EE6-4342-B048-85BDC9FD1C3A}</a:tableStyleId>
              </a:tblPr>
              <a:tblGrid>
                <a:gridCol w="2438362">
                  <a:extLst>
                    <a:ext uri="{9D8B030D-6E8A-4147-A177-3AD203B41FA5}">
                      <a16:colId xmlns:a16="http://schemas.microsoft.com/office/drawing/2014/main" val="2023279697"/>
                    </a:ext>
                  </a:extLst>
                </a:gridCol>
                <a:gridCol w="2438362">
                  <a:extLst>
                    <a:ext uri="{9D8B030D-6E8A-4147-A177-3AD203B41FA5}">
                      <a16:colId xmlns:a16="http://schemas.microsoft.com/office/drawing/2014/main" val="1656600714"/>
                    </a:ext>
                  </a:extLst>
                </a:gridCol>
                <a:gridCol w="2438362">
                  <a:extLst>
                    <a:ext uri="{9D8B030D-6E8A-4147-A177-3AD203B41FA5}">
                      <a16:colId xmlns:a16="http://schemas.microsoft.com/office/drawing/2014/main" val="293886267"/>
                    </a:ext>
                  </a:extLst>
                </a:gridCol>
              </a:tblGrid>
              <a:tr h="259321">
                <a:tc>
                  <a:txBody>
                    <a:bodyPr/>
                    <a:lstStyle/>
                    <a:p>
                      <a:r>
                        <a:rPr lang="en-IN" sz="1400" dirty="0"/>
                        <a:t>Lasso </a:t>
                      </a:r>
                    </a:p>
                  </a:txBody>
                  <a:tcPr/>
                </a:tc>
                <a:tc>
                  <a:txBody>
                    <a:bodyPr/>
                    <a:lstStyle/>
                    <a:p>
                      <a:r>
                        <a:rPr lang="en-US" sz="1400" b="1" dirty="0">
                          <a:solidFill>
                            <a:schemeClr val="tx1"/>
                          </a:solidFill>
                        </a:rPr>
                        <a:t>D</a:t>
                      </a:r>
                      <a:r>
                        <a:rPr lang="en-IN" sz="1400" b="1" dirty="0" err="1">
                          <a:solidFill>
                            <a:schemeClr val="tx1"/>
                          </a:solidFill>
                        </a:rPr>
                        <a:t>ecision</a:t>
                      </a:r>
                      <a:r>
                        <a:rPr lang="en-IN" sz="1400" b="1" dirty="0">
                          <a:solidFill>
                            <a:schemeClr val="tx1"/>
                          </a:solidFill>
                        </a:rPr>
                        <a:t> tree</a:t>
                      </a:r>
                    </a:p>
                  </a:txBody>
                  <a:tcPr>
                    <a:solidFill>
                      <a:schemeClr val="accent6"/>
                    </a:solidFill>
                  </a:tcPr>
                </a:tc>
                <a:tc>
                  <a:txBody>
                    <a:bodyPr/>
                    <a:lstStyle/>
                    <a:p>
                      <a:r>
                        <a:rPr lang="en-IN" sz="1400" dirty="0"/>
                        <a:t>Genetic algorithm</a:t>
                      </a:r>
                    </a:p>
                  </a:txBody>
                  <a:tcPr/>
                </a:tc>
                <a:extLst>
                  <a:ext uri="{0D108BD9-81ED-4DB2-BD59-A6C34878D82A}">
                    <a16:rowId xmlns:a16="http://schemas.microsoft.com/office/drawing/2014/main" val="1220602002"/>
                  </a:ext>
                </a:extLst>
              </a:tr>
              <a:tr h="259321">
                <a:tc>
                  <a:txBody>
                    <a:bodyPr/>
                    <a:lstStyle/>
                    <a:p>
                      <a:r>
                        <a:rPr lang="en-IN" sz="1400" dirty="0"/>
                        <a:t>78.6885</a:t>
                      </a:r>
                    </a:p>
                  </a:txBody>
                  <a:tcPr>
                    <a:noFill/>
                  </a:tcPr>
                </a:tc>
                <a:tc>
                  <a:txBody>
                    <a:bodyPr/>
                    <a:lstStyle/>
                    <a:p>
                      <a:r>
                        <a:rPr lang="en-IN" sz="1400" b="1" dirty="0">
                          <a:solidFill>
                            <a:schemeClr val="tx1"/>
                          </a:solidFill>
                        </a:rPr>
                        <a:t>80.3279</a:t>
                      </a:r>
                    </a:p>
                  </a:txBody>
                  <a:tcPr>
                    <a:solidFill>
                      <a:schemeClr val="accent6"/>
                    </a:solidFill>
                  </a:tcPr>
                </a:tc>
                <a:tc>
                  <a:txBody>
                    <a:bodyPr/>
                    <a:lstStyle/>
                    <a:p>
                      <a:r>
                        <a:rPr lang="en-IN" sz="1400" b="0" dirty="0"/>
                        <a:t>80.327</a:t>
                      </a:r>
                    </a:p>
                  </a:txBody>
                  <a:tcPr>
                    <a:noFill/>
                  </a:tcPr>
                </a:tc>
                <a:extLst>
                  <a:ext uri="{0D108BD9-81ED-4DB2-BD59-A6C34878D82A}">
                    <a16:rowId xmlns:a16="http://schemas.microsoft.com/office/drawing/2014/main" val="2854151783"/>
                  </a:ext>
                </a:extLst>
              </a:tr>
              <a:tr h="259321">
                <a:tc>
                  <a:txBody>
                    <a:bodyPr/>
                    <a:lstStyle/>
                    <a:p>
                      <a:r>
                        <a:rPr lang="en-IN" sz="1400" dirty="0"/>
                        <a:t>7</a:t>
                      </a:r>
                    </a:p>
                  </a:txBody>
                  <a:tcPr>
                    <a:noFill/>
                  </a:tcPr>
                </a:tc>
                <a:tc>
                  <a:txBody>
                    <a:bodyPr/>
                    <a:lstStyle/>
                    <a:p>
                      <a:r>
                        <a:rPr lang="en-IN" sz="1400" b="1" dirty="0">
                          <a:solidFill>
                            <a:schemeClr val="tx1"/>
                          </a:solidFill>
                        </a:rPr>
                        <a:t>3</a:t>
                      </a:r>
                    </a:p>
                  </a:txBody>
                  <a:tcPr>
                    <a:solidFill>
                      <a:schemeClr val="accent6"/>
                    </a:solidFill>
                  </a:tcPr>
                </a:tc>
                <a:tc>
                  <a:txBody>
                    <a:bodyPr/>
                    <a:lstStyle/>
                    <a:p>
                      <a:r>
                        <a:rPr lang="en-IN" sz="1400" dirty="0"/>
                        <a:t>5</a:t>
                      </a:r>
                    </a:p>
                  </a:txBody>
                  <a:tcPr>
                    <a:noFill/>
                  </a:tcPr>
                </a:tc>
                <a:extLst>
                  <a:ext uri="{0D108BD9-81ED-4DB2-BD59-A6C34878D82A}">
                    <a16:rowId xmlns:a16="http://schemas.microsoft.com/office/drawing/2014/main" val="3788322261"/>
                  </a:ext>
                </a:extLst>
              </a:tr>
            </a:tbl>
          </a:graphicData>
        </a:graphic>
      </p:graphicFrame>
      <p:sp>
        <p:nvSpPr>
          <p:cNvPr id="19" name="TextBox 18">
            <a:extLst>
              <a:ext uri="{FF2B5EF4-FFF2-40B4-BE49-F238E27FC236}">
                <a16:creationId xmlns:a16="http://schemas.microsoft.com/office/drawing/2014/main" id="{7C102110-962E-4C9A-A0AF-827D4FA6AE1D}"/>
              </a:ext>
            </a:extLst>
          </p:cNvPr>
          <p:cNvSpPr txBox="1"/>
          <p:nvPr/>
        </p:nvSpPr>
        <p:spPr>
          <a:xfrm>
            <a:off x="75414" y="4563085"/>
            <a:ext cx="4586908" cy="338554"/>
          </a:xfrm>
          <a:prstGeom prst="rect">
            <a:avLst/>
          </a:prstGeom>
          <a:noFill/>
        </p:spPr>
        <p:txBody>
          <a:bodyPr wrap="square">
            <a:spAutoFit/>
          </a:bodyPr>
          <a:lstStyle/>
          <a:p>
            <a:pPr algn="just"/>
            <a:r>
              <a:rPr lang="en-IN" sz="1600" b="1" dirty="0">
                <a:solidFill>
                  <a:srgbClr val="000000"/>
                </a:solidFill>
                <a:latin typeface="inter-regular"/>
              </a:rPr>
              <a:t>Embedded</a:t>
            </a:r>
            <a:r>
              <a:rPr lang="en-IN" sz="1600" b="1" i="0" dirty="0">
                <a:solidFill>
                  <a:srgbClr val="000000"/>
                </a:solidFill>
                <a:effectLst/>
                <a:latin typeface="inter-regular"/>
              </a:rPr>
              <a:t> method:</a:t>
            </a:r>
          </a:p>
        </p:txBody>
      </p:sp>
      <p:sp>
        <p:nvSpPr>
          <p:cNvPr id="20" name="TextBox 19">
            <a:extLst>
              <a:ext uri="{FF2B5EF4-FFF2-40B4-BE49-F238E27FC236}">
                <a16:creationId xmlns:a16="http://schemas.microsoft.com/office/drawing/2014/main" id="{AA867335-5991-4CB9-80D0-0B7D0769388F}"/>
              </a:ext>
            </a:extLst>
          </p:cNvPr>
          <p:cNvSpPr txBox="1"/>
          <p:nvPr/>
        </p:nvSpPr>
        <p:spPr>
          <a:xfrm>
            <a:off x="75414" y="2822240"/>
            <a:ext cx="4586908" cy="338554"/>
          </a:xfrm>
          <a:prstGeom prst="rect">
            <a:avLst/>
          </a:prstGeom>
          <a:noFill/>
        </p:spPr>
        <p:txBody>
          <a:bodyPr wrap="square">
            <a:spAutoFit/>
          </a:bodyPr>
          <a:lstStyle/>
          <a:p>
            <a:pPr algn="just"/>
            <a:r>
              <a:rPr lang="en-IN" sz="1600" b="1" dirty="0">
                <a:solidFill>
                  <a:srgbClr val="000000"/>
                </a:solidFill>
                <a:latin typeface="inter-regular"/>
              </a:rPr>
              <a:t>Wrapper</a:t>
            </a:r>
            <a:r>
              <a:rPr lang="en-IN" sz="1600" b="1" i="0" dirty="0">
                <a:solidFill>
                  <a:srgbClr val="000000"/>
                </a:solidFill>
                <a:effectLst/>
                <a:latin typeface="inter-regular"/>
              </a:rPr>
              <a:t> method:</a:t>
            </a:r>
          </a:p>
        </p:txBody>
      </p:sp>
      <p:sp>
        <p:nvSpPr>
          <p:cNvPr id="21" name="TextBox 20">
            <a:extLst>
              <a:ext uri="{FF2B5EF4-FFF2-40B4-BE49-F238E27FC236}">
                <a16:creationId xmlns:a16="http://schemas.microsoft.com/office/drawing/2014/main" id="{E827404D-89A0-4580-9123-C2EFCFB70D6E}"/>
              </a:ext>
            </a:extLst>
          </p:cNvPr>
          <p:cNvSpPr txBox="1"/>
          <p:nvPr/>
        </p:nvSpPr>
        <p:spPr>
          <a:xfrm>
            <a:off x="902558" y="4129224"/>
            <a:ext cx="4586908" cy="338554"/>
          </a:xfrm>
          <a:prstGeom prst="rect">
            <a:avLst/>
          </a:prstGeom>
          <a:noFill/>
        </p:spPr>
        <p:txBody>
          <a:bodyPr wrap="square">
            <a:spAutoFit/>
          </a:bodyPr>
          <a:lstStyle/>
          <a:p>
            <a:pPr algn="just"/>
            <a:r>
              <a:rPr lang="en-IN" sz="1600" i="0" dirty="0">
                <a:solidFill>
                  <a:srgbClr val="000000"/>
                </a:solidFill>
                <a:effectLst/>
                <a:latin typeface="inter-regular"/>
              </a:rPr>
              <a:t>Features: </a:t>
            </a:r>
            <a:r>
              <a:rPr lang="en-IN" sz="1600" b="1" i="0" dirty="0">
                <a:solidFill>
                  <a:srgbClr val="000000"/>
                </a:solidFill>
                <a:effectLst/>
                <a:latin typeface="inter-regular"/>
              </a:rPr>
              <a:t>'cp', '</a:t>
            </a:r>
            <a:r>
              <a:rPr lang="en-IN" sz="1600" b="1" i="0" dirty="0" err="1">
                <a:solidFill>
                  <a:srgbClr val="000000"/>
                </a:solidFill>
                <a:effectLst/>
                <a:latin typeface="inter-regular"/>
              </a:rPr>
              <a:t>thal</a:t>
            </a:r>
            <a:r>
              <a:rPr lang="en-IN" sz="1600" b="1" i="0" dirty="0">
                <a:solidFill>
                  <a:srgbClr val="000000"/>
                </a:solidFill>
                <a:effectLst/>
                <a:latin typeface="inter-regular"/>
              </a:rPr>
              <a:t>', 'ca', 'slope', '</a:t>
            </a:r>
            <a:r>
              <a:rPr lang="en-IN" sz="1600" b="1" i="0" dirty="0" err="1">
                <a:solidFill>
                  <a:srgbClr val="000000"/>
                </a:solidFill>
                <a:effectLst/>
                <a:latin typeface="inter-regular"/>
              </a:rPr>
              <a:t>exang</a:t>
            </a:r>
            <a:r>
              <a:rPr lang="en-IN" sz="1600" b="1" i="0" dirty="0">
                <a:solidFill>
                  <a:srgbClr val="000000"/>
                </a:solidFill>
                <a:effectLst/>
                <a:latin typeface="inter-regular"/>
              </a:rPr>
              <a:t>', 'sex'</a:t>
            </a:r>
          </a:p>
        </p:txBody>
      </p:sp>
      <p:sp>
        <p:nvSpPr>
          <p:cNvPr id="22" name="TextBox 21">
            <a:extLst>
              <a:ext uri="{FF2B5EF4-FFF2-40B4-BE49-F238E27FC236}">
                <a16:creationId xmlns:a16="http://schemas.microsoft.com/office/drawing/2014/main" id="{488267F7-A381-46A4-933B-45FC508AB1EA}"/>
              </a:ext>
            </a:extLst>
          </p:cNvPr>
          <p:cNvSpPr txBox="1"/>
          <p:nvPr/>
        </p:nvSpPr>
        <p:spPr>
          <a:xfrm>
            <a:off x="902557" y="2472605"/>
            <a:ext cx="8827851" cy="338554"/>
          </a:xfrm>
          <a:prstGeom prst="rect">
            <a:avLst/>
          </a:prstGeom>
          <a:noFill/>
        </p:spPr>
        <p:txBody>
          <a:bodyPr wrap="square">
            <a:spAutoFit/>
          </a:bodyPr>
          <a:lstStyle/>
          <a:p>
            <a:pPr algn="just"/>
            <a:r>
              <a:rPr lang="en-IN" sz="1600" dirty="0">
                <a:solidFill>
                  <a:srgbClr val="000000"/>
                </a:solidFill>
                <a:latin typeface="inter-regular"/>
              </a:rPr>
              <a:t>Features</a:t>
            </a:r>
            <a:r>
              <a:rPr lang="en-IN" sz="1600" i="0" dirty="0">
                <a:solidFill>
                  <a:srgbClr val="000000"/>
                </a:solidFill>
                <a:effectLst/>
                <a:latin typeface="inter-regular"/>
              </a:rPr>
              <a:t>:</a:t>
            </a:r>
            <a:r>
              <a:rPr lang="en-IN" sz="1600" b="1" i="0" dirty="0">
                <a:solidFill>
                  <a:srgbClr val="000000"/>
                </a:solidFill>
                <a:effectLst/>
                <a:latin typeface="inter-regular"/>
              </a:rPr>
              <a:t> 'cp', '</a:t>
            </a:r>
            <a:r>
              <a:rPr lang="en-IN" sz="1600" b="1" i="0" dirty="0" err="1">
                <a:solidFill>
                  <a:srgbClr val="000000"/>
                </a:solidFill>
                <a:effectLst/>
                <a:latin typeface="inter-regular"/>
              </a:rPr>
              <a:t>thal</a:t>
            </a:r>
            <a:r>
              <a:rPr lang="en-IN" sz="1600" b="1" i="0" dirty="0">
                <a:solidFill>
                  <a:srgbClr val="000000"/>
                </a:solidFill>
                <a:effectLst/>
                <a:latin typeface="inter-regular"/>
              </a:rPr>
              <a:t>', 'ca', 'slope', '</a:t>
            </a:r>
            <a:r>
              <a:rPr lang="en-IN" sz="1600" b="1" i="0" dirty="0" err="1">
                <a:solidFill>
                  <a:srgbClr val="000000"/>
                </a:solidFill>
                <a:effectLst/>
                <a:latin typeface="inter-regular"/>
              </a:rPr>
              <a:t>oldpeak</a:t>
            </a:r>
            <a:r>
              <a:rPr lang="en-IN" sz="1600" b="1" i="0" dirty="0">
                <a:solidFill>
                  <a:srgbClr val="000000"/>
                </a:solidFill>
                <a:effectLst/>
                <a:latin typeface="inter-regular"/>
              </a:rPr>
              <a:t>', '</a:t>
            </a:r>
            <a:r>
              <a:rPr lang="en-IN" sz="1600" b="1" i="0" dirty="0" err="1">
                <a:solidFill>
                  <a:srgbClr val="000000"/>
                </a:solidFill>
                <a:effectLst/>
                <a:latin typeface="inter-regular"/>
              </a:rPr>
              <a:t>exang</a:t>
            </a:r>
            <a:r>
              <a:rPr lang="en-IN" sz="1600" b="1" i="0" dirty="0">
                <a:solidFill>
                  <a:srgbClr val="000000"/>
                </a:solidFill>
                <a:effectLst/>
                <a:latin typeface="inter-regular"/>
              </a:rPr>
              <a:t>', </a:t>
            </a:r>
            <a:r>
              <a:rPr lang="en-IN" sz="1600" b="1" i="0" dirty="0" err="1">
                <a:solidFill>
                  <a:srgbClr val="000000"/>
                </a:solidFill>
                <a:effectLst/>
                <a:latin typeface="inter-regular"/>
              </a:rPr>
              <a:t>thalach</a:t>
            </a:r>
            <a:r>
              <a:rPr lang="en-IN" sz="1600" b="1" i="0" dirty="0">
                <a:solidFill>
                  <a:srgbClr val="000000"/>
                </a:solidFill>
                <a:effectLst/>
                <a:latin typeface="inter-regular"/>
              </a:rPr>
              <a:t>', '</a:t>
            </a:r>
            <a:r>
              <a:rPr lang="en-IN" sz="1600" b="1" i="0" dirty="0" err="1">
                <a:solidFill>
                  <a:srgbClr val="000000"/>
                </a:solidFill>
                <a:effectLst/>
                <a:latin typeface="inter-regular"/>
              </a:rPr>
              <a:t>chol</a:t>
            </a:r>
            <a:r>
              <a:rPr lang="en-IN" sz="1600" b="1" i="0" dirty="0">
                <a:solidFill>
                  <a:srgbClr val="000000"/>
                </a:solidFill>
                <a:effectLst/>
                <a:latin typeface="inter-regular"/>
              </a:rPr>
              <a:t>', 'sex'</a:t>
            </a:r>
          </a:p>
        </p:txBody>
      </p:sp>
      <p:sp>
        <p:nvSpPr>
          <p:cNvPr id="23" name="TextBox 22">
            <a:extLst>
              <a:ext uri="{FF2B5EF4-FFF2-40B4-BE49-F238E27FC236}">
                <a16:creationId xmlns:a16="http://schemas.microsoft.com/office/drawing/2014/main" id="{BB3B6BF6-73F7-4457-A3F8-E4565E8BBC92}"/>
              </a:ext>
            </a:extLst>
          </p:cNvPr>
          <p:cNvSpPr txBox="1"/>
          <p:nvPr/>
        </p:nvSpPr>
        <p:spPr>
          <a:xfrm>
            <a:off x="902558" y="5861707"/>
            <a:ext cx="4586908" cy="338554"/>
          </a:xfrm>
          <a:prstGeom prst="rect">
            <a:avLst/>
          </a:prstGeom>
          <a:noFill/>
        </p:spPr>
        <p:txBody>
          <a:bodyPr wrap="square">
            <a:spAutoFit/>
          </a:bodyPr>
          <a:lstStyle/>
          <a:p>
            <a:pPr algn="just"/>
            <a:r>
              <a:rPr lang="en-IN" sz="1600" i="0" dirty="0">
                <a:solidFill>
                  <a:srgbClr val="000000"/>
                </a:solidFill>
                <a:effectLst/>
                <a:latin typeface="inter-regular"/>
              </a:rPr>
              <a:t>Features:  </a:t>
            </a:r>
            <a:r>
              <a:rPr lang="en-IN" sz="1600" b="1" i="0" dirty="0">
                <a:solidFill>
                  <a:srgbClr val="000000"/>
                </a:solidFill>
                <a:effectLst/>
                <a:latin typeface="inter-regular"/>
              </a:rPr>
              <a:t>'cp', 'ca', '</a:t>
            </a:r>
            <a:r>
              <a:rPr lang="en-IN" sz="1600" b="1" i="0" dirty="0" err="1">
                <a:solidFill>
                  <a:srgbClr val="000000"/>
                </a:solidFill>
                <a:effectLst/>
                <a:latin typeface="inter-regular"/>
              </a:rPr>
              <a:t>thal</a:t>
            </a:r>
            <a:r>
              <a:rPr lang="en-IN" sz="1600" b="1" i="0" dirty="0">
                <a:solidFill>
                  <a:srgbClr val="000000"/>
                </a:solidFill>
                <a:effectLst/>
                <a:latin typeface="inter-regular"/>
              </a:rPr>
              <a:t>'</a:t>
            </a:r>
          </a:p>
        </p:txBody>
      </p:sp>
    </p:spTree>
    <p:extLst>
      <p:ext uri="{BB962C8B-B14F-4D97-AF65-F5344CB8AC3E}">
        <p14:creationId xmlns:p14="http://schemas.microsoft.com/office/powerpoint/2010/main" val="42231343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8D4669DB-FB9D-493D-B0D9-33EFC82790DE}"/>
              </a:ext>
            </a:extLst>
          </p:cNvPr>
          <p:cNvPicPr>
            <a:picLocks noChangeAspect="1"/>
          </p:cNvPicPr>
          <p:nvPr/>
        </p:nvPicPr>
        <p:blipFill>
          <a:blip r:embed="rId3">
            <a:lum/>
            <a:alphaModFix/>
          </a:blip>
          <a:srcRect/>
          <a:stretch>
            <a:fillRect/>
          </a:stretch>
        </p:blipFill>
        <p:spPr>
          <a:xfrm>
            <a:off x="0" y="6553084"/>
            <a:ext cx="9144000" cy="308161"/>
          </a:xfrm>
          <a:prstGeom prst="rect">
            <a:avLst/>
          </a:prstGeom>
          <a:noFill/>
          <a:ln cap="flat">
            <a:noFill/>
          </a:ln>
        </p:spPr>
      </p:pic>
      <p:sp>
        <p:nvSpPr>
          <p:cNvPr id="3" name="Text Box 4">
            <a:extLst>
              <a:ext uri="{FF2B5EF4-FFF2-40B4-BE49-F238E27FC236}">
                <a16:creationId xmlns:a16="http://schemas.microsoft.com/office/drawing/2014/main" id="{6F8CE000-001B-477B-AEB1-7B2DF82125E0}"/>
              </a:ext>
            </a:extLst>
          </p:cNvPr>
          <p:cNvSpPr/>
          <p:nvPr/>
        </p:nvSpPr>
        <p:spPr>
          <a:xfrm>
            <a:off x="2299322" y="6550203"/>
            <a:ext cx="4545363" cy="307082"/>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a:effectLst>
            <a:outerShdw dist="17819" dir="2700000" algn="tl">
              <a:srgbClr val="000000"/>
            </a:outerShdw>
          </a:effectLst>
        </p:spPr>
        <p:txBody>
          <a:bodyPr vert="horz" wrap="non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1400" b="1" i="0" u="none" strike="noStrike" kern="1200" cap="none" spc="0" baseline="0">
                <a:solidFill>
                  <a:srgbClr val="47FFD1"/>
                </a:solidFill>
                <a:uFillTx/>
                <a:latin typeface="Comic Sans MS" pitchFamily="66"/>
                <a:ea typeface="Microsoft YaHei" pitchFamily="2"/>
                <a:cs typeface="Lucida Sans" pitchFamily="2"/>
              </a:rPr>
              <a:t>Department of Computer Science and Engineering</a:t>
            </a:r>
          </a:p>
        </p:txBody>
      </p:sp>
      <p:pic>
        <p:nvPicPr>
          <p:cNvPr id="4" name="Picture 2">
            <a:extLst>
              <a:ext uri="{FF2B5EF4-FFF2-40B4-BE49-F238E27FC236}">
                <a16:creationId xmlns:a16="http://schemas.microsoft.com/office/drawing/2014/main" id="{EFEADD32-D603-4B11-8D98-E7FD48C6130F}"/>
              </a:ext>
            </a:extLst>
          </p:cNvPr>
          <p:cNvPicPr>
            <a:picLocks noChangeAspect="1"/>
          </p:cNvPicPr>
          <p:nvPr/>
        </p:nvPicPr>
        <p:blipFill>
          <a:blip r:embed="rId3">
            <a:lum/>
            <a:alphaModFix/>
          </a:blip>
          <a:srcRect/>
          <a:stretch>
            <a:fillRect/>
          </a:stretch>
        </p:blipFill>
        <p:spPr>
          <a:xfrm>
            <a:off x="0" y="0"/>
            <a:ext cx="9144000" cy="609484"/>
          </a:xfrm>
          <a:prstGeom prst="rect">
            <a:avLst/>
          </a:prstGeom>
          <a:noFill/>
          <a:ln cap="flat">
            <a:noFill/>
          </a:ln>
        </p:spPr>
      </p:pic>
      <p:sp>
        <p:nvSpPr>
          <p:cNvPr id="5" name="Rectangle: Rounded Corners 3">
            <a:extLst>
              <a:ext uri="{FF2B5EF4-FFF2-40B4-BE49-F238E27FC236}">
                <a16:creationId xmlns:a16="http://schemas.microsoft.com/office/drawing/2014/main" id="{6BBED2D9-BCDF-4E94-8182-A159447629CE}"/>
              </a:ext>
            </a:extLst>
          </p:cNvPr>
          <p:cNvSpPr/>
          <p:nvPr/>
        </p:nvSpPr>
        <p:spPr>
          <a:xfrm>
            <a:off x="8550362" y="6553084"/>
            <a:ext cx="593637" cy="306360"/>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0066"/>
          </a:solidFill>
          <a:ln w="12600" cap="flat">
            <a:solidFill>
              <a:srgbClr val="000000"/>
            </a:solidFill>
            <a:prstDash val="solid"/>
            <a:miter/>
          </a:ln>
        </p:spPr>
        <p:txBody>
          <a:bodyPr vert="horz" wrap="square" lIns="90004" tIns="46798" rIns="90004" bIns="46798" anchor="ctr" anchorCtr="1" compatLnSpc="1">
            <a:normAutofit fontScale="92500" lnSpcReduction="20000"/>
          </a:bodyPr>
          <a:lstStyle/>
          <a:p>
            <a:pPr marL="0" marR="0" lvl="0" indent="0" algn="ctr" defTabSz="914400" rtl="0" fontAlgn="auto" hangingPunct="1">
              <a:lnSpc>
                <a:spcPct val="8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AB8CC7BD-5D93-4C0A-AAD8-B765ACB170F4}" type="slidenum">
              <a:t>34</a:t>
            </a:fld>
            <a:endParaRPr lang="en-US" sz="1400" b="1" i="0" u="none" strike="noStrike" kern="1200" cap="none" spc="0" baseline="0">
              <a:solidFill>
                <a:srgbClr val="FFFFFF"/>
              </a:solidFill>
              <a:uFillTx/>
              <a:latin typeface="Comic Sans MS" pitchFamily="66"/>
              <a:ea typeface="Microsoft YaHei" pitchFamily="2"/>
              <a:cs typeface="Lucida Sans" pitchFamily="2"/>
            </a:endParaRPr>
          </a:p>
        </p:txBody>
      </p:sp>
      <p:sp>
        <p:nvSpPr>
          <p:cNvPr id="6" name="Date Placeholder 7">
            <a:extLst>
              <a:ext uri="{FF2B5EF4-FFF2-40B4-BE49-F238E27FC236}">
                <a16:creationId xmlns:a16="http://schemas.microsoft.com/office/drawing/2014/main" id="{D0C2D5F8-2A4E-45AD-9E19-29D2B63406A3}"/>
              </a:ext>
            </a:extLst>
          </p:cNvPr>
          <p:cNvSpPr/>
          <p:nvPr/>
        </p:nvSpPr>
        <p:spPr>
          <a:xfrm>
            <a:off x="0" y="6564239"/>
            <a:ext cx="1447915" cy="41291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norm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5E5B1732-3D3F-4E1A-AD91-1223FC4CF4BB}" type="datetime1">
              <a:rPr lang="en-US" sz="1400" b="1" i="0" u="none" strike="noStrike" kern="1200" cap="none" spc="0" baseline="0">
                <a:solidFill>
                  <a:srgbClr val="FF0066"/>
                </a:solidFill>
                <a:uFillTx/>
                <a:latin typeface="Arial Rounded MT Bold" pitchFamily="34"/>
                <a:ea typeface="Microsoft YaHei" pitchFamily="2"/>
                <a:cs typeface="Lucida Sans" pitchFamily="2"/>
              </a:rPr>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t>4/18/2023</a:t>
            </a:fld>
            <a:endParaRPr lang="en-US" sz="1400" b="1" i="0" u="none" strike="noStrike" kern="1200" cap="none" spc="0" baseline="0">
              <a:solidFill>
                <a:srgbClr val="FF0066"/>
              </a:solidFill>
              <a:uFillTx/>
              <a:latin typeface="Arial Rounded MT Bold" pitchFamily="34"/>
              <a:ea typeface="Microsoft YaHei" pitchFamily="2"/>
              <a:cs typeface="Lucida Sans" pitchFamily="2"/>
            </a:endParaRPr>
          </a:p>
        </p:txBody>
      </p:sp>
      <p:sp>
        <p:nvSpPr>
          <p:cNvPr id="7" name="TextBox 8">
            <a:extLst>
              <a:ext uri="{FF2B5EF4-FFF2-40B4-BE49-F238E27FC236}">
                <a16:creationId xmlns:a16="http://schemas.microsoft.com/office/drawing/2014/main" id="{9BE241AC-2867-401B-8952-98D39C4F5A63}"/>
              </a:ext>
            </a:extLst>
          </p:cNvPr>
          <p:cNvSpPr/>
          <p:nvPr/>
        </p:nvSpPr>
        <p:spPr>
          <a:xfrm>
            <a:off x="919081" y="0"/>
            <a:ext cx="7305836" cy="47483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500" b="1" i="0" u="none" strike="noStrike" kern="1200" cap="none" spc="0" baseline="0">
                <a:solidFill>
                  <a:srgbClr val="47FFD1"/>
                </a:solidFill>
                <a:uFillTx/>
                <a:latin typeface="Comic Sans MS" pitchFamily="66"/>
                <a:ea typeface="Microsoft YaHei" pitchFamily="2"/>
                <a:cs typeface="Lucida Sans" pitchFamily="2"/>
              </a:rPr>
              <a:t>Mepco Schlenk Engineering College </a:t>
            </a:r>
            <a:r>
              <a:rPr lang="en-US" sz="1800" b="1" i="0" u="none" strike="noStrike" kern="1200" cap="none" spc="0" baseline="0">
                <a:solidFill>
                  <a:srgbClr val="47FFD1"/>
                </a:solidFill>
                <a:uFillTx/>
                <a:latin typeface="Comic Sans MS" pitchFamily="66"/>
                <a:ea typeface="Microsoft YaHei" pitchFamily="2"/>
                <a:cs typeface="Lucida Sans" pitchFamily="2"/>
              </a:rPr>
              <a:t>(Autonomous)</a:t>
            </a:r>
          </a:p>
        </p:txBody>
      </p:sp>
      <p:sp>
        <p:nvSpPr>
          <p:cNvPr id="8" name="Oval 11">
            <a:extLst>
              <a:ext uri="{FF2B5EF4-FFF2-40B4-BE49-F238E27FC236}">
                <a16:creationId xmlns:a16="http://schemas.microsoft.com/office/drawing/2014/main" id="{E67FA03A-95C6-4908-B4C7-A0B37595DAFE}"/>
              </a:ext>
            </a:extLst>
          </p:cNvPr>
          <p:cNvSpPr/>
          <p:nvPr/>
        </p:nvSpPr>
        <p:spPr>
          <a:xfrm>
            <a:off x="8354881" y="20519"/>
            <a:ext cx="777962" cy="777962"/>
          </a:xfrm>
          <a:custGeom>
            <a:avLst/>
            <a:gdLst>
              <a:gd name="f0" fmla="val 10800000"/>
              <a:gd name="f1" fmla="val 5400000"/>
              <a:gd name="f2" fmla="val 180"/>
              <a:gd name="f3" fmla="val w"/>
              <a:gd name="f4" fmla="val h"/>
              <a:gd name="f5" fmla="val 0"/>
              <a:gd name="f6" fmla="val 21600"/>
              <a:gd name="f7" fmla="*/ 5419351 1 1725033"/>
              <a:gd name="f8" fmla="*/ 10800 10800 1"/>
              <a:gd name="f9" fmla="+- 0 0 360"/>
              <a:gd name="f10" fmla="val 10800"/>
              <a:gd name="f11" fmla="+- 0 0 0"/>
              <a:gd name="f12" fmla="*/ f3 1 21600"/>
              <a:gd name="f13" fmla="*/ f4 1 21600"/>
              <a:gd name="f14" fmla="*/ 0 f7 1"/>
              <a:gd name="f15" fmla="*/ f5 f0 1"/>
              <a:gd name="f16" fmla="*/ f9 f0 1"/>
              <a:gd name="f17" fmla="+- f6 0 f5"/>
              <a:gd name="f18" fmla="*/ f11 f0 1"/>
              <a:gd name="f19" fmla="*/ f14 1 f2"/>
              <a:gd name="f20" fmla="*/ f15 1 f2"/>
              <a:gd name="f21" fmla="*/ f16 1 f2"/>
              <a:gd name="f22" fmla="*/ f17 1 21600"/>
              <a:gd name="f23" fmla="*/ f18 1 f2"/>
              <a:gd name="f24" fmla="+- 0 0 f19"/>
              <a:gd name="f25" fmla="+- f20 0 f1"/>
              <a:gd name="f26" fmla="+- f21 0 f1"/>
              <a:gd name="f27" fmla="*/ 3163 f22 1"/>
              <a:gd name="f28" fmla="*/ 18437 f22 1"/>
              <a:gd name="f29" fmla="*/ 10800 f22 1"/>
              <a:gd name="f30" fmla="*/ 0 f22 1"/>
              <a:gd name="f31" fmla="*/ 21600 f22 1"/>
              <a:gd name="f32" fmla="+- f23 0 f1"/>
              <a:gd name="f33" fmla="*/ f24 f0 1"/>
              <a:gd name="f34" fmla="+- f26 0 f25"/>
              <a:gd name="f35" fmla="*/ f29 1 f22"/>
              <a:gd name="f36" fmla="*/ f30 1 f22"/>
              <a:gd name="f37" fmla="*/ f27 1 f22"/>
              <a:gd name="f38" fmla="*/ f28 1 f22"/>
              <a:gd name="f39" fmla="*/ f31 1 f22"/>
              <a:gd name="f40" fmla="*/ f33 1 f7"/>
              <a:gd name="f41" fmla="*/ f37 f12 1"/>
              <a:gd name="f42" fmla="*/ f38 f12 1"/>
              <a:gd name="f43" fmla="*/ f38 f13 1"/>
              <a:gd name="f44" fmla="*/ f37 f13 1"/>
              <a:gd name="f45" fmla="*/ f35 f12 1"/>
              <a:gd name="f46" fmla="*/ f36 f13 1"/>
              <a:gd name="f47" fmla="*/ f36 f12 1"/>
              <a:gd name="f48" fmla="*/ f35 f13 1"/>
              <a:gd name="f49" fmla="*/ f39 f13 1"/>
              <a:gd name="f50" fmla="*/ f39 f12 1"/>
              <a:gd name="f51" fmla="+- f40 0 f1"/>
              <a:gd name="f52" fmla="+- f51 f1 0"/>
              <a:gd name="f53" fmla="*/ f52 f7 1"/>
              <a:gd name="f54" fmla="*/ f53 1 f0"/>
              <a:gd name="f55" fmla="+- 0 0 f54"/>
              <a:gd name="f56" fmla="+- 0 0 f55"/>
              <a:gd name="f57" fmla="*/ f56 f0 1"/>
              <a:gd name="f58" fmla="*/ f57 1 f7"/>
              <a:gd name="f59" fmla="+- f58 0 f1"/>
              <a:gd name="f60" fmla="cos 1 f59"/>
              <a:gd name="f61" fmla="sin 1 f59"/>
              <a:gd name="f62" fmla="+- 0 0 f60"/>
              <a:gd name="f63" fmla="+- 0 0 f61"/>
              <a:gd name="f64" fmla="+- 0 0 f62"/>
              <a:gd name="f65" fmla="+- 0 0 f63"/>
              <a:gd name="f66" fmla="val f64"/>
              <a:gd name="f67" fmla="val f65"/>
              <a:gd name="f68" fmla="+- 0 0 f66"/>
              <a:gd name="f69" fmla="+- 0 0 f67"/>
              <a:gd name="f70" fmla="*/ 10800 f68 1"/>
              <a:gd name="f71" fmla="*/ 10800 f69 1"/>
              <a:gd name="f72" fmla="*/ f70 f70 1"/>
              <a:gd name="f73" fmla="*/ f71 f71 1"/>
              <a:gd name="f74" fmla="+- f72 f73 0"/>
              <a:gd name="f75" fmla="sqrt f74"/>
              <a:gd name="f76" fmla="*/ f8 1 f75"/>
              <a:gd name="f77" fmla="*/ f68 f76 1"/>
              <a:gd name="f78" fmla="*/ f69 f76 1"/>
              <a:gd name="f79" fmla="+- 10800 0 f77"/>
              <a:gd name="f80" fmla="+- 10800 0 f78"/>
            </a:gdLst>
            <a:ahLst/>
            <a:cxnLst>
              <a:cxn ang="3cd4">
                <a:pos x="hc" y="t"/>
              </a:cxn>
              <a:cxn ang="0">
                <a:pos x="r" y="vc"/>
              </a:cxn>
              <a:cxn ang="cd4">
                <a:pos x="hc" y="b"/>
              </a:cxn>
              <a:cxn ang="cd2">
                <a:pos x="l" y="vc"/>
              </a:cxn>
              <a:cxn ang="f32">
                <a:pos x="f45" y="f46"/>
              </a:cxn>
              <a:cxn ang="f32">
                <a:pos x="f41" y="f44"/>
              </a:cxn>
              <a:cxn ang="f32">
                <a:pos x="f47" y="f48"/>
              </a:cxn>
              <a:cxn ang="f32">
                <a:pos x="f41" y="f43"/>
              </a:cxn>
              <a:cxn ang="f32">
                <a:pos x="f45" y="f49"/>
              </a:cxn>
              <a:cxn ang="f32">
                <a:pos x="f42" y="f43"/>
              </a:cxn>
              <a:cxn ang="f32">
                <a:pos x="f50" y="f48"/>
              </a:cxn>
              <a:cxn ang="f32">
                <a:pos x="f42" y="f44"/>
              </a:cxn>
            </a:cxnLst>
            <a:rect l="f41" t="f44" r="f42" b="f43"/>
            <a:pathLst>
              <a:path w="21600" h="21600">
                <a:moveTo>
                  <a:pt x="f79" y="f80"/>
                </a:moveTo>
                <a:arcTo wR="f10" hR="f10" stAng="f25" swAng="f34"/>
                <a:close/>
              </a:path>
            </a:pathLst>
          </a:custGeom>
          <a:solidFill>
            <a:srgbClr val="FFFFFF"/>
          </a:solidFill>
          <a:ln w="12600" cap="flat">
            <a:solidFill>
              <a:srgbClr val="BCBCBC"/>
            </a:solidFill>
            <a:prstDash val="solid"/>
            <a:miter/>
          </a:ln>
        </p:spPr>
        <p:txBody>
          <a:bodyPr vert="horz" wrap="square" lIns="90004" tIns="46798" rIns="90004" bIns="46798" anchor="ctr" anchorCtr="0" compatLnSpc="1">
            <a:no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IN" sz="2400" b="0" i="0" u="none" strike="noStrike" kern="1200" cap="none" spc="0" baseline="0">
              <a:solidFill>
                <a:srgbClr val="000000"/>
              </a:solidFill>
              <a:uFillTx/>
              <a:latin typeface="Times New Roman" pitchFamily="18"/>
              <a:ea typeface="Microsoft YaHei" pitchFamily="2"/>
              <a:cs typeface="Lucida Sans" pitchFamily="2"/>
            </a:endParaRPr>
          </a:p>
        </p:txBody>
      </p:sp>
      <p:pic>
        <p:nvPicPr>
          <p:cNvPr id="9" name="Picture 10" descr="A picture containing text, sign, watch&#10;&#10;Description automatically generated">
            <a:extLst>
              <a:ext uri="{FF2B5EF4-FFF2-40B4-BE49-F238E27FC236}">
                <a16:creationId xmlns:a16="http://schemas.microsoft.com/office/drawing/2014/main" id="{D3EAC155-9D7D-4454-AF3C-C9B1622F5B98}"/>
              </a:ext>
            </a:extLst>
          </p:cNvPr>
          <p:cNvPicPr>
            <a:picLocks noChangeAspect="1"/>
          </p:cNvPicPr>
          <p:nvPr/>
        </p:nvPicPr>
        <p:blipFill>
          <a:blip r:embed="rId4">
            <a:lum/>
            <a:alphaModFix/>
          </a:blip>
          <a:srcRect/>
          <a:stretch>
            <a:fillRect/>
          </a:stretch>
        </p:blipFill>
        <p:spPr>
          <a:xfrm>
            <a:off x="8381875" y="47521"/>
            <a:ext cx="731876" cy="714603"/>
          </a:xfrm>
          <a:prstGeom prst="rect">
            <a:avLst/>
          </a:prstGeom>
          <a:noFill/>
          <a:ln cap="flat">
            <a:noFill/>
          </a:ln>
        </p:spPr>
      </p:pic>
      <p:sp>
        <p:nvSpPr>
          <p:cNvPr id="11" name="TextBox 10">
            <a:extLst>
              <a:ext uri="{FF2B5EF4-FFF2-40B4-BE49-F238E27FC236}">
                <a16:creationId xmlns:a16="http://schemas.microsoft.com/office/drawing/2014/main" id="{E1F82A4A-2BD7-425D-9305-CF45EF880A29}"/>
              </a:ext>
            </a:extLst>
          </p:cNvPr>
          <p:cNvSpPr txBox="1"/>
          <p:nvPr/>
        </p:nvSpPr>
        <p:spPr>
          <a:xfrm>
            <a:off x="75414" y="784594"/>
            <a:ext cx="3478491" cy="584775"/>
          </a:xfrm>
          <a:prstGeom prst="rect">
            <a:avLst/>
          </a:prstGeom>
          <a:noFill/>
        </p:spPr>
        <p:txBody>
          <a:bodyPr wrap="square" rtlCol="0">
            <a:spAutoFit/>
          </a:bodyPr>
          <a:lstStyle/>
          <a:p>
            <a:r>
              <a:rPr lang="en-IN" sz="1600" b="1" u="sng" dirty="0"/>
              <a:t>Extreme Gradient boost Classifier:</a:t>
            </a:r>
          </a:p>
          <a:p>
            <a:endParaRPr lang="en-IN" sz="1600" b="1" u="sng" dirty="0"/>
          </a:p>
        </p:txBody>
      </p:sp>
      <p:sp>
        <p:nvSpPr>
          <p:cNvPr id="14" name="TextBox 13">
            <a:extLst>
              <a:ext uri="{FF2B5EF4-FFF2-40B4-BE49-F238E27FC236}">
                <a16:creationId xmlns:a16="http://schemas.microsoft.com/office/drawing/2014/main" id="{E6591941-61AA-4C73-B194-16C8C75B48C7}"/>
              </a:ext>
            </a:extLst>
          </p:cNvPr>
          <p:cNvSpPr txBox="1"/>
          <p:nvPr/>
        </p:nvSpPr>
        <p:spPr>
          <a:xfrm>
            <a:off x="75413" y="1340700"/>
            <a:ext cx="9903473" cy="338554"/>
          </a:xfrm>
          <a:prstGeom prst="rect">
            <a:avLst/>
          </a:prstGeom>
          <a:noFill/>
        </p:spPr>
        <p:txBody>
          <a:bodyPr wrap="square">
            <a:spAutoFit/>
          </a:bodyPr>
          <a:lstStyle/>
          <a:p>
            <a:pPr algn="just"/>
            <a:r>
              <a:rPr lang="en-IN" sz="1600" dirty="0">
                <a:solidFill>
                  <a:srgbClr val="000000"/>
                </a:solidFill>
                <a:latin typeface="inter-regular"/>
              </a:rPr>
              <a:t>Mutual Information features</a:t>
            </a:r>
            <a:r>
              <a:rPr lang="en-IN" sz="1600" b="0" i="0" dirty="0">
                <a:solidFill>
                  <a:srgbClr val="000000"/>
                </a:solidFill>
                <a:effectLst/>
                <a:latin typeface="inter-regular"/>
              </a:rPr>
              <a:t>: </a:t>
            </a:r>
            <a:r>
              <a:rPr lang="en-IN" sz="1600" b="1" i="0" dirty="0">
                <a:solidFill>
                  <a:srgbClr val="000000"/>
                </a:solidFill>
                <a:effectLst/>
                <a:latin typeface="inter-regular"/>
              </a:rPr>
              <a:t>'cp', '</a:t>
            </a:r>
            <a:r>
              <a:rPr lang="en-IN" sz="1600" b="1" i="0" dirty="0" err="1">
                <a:solidFill>
                  <a:srgbClr val="000000"/>
                </a:solidFill>
                <a:effectLst/>
                <a:latin typeface="inter-regular"/>
              </a:rPr>
              <a:t>thal</a:t>
            </a:r>
            <a:r>
              <a:rPr lang="en-IN" sz="1600" b="1" i="0" dirty="0">
                <a:solidFill>
                  <a:srgbClr val="000000"/>
                </a:solidFill>
                <a:effectLst/>
                <a:latin typeface="inter-regular"/>
              </a:rPr>
              <a:t>', 'ca', 'slope', '</a:t>
            </a:r>
            <a:r>
              <a:rPr lang="en-IN" sz="1600" b="1" i="0" dirty="0" err="1">
                <a:solidFill>
                  <a:srgbClr val="000000"/>
                </a:solidFill>
                <a:effectLst/>
                <a:latin typeface="inter-regular"/>
              </a:rPr>
              <a:t>oldpeak</a:t>
            </a:r>
            <a:r>
              <a:rPr lang="en-IN" sz="1600" b="1" i="0" dirty="0">
                <a:solidFill>
                  <a:srgbClr val="000000"/>
                </a:solidFill>
                <a:effectLst/>
                <a:latin typeface="inter-regular"/>
              </a:rPr>
              <a:t>', '</a:t>
            </a:r>
            <a:r>
              <a:rPr lang="en-IN" sz="1600" b="1" i="0" dirty="0" err="1">
                <a:solidFill>
                  <a:srgbClr val="000000"/>
                </a:solidFill>
                <a:effectLst/>
                <a:latin typeface="inter-regular"/>
              </a:rPr>
              <a:t>exang</a:t>
            </a:r>
            <a:r>
              <a:rPr lang="en-IN" sz="1600" b="1" i="0" dirty="0">
                <a:solidFill>
                  <a:srgbClr val="000000"/>
                </a:solidFill>
                <a:effectLst/>
                <a:latin typeface="inter-regular"/>
              </a:rPr>
              <a:t>', </a:t>
            </a:r>
            <a:r>
              <a:rPr lang="en-IN" sz="1600" b="1" i="0" dirty="0" err="1">
                <a:solidFill>
                  <a:srgbClr val="000000"/>
                </a:solidFill>
                <a:effectLst/>
                <a:latin typeface="inter-regular"/>
              </a:rPr>
              <a:t>thalach</a:t>
            </a:r>
            <a:r>
              <a:rPr lang="en-IN" sz="1600" b="1" i="0" dirty="0">
                <a:solidFill>
                  <a:srgbClr val="000000"/>
                </a:solidFill>
                <a:effectLst/>
                <a:latin typeface="inter-regular"/>
              </a:rPr>
              <a:t>', '</a:t>
            </a:r>
            <a:r>
              <a:rPr lang="en-IN" sz="1600" b="1" i="0" dirty="0" err="1">
                <a:solidFill>
                  <a:srgbClr val="000000"/>
                </a:solidFill>
                <a:effectLst/>
                <a:latin typeface="inter-regular"/>
              </a:rPr>
              <a:t>chol</a:t>
            </a:r>
            <a:r>
              <a:rPr lang="en-IN" sz="1600" b="1" i="0" dirty="0">
                <a:solidFill>
                  <a:srgbClr val="000000"/>
                </a:solidFill>
                <a:effectLst/>
                <a:latin typeface="inter-regular"/>
              </a:rPr>
              <a:t>', 'sex'</a:t>
            </a:r>
            <a:endParaRPr lang="en-IN" sz="1600" b="0" i="0" dirty="0">
              <a:solidFill>
                <a:srgbClr val="000000"/>
              </a:solidFill>
              <a:effectLst/>
              <a:latin typeface="inter-regular"/>
            </a:endParaRPr>
          </a:p>
        </p:txBody>
      </p:sp>
      <p:graphicFrame>
        <p:nvGraphicFramePr>
          <p:cNvPr id="10" name="Table 12">
            <a:extLst>
              <a:ext uri="{FF2B5EF4-FFF2-40B4-BE49-F238E27FC236}">
                <a16:creationId xmlns:a16="http://schemas.microsoft.com/office/drawing/2014/main" id="{80FBB806-2109-4F48-83CC-EC53BE33EA7F}"/>
              </a:ext>
            </a:extLst>
          </p:cNvPr>
          <p:cNvGraphicFramePr>
            <a:graphicFrameLocks noGrp="1"/>
          </p:cNvGraphicFramePr>
          <p:nvPr>
            <p:extLst>
              <p:ext uri="{D42A27DB-BD31-4B8C-83A1-F6EECF244321}">
                <p14:modId xmlns:p14="http://schemas.microsoft.com/office/powerpoint/2010/main" val="1795228445"/>
              </p:ext>
            </p:extLst>
          </p:nvPr>
        </p:nvGraphicFramePr>
        <p:xfrm>
          <a:off x="919081" y="3809879"/>
          <a:ext cx="7006544" cy="2372360"/>
        </p:xfrm>
        <a:graphic>
          <a:graphicData uri="http://schemas.openxmlformats.org/drawingml/2006/table">
            <a:tbl>
              <a:tblPr firstRow="1" bandRow="1">
                <a:tableStyleId>{5C22544A-7EE6-4342-B048-85BDC9FD1C3A}</a:tableStyleId>
              </a:tblPr>
              <a:tblGrid>
                <a:gridCol w="2662847">
                  <a:extLst>
                    <a:ext uri="{9D8B030D-6E8A-4147-A177-3AD203B41FA5}">
                      <a16:colId xmlns:a16="http://schemas.microsoft.com/office/drawing/2014/main" val="1544629757"/>
                    </a:ext>
                  </a:extLst>
                </a:gridCol>
                <a:gridCol w="1325738">
                  <a:extLst>
                    <a:ext uri="{9D8B030D-6E8A-4147-A177-3AD203B41FA5}">
                      <a16:colId xmlns:a16="http://schemas.microsoft.com/office/drawing/2014/main" val="2942069285"/>
                    </a:ext>
                  </a:extLst>
                </a:gridCol>
                <a:gridCol w="1328055">
                  <a:extLst>
                    <a:ext uri="{9D8B030D-6E8A-4147-A177-3AD203B41FA5}">
                      <a16:colId xmlns:a16="http://schemas.microsoft.com/office/drawing/2014/main" val="1914153064"/>
                    </a:ext>
                  </a:extLst>
                </a:gridCol>
                <a:gridCol w="1689904">
                  <a:extLst>
                    <a:ext uri="{9D8B030D-6E8A-4147-A177-3AD203B41FA5}">
                      <a16:colId xmlns:a16="http://schemas.microsoft.com/office/drawing/2014/main" val="416246459"/>
                    </a:ext>
                  </a:extLst>
                </a:gridCol>
              </a:tblGrid>
              <a:tr h="370840">
                <a:tc>
                  <a:txBody>
                    <a:bodyPr/>
                    <a:lstStyle/>
                    <a:p>
                      <a:endParaRPr lang="en-IN" sz="1400" dirty="0"/>
                    </a:p>
                  </a:txBody>
                  <a:tcPr/>
                </a:tc>
                <a:tc>
                  <a:txBody>
                    <a:bodyPr/>
                    <a:lstStyle/>
                    <a:p>
                      <a:r>
                        <a:rPr lang="en-IN" sz="1400" dirty="0">
                          <a:solidFill>
                            <a:schemeClr val="bg1"/>
                          </a:solidFill>
                          <a:latin typeface="inter-regular"/>
                        </a:rPr>
                        <a:t>Mutual Information </a:t>
                      </a:r>
                      <a:endParaRPr lang="en-IN" sz="1400" dirty="0">
                        <a:solidFill>
                          <a:schemeClr val="bg1"/>
                        </a:solidFill>
                      </a:endParaRPr>
                    </a:p>
                  </a:txBody>
                  <a:tcPr/>
                </a:tc>
                <a:tc>
                  <a:txBody>
                    <a:bodyPr/>
                    <a:lstStyle/>
                    <a:p>
                      <a:r>
                        <a:rPr lang="en-IN" sz="1400" dirty="0">
                          <a:solidFill>
                            <a:schemeClr val="bg1"/>
                          </a:solidFill>
                          <a:latin typeface="inter-regular"/>
                        </a:rPr>
                        <a:t>Boruta FS </a:t>
                      </a:r>
                      <a:endParaRPr lang="en-IN" sz="1400" dirty="0">
                        <a:solidFill>
                          <a:schemeClr val="bg1"/>
                        </a:solidFill>
                      </a:endParaRPr>
                    </a:p>
                  </a:txBody>
                  <a:tcPr/>
                </a:tc>
                <a:tc>
                  <a:txBody>
                    <a:bodyPr/>
                    <a:lstStyle/>
                    <a:p>
                      <a:r>
                        <a:rPr lang="en-IN" sz="1400" dirty="0">
                          <a:solidFill>
                            <a:schemeClr val="bg1"/>
                          </a:solidFill>
                          <a:latin typeface="inter-regular"/>
                        </a:rPr>
                        <a:t>Decision tree</a:t>
                      </a:r>
                      <a:endParaRPr lang="en-IN" sz="1400" dirty="0">
                        <a:solidFill>
                          <a:schemeClr val="bg1"/>
                        </a:solidFill>
                      </a:endParaRPr>
                    </a:p>
                  </a:txBody>
                  <a:tcPr/>
                </a:tc>
                <a:extLst>
                  <a:ext uri="{0D108BD9-81ED-4DB2-BD59-A6C34878D82A}">
                    <a16:rowId xmlns:a16="http://schemas.microsoft.com/office/drawing/2014/main" val="807902088"/>
                  </a:ext>
                </a:extLst>
              </a:tr>
              <a:tr h="370840">
                <a:tc>
                  <a:txBody>
                    <a:bodyPr/>
                    <a:lstStyle/>
                    <a:p>
                      <a:r>
                        <a:rPr lang="en-IN" sz="1400" dirty="0"/>
                        <a:t>Grid search</a:t>
                      </a:r>
                    </a:p>
                  </a:txBody>
                  <a:tcPr>
                    <a:noFill/>
                  </a:tcPr>
                </a:tc>
                <a:tc>
                  <a:txBody>
                    <a:bodyPr/>
                    <a:lstStyle/>
                    <a:p>
                      <a:r>
                        <a:rPr lang="en-IN" sz="1400" b="1" dirty="0"/>
                        <a:t>93.4426</a:t>
                      </a:r>
                    </a:p>
                  </a:txBody>
                  <a:tcPr>
                    <a:noFill/>
                  </a:tcPr>
                </a:tc>
                <a:tc>
                  <a:txBody>
                    <a:bodyPr/>
                    <a:lstStyle/>
                    <a:p>
                      <a:r>
                        <a:rPr lang="en-IN" sz="1400" b="1" dirty="0"/>
                        <a:t>93.4426</a:t>
                      </a:r>
                    </a:p>
                  </a:txBody>
                  <a:tcPr>
                    <a:noFill/>
                  </a:tcPr>
                </a:tc>
                <a:tc>
                  <a:txBody>
                    <a:bodyPr/>
                    <a:lstStyle/>
                    <a:p>
                      <a:r>
                        <a:rPr lang="en-IN" sz="1400" b="1" dirty="0"/>
                        <a:t>93.4426</a:t>
                      </a:r>
                    </a:p>
                  </a:txBody>
                  <a:tcPr>
                    <a:noFill/>
                  </a:tcPr>
                </a:tc>
                <a:extLst>
                  <a:ext uri="{0D108BD9-81ED-4DB2-BD59-A6C34878D82A}">
                    <a16:rowId xmlns:a16="http://schemas.microsoft.com/office/drawing/2014/main" val="2129566122"/>
                  </a:ext>
                </a:extLst>
              </a:tr>
              <a:tr h="370840">
                <a:tc>
                  <a:txBody>
                    <a:bodyPr/>
                    <a:lstStyle/>
                    <a:p>
                      <a:r>
                        <a:rPr lang="en-IN" sz="1400" dirty="0"/>
                        <a:t>Randomized search</a:t>
                      </a:r>
                    </a:p>
                  </a:txBody>
                  <a:tcPr>
                    <a:noFill/>
                  </a:tcPr>
                </a:tc>
                <a:tc>
                  <a:txBody>
                    <a:bodyPr/>
                    <a:lstStyle/>
                    <a:p>
                      <a:r>
                        <a:rPr lang="en-IN" sz="1400" dirty="0"/>
                        <a:t>88.5245</a:t>
                      </a:r>
                    </a:p>
                  </a:txBody>
                  <a:tcPr>
                    <a:noFill/>
                  </a:tcPr>
                </a:tc>
                <a:tc>
                  <a:txBody>
                    <a:bodyPr/>
                    <a:lstStyle/>
                    <a:p>
                      <a:r>
                        <a:rPr lang="en-IN" sz="1400" b="1" dirty="0"/>
                        <a:t>93.4426</a:t>
                      </a:r>
                    </a:p>
                  </a:txBody>
                  <a:tcPr>
                    <a:noFill/>
                  </a:tcPr>
                </a:tc>
                <a:tc>
                  <a:txBody>
                    <a:bodyPr/>
                    <a:lstStyle/>
                    <a:p>
                      <a:r>
                        <a:rPr lang="en-IN" sz="1400" b="1" dirty="0"/>
                        <a:t>93.4426</a:t>
                      </a:r>
                    </a:p>
                  </a:txBody>
                  <a:tcPr>
                    <a:noFill/>
                  </a:tcPr>
                </a:tc>
                <a:extLst>
                  <a:ext uri="{0D108BD9-81ED-4DB2-BD59-A6C34878D82A}">
                    <a16:rowId xmlns:a16="http://schemas.microsoft.com/office/drawing/2014/main" val="4059174602"/>
                  </a:ext>
                </a:extLst>
              </a:tr>
              <a:tr h="370840">
                <a:tc>
                  <a:txBody>
                    <a:bodyPr/>
                    <a:lstStyle/>
                    <a:p>
                      <a:r>
                        <a:rPr lang="en-IN" sz="1400" dirty="0"/>
                        <a:t>TPOT</a:t>
                      </a:r>
                    </a:p>
                  </a:txBody>
                  <a:tcPr>
                    <a:noFill/>
                  </a:tcPr>
                </a:tc>
                <a:tc>
                  <a:txBody>
                    <a:bodyPr/>
                    <a:lstStyle/>
                    <a:p>
                      <a:r>
                        <a:rPr lang="en-IN" sz="1400" b="0" dirty="0"/>
                        <a:t>90.1639</a:t>
                      </a:r>
                    </a:p>
                  </a:txBody>
                  <a:tcPr>
                    <a:noFill/>
                  </a:tcPr>
                </a:tc>
                <a:tc>
                  <a:txBody>
                    <a:bodyPr/>
                    <a:lstStyle/>
                    <a:p>
                      <a:r>
                        <a:rPr lang="en-IN" sz="1400" dirty="0"/>
                        <a:t>91.8033</a:t>
                      </a:r>
                    </a:p>
                  </a:txBody>
                  <a:tcPr>
                    <a:noFill/>
                  </a:tcPr>
                </a:tc>
                <a:tc>
                  <a:txBody>
                    <a:bodyPr/>
                    <a:lstStyle/>
                    <a:p>
                      <a:r>
                        <a:rPr lang="en-IN" sz="1400" b="0" dirty="0"/>
                        <a:t>90.8033</a:t>
                      </a:r>
                    </a:p>
                  </a:txBody>
                  <a:tcPr>
                    <a:noFill/>
                  </a:tcPr>
                </a:tc>
                <a:extLst>
                  <a:ext uri="{0D108BD9-81ED-4DB2-BD59-A6C34878D82A}">
                    <a16:rowId xmlns:a16="http://schemas.microsoft.com/office/drawing/2014/main" val="3539072419"/>
                  </a:ext>
                </a:extLst>
              </a:tr>
              <a:tr h="370840">
                <a:tc>
                  <a:txBody>
                    <a:bodyPr/>
                    <a:lstStyle/>
                    <a:p>
                      <a:r>
                        <a:rPr lang="en-IN" sz="1400" dirty="0"/>
                        <a:t>Bayesian Optimization</a:t>
                      </a:r>
                    </a:p>
                  </a:txBody>
                  <a:tcPr>
                    <a:noFill/>
                  </a:tcPr>
                </a:tc>
                <a:tc>
                  <a:txBody>
                    <a:bodyPr/>
                    <a:lstStyle/>
                    <a:p>
                      <a:r>
                        <a:rPr lang="en-IN" sz="1400" dirty="0"/>
                        <a:t>88.5246</a:t>
                      </a:r>
                    </a:p>
                  </a:txBody>
                  <a:tcPr>
                    <a:noFill/>
                  </a:tcPr>
                </a:tc>
                <a:tc>
                  <a:txBody>
                    <a:bodyPr/>
                    <a:lstStyle/>
                    <a:p>
                      <a:r>
                        <a:rPr lang="en-IN" sz="1400" b="1" dirty="0"/>
                        <a:t>93.4426</a:t>
                      </a:r>
                    </a:p>
                  </a:txBody>
                  <a:tcPr>
                    <a:noFill/>
                  </a:tcPr>
                </a:tc>
                <a:tc>
                  <a:txBody>
                    <a:bodyPr/>
                    <a:lstStyle/>
                    <a:p>
                      <a:r>
                        <a:rPr lang="en-IN" sz="1400" b="1" dirty="0"/>
                        <a:t>93.4426</a:t>
                      </a:r>
                    </a:p>
                  </a:txBody>
                  <a:tcPr>
                    <a:noFill/>
                  </a:tcPr>
                </a:tc>
                <a:extLst>
                  <a:ext uri="{0D108BD9-81ED-4DB2-BD59-A6C34878D82A}">
                    <a16:rowId xmlns:a16="http://schemas.microsoft.com/office/drawing/2014/main" val="2132698245"/>
                  </a:ext>
                </a:extLst>
              </a:tr>
              <a:tr h="370840">
                <a:tc>
                  <a:txBody>
                    <a:bodyPr/>
                    <a:lstStyle/>
                    <a:p>
                      <a:r>
                        <a:rPr lang="en-IN" sz="1400" dirty="0"/>
                        <a:t>hyperband</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90.1639</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90.1639</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88.6344</a:t>
                      </a:r>
                    </a:p>
                  </a:txBody>
                  <a:tcPr>
                    <a:noFill/>
                  </a:tcPr>
                </a:tc>
                <a:extLst>
                  <a:ext uri="{0D108BD9-81ED-4DB2-BD59-A6C34878D82A}">
                    <a16:rowId xmlns:a16="http://schemas.microsoft.com/office/drawing/2014/main" val="122737414"/>
                  </a:ext>
                </a:extLst>
              </a:tr>
            </a:tbl>
          </a:graphicData>
        </a:graphic>
      </p:graphicFrame>
      <p:sp>
        <p:nvSpPr>
          <p:cNvPr id="24" name="TextBox 23">
            <a:extLst>
              <a:ext uri="{FF2B5EF4-FFF2-40B4-BE49-F238E27FC236}">
                <a16:creationId xmlns:a16="http://schemas.microsoft.com/office/drawing/2014/main" id="{35FF1817-DBD8-4C03-A953-45A9C1699928}"/>
              </a:ext>
            </a:extLst>
          </p:cNvPr>
          <p:cNvSpPr txBox="1"/>
          <p:nvPr/>
        </p:nvSpPr>
        <p:spPr>
          <a:xfrm>
            <a:off x="75413" y="1708664"/>
            <a:ext cx="10569395" cy="338554"/>
          </a:xfrm>
          <a:prstGeom prst="rect">
            <a:avLst/>
          </a:prstGeom>
          <a:noFill/>
        </p:spPr>
        <p:txBody>
          <a:bodyPr wrap="square">
            <a:spAutoFit/>
          </a:bodyPr>
          <a:lstStyle/>
          <a:p>
            <a:pPr algn="just"/>
            <a:r>
              <a:rPr lang="en-IN" sz="1600" dirty="0">
                <a:solidFill>
                  <a:srgbClr val="000000"/>
                </a:solidFill>
                <a:latin typeface="inter-regular"/>
              </a:rPr>
              <a:t>Boruta FS features</a:t>
            </a:r>
            <a:r>
              <a:rPr lang="en-IN" sz="1600" b="0" i="0" dirty="0">
                <a:solidFill>
                  <a:srgbClr val="000000"/>
                </a:solidFill>
                <a:effectLst/>
                <a:latin typeface="inter-regular"/>
              </a:rPr>
              <a:t>: </a:t>
            </a:r>
            <a:r>
              <a:rPr lang="en-IN" sz="1600" b="1" i="0" dirty="0">
                <a:solidFill>
                  <a:srgbClr val="000000"/>
                </a:solidFill>
                <a:effectLst/>
                <a:latin typeface="inter-regular"/>
              </a:rPr>
              <a:t>'cp', '</a:t>
            </a:r>
            <a:r>
              <a:rPr lang="en-IN" sz="1600" b="1" i="0" dirty="0" err="1">
                <a:solidFill>
                  <a:srgbClr val="000000"/>
                </a:solidFill>
                <a:effectLst/>
                <a:latin typeface="inter-regular"/>
              </a:rPr>
              <a:t>thal</a:t>
            </a:r>
            <a:r>
              <a:rPr lang="en-IN" sz="1600" b="1" i="0" dirty="0">
                <a:solidFill>
                  <a:srgbClr val="000000"/>
                </a:solidFill>
                <a:effectLst/>
                <a:latin typeface="inter-regular"/>
              </a:rPr>
              <a:t>', 'ca', 'slope', '</a:t>
            </a:r>
            <a:r>
              <a:rPr lang="en-IN" sz="1600" b="1" i="0" dirty="0" err="1">
                <a:solidFill>
                  <a:srgbClr val="000000"/>
                </a:solidFill>
                <a:effectLst/>
                <a:latin typeface="inter-regular"/>
              </a:rPr>
              <a:t>exang</a:t>
            </a:r>
            <a:r>
              <a:rPr lang="en-IN" sz="1600" b="1" i="0" dirty="0">
                <a:solidFill>
                  <a:srgbClr val="000000"/>
                </a:solidFill>
                <a:effectLst/>
                <a:latin typeface="inter-regular"/>
              </a:rPr>
              <a:t>', 'sex’</a:t>
            </a:r>
            <a:endParaRPr lang="en-IN" sz="1600" b="0" i="0" dirty="0">
              <a:solidFill>
                <a:srgbClr val="000000"/>
              </a:solidFill>
              <a:effectLst/>
              <a:latin typeface="inter-regular"/>
            </a:endParaRPr>
          </a:p>
        </p:txBody>
      </p:sp>
      <p:sp>
        <p:nvSpPr>
          <p:cNvPr id="25" name="TextBox 24">
            <a:extLst>
              <a:ext uri="{FF2B5EF4-FFF2-40B4-BE49-F238E27FC236}">
                <a16:creationId xmlns:a16="http://schemas.microsoft.com/office/drawing/2014/main" id="{69290034-517E-44A3-A316-0FB48F26BFB1}"/>
              </a:ext>
            </a:extLst>
          </p:cNvPr>
          <p:cNvSpPr txBox="1"/>
          <p:nvPr/>
        </p:nvSpPr>
        <p:spPr>
          <a:xfrm>
            <a:off x="75413" y="2071916"/>
            <a:ext cx="4586908" cy="338554"/>
          </a:xfrm>
          <a:prstGeom prst="rect">
            <a:avLst/>
          </a:prstGeom>
          <a:noFill/>
        </p:spPr>
        <p:txBody>
          <a:bodyPr wrap="square">
            <a:spAutoFit/>
          </a:bodyPr>
          <a:lstStyle/>
          <a:p>
            <a:pPr algn="just"/>
            <a:r>
              <a:rPr lang="en-IN" sz="1600" dirty="0">
                <a:solidFill>
                  <a:srgbClr val="000000"/>
                </a:solidFill>
                <a:latin typeface="inter-regular"/>
              </a:rPr>
              <a:t>Model based features</a:t>
            </a:r>
            <a:r>
              <a:rPr lang="en-IN" sz="1600" b="0" i="0" dirty="0">
                <a:solidFill>
                  <a:srgbClr val="000000"/>
                </a:solidFill>
                <a:effectLst/>
                <a:latin typeface="inter-regular"/>
              </a:rPr>
              <a:t>:</a:t>
            </a:r>
            <a:r>
              <a:rPr lang="en-IN" sz="1600" b="1" i="0" dirty="0">
                <a:solidFill>
                  <a:srgbClr val="000000"/>
                </a:solidFill>
                <a:effectLst/>
                <a:latin typeface="inter-regular"/>
              </a:rPr>
              <a:t> 'cp', 'ca', '</a:t>
            </a:r>
            <a:r>
              <a:rPr lang="en-IN" sz="1600" b="1" i="0" dirty="0" err="1">
                <a:solidFill>
                  <a:srgbClr val="000000"/>
                </a:solidFill>
                <a:effectLst/>
                <a:latin typeface="inter-regular"/>
              </a:rPr>
              <a:t>thal</a:t>
            </a:r>
            <a:r>
              <a:rPr lang="en-IN" sz="1600" b="1" i="0" dirty="0">
                <a:solidFill>
                  <a:srgbClr val="000000"/>
                </a:solidFill>
                <a:effectLst/>
                <a:latin typeface="inter-regular"/>
              </a:rPr>
              <a:t>'</a:t>
            </a:r>
          </a:p>
        </p:txBody>
      </p:sp>
      <p:sp>
        <p:nvSpPr>
          <p:cNvPr id="15" name="TextBox 14">
            <a:extLst>
              <a:ext uri="{FF2B5EF4-FFF2-40B4-BE49-F238E27FC236}">
                <a16:creationId xmlns:a16="http://schemas.microsoft.com/office/drawing/2014/main" id="{3411F2EF-3C2C-4344-A1B7-59640560B966}"/>
              </a:ext>
            </a:extLst>
          </p:cNvPr>
          <p:cNvSpPr txBox="1"/>
          <p:nvPr/>
        </p:nvSpPr>
        <p:spPr>
          <a:xfrm>
            <a:off x="75413" y="785118"/>
            <a:ext cx="3478491" cy="584775"/>
          </a:xfrm>
          <a:prstGeom prst="rect">
            <a:avLst/>
          </a:prstGeom>
          <a:noFill/>
        </p:spPr>
        <p:txBody>
          <a:bodyPr wrap="square" rtlCol="0">
            <a:spAutoFit/>
          </a:bodyPr>
          <a:lstStyle/>
          <a:p>
            <a:r>
              <a:rPr lang="en-IN" sz="1600" b="1" u="sng" dirty="0"/>
              <a:t>Extreme Gradient boost Classifier:</a:t>
            </a:r>
          </a:p>
          <a:p>
            <a:endParaRPr lang="en-IN" sz="1600" b="1" u="sng" dirty="0"/>
          </a:p>
        </p:txBody>
      </p:sp>
      <p:sp>
        <p:nvSpPr>
          <p:cNvPr id="16" name="TextBox 15">
            <a:extLst>
              <a:ext uri="{FF2B5EF4-FFF2-40B4-BE49-F238E27FC236}">
                <a16:creationId xmlns:a16="http://schemas.microsoft.com/office/drawing/2014/main" id="{02025CE1-CF7B-447A-ADDD-35117962236E}"/>
              </a:ext>
            </a:extLst>
          </p:cNvPr>
          <p:cNvSpPr txBox="1"/>
          <p:nvPr/>
        </p:nvSpPr>
        <p:spPr>
          <a:xfrm>
            <a:off x="75413" y="2651707"/>
            <a:ext cx="8149504" cy="1077218"/>
          </a:xfrm>
          <a:prstGeom prst="rect">
            <a:avLst/>
          </a:prstGeom>
          <a:noFill/>
        </p:spPr>
        <p:txBody>
          <a:bodyPr wrap="square" rtlCol="0">
            <a:spAutoFit/>
          </a:bodyPr>
          <a:lstStyle/>
          <a:p>
            <a:r>
              <a:rPr lang="en-IN" sz="1600" b="1" u="sng" dirty="0"/>
              <a:t>XGBoost hyperparameters:</a:t>
            </a:r>
            <a:br>
              <a:rPr lang="en-IN" sz="1600" b="1" u="sng" dirty="0"/>
            </a:br>
            <a:endParaRPr lang="en-IN" sz="1600" b="1" u="sng" dirty="0"/>
          </a:p>
          <a:p>
            <a:r>
              <a:rPr lang="en-IN" sz="1600" b="1" i="0" dirty="0">
                <a:solidFill>
                  <a:srgbClr val="D1D5DB"/>
                </a:solidFill>
                <a:effectLst/>
                <a:latin typeface="Söhne"/>
              </a:rPr>
              <a:t>	</a:t>
            </a:r>
            <a:r>
              <a:rPr lang="en-IN" sz="1600" b="0" i="0" dirty="0" err="1">
                <a:effectLst/>
                <a:latin typeface="Söhne"/>
              </a:rPr>
              <a:t>n_estimators</a:t>
            </a:r>
            <a:r>
              <a:rPr lang="en-IN" sz="1600" b="0" i="0" dirty="0">
                <a:effectLst/>
                <a:latin typeface="Söhne"/>
              </a:rPr>
              <a:t>,   </a:t>
            </a:r>
            <a:r>
              <a:rPr lang="en-IN" sz="1600" b="0" i="0" dirty="0" err="1">
                <a:effectLst/>
                <a:latin typeface="Söhne"/>
              </a:rPr>
              <a:t>max_depth</a:t>
            </a:r>
            <a:r>
              <a:rPr lang="en-IN" sz="1600" b="0" i="0" dirty="0">
                <a:effectLst/>
                <a:latin typeface="Söhne"/>
              </a:rPr>
              <a:t>,   Learning rate,   subsample,   </a:t>
            </a:r>
            <a:r>
              <a:rPr lang="en-IN" sz="1600" b="0" i="0" dirty="0" err="1">
                <a:effectLst/>
                <a:latin typeface="Söhne"/>
              </a:rPr>
              <a:t>min_child_weight</a:t>
            </a:r>
            <a:endParaRPr lang="en-IN" sz="1600" b="1" u="sng" dirty="0"/>
          </a:p>
          <a:p>
            <a:endParaRPr lang="en-IN" sz="1600" b="1" u="sng" dirty="0"/>
          </a:p>
        </p:txBody>
      </p:sp>
    </p:spTree>
    <p:extLst>
      <p:ext uri="{BB962C8B-B14F-4D97-AF65-F5344CB8AC3E}">
        <p14:creationId xmlns:p14="http://schemas.microsoft.com/office/powerpoint/2010/main" val="32991778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8D4669DB-FB9D-493D-B0D9-33EFC82790DE}"/>
              </a:ext>
            </a:extLst>
          </p:cNvPr>
          <p:cNvPicPr>
            <a:picLocks noChangeAspect="1"/>
          </p:cNvPicPr>
          <p:nvPr/>
        </p:nvPicPr>
        <p:blipFill>
          <a:blip r:embed="rId3">
            <a:lum/>
            <a:alphaModFix/>
          </a:blip>
          <a:srcRect/>
          <a:stretch>
            <a:fillRect/>
          </a:stretch>
        </p:blipFill>
        <p:spPr>
          <a:xfrm>
            <a:off x="0" y="6553084"/>
            <a:ext cx="9144000" cy="308161"/>
          </a:xfrm>
          <a:prstGeom prst="rect">
            <a:avLst/>
          </a:prstGeom>
          <a:noFill/>
          <a:ln cap="flat">
            <a:noFill/>
          </a:ln>
        </p:spPr>
      </p:pic>
      <p:sp>
        <p:nvSpPr>
          <p:cNvPr id="3" name="Text Box 4">
            <a:extLst>
              <a:ext uri="{FF2B5EF4-FFF2-40B4-BE49-F238E27FC236}">
                <a16:creationId xmlns:a16="http://schemas.microsoft.com/office/drawing/2014/main" id="{6F8CE000-001B-477B-AEB1-7B2DF82125E0}"/>
              </a:ext>
            </a:extLst>
          </p:cNvPr>
          <p:cNvSpPr/>
          <p:nvPr/>
        </p:nvSpPr>
        <p:spPr>
          <a:xfrm>
            <a:off x="2299322" y="6550203"/>
            <a:ext cx="4545363" cy="307082"/>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a:effectLst>
            <a:outerShdw dist="17819" dir="2700000" algn="tl">
              <a:srgbClr val="000000"/>
            </a:outerShdw>
          </a:effectLst>
        </p:spPr>
        <p:txBody>
          <a:bodyPr vert="horz" wrap="non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1400" b="1" i="0" u="none" strike="noStrike" kern="1200" cap="none" spc="0" baseline="0">
                <a:solidFill>
                  <a:srgbClr val="47FFD1"/>
                </a:solidFill>
                <a:uFillTx/>
                <a:latin typeface="Comic Sans MS" pitchFamily="66"/>
                <a:ea typeface="Microsoft YaHei" pitchFamily="2"/>
                <a:cs typeface="Lucida Sans" pitchFamily="2"/>
              </a:rPr>
              <a:t>Department of Computer Science and Engineering</a:t>
            </a:r>
          </a:p>
        </p:txBody>
      </p:sp>
      <p:pic>
        <p:nvPicPr>
          <p:cNvPr id="4" name="Picture 2">
            <a:extLst>
              <a:ext uri="{FF2B5EF4-FFF2-40B4-BE49-F238E27FC236}">
                <a16:creationId xmlns:a16="http://schemas.microsoft.com/office/drawing/2014/main" id="{EFEADD32-D603-4B11-8D98-E7FD48C6130F}"/>
              </a:ext>
            </a:extLst>
          </p:cNvPr>
          <p:cNvPicPr>
            <a:picLocks noChangeAspect="1"/>
          </p:cNvPicPr>
          <p:nvPr/>
        </p:nvPicPr>
        <p:blipFill>
          <a:blip r:embed="rId3">
            <a:lum/>
            <a:alphaModFix/>
          </a:blip>
          <a:srcRect/>
          <a:stretch>
            <a:fillRect/>
          </a:stretch>
        </p:blipFill>
        <p:spPr>
          <a:xfrm>
            <a:off x="0" y="0"/>
            <a:ext cx="9144000" cy="609484"/>
          </a:xfrm>
          <a:prstGeom prst="rect">
            <a:avLst/>
          </a:prstGeom>
          <a:noFill/>
          <a:ln cap="flat">
            <a:noFill/>
          </a:ln>
        </p:spPr>
      </p:pic>
      <p:sp>
        <p:nvSpPr>
          <p:cNvPr id="5" name="Rectangle: Rounded Corners 3">
            <a:extLst>
              <a:ext uri="{FF2B5EF4-FFF2-40B4-BE49-F238E27FC236}">
                <a16:creationId xmlns:a16="http://schemas.microsoft.com/office/drawing/2014/main" id="{6BBED2D9-BCDF-4E94-8182-A159447629CE}"/>
              </a:ext>
            </a:extLst>
          </p:cNvPr>
          <p:cNvSpPr/>
          <p:nvPr/>
        </p:nvSpPr>
        <p:spPr>
          <a:xfrm>
            <a:off x="8550362" y="6553084"/>
            <a:ext cx="593637" cy="306360"/>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0066"/>
          </a:solidFill>
          <a:ln w="12600" cap="flat">
            <a:solidFill>
              <a:srgbClr val="000000"/>
            </a:solidFill>
            <a:prstDash val="solid"/>
            <a:miter/>
          </a:ln>
        </p:spPr>
        <p:txBody>
          <a:bodyPr vert="horz" wrap="square" lIns="90004" tIns="46798" rIns="90004" bIns="46798" anchor="ctr" anchorCtr="1" compatLnSpc="1">
            <a:normAutofit fontScale="92500" lnSpcReduction="20000"/>
          </a:bodyPr>
          <a:lstStyle/>
          <a:p>
            <a:pPr marL="0" marR="0" lvl="0" indent="0" algn="ctr" defTabSz="914400" rtl="0" fontAlgn="auto" hangingPunct="1">
              <a:lnSpc>
                <a:spcPct val="8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AB8CC7BD-5D93-4C0A-AAD8-B765ACB170F4}" type="slidenum">
              <a:t>35</a:t>
            </a:fld>
            <a:endParaRPr lang="en-US" sz="1400" b="1" i="0" u="none" strike="noStrike" kern="1200" cap="none" spc="0" baseline="0">
              <a:solidFill>
                <a:srgbClr val="FFFFFF"/>
              </a:solidFill>
              <a:uFillTx/>
              <a:latin typeface="Comic Sans MS" pitchFamily="66"/>
              <a:ea typeface="Microsoft YaHei" pitchFamily="2"/>
              <a:cs typeface="Lucida Sans" pitchFamily="2"/>
            </a:endParaRPr>
          </a:p>
        </p:txBody>
      </p:sp>
      <p:sp>
        <p:nvSpPr>
          <p:cNvPr id="6" name="Date Placeholder 7">
            <a:extLst>
              <a:ext uri="{FF2B5EF4-FFF2-40B4-BE49-F238E27FC236}">
                <a16:creationId xmlns:a16="http://schemas.microsoft.com/office/drawing/2014/main" id="{D0C2D5F8-2A4E-45AD-9E19-29D2B63406A3}"/>
              </a:ext>
            </a:extLst>
          </p:cNvPr>
          <p:cNvSpPr/>
          <p:nvPr/>
        </p:nvSpPr>
        <p:spPr>
          <a:xfrm>
            <a:off x="0" y="6564239"/>
            <a:ext cx="1447915" cy="41291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norm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5E5B1732-3D3F-4E1A-AD91-1223FC4CF4BB}" type="datetime1">
              <a:rPr lang="en-US" sz="1400" b="1" i="0" u="none" strike="noStrike" kern="1200" cap="none" spc="0" baseline="0">
                <a:solidFill>
                  <a:srgbClr val="FF0066"/>
                </a:solidFill>
                <a:uFillTx/>
                <a:latin typeface="Arial Rounded MT Bold" pitchFamily="34"/>
                <a:ea typeface="Microsoft YaHei" pitchFamily="2"/>
                <a:cs typeface="Lucida Sans" pitchFamily="2"/>
              </a:rPr>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t>4/18/2023</a:t>
            </a:fld>
            <a:endParaRPr lang="en-US" sz="1400" b="1" i="0" u="none" strike="noStrike" kern="1200" cap="none" spc="0" baseline="0">
              <a:solidFill>
                <a:srgbClr val="FF0066"/>
              </a:solidFill>
              <a:uFillTx/>
              <a:latin typeface="Arial Rounded MT Bold" pitchFamily="34"/>
              <a:ea typeface="Microsoft YaHei" pitchFamily="2"/>
              <a:cs typeface="Lucida Sans" pitchFamily="2"/>
            </a:endParaRPr>
          </a:p>
        </p:txBody>
      </p:sp>
      <p:sp>
        <p:nvSpPr>
          <p:cNvPr id="7" name="TextBox 8">
            <a:extLst>
              <a:ext uri="{FF2B5EF4-FFF2-40B4-BE49-F238E27FC236}">
                <a16:creationId xmlns:a16="http://schemas.microsoft.com/office/drawing/2014/main" id="{9BE241AC-2867-401B-8952-98D39C4F5A63}"/>
              </a:ext>
            </a:extLst>
          </p:cNvPr>
          <p:cNvSpPr/>
          <p:nvPr/>
        </p:nvSpPr>
        <p:spPr>
          <a:xfrm>
            <a:off x="919081" y="0"/>
            <a:ext cx="7305836" cy="47483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500" b="1" i="0" u="none" strike="noStrike" kern="1200" cap="none" spc="0" baseline="0">
                <a:solidFill>
                  <a:srgbClr val="47FFD1"/>
                </a:solidFill>
                <a:uFillTx/>
                <a:latin typeface="Comic Sans MS" pitchFamily="66"/>
                <a:ea typeface="Microsoft YaHei" pitchFamily="2"/>
                <a:cs typeface="Lucida Sans" pitchFamily="2"/>
              </a:rPr>
              <a:t>Mepco Schlenk Engineering College </a:t>
            </a:r>
            <a:r>
              <a:rPr lang="en-US" sz="1800" b="1" i="0" u="none" strike="noStrike" kern="1200" cap="none" spc="0" baseline="0">
                <a:solidFill>
                  <a:srgbClr val="47FFD1"/>
                </a:solidFill>
                <a:uFillTx/>
                <a:latin typeface="Comic Sans MS" pitchFamily="66"/>
                <a:ea typeface="Microsoft YaHei" pitchFamily="2"/>
                <a:cs typeface="Lucida Sans" pitchFamily="2"/>
              </a:rPr>
              <a:t>(Autonomous)</a:t>
            </a:r>
          </a:p>
        </p:txBody>
      </p:sp>
      <p:sp>
        <p:nvSpPr>
          <p:cNvPr id="8" name="Oval 11">
            <a:extLst>
              <a:ext uri="{FF2B5EF4-FFF2-40B4-BE49-F238E27FC236}">
                <a16:creationId xmlns:a16="http://schemas.microsoft.com/office/drawing/2014/main" id="{E67FA03A-95C6-4908-B4C7-A0B37595DAFE}"/>
              </a:ext>
            </a:extLst>
          </p:cNvPr>
          <p:cNvSpPr/>
          <p:nvPr/>
        </p:nvSpPr>
        <p:spPr>
          <a:xfrm>
            <a:off x="8354881" y="20519"/>
            <a:ext cx="777962" cy="777962"/>
          </a:xfrm>
          <a:custGeom>
            <a:avLst/>
            <a:gdLst>
              <a:gd name="f0" fmla="val 10800000"/>
              <a:gd name="f1" fmla="val 5400000"/>
              <a:gd name="f2" fmla="val 180"/>
              <a:gd name="f3" fmla="val w"/>
              <a:gd name="f4" fmla="val h"/>
              <a:gd name="f5" fmla="val 0"/>
              <a:gd name="f6" fmla="val 21600"/>
              <a:gd name="f7" fmla="*/ 5419351 1 1725033"/>
              <a:gd name="f8" fmla="*/ 10800 10800 1"/>
              <a:gd name="f9" fmla="+- 0 0 360"/>
              <a:gd name="f10" fmla="val 10800"/>
              <a:gd name="f11" fmla="+- 0 0 0"/>
              <a:gd name="f12" fmla="*/ f3 1 21600"/>
              <a:gd name="f13" fmla="*/ f4 1 21600"/>
              <a:gd name="f14" fmla="*/ 0 f7 1"/>
              <a:gd name="f15" fmla="*/ f5 f0 1"/>
              <a:gd name="f16" fmla="*/ f9 f0 1"/>
              <a:gd name="f17" fmla="+- f6 0 f5"/>
              <a:gd name="f18" fmla="*/ f11 f0 1"/>
              <a:gd name="f19" fmla="*/ f14 1 f2"/>
              <a:gd name="f20" fmla="*/ f15 1 f2"/>
              <a:gd name="f21" fmla="*/ f16 1 f2"/>
              <a:gd name="f22" fmla="*/ f17 1 21600"/>
              <a:gd name="f23" fmla="*/ f18 1 f2"/>
              <a:gd name="f24" fmla="+- 0 0 f19"/>
              <a:gd name="f25" fmla="+- f20 0 f1"/>
              <a:gd name="f26" fmla="+- f21 0 f1"/>
              <a:gd name="f27" fmla="*/ 3163 f22 1"/>
              <a:gd name="f28" fmla="*/ 18437 f22 1"/>
              <a:gd name="f29" fmla="*/ 10800 f22 1"/>
              <a:gd name="f30" fmla="*/ 0 f22 1"/>
              <a:gd name="f31" fmla="*/ 21600 f22 1"/>
              <a:gd name="f32" fmla="+- f23 0 f1"/>
              <a:gd name="f33" fmla="*/ f24 f0 1"/>
              <a:gd name="f34" fmla="+- f26 0 f25"/>
              <a:gd name="f35" fmla="*/ f29 1 f22"/>
              <a:gd name="f36" fmla="*/ f30 1 f22"/>
              <a:gd name="f37" fmla="*/ f27 1 f22"/>
              <a:gd name="f38" fmla="*/ f28 1 f22"/>
              <a:gd name="f39" fmla="*/ f31 1 f22"/>
              <a:gd name="f40" fmla="*/ f33 1 f7"/>
              <a:gd name="f41" fmla="*/ f37 f12 1"/>
              <a:gd name="f42" fmla="*/ f38 f12 1"/>
              <a:gd name="f43" fmla="*/ f38 f13 1"/>
              <a:gd name="f44" fmla="*/ f37 f13 1"/>
              <a:gd name="f45" fmla="*/ f35 f12 1"/>
              <a:gd name="f46" fmla="*/ f36 f13 1"/>
              <a:gd name="f47" fmla="*/ f36 f12 1"/>
              <a:gd name="f48" fmla="*/ f35 f13 1"/>
              <a:gd name="f49" fmla="*/ f39 f13 1"/>
              <a:gd name="f50" fmla="*/ f39 f12 1"/>
              <a:gd name="f51" fmla="+- f40 0 f1"/>
              <a:gd name="f52" fmla="+- f51 f1 0"/>
              <a:gd name="f53" fmla="*/ f52 f7 1"/>
              <a:gd name="f54" fmla="*/ f53 1 f0"/>
              <a:gd name="f55" fmla="+- 0 0 f54"/>
              <a:gd name="f56" fmla="+- 0 0 f55"/>
              <a:gd name="f57" fmla="*/ f56 f0 1"/>
              <a:gd name="f58" fmla="*/ f57 1 f7"/>
              <a:gd name="f59" fmla="+- f58 0 f1"/>
              <a:gd name="f60" fmla="cos 1 f59"/>
              <a:gd name="f61" fmla="sin 1 f59"/>
              <a:gd name="f62" fmla="+- 0 0 f60"/>
              <a:gd name="f63" fmla="+- 0 0 f61"/>
              <a:gd name="f64" fmla="+- 0 0 f62"/>
              <a:gd name="f65" fmla="+- 0 0 f63"/>
              <a:gd name="f66" fmla="val f64"/>
              <a:gd name="f67" fmla="val f65"/>
              <a:gd name="f68" fmla="+- 0 0 f66"/>
              <a:gd name="f69" fmla="+- 0 0 f67"/>
              <a:gd name="f70" fmla="*/ 10800 f68 1"/>
              <a:gd name="f71" fmla="*/ 10800 f69 1"/>
              <a:gd name="f72" fmla="*/ f70 f70 1"/>
              <a:gd name="f73" fmla="*/ f71 f71 1"/>
              <a:gd name="f74" fmla="+- f72 f73 0"/>
              <a:gd name="f75" fmla="sqrt f74"/>
              <a:gd name="f76" fmla="*/ f8 1 f75"/>
              <a:gd name="f77" fmla="*/ f68 f76 1"/>
              <a:gd name="f78" fmla="*/ f69 f76 1"/>
              <a:gd name="f79" fmla="+- 10800 0 f77"/>
              <a:gd name="f80" fmla="+- 10800 0 f78"/>
            </a:gdLst>
            <a:ahLst/>
            <a:cxnLst>
              <a:cxn ang="3cd4">
                <a:pos x="hc" y="t"/>
              </a:cxn>
              <a:cxn ang="0">
                <a:pos x="r" y="vc"/>
              </a:cxn>
              <a:cxn ang="cd4">
                <a:pos x="hc" y="b"/>
              </a:cxn>
              <a:cxn ang="cd2">
                <a:pos x="l" y="vc"/>
              </a:cxn>
              <a:cxn ang="f32">
                <a:pos x="f45" y="f46"/>
              </a:cxn>
              <a:cxn ang="f32">
                <a:pos x="f41" y="f44"/>
              </a:cxn>
              <a:cxn ang="f32">
                <a:pos x="f47" y="f48"/>
              </a:cxn>
              <a:cxn ang="f32">
                <a:pos x="f41" y="f43"/>
              </a:cxn>
              <a:cxn ang="f32">
                <a:pos x="f45" y="f49"/>
              </a:cxn>
              <a:cxn ang="f32">
                <a:pos x="f42" y="f43"/>
              </a:cxn>
              <a:cxn ang="f32">
                <a:pos x="f50" y="f48"/>
              </a:cxn>
              <a:cxn ang="f32">
                <a:pos x="f42" y="f44"/>
              </a:cxn>
            </a:cxnLst>
            <a:rect l="f41" t="f44" r="f42" b="f43"/>
            <a:pathLst>
              <a:path w="21600" h="21600">
                <a:moveTo>
                  <a:pt x="f79" y="f80"/>
                </a:moveTo>
                <a:arcTo wR="f10" hR="f10" stAng="f25" swAng="f34"/>
                <a:close/>
              </a:path>
            </a:pathLst>
          </a:custGeom>
          <a:solidFill>
            <a:srgbClr val="FFFFFF"/>
          </a:solidFill>
          <a:ln w="12600" cap="flat">
            <a:solidFill>
              <a:srgbClr val="BCBCBC"/>
            </a:solidFill>
            <a:prstDash val="solid"/>
            <a:miter/>
          </a:ln>
        </p:spPr>
        <p:txBody>
          <a:bodyPr vert="horz" wrap="square" lIns="90004" tIns="46798" rIns="90004" bIns="46798" anchor="ctr" anchorCtr="0" compatLnSpc="1">
            <a:no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IN" sz="2400" b="0" i="0" u="none" strike="noStrike" kern="1200" cap="none" spc="0" baseline="0">
              <a:solidFill>
                <a:srgbClr val="000000"/>
              </a:solidFill>
              <a:uFillTx/>
              <a:latin typeface="Times New Roman" pitchFamily="18"/>
              <a:ea typeface="Microsoft YaHei" pitchFamily="2"/>
              <a:cs typeface="Lucida Sans" pitchFamily="2"/>
            </a:endParaRPr>
          </a:p>
        </p:txBody>
      </p:sp>
      <p:pic>
        <p:nvPicPr>
          <p:cNvPr id="9" name="Picture 10" descr="A picture containing text, sign, watch&#10;&#10;Description automatically generated">
            <a:extLst>
              <a:ext uri="{FF2B5EF4-FFF2-40B4-BE49-F238E27FC236}">
                <a16:creationId xmlns:a16="http://schemas.microsoft.com/office/drawing/2014/main" id="{D3EAC155-9D7D-4454-AF3C-C9B1622F5B98}"/>
              </a:ext>
            </a:extLst>
          </p:cNvPr>
          <p:cNvPicPr>
            <a:picLocks noChangeAspect="1"/>
          </p:cNvPicPr>
          <p:nvPr/>
        </p:nvPicPr>
        <p:blipFill>
          <a:blip r:embed="rId4">
            <a:lum/>
            <a:alphaModFix/>
          </a:blip>
          <a:srcRect/>
          <a:stretch>
            <a:fillRect/>
          </a:stretch>
        </p:blipFill>
        <p:spPr>
          <a:xfrm>
            <a:off x="8381875" y="47521"/>
            <a:ext cx="731876" cy="714603"/>
          </a:xfrm>
          <a:prstGeom prst="rect">
            <a:avLst/>
          </a:prstGeom>
          <a:noFill/>
          <a:ln cap="flat">
            <a:noFill/>
          </a:ln>
        </p:spPr>
      </p:pic>
      <p:sp>
        <p:nvSpPr>
          <p:cNvPr id="11" name="TextBox 10">
            <a:extLst>
              <a:ext uri="{FF2B5EF4-FFF2-40B4-BE49-F238E27FC236}">
                <a16:creationId xmlns:a16="http://schemas.microsoft.com/office/drawing/2014/main" id="{E1F82A4A-2BD7-425D-9305-CF45EF880A29}"/>
              </a:ext>
            </a:extLst>
          </p:cNvPr>
          <p:cNvSpPr txBox="1"/>
          <p:nvPr/>
        </p:nvSpPr>
        <p:spPr>
          <a:xfrm>
            <a:off x="75414" y="784594"/>
            <a:ext cx="3478491" cy="584775"/>
          </a:xfrm>
          <a:prstGeom prst="rect">
            <a:avLst/>
          </a:prstGeom>
          <a:noFill/>
        </p:spPr>
        <p:txBody>
          <a:bodyPr wrap="square" rtlCol="0">
            <a:spAutoFit/>
          </a:bodyPr>
          <a:lstStyle/>
          <a:p>
            <a:r>
              <a:rPr lang="en-IN" sz="1600" b="1" u="sng" dirty="0"/>
              <a:t>K Nearest </a:t>
            </a:r>
            <a:r>
              <a:rPr lang="en-IN" sz="1600" b="1" u="sng" dirty="0" err="1"/>
              <a:t>Neighbor</a:t>
            </a:r>
            <a:r>
              <a:rPr lang="en-IN" sz="1600" b="1" u="sng" dirty="0"/>
              <a:t> Classifier:</a:t>
            </a:r>
          </a:p>
          <a:p>
            <a:endParaRPr lang="en-IN" sz="1600" b="1" u="sng" dirty="0"/>
          </a:p>
        </p:txBody>
      </p:sp>
      <p:sp>
        <p:nvSpPr>
          <p:cNvPr id="14" name="TextBox 13">
            <a:extLst>
              <a:ext uri="{FF2B5EF4-FFF2-40B4-BE49-F238E27FC236}">
                <a16:creationId xmlns:a16="http://schemas.microsoft.com/office/drawing/2014/main" id="{E6591941-61AA-4C73-B194-16C8C75B48C7}"/>
              </a:ext>
            </a:extLst>
          </p:cNvPr>
          <p:cNvSpPr txBox="1"/>
          <p:nvPr/>
        </p:nvSpPr>
        <p:spPr>
          <a:xfrm>
            <a:off x="75414" y="1236653"/>
            <a:ext cx="4586908" cy="338554"/>
          </a:xfrm>
          <a:prstGeom prst="rect">
            <a:avLst/>
          </a:prstGeom>
          <a:noFill/>
        </p:spPr>
        <p:txBody>
          <a:bodyPr wrap="square">
            <a:spAutoFit/>
          </a:bodyPr>
          <a:lstStyle/>
          <a:p>
            <a:pPr algn="just"/>
            <a:r>
              <a:rPr lang="en-IN" sz="1600" b="1" i="0" dirty="0">
                <a:solidFill>
                  <a:srgbClr val="000000"/>
                </a:solidFill>
                <a:effectLst/>
                <a:latin typeface="inter-regular"/>
              </a:rPr>
              <a:t>Filter method:</a:t>
            </a:r>
          </a:p>
        </p:txBody>
      </p:sp>
      <p:graphicFrame>
        <p:nvGraphicFramePr>
          <p:cNvPr id="12" name="Table 14">
            <a:extLst>
              <a:ext uri="{FF2B5EF4-FFF2-40B4-BE49-F238E27FC236}">
                <a16:creationId xmlns:a16="http://schemas.microsoft.com/office/drawing/2014/main" id="{53E25F5A-A5A5-4BAF-B11E-56CC0F6E7235}"/>
              </a:ext>
            </a:extLst>
          </p:cNvPr>
          <p:cNvGraphicFramePr>
            <a:graphicFrameLocks noGrp="1"/>
          </p:cNvGraphicFramePr>
          <p:nvPr>
            <p:extLst>
              <p:ext uri="{D42A27DB-BD31-4B8C-83A1-F6EECF244321}">
                <p14:modId xmlns:p14="http://schemas.microsoft.com/office/powerpoint/2010/main" val="2134649733"/>
              </p:ext>
            </p:extLst>
          </p:nvPr>
        </p:nvGraphicFramePr>
        <p:xfrm>
          <a:off x="723957" y="1586531"/>
          <a:ext cx="7384632" cy="914400"/>
        </p:xfrm>
        <a:graphic>
          <a:graphicData uri="http://schemas.openxmlformats.org/drawingml/2006/table">
            <a:tbl>
              <a:tblPr firstRow="1" bandRow="1">
                <a:tableStyleId>{5C22544A-7EE6-4342-B048-85BDC9FD1C3A}</a:tableStyleId>
              </a:tblPr>
              <a:tblGrid>
                <a:gridCol w="2461544">
                  <a:extLst>
                    <a:ext uri="{9D8B030D-6E8A-4147-A177-3AD203B41FA5}">
                      <a16:colId xmlns:a16="http://schemas.microsoft.com/office/drawing/2014/main" val="2023279697"/>
                    </a:ext>
                  </a:extLst>
                </a:gridCol>
                <a:gridCol w="2461544">
                  <a:extLst>
                    <a:ext uri="{9D8B030D-6E8A-4147-A177-3AD203B41FA5}">
                      <a16:colId xmlns:a16="http://schemas.microsoft.com/office/drawing/2014/main" val="1656600714"/>
                    </a:ext>
                  </a:extLst>
                </a:gridCol>
                <a:gridCol w="2461544">
                  <a:extLst>
                    <a:ext uri="{9D8B030D-6E8A-4147-A177-3AD203B41FA5}">
                      <a16:colId xmlns:a16="http://schemas.microsoft.com/office/drawing/2014/main" val="293886267"/>
                    </a:ext>
                  </a:extLst>
                </a:gridCol>
              </a:tblGrid>
              <a:tr h="263430">
                <a:tc>
                  <a:txBody>
                    <a:bodyPr/>
                    <a:lstStyle/>
                    <a:p>
                      <a:r>
                        <a:rPr lang="en-IN" sz="1400" b="1" dirty="0">
                          <a:solidFill>
                            <a:schemeClr val="tx1"/>
                          </a:solidFill>
                        </a:rPr>
                        <a:t>Mutual information</a:t>
                      </a:r>
                    </a:p>
                  </a:txBody>
                  <a:tcPr>
                    <a:solidFill>
                      <a:schemeClr val="accent6"/>
                    </a:solidFill>
                  </a:tcPr>
                </a:tc>
                <a:tc>
                  <a:txBody>
                    <a:bodyPr/>
                    <a:lstStyle/>
                    <a:p>
                      <a:r>
                        <a:rPr lang="en-IN" sz="1400" dirty="0"/>
                        <a:t>ANOVA test</a:t>
                      </a:r>
                    </a:p>
                  </a:txBody>
                  <a:tcPr/>
                </a:tc>
                <a:tc>
                  <a:txBody>
                    <a:bodyPr/>
                    <a:lstStyle/>
                    <a:p>
                      <a:r>
                        <a:rPr lang="en-IN" sz="1400" dirty="0"/>
                        <a:t>Chi - Square</a:t>
                      </a:r>
                    </a:p>
                  </a:txBody>
                  <a:tcPr/>
                </a:tc>
                <a:extLst>
                  <a:ext uri="{0D108BD9-81ED-4DB2-BD59-A6C34878D82A}">
                    <a16:rowId xmlns:a16="http://schemas.microsoft.com/office/drawing/2014/main" val="1220602002"/>
                  </a:ext>
                </a:extLst>
              </a:tr>
              <a:tr h="263430">
                <a:tc>
                  <a:txBody>
                    <a:bodyPr/>
                    <a:lstStyle/>
                    <a:p>
                      <a:r>
                        <a:rPr lang="en-IN" sz="1400" b="1" dirty="0">
                          <a:solidFill>
                            <a:schemeClr val="tx1"/>
                          </a:solidFill>
                        </a:rPr>
                        <a:t>91.8023</a:t>
                      </a:r>
                    </a:p>
                  </a:txBody>
                  <a:tcPr>
                    <a:solidFill>
                      <a:schemeClr val="accent6"/>
                    </a:solidFill>
                  </a:tcPr>
                </a:tc>
                <a:tc>
                  <a:txBody>
                    <a:bodyPr/>
                    <a:lstStyle/>
                    <a:p>
                      <a:r>
                        <a:rPr lang="en-IN" sz="1400" dirty="0"/>
                        <a:t>85.2459</a:t>
                      </a:r>
                    </a:p>
                  </a:txBody>
                  <a:tcPr>
                    <a:noFill/>
                  </a:tcPr>
                </a:tc>
                <a:tc>
                  <a:txBody>
                    <a:bodyPr/>
                    <a:lstStyle/>
                    <a:p>
                      <a:r>
                        <a:rPr lang="en-IN" sz="1400" b="0" dirty="0"/>
                        <a:t>85.2459</a:t>
                      </a:r>
                    </a:p>
                  </a:txBody>
                  <a:tcPr>
                    <a:noFill/>
                  </a:tcPr>
                </a:tc>
                <a:extLst>
                  <a:ext uri="{0D108BD9-81ED-4DB2-BD59-A6C34878D82A}">
                    <a16:rowId xmlns:a16="http://schemas.microsoft.com/office/drawing/2014/main" val="2854151783"/>
                  </a:ext>
                </a:extLst>
              </a:tr>
              <a:tr h="263430">
                <a:tc>
                  <a:txBody>
                    <a:bodyPr/>
                    <a:lstStyle/>
                    <a:p>
                      <a:r>
                        <a:rPr lang="en-IN" sz="1400" b="1" dirty="0">
                          <a:solidFill>
                            <a:schemeClr val="tx1"/>
                          </a:solidFill>
                        </a:rPr>
                        <a:t>5</a:t>
                      </a:r>
                    </a:p>
                  </a:txBody>
                  <a:tcPr>
                    <a:solidFill>
                      <a:schemeClr val="accent6"/>
                    </a:solidFill>
                  </a:tcPr>
                </a:tc>
                <a:tc>
                  <a:txBody>
                    <a:bodyPr/>
                    <a:lstStyle/>
                    <a:p>
                      <a:r>
                        <a:rPr lang="en-IN" sz="1400" dirty="0"/>
                        <a:t>8</a:t>
                      </a:r>
                    </a:p>
                  </a:txBody>
                  <a:tcPr>
                    <a:noFill/>
                  </a:tcPr>
                </a:tc>
                <a:tc>
                  <a:txBody>
                    <a:bodyPr/>
                    <a:lstStyle/>
                    <a:p>
                      <a:r>
                        <a:rPr lang="en-IN" sz="1400" dirty="0"/>
                        <a:t>5</a:t>
                      </a:r>
                    </a:p>
                  </a:txBody>
                  <a:tcPr>
                    <a:noFill/>
                  </a:tcPr>
                </a:tc>
                <a:extLst>
                  <a:ext uri="{0D108BD9-81ED-4DB2-BD59-A6C34878D82A}">
                    <a16:rowId xmlns:a16="http://schemas.microsoft.com/office/drawing/2014/main" val="3788322261"/>
                  </a:ext>
                </a:extLst>
              </a:tr>
            </a:tbl>
          </a:graphicData>
        </a:graphic>
      </p:graphicFrame>
      <p:graphicFrame>
        <p:nvGraphicFramePr>
          <p:cNvPr id="17" name="Table 14">
            <a:extLst>
              <a:ext uri="{FF2B5EF4-FFF2-40B4-BE49-F238E27FC236}">
                <a16:creationId xmlns:a16="http://schemas.microsoft.com/office/drawing/2014/main" id="{DB9A384C-2AAC-4E95-B2A5-259EF967002E}"/>
              </a:ext>
            </a:extLst>
          </p:cNvPr>
          <p:cNvGraphicFramePr>
            <a:graphicFrameLocks noGrp="1"/>
          </p:cNvGraphicFramePr>
          <p:nvPr>
            <p:extLst>
              <p:ext uri="{D42A27DB-BD31-4B8C-83A1-F6EECF244321}">
                <p14:modId xmlns:p14="http://schemas.microsoft.com/office/powerpoint/2010/main" val="2328996344"/>
              </p:ext>
            </p:extLst>
          </p:nvPr>
        </p:nvGraphicFramePr>
        <p:xfrm>
          <a:off x="723956" y="3272743"/>
          <a:ext cx="7384632" cy="914400"/>
        </p:xfrm>
        <a:graphic>
          <a:graphicData uri="http://schemas.openxmlformats.org/drawingml/2006/table">
            <a:tbl>
              <a:tblPr firstRow="1" bandRow="1">
                <a:tableStyleId>{5C22544A-7EE6-4342-B048-85BDC9FD1C3A}</a:tableStyleId>
              </a:tblPr>
              <a:tblGrid>
                <a:gridCol w="2461544">
                  <a:extLst>
                    <a:ext uri="{9D8B030D-6E8A-4147-A177-3AD203B41FA5}">
                      <a16:colId xmlns:a16="http://schemas.microsoft.com/office/drawing/2014/main" val="2023279697"/>
                    </a:ext>
                  </a:extLst>
                </a:gridCol>
                <a:gridCol w="2461544">
                  <a:extLst>
                    <a:ext uri="{9D8B030D-6E8A-4147-A177-3AD203B41FA5}">
                      <a16:colId xmlns:a16="http://schemas.microsoft.com/office/drawing/2014/main" val="1656600714"/>
                    </a:ext>
                  </a:extLst>
                </a:gridCol>
                <a:gridCol w="2461544">
                  <a:extLst>
                    <a:ext uri="{9D8B030D-6E8A-4147-A177-3AD203B41FA5}">
                      <a16:colId xmlns:a16="http://schemas.microsoft.com/office/drawing/2014/main" val="293886267"/>
                    </a:ext>
                  </a:extLst>
                </a:gridCol>
              </a:tblGrid>
              <a:tr h="259321">
                <a:tc>
                  <a:txBody>
                    <a:bodyPr/>
                    <a:lstStyle/>
                    <a:p>
                      <a:r>
                        <a:rPr lang="en-IN" sz="1400" dirty="0">
                          <a:solidFill>
                            <a:schemeClr val="tx1"/>
                          </a:solidFill>
                        </a:rPr>
                        <a:t>Sequential </a:t>
                      </a:r>
                      <a:r>
                        <a:rPr lang="en-IN" sz="1400" dirty="0" err="1">
                          <a:solidFill>
                            <a:schemeClr val="tx1"/>
                          </a:solidFill>
                        </a:rPr>
                        <a:t>Frwd</a:t>
                      </a:r>
                      <a:r>
                        <a:rPr lang="en-IN" sz="1400" dirty="0">
                          <a:solidFill>
                            <a:schemeClr val="tx1"/>
                          </a:solidFill>
                        </a:rPr>
                        <a:t> Selection</a:t>
                      </a:r>
                    </a:p>
                  </a:txBody>
                  <a:tcPr>
                    <a:solidFill>
                      <a:schemeClr val="accent6"/>
                    </a:solidFill>
                  </a:tcPr>
                </a:tc>
                <a:tc>
                  <a:txBody>
                    <a:bodyPr/>
                    <a:lstStyle/>
                    <a:p>
                      <a:r>
                        <a:rPr lang="en-IN" sz="1400" dirty="0"/>
                        <a:t>Sequential </a:t>
                      </a:r>
                      <a:r>
                        <a:rPr lang="en-IN" sz="1400" dirty="0" err="1"/>
                        <a:t>Bkwd</a:t>
                      </a:r>
                      <a:r>
                        <a:rPr lang="en-IN" sz="1400" dirty="0"/>
                        <a:t> Elimination</a:t>
                      </a:r>
                    </a:p>
                  </a:txBody>
                  <a:tcPr/>
                </a:tc>
                <a:tc>
                  <a:txBody>
                    <a:bodyPr/>
                    <a:lstStyle/>
                    <a:p>
                      <a:r>
                        <a:rPr lang="en-IN" sz="1400" dirty="0"/>
                        <a:t>Boruta Feature selection</a:t>
                      </a:r>
                    </a:p>
                  </a:txBody>
                  <a:tcPr/>
                </a:tc>
                <a:extLst>
                  <a:ext uri="{0D108BD9-81ED-4DB2-BD59-A6C34878D82A}">
                    <a16:rowId xmlns:a16="http://schemas.microsoft.com/office/drawing/2014/main" val="1220602002"/>
                  </a:ext>
                </a:extLst>
              </a:tr>
              <a:tr h="259321">
                <a:tc>
                  <a:txBody>
                    <a:bodyPr/>
                    <a:lstStyle/>
                    <a:p>
                      <a:r>
                        <a:rPr lang="en-IN" sz="1400" b="1" dirty="0">
                          <a:solidFill>
                            <a:schemeClr val="tx1"/>
                          </a:solidFill>
                        </a:rPr>
                        <a:t>75.4098</a:t>
                      </a:r>
                    </a:p>
                  </a:txBody>
                  <a:tcPr>
                    <a:solidFill>
                      <a:schemeClr val="accent6"/>
                    </a:solidFill>
                  </a:tcPr>
                </a:tc>
                <a:tc>
                  <a:txBody>
                    <a:bodyPr/>
                    <a:lstStyle/>
                    <a:p>
                      <a:r>
                        <a:rPr lang="en-IN" sz="1400" dirty="0"/>
                        <a:t>67.2131</a:t>
                      </a:r>
                    </a:p>
                  </a:txBody>
                  <a:tcPr>
                    <a:noFill/>
                  </a:tcPr>
                </a:tc>
                <a:tc>
                  <a:txBody>
                    <a:bodyPr/>
                    <a:lstStyle/>
                    <a:p>
                      <a:r>
                        <a:rPr lang="en-IN" sz="1400" b="0" dirty="0"/>
                        <a:t>Not applicable</a:t>
                      </a:r>
                    </a:p>
                  </a:txBody>
                  <a:tcPr>
                    <a:noFill/>
                  </a:tcPr>
                </a:tc>
                <a:extLst>
                  <a:ext uri="{0D108BD9-81ED-4DB2-BD59-A6C34878D82A}">
                    <a16:rowId xmlns:a16="http://schemas.microsoft.com/office/drawing/2014/main" val="2854151783"/>
                  </a:ext>
                </a:extLst>
              </a:tr>
              <a:tr h="259321">
                <a:tc>
                  <a:txBody>
                    <a:bodyPr/>
                    <a:lstStyle/>
                    <a:p>
                      <a:r>
                        <a:rPr lang="en-IN" sz="1400" b="1" dirty="0">
                          <a:solidFill>
                            <a:schemeClr val="tx1"/>
                          </a:solidFill>
                        </a:rPr>
                        <a:t>8</a:t>
                      </a:r>
                    </a:p>
                  </a:txBody>
                  <a:tcPr>
                    <a:solidFill>
                      <a:schemeClr val="accent6"/>
                    </a:solidFill>
                  </a:tcPr>
                </a:tc>
                <a:tc>
                  <a:txBody>
                    <a:bodyPr/>
                    <a:lstStyle/>
                    <a:p>
                      <a:r>
                        <a:rPr lang="en-IN" sz="1400" dirty="0"/>
                        <a:t>8</a:t>
                      </a:r>
                    </a:p>
                  </a:txBody>
                  <a:tcPr>
                    <a:noFill/>
                  </a:tcPr>
                </a:tc>
                <a:tc>
                  <a:txBody>
                    <a:bodyPr/>
                    <a:lstStyle/>
                    <a:p>
                      <a:r>
                        <a:rPr lang="en-IN" sz="1400" dirty="0"/>
                        <a:t>-</a:t>
                      </a:r>
                    </a:p>
                  </a:txBody>
                  <a:tcPr>
                    <a:noFill/>
                  </a:tcPr>
                </a:tc>
                <a:extLst>
                  <a:ext uri="{0D108BD9-81ED-4DB2-BD59-A6C34878D82A}">
                    <a16:rowId xmlns:a16="http://schemas.microsoft.com/office/drawing/2014/main" val="3788322261"/>
                  </a:ext>
                </a:extLst>
              </a:tr>
            </a:tbl>
          </a:graphicData>
        </a:graphic>
      </p:graphicFrame>
      <p:graphicFrame>
        <p:nvGraphicFramePr>
          <p:cNvPr id="18" name="Table 14">
            <a:extLst>
              <a:ext uri="{FF2B5EF4-FFF2-40B4-BE49-F238E27FC236}">
                <a16:creationId xmlns:a16="http://schemas.microsoft.com/office/drawing/2014/main" id="{9AF8B4C6-3D70-4120-99AD-D325D581737C}"/>
              </a:ext>
            </a:extLst>
          </p:cNvPr>
          <p:cNvGraphicFramePr>
            <a:graphicFrameLocks noGrp="1"/>
          </p:cNvGraphicFramePr>
          <p:nvPr>
            <p:extLst>
              <p:ext uri="{D42A27DB-BD31-4B8C-83A1-F6EECF244321}">
                <p14:modId xmlns:p14="http://schemas.microsoft.com/office/powerpoint/2010/main" val="844250326"/>
              </p:ext>
            </p:extLst>
          </p:nvPr>
        </p:nvGraphicFramePr>
        <p:xfrm>
          <a:off x="793503" y="5030183"/>
          <a:ext cx="7315086" cy="914400"/>
        </p:xfrm>
        <a:graphic>
          <a:graphicData uri="http://schemas.openxmlformats.org/drawingml/2006/table">
            <a:tbl>
              <a:tblPr firstRow="1" bandRow="1">
                <a:tableStyleId>{5C22544A-7EE6-4342-B048-85BDC9FD1C3A}</a:tableStyleId>
              </a:tblPr>
              <a:tblGrid>
                <a:gridCol w="2438362">
                  <a:extLst>
                    <a:ext uri="{9D8B030D-6E8A-4147-A177-3AD203B41FA5}">
                      <a16:colId xmlns:a16="http://schemas.microsoft.com/office/drawing/2014/main" val="2023279697"/>
                    </a:ext>
                  </a:extLst>
                </a:gridCol>
                <a:gridCol w="2438362">
                  <a:extLst>
                    <a:ext uri="{9D8B030D-6E8A-4147-A177-3AD203B41FA5}">
                      <a16:colId xmlns:a16="http://schemas.microsoft.com/office/drawing/2014/main" val="1656600714"/>
                    </a:ext>
                  </a:extLst>
                </a:gridCol>
                <a:gridCol w="2438362">
                  <a:extLst>
                    <a:ext uri="{9D8B030D-6E8A-4147-A177-3AD203B41FA5}">
                      <a16:colId xmlns:a16="http://schemas.microsoft.com/office/drawing/2014/main" val="293886267"/>
                    </a:ext>
                  </a:extLst>
                </a:gridCol>
              </a:tblGrid>
              <a:tr h="259321">
                <a:tc>
                  <a:txBody>
                    <a:bodyPr/>
                    <a:lstStyle/>
                    <a:p>
                      <a:r>
                        <a:rPr lang="en-IN" sz="1400" dirty="0"/>
                        <a:t>Lasso </a:t>
                      </a:r>
                    </a:p>
                  </a:txBody>
                  <a:tcPr/>
                </a:tc>
                <a:tc>
                  <a:txBody>
                    <a:bodyPr/>
                    <a:lstStyle/>
                    <a:p>
                      <a:r>
                        <a:rPr lang="en-US" sz="1400" dirty="0"/>
                        <a:t>D</a:t>
                      </a:r>
                      <a:r>
                        <a:rPr lang="en-IN" sz="1400" dirty="0" err="1"/>
                        <a:t>ecision</a:t>
                      </a:r>
                      <a:r>
                        <a:rPr lang="en-IN" sz="1400" dirty="0"/>
                        <a:t> tree</a:t>
                      </a:r>
                    </a:p>
                  </a:txBody>
                  <a:tcPr/>
                </a:tc>
                <a:tc>
                  <a:txBody>
                    <a:bodyPr/>
                    <a:lstStyle/>
                    <a:p>
                      <a:r>
                        <a:rPr lang="en-IN" sz="1400" b="1" dirty="0">
                          <a:solidFill>
                            <a:schemeClr val="tx1"/>
                          </a:solidFill>
                        </a:rPr>
                        <a:t>Genetic algorithm</a:t>
                      </a:r>
                    </a:p>
                  </a:txBody>
                  <a:tcPr>
                    <a:solidFill>
                      <a:schemeClr val="accent6"/>
                    </a:solidFill>
                  </a:tcPr>
                </a:tc>
                <a:extLst>
                  <a:ext uri="{0D108BD9-81ED-4DB2-BD59-A6C34878D82A}">
                    <a16:rowId xmlns:a16="http://schemas.microsoft.com/office/drawing/2014/main" val="1220602002"/>
                  </a:ext>
                </a:extLst>
              </a:tr>
              <a:tr h="259321">
                <a:tc>
                  <a:txBody>
                    <a:bodyPr/>
                    <a:lstStyle/>
                    <a:p>
                      <a:r>
                        <a:rPr lang="en-IN" sz="1400" dirty="0"/>
                        <a:t>91.803</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83.6065</a:t>
                      </a:r>
                    </a:p>
                  </a:txBody>
                  <a:tcPr>
                    <a:noFill/>
                  </a:tcPr>
                </a:tc>
                <a:tc>
                  <a:txBody>
                    <a:bodyPr/>
                    <a:lstStyle/>
                    <a:p>
                      <a:r>
                        <a:rPr lang="en-IN" sz="1400" b="1" dirty="0">
                          <a:solidFill>
                            <a:schemeClr val="tx1"/>
                          </a:solidFill>
                        </a:rPr>
                        <a:t>91.8033</a:t>
                      </a:r>
                    </a:p>
                  </a:txBody>
                  <a:tcPr>
                    <a:solidFill>
                      <a:schemeClr val="accent6"/>
                    </a:solidFill>
                  </a:tcPr>
                </a:tc>
                <a:extLst>
                  <a:ext uri="{0D108BD9-81ED-4DB2-BD59-A6C34878D82A}">
                    <a16:rowId xmlns:a16="http://schemas.microsoft.com/office/drawing/2014/main" val="2854151783"/>
                  </a:ext>
                </a:extLst>
              </a:tr>
              <a:tr h="259321">
                <a:tc>
                  <a:txBody>
                    <a:bodyPr/>
                    <a:lstStyle/>
                    <a:p>
                      <a:r>
                        <a:rPr lang="en-IN" sz="1400" dirty="0"/>
                        <a:t>6</a:t>
                      </a:r>
                    </a:p>
                  </a:txBody>
                  <a:tcPr>
                    <a:noFill/>
                  </a:tcPr>
                </a:tc>
                <a:tc>
                  <a:txBody>
                    <a:bodyPr/>
                    <a:lstStyle/>
                    <a:p>
                      <a:r>
                        <a:rPr lang="en-IN" sz="1400" dirty="0"/>
                        <a:t>7</a:t>
                      </a:r>
                    </a:p>
                  </a:txBody>
                  <a:tcPr>
                    <a:noFill/>
                  </a:tcPr>
                </a:tc>
                <a:tc>
                  <a:txBody>
                    <a:bodyPr/>
                    <a:lstStyle/>
                    <a:p>
                      <a:r>
                        <a:rPr lang="en-IN" sz="1400" b="1" dirty="0">
                          <a:solidFill>
                            <a:schemeClr val="tx1"/>
                          </a:solidFill>
                        </a:rPr>
                        <a:t>7</a:t>
                      </a:r>
                    </a:p>
                  </a:txBody>
                  <a:tcPr>
                    <a:solidFill>
                      <a:schemeClr val="accent6"/>
                    </a:solidFill>
                  </a:tcPr>
                </a:tc>
                <a:extLst>
                  <a:ext uri="{0D108BD9-81ED-4DB2-BD59-A6C34878D82A}">
                    <a16:rowId xmlns:a16="http://schemas.microsoft.com/office/drawing/2014/main" val="3788322261"/>
                  </a:ext>
                </a:extLst>
              </a:tr>
            </a:tbl>
          </a:graphicData>
        </a:graphic>
      </p:graphicFrame>
      <p:sp>
        <p:nvSpPr>
          <p:cNvPr id="19" name="TextBox 18">
            <a:extLst>
              <a:ext uri="{FF2B5EF4-FFF2-40B4-BE49-F238E27FC236}">
                <a16:creationId xmlns:a16="http://schemas.microsoft.com/office/drawing/2014/main" id="{7C102110-962E-4C9A-A0AF-827D4FA6AE1D}"/>
              </a:ext>
            </a:extLst>
          </p:cNvPr>
          <p:cNvSpPr txBox="1"/>
          <p:nvPr/>
        </p:nvSpPr>
        <p:spPr>
          <a:xfrm>
            <a:off x="75414" y="4695067"/>
            <a:ext cx="4586908" cy="338554"/>
          </a:xfrm>
          <a:prstGeom prst="rect">
            <a:avLst/>
          </a:prstGeom>
          <a:noFill/>
        </p:spPr>
        <p:txBody>
          <a:bodyPr wrap="square">
            <a:spAutoFit/>
          </a:bodyPr>
          <a:lstStyle/>
          <a:p>
            <a:pPr algn="just"/>
            <a:r>
              <a:rPr lang="en-IN" sz="1600" b="1" dirty="0">
                <a:solidFill>
                  <a:srgbClr val="000000"/>
                </a:solidFill>
                <a:latin typeface="inter-regular"/>
              </a:rPr>
              <a:t>Embedded</a:t>
            </a:r>
            <a:r>
              <a:rPr lang="en-IN" sz="1600" b="1" i="0" dirty="0">
                <a:solidFill>
                  <a:srgbClr val="000000"/>
                </a:solidFill>
                <a:effectLst/>
                <a:latin typeface="inter-regular"/>
              </a:rPr>
              <a:t> method:</a:t>
            </a:r>
          </a:p>
        </p:txBody>
      </p:sp>
      <p:sp>
        <p:nvSpPr>
          <p:cNvPr id="20" name="TextBox 19">
            <a:extLst>
              <a:ext uri="{FF2B5EF4-FFF2-40B4-BE49-F238E27FC236}">
                <a16:creationId xmlns:a16="http://schemas.microsoft.com/office/drawing/2014/main" id="{AA867335-5991-4CB9-80D0-0B7D0769388F}"/>
              </a:ext>
            </a:extLst>
          </p:cNvPr>
          <p:cNvSpPr txBox="1"/>
          <p:nvPr/>
        </p:nvSpPr>
        <p:spPr>
          <a:xfrm>
            <a:off x="75414" y="2937274"/>
            <a:ext cx="4586908" cy="338554"/>
          </a:xfrm>
          <a:prstGeom prst="rect">
            <a:avLst/>
          </a:prstGeom>
          <a:noFill/>
        </p:spPr>
        <p:txBody>
          <a:bodyPr wrap="square">
            <a:spAutoFit/>
          </a:bodyPr>
          <a:lstStyle/>
          <a:p>
            <a:pPr algn="just"/>
            <a:r>
              <a:rPr lang="en-IN" sz="1600" b="1" dirty="0">
                <a:solidFill>
                  <a:srgbClr val="000000"/>
                </a:solidFill>
                <a:latin typeface="inter-regular"/>
              </a:rPr>
              <a:t>Wrapper</a:t>
            </a:r>
            <a:r>
              <a:rPr lang="en-IN" sz="1600" b="1" i="0" dirty="0">
                <a:solidFill>
                  <a:srgbClr val="000000"/>
                </a:solidFill>
                <a:effectLst/>
                <a:latin typeface="inter-regular"/>
              </a:rPr>
              <a:t> method:</a:t>
            </a:r>
          </a:p>
        </p:txBody>
      </p:sp>
      <p:sp>
        <p:nvSpPr>
          <p:cNvPr id="21" name="TextBox 20">
            <a:extLst>
              <a:ext uri="{FF2B5EF4-FFF2-40B4-BE49-F238E27FC236}">
                <a16:creationId xmlns:a16="http://schemas.microsoft.com/office/drawing/2014/main" id="{E827404D-89A0-4580-9123-C2EFCFB70D6E}"/>
              </a:ext>
            </a:extLst>
          </p:cNvPr>
          <p:cNvSpPr txBox="1"/>
          <p:nvPr/>
        </p:nvSpPr>
        <p:spPr>
          <a:xfrm>
            <a:off x="690942" y="4198298"/>
            <a:ext cx="9556301" cy="338554"/>
          </a:xfrm>
          <a:prstGeom prst="rect">
            <a:avLst/>
          </a:prstGeom>
          <a:noFill/>
        </p:spPr>
        <p:txBody>
          <a:bodyPr wrap="square">
            <a:spAutoFit/>
          </a:bodyPr>
          <a:lstStyle/>
          <a:p>
            <a:pPr algn="just"/>
            <a:r>
              <a:rPr lang="en-IN" sz="1600" i="0" dirty="0">
                <a:solidFill>
                  <a:srgbClr val="000000"/>
                </a:solidFill>
                <a:effectLst/>
                <a:latin typeface="inter-regular"/>
              </a:rPr>
              <a:t>Features:</a:t>
            </a:r>
            <a:r>
              <a:rPr lang="en-IN" sz="1600" b="1" i="0" dirty="0">
                <a:solidFill>
                  <a:srgbClr val="000000"/>
                </a:solidFill>
                <a:effectLst/>
                <a:latin typeface="inter-regular"/>
              </a:rPr>
              <a:t>  'age',   'sex',   'cp',   '</a:t>
            </a:r>
            <a:r>
              <a:rPr lang="en-IN" sz="1600" b="1" i="0" dirty="0" err="1">
                <a:solidFill>
                  <a:srgbClr val="000000"/>
                </a:solidFill>
                <a:effectLst/>
                <a:latin typeface="inter-regular"/>
              </a:rPr>
              <a:t>fbs</a:t>
            </a:r>
            <a:r>
              <a:rPr lang="en-IN" sz="1600" b="1" i="0" dirty="0">
                <a:solidFill>
                  <a:srgbClr val="000000"/>
                </a:solidFill>
                <a:effectLst/>
                <a:latin typeface="inter-regular"/>
              </a:rPr>
              <a:t>',   '</a:t>
            </a:r>
            <a:r>
              <a:rPr lang="en-IN" sz="1600" b="1" i="0" dirty="0" err="1">
                <a:solidFill>
                  <a:srgbClr val="000000"/>
                </a:solidFill>
                <a:effectLst/>
                <a:latin typeface="inter-regular"/>
              </a:rPr>
              <a:t>exang</a:t>
            </a:r>
            <a:r>
              <a:rPr lang="en-IN" sz="1600" b="1" i="0" dirty="0">
                <a:solidFill>
                  <a:srgbClr val="000000"/>
                </a:solidFill>
                <a:effectLst/>
                <a:latin typeface="inter-regular"/>
              </a:rPr>
              <a:t>',   'slope',   ca',   '</a:t>
            </a:r>
            <a:r>
              <a:rPr lang="en-IN" sz="1600" b="1" i="0" dirty="0" err="1">
                <a:solidFill>
                  <a:srgbClr val="000000"/>
                </a:solidFill>
                <a:effectLst/>
                <a:latin typeface="inter-regular"/>
              </a:rPr>
              <a:t>thal</a:t>
            </a:r>
            <a:r>
              <a:rPr lang="en-IN" sz="1600" b="1" i="0" dirty="0">
                <a:solidFill>
                  <a:srgbClr val="000000"/>
                </a:solidFill>
                <a:effectLst/>
                <a:latin typeface="inter-regular"/>
              </a:rPr>
              <a:t>'</a:t>
            </a:r>
          </a:p>
        </p:txBody>
      </p:sp>
      <p:sp>
        <p:nvSpPr>
          <p:cNvPr id="22" name="TextBox 21">
            <a:extLst>
              <a:ext uri="{FF2B5EF4-FFF2-40B4-BE49-F238E27FC236}">
                <a16:creationId xmlns:a16="http://schemas.microsoft.com/office/drawing/2014/main" id="{488267F7-A381-46A4-933B-45FC508AB1EA}"/>
              </a:ext>
            </a:extLst>
          </p:cNvPr>
          <p:cNvSpPr txBox="1"/>
          <p:nvPr/>
        </p:nvSpPr>
        <p:spPr>
          <a:xfrm>
            <a:off x="690942" y="2504285"/>
            <a:ext cx="4586908" cy="338554"/>
          </a:xfrm>
          <a:prstGeom prst="rect">
            <a:avLst/>
          </a:prstGeom>
          <a:noFill/>
        </p:spPr>
        <p:txBody>
          <a:bodyPr wrap="square">
            <a:spAutoFit/>
          </a:bodyPr>
          <a:lstStyle/>
          <a:p>
            <a:pPr algn="just"/>
            <a:r>
              <a:rPr lang="en-IN" sz="1600" dirty="0">
                <a:solidFill>
                  <a:srgbClr val="000000"/>
                </a:solidFill>
                <a:latin typeface="inter-regular"/>
              </a:rPr>
              <a:t>Features</a:t>
            </a:r>
            <a:r>
              <a:rPr lang="en-IN" sz="1600" i="0" dirty="0">
                <a:solidFill>
                  <a:srgbClr val="000000"/>
                </a:solidFill>
                <a:effectLst/>
                <a:latin typeface="inter-regular"/>
              </a:rPr>
              <a:t>:</a:t>
            </a:r>
            <a:r>
              <a:rPr lang="en-IN" sz="1600" b="1" i="0" dirty="0">
                <a:solidFill>
                  <a:srgbClr val="000000"/>
                </a:solidFill>
                <a:effectLst/>
                <a:latin typeface="inter-regular"/>
              </a:rPr>
              <a:t>   '</a:t>
            </a:r>
            <a:r>
              <a:rPr lang="en-IN" sz="1600" b="1" i="0" dirty="0" err="1">
                <a:solidFill>
                  <a:srgbClr val="000000"/>
                </a:solidFill>
                <a:effectLst/>
                <a:latin typeface="inter-regular"/>
              </a:rPr>
              <a:t>thal</a:t>
            </a:r>
            <a:r>
              <a:rPr lang="en-IN" sz="1600" b="1" i="0" dirty="0">
                <a:solidFill>
                  <a:srgbClr val="000000"/>
                </a:solidFill>
                <a:effectLst/>
                <a:latin typeface="inter-regular"/>
              </a:rPr>
              <a:t>', 'cp', 'ca', '</a:t>
            </a:r>
            <a:r>
              <a:rPr lang="en-IN" sz="1600" b="1" i="0" dirty="0" err="1">
                <a:solidFill>
                  <a:srgbClr val="000000"/>
                </a:solidFill>
                <a:effectLst/>
                <a:latin typeface="inter-regular"/>
              </a:rPr>
              <a:t>oldpeak</a:t>
            </a:r>
            <a:r>
              <a:rPr lang="en-IN" sz="1600" b="1" i="0" dirty="0">
                <a:solidFill>
                  <a:srgbClr val="000000"/>
                </a:solidFill>
                <a:effectLst/>
                <a:latin typeface="inter-regular"/>
              </a:rPr>
              <a:t>', 'slope'</a:t>
            </a:r>
          </a:p>
        </p:txBody>
      </p:sp>
      <p:sp>
        <p:nvSpPr>
          <p:cNvPr id="23" name="TextBox 22">
            <a:extLst>
              <a:ext uri="{FF2B5EF4-FFF2-40B4-BE49-F238E27FC236}">
                <a16:creationId xmlns:a16="http://schemas.microsoft.com/office/drawing/2014/main" id="{BB3B6BF6-73F7-4457-A3F8-E4565E8BBC92}"/>
              </a:ext>
            </a:extLst>
          </p:cNvPr>
          <p:cNvSpPr txBox="1"/>
          <p:nvPr/>
        </p:nvSpPr>
        <p:spPr>
          <a:xfrm>
            <a:off x="760488" y="5962699"/>
            <a:ext cx="8100708" cy="338554"/>
          </a:xfrm>
          <a:prstGeom prst="rect">
            <a:avLst/>
          </a:prstGeom>
          <a:noFill/>
        </p:spPr>
        <p:txBody>
          <a:bodyPr wrap="square">
            <a:spAutoFit/>
          </a:bodyPr>
          <a:lstStyle/>
          <a:p>
            <a:pPr algn="just"/>
            <a:r>
              <a:rPr lang="en-IN" sz="1600" i="0" dirty="0">
                <a:solidFill>
                  <a:srgbClr val="000000"/>
                </a:solidFill>
                <a:effectLst/>
                <a:latin typeface="inter-regular"/>
              </a:rPr>
              <a:t>Features:</a:t>
            </a:r>
            <a:r>
              <a:rPr lang="en-IN" sz="1600" b="1" i="0" dirty="0">
                <a:solidFill>
                  <a:srgbClr val="000000"/>
                </a:solidFill>
                <a:effectLst/>
                <a:latin typeface="inter-regular"/>
              </a:rPr>
              <a:t> 'sex’,  'cp’,  '</a:t>
            </a:r>
            <a:r>
              <a:rPr lang="en-IN" sz="1600" b="1" i="0" dirty="0" err="1">
                <a:solidFill>
                  <a:srgbClr val="000000"/>
                </a:solidFill>
                <a:effectLst/>
                <a:latin typeface="inter-regular"/>
              </a:rPr>
              <a:t>fbs</a:t>
            </a:r>
            <a:r>
              <a:rPr lang="en-IN" sz="1600" b="1" i="0" dirty="0">
                <a:solidFill>
                  <a:srgbClr val="000000"/>
                </a:solidFill>
                <a:effectLst/>
                <a:latin typeface="inter-regular"/>
              </a:rPr>
              <a:t>’,  '</a:t>
            </a:r>
            <a:r>
              <a:rPr lang="en-IN" sz="1600" b="1" i="0" dirty="0" err="1">
                <a:solidFill>
                  <a:srgbClr val="000000"/>
                </a:solidFill>
                <a:effectLst/>
                <a:latin typeface="inter-regular"/>
              </a:rPr>
              <a:t>oldpeak</a:t>
            </a:r>
            <a:r>
              <a:rPr lang="en-IN" sz="1600" b="1" i="0" dirty="0">
                <a:solidFill>
                  <a:srgbClr val="000000"/>
                </a:solidFill>
                <a:effectLst/>
                <a:latin typeface="inter-regular"/>
              </a:rPr>
              <a:t>’,  'slope’,  'ca’,  '</a:t>
            </a:r>
            <a:r>
              <a:rPr lang="en-IN" sz="1600" b="1" i="0" dirty="0" err="1">
                <a:solidFill>
                  <a:srgbClr val="000000"/>
                </a:solidFill>
                <a:effectLst/>
                <a:latin typeface="inter-regular"/>
              </a:rPr>
              <a:t>thal</a:t>
            </a:r>
            <a:r>
              <a:rPr lang="en-IN" sz="1600" b="1" i="0" dirty="0">
                <a:solidFill>
                  <a:srgbClr val="000000"/>
                </a:solidFill>
                <a:effectLst/>
                <a:latin typeface="inter-regular"/>
              </a:rPr>
              <a:t>'</a:t>
            </a:r>
          </a:p>
        </p:txBody>
      </p:sp>
    </p:spTree>
    <p:extLst>
      <p:ext uri="{BB962C8B-B14F-4D97-AF65-F5344CB8AC3E}">
        <p14:creationId xmlns:p14="http://schemas.microsoft.com/office/powerpoint/2010/main" val="9512252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8D4669DB-FB9D-493D-B0D9-33EFC82790DE}"/>
              </a:ext>
            </a:extLst>
          </p:cNvPr>
          <p:cNvPicPr>
            <a:picLocks noChangeAspect="1"/>
          </p:cNvPicPr>
          <p:nvPr/>
        </p:nvPicPr>
        <p:blipFill>
          <a:blip r:embed="rId3">
            <a:lum/>
            <a:alphaModFix/>
          </a:blip>
          <a:srcRect/>
          <a:stretch>
            <a:fillRect/>
          </a:stretch>
        </p:blipFill>
        <p:spPr>
          <a:xfrm>
            <a:off x="0" y="6553084"/>
            <a:ext cx="9144000" cy="308161"/>
          </a:xfrm>
          <a:prstGeom prst="rect">
            <a:avLst/>
          </a:prstGeom>
          <a:noFill/>
          <a:ln cap="flat">
            <a:noFill/>
          </a:ln>
        </p:spPr>
      </p:pic>
      <p:sp>
        <p:nvSpPr>
          <p:cNvPr id="3" name="Text Box 4">
            <a:extLst>
              <a:ext uri="{FF2B5EF4-FFF2-40B4-BE49-F238E27FC236}">
                <a16:creationId xmlns:a16="http://schemas.microsoft.com/office/drawing/2014/main" id="{6F8CE000-001B-477B-AEB1-7B2DF82125E0}"/>
              </a:ext>
            </a:extLst>
          </p:cNvPr>
          <p:cNvSpPr/>
          <p:nvPr/>
        </p:nvSpPr>
        <p:spPr>
          <a:xfrm>
            <a:off x="2299322" y="6550203"/>
            <a:ext cx="4545363" cy="307082"/>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a:effectLst>
            <a:outerShdw dist="17819" dir="2700000" algn="tl">
              <a:srgbClr val="000000"/>
            </a:outerShdw>
          </a:effectLst>
        </p:spPr>
        <p:txBody>
          <a:bodyPr vert="horz" wrap="non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1400" b="1" i="0" u="none" strike="noStrike" kern="1200" cap="none" spc="0" baseline="0">
                <a:solidFill>
                  <a:srgbClr val="47FFD1"/>
                </a:solidFill>
                <a:uFillTx/>
                <a:latin typeface="Comic Sans MS" pitchFamily="66"/>
                <a:ea typeface="Microsoft YaHei" pitchFamily="2"/>
                <a:cs typeface="Lucida Sans" pitchFamily="2"/>
              </a:rPr>
              <a:t>Department of Computer Science and Engineering</a:t>
            </a:r>
          </a:p>
        </p:txBody>
      </p:sp>
      <p:pic>
        <p:nvPicPr>
          <p:cNvPr id="4" name="Picture 2">
            <a:extLst>
              <a:ext uri="{FF2B5EF4-FFF2-40B4-BE49-F238E27FC236}">
                <a16:creationId xmlns:a16="http://schemas.microsoft.com/office/drawing/2014/main" id="{EFEADD32-D603-4B11-8D98-E7FD48C6130F}"/>
              </a:ext>
            </a:extLst>
          </p:cNvPr>
          <p:cNvPicPr>
            <a:picLocks noChangeAspect="1"/>
          </p:cNvPicPr>
          <p:nvPr/>
        </p:nvPicPr>
        <p:blipFill>
          <a:blip r:embed="rId3">
            <a:lum/>
            <a:alphaModFix/>
          </a:blip>
          <a:srcRect/>
          <a:stretch>
            <a:fillRect/>
          </a:stretch>
        </p:blipFill>
        <p:spPr>
          <a:xfrm>
            <a:off x="0" y="0"/>
            <a:ext cx="9144000" cy="609484"/>
          </a:xfrm>
          <a:prstGeom prst="rect">
            <a:avLst/>
          </a:prstGeom>
          <a:noFill/>
          <a:ln cap="flat">
            <a:noFill/>
          </a:ln>
        </p:spPr>
      </p:pic>
      <p:sp>
        <p:nvSpPr>
          <p:cNvPr id="5" name="Rectangle: Rounded Corners 3">
            <a:extLst>
              <a:ext uri="{FF2B5EF4-FFF2-40B4-BE49-F238E27FC236}">
                <a16:creationId xmlns:a16="http://schemas.microsoft.com/office/drawing/2014/main" id="{6BBED2D9-BCDF-4E94-8182-A159447629CE}"/>
              </a:ext>
            </a:extLst>
          </p:cNvPr>
          <p:cNvSpPr/>
          <p:nvPr/>
        </p:nvSpPr>
        <p:spPr>
          <a:xfrm>
            <a:off x="8550362" y="6553084"/>
            <a:ext cx="593637" cy="306360"/>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0066"/>
          </a:solidFill>
          <a:ln w="12600" cap="flat">
            <a:solidFill>
              <a:srgbClr val="000000"/>
            </a:solidFill>
            <a:prstDash val="solid"/>
            <a:miter/>
          </a:ln>
        </p:spPr>
        <p:txBody>
          <a:bodyPr vert="horz" wrap="square" lIns="90004" tIns="46798" rIns="90004" bIns="46798" anchor="ctr" anchorCtr="1" compatLnSpc="1">
            <a:normAutofit fontScale="92500" lnSpcReduction="20000"/>
          </a:bodyPr>
          <a:lstStyle/>
          <a:p>
            <a:pPr marL="0" marR="0" lvl="0" indent="0" algn="ctr" defTabSz="914400" rtl="0" fontAlgn="auto" hangingPunct="1">
              <a:lnSpc>
                <a:spcPct val="8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AB8CC7BD-5D93-4C0A-AAD8-B765ACB170F4}" type="slidenum">
              <a:t>36</a:t>
            </a:fld>
            <a:endParaRPr lang="en-US" sz="1400" b="1" i="0" u="none" strike="noStrike" kern="1200" cap="none" spc="0" baseline="0">
              <a:solidFill>
                <a:srgbClr val="FFFFFF"/>
              </a:solidFill>
              <a:uFillTx/>
              <a:latin typeface="Comic Sans MS" pitchFamily="66"/>
              <a:ea typeface="Microsoft YaHei" pitchFamily="2"/>
              <a:cs typeface="Lucida Sans" pitchFamily="2"/>
            </a:endParaRPr>
          </a:p>
        </p:txBody>
      </p:sp>
      <p:sp>
        <p:nvSpPr>
          <p:cNvPr id="6" name="Date Placeholder 7">
            <a:extLst>
              <a:ext uri="{FF2B5EF4-FFF2-40B4-BE49-F238E27FC236}">
                <a16:creationId xmlns:a16="http://schemas.microsoft.com/office/drawing/2014/main" id="{D0C2D5F8-2A4E-45AD-9E19-29D2B63406A3}"/>
              </a:ext>
            </a:extLst>
          </p:cNvPr>
          <p:cNvSpPr/>
          <p:nvPr/>
        </p:nvSpPr>
        <p:spPr>
          <a:xfrm>
            <a:off x="0" y="6564239"/>
            <a:ext cx="1447915" cy="41291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norm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5E5B1732-3D3F-4E1A-AD91-1223FC4CF4BB}" type="datetime1">
              <a:rPr lang="en-US" sz="1400" b="1" i="0" u="none" strike="noStrike" kern="1200" cap="none" spc="0" baseline="0">
                <a:solidFill>
                  <a:srgbClr val="FF0066"/>
                </a:solidFill>
                <a:uFillTx/>
                <a:latin typeface="Arial Rounded MT Bold" pitchFamily="34"/>
                <a:ea typeface="Microsoft YaHei" pitchFamily="2"/>
                <a:cs typeface="Lucida Sans" pitchFamily="2"/>
              </a:rPr>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t>4/18/2023</a:t>
            </a:fld>
            <a:endParaRPr lang="en-US" sz="1400" b="1" i="0" u="none" strike="noStrike" kern="1200" cap="none" spc="0" baseline="0">
              <a:solidFill>
                <a:srgbClr val="FF0066"/>
              </a:solidFill>
              <a:uFillTx/>
              <a:latin typeface="Arial Rounded MT Bold" pitchFamily="34"/>
              <a:ea typeface="Microsoft YaHei" pitchFamily="2"/>
              <a:cs typeface="Lucida Sans" pitchFamily="2"/>
            </a:endParaRPr>
          </a:p>
        </p:txBody>
      </p:sp>
      <p:sp>
        <p:nvSpPr>
          <p:cNvPr id="7" name="TextBox 8">
            <a:extLst>
              <a:ext uri="{FF2B5EF4-FFF2-40B4-BE49-F238E27FC236}">
                <a16:creationId xmlns:a16="http://schemas.microsoft.com/office/drawing/2014/main" id="{9BE241AC-2867-401B-8952-98D39C4F5A63}"/>
              </a:ext>
            </a:extLst>
          </p:cNvPr>
          <p:cNvSpPr/>
          <p:nvPr/>
        </p:nvSpPr>
        <p:spPr>
          <a:xfrm>
            <a:off x="919081" y="0"/>
            <a:ext cx="7305836" cy="47483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500" b="1" i="0" u="none" strike="noStrike" kern="1200" cap="none" spc="0" baseline="0">
                <a:solidFill>
                  <a:srgbClr val="47FFD1"/>
                </a:solidFill>
                <a:uFillTx/>
                <a:latin typeface="Comic Sans MS" pitchFamily="66"/>
                <a:ea typeface="Microsoft YaHei" pitchFamily="2"/>
                <a:cs typeface="Lucida Sans" pitchFamily="2"/>
              </a:rPr>
              <a:t>Mepco Schlenk Engineering College </a:t>
            </a:r>
            <a:r>
              <a:rPr lang="en-US" sz="1800" b="1" i="0" u="none" strike="noStrike" kern="1200" cap="none" spc="0" baseline="0">
                <a:solidFill>
                  <a:srgbClr val="47FFD1"/>
                </a:solidFill>
                <a:uFillTx/>
                <a:latin typeface="Comic Sans MS" pitchFamily="66"/>
                <a:ea typeface="Microsoft YaHei" pitchFamily="2"/>
                <a:cs typeface="Lucida Sans" pitchFamily="2"/>
              </a:rPr>
              <a:t>(Autonomous)</a:t>
            </a:r>
          </a:p>
        </p:txBody>
      </p:sp>
      <p:sp>
        <p:nvSpPr>
          <p:cNvPr id="8" name="Oval 11">
            <a:extLst>
              <a:ext uri="{FF2B5EF4-FFF2-40B4-BE49-F238E27FC236}">
                <a16:creationId xmlns:a16="http://schemas.microsoft.com/office/drawing/2014/main" id="{E67FA03A-95C6-4908-B4C7-A0B37595DAFE}"/>
              </a:ext>
            </a:extLst>
          </p:cNvPr>
          <p:cNvSpPr/>
          <p:nvPr/>
        </p:nvSpPr>
        <p:spPr>
          <a:xfrm>
            <a:off x="8354881" y="20519"/>
            <a:ext cx="777962" cy="777962"/>
          </a:xfrm>
          <a:custGeom>
            <a:avLst/>
            <a:gdLst>
              <a:gd name="f0" fmla="val 10800000"/>
              <a:gd name="f1" fmla="val 5400000"/>
              <a:gd name="f2" fmla="val 180"/>
              <a:gd name="f3" fmla="val w"/>
              <a:gd name="f4" fmla="val h"/>
              <a:gd name="f5" fmla="val 0"/>
              <a:gd name="f6" fmla="val 21600"/>
              <a:gd name="f7" fmla="*/ 5419351 1 1725033"/>
              <a:gd name="f8" fmla="*/ 10800 10800 1"/>
              <a:gd name="f9" fmla="+- 0 0 360"/>
              <a:gd name="f10" fmla="val 10800"/>
              <a:gd name="f11" fmla="+- 0 0 0"/>
              <a:gd name="f12" fmla="*/ f3 1 21600"/>
              <a:gd name="f13" fmla="*/ f4 1 21600"/>
              <a:gd name="f14" fmla="*/ 0 f7 1"/>
              <a:gd name="f15" fmla="*/ f5 f0 1"/>
              <a:gd name="f16" fmla="*/ f9 f0 1"/>
              <a:gd name="f17" fmla="+- f6 0 f5"/>
              <a:gd name="f18" fmla="*/ f11 f0 1"/>
              <a:gd name="f19" fmla="*/ f14 1 f2"/>
              <a:gd name="f20" fmla="*/ f15 1 f2"/>
              <a:gd name="f21" fmla="*/ f16 1 f2"/>
              <a:gd name="f22" fmla="*/ f17 1 21600"/>
              <a:gd name="f23" fmla="*/ f18 1 f2"/>
              <a:gd name="f24" fmla="+- 0 0 f19"/>
              <a:gd name="f25" fmla="+- f20 0 f1"/>
              <a:gd name="f26" fmla="+- f21 0 f1"/>
              <a:gd name="f27" fmla="*/ 3163 f22 1"/>
              <a:gd name="f28" fmla="*/ 18437 f22 1"/>
              <a:gd name="f29" fmla="*/ 10800 f22 1"/>
              <a:gd name="f30" fmla="*/ 0 f22 1"/>
              <a:gd name="f31" fmla="*/ 21600 f22 1"/>
              <a:gd name="f32" fmla="+- f23 0 f1"/>
              <a:gd name="f33" fmla="*/ f24 f0 1"/>
              <a:gd name="f34" fmla="+- f26 0 f25"/>
              <a:gd name="f35" fmla="*/ f29 1 f22"/>
              <a:gd name="f36" fmla="*/ f30 1 f22"/>
              <a:gd name="f37" fmla="*/ f27 1 f22"/>
              <a:gd name="f38" fmla="*/ f28 1 f22"/>
              <a:gd name="f39" fmla="*/ f31 1 f22"/>
              <a:gd name="f40" fmla="*/ f33 1 f7"/>
              <a:gd name="f41" fmla="*/ f37 f12 1"/>
              <a:gd name="f42" fmla="*/ f38 f12 1"/>
              <a:gd name="f43" fmla="*/ f38 f13 1"/>
              <a:gd name="f44" fmla="*/ f37 f13 1"/>
              <a:gd name="f45" fmla="*/ f35 f12 1"/>
              <a:gd name="f46" fmla="*/ f36 f13 1"/>
              <a:gd name="f47" fmla="*/ f36 f12 1"/>
              <a:gd name="f48" fmla="*/ f35 f13 1"/>
              <a:gd name="f49" fmla="*/ f39 f13 1"/>
              <a:gd name="f50" fmla="*/ f39 f12 1"/>
              <a:gd name="f51" fmla="+- f40 0 f1"/>
              <a:gd name="f52" fmla="+- f51 f1 0"/>
              <a:gd name="f53" fmla="*/ f52 f7 1"/>
              <a:gd name="f54" fmla="*/ f53 1 f0"/>
              <a:gd name="f55" fmla="+- 0 0 f54"/>
              <a:gd name="f56" fmla="+- 0 0 f55"/>
              <a:gd name="f57" fmla="*/ f56 f0 1"/>
              <a:gd name="f58" fmla="*/ f57 1 f7"/>
              <a:gd name="f59" fmla="+- f58 0 f1"/>
              <a:gd name="f60" fmla="cos 1 f59"/>
              <a:gd name="f61" fmla="sin 1 f59"/>
              <a:gd name="f62" fmla="+- 0 0 f60"/>
              <a:gd name="f63" fmla="+- 0 0 f61"/>
              <a:gd name="f64" fmla="+- 0 0 f62"/>
              <a:gd name="f65" fmla="+- 0 0 f63"/>
              <a:gd name="f66" fmla="val f64"/>
              <a:gd name="f67" fmla="val f65"/>
              <a:gd name="f68" fmla="+- 0 0 f66"/>
              <a:gd name="f69" fmla="+- 0 0 f67"/>
              <a:gd name="f70" fmla="*/ 10800 f68 1"/>
              <a:gd name="f71" fmla="*/ 10800 f69 1"/>
              <a:gd name="f72" fmla="*/ f70 f70 1"/>
              <a:gd name="f73" fmla="*/ f71 f71 1"/>
              <a:gd name="f74" fmla="+- f72 f73 0"/>
              <a:gd name="f75" fmla="sqrt f74"/>
              <a:gd name="f76" fmla="*/ f8 1 f75"/>
              <a:gd name="f77" fmla="*/ f68 f76 1"/>
              <a:gd name="f78" fmla="*/ f69 f76 1"/>
              <a:gd name="f79" fmla="+- 10800 0 f77"/>
              <a:gd name="f80" fmla="+- 10800 0 f78"/>
            </a:gdLst>
            <a:ahLst/>
            <a:cxnLst>
              <a:cxn ang="3cd4">
                <a:pos x="hc" y="t"/>
              </a:cxn>
              <a:cxn ang="0">
                <a:pos x="r" y="vc"/>
              </a:cxn>
              <a:cxn ang="cd4">
                <a:pos x="hc" y="b"/>
              </a:cxn>
              <a:cxn ang="cd2">
                <a:pos x="l" y="vc"/>
              </a:cxn>
              <a:cxn ang="f32">
                <a:pos x="f45" y="f46"/>
              </a:cxn>
              <a:cxn ang="f32">
                <a:pos x="f41" y="f44"/>
              </a:cxn>
              <a:cxn ang="f32">
                <a:pos x="f47" y="f48"/>
              </a:cxn>
              <a:cxn ang="f32">
                <a:pos x="f41" y="f43"/>
              </a:cxn>
              <a:cxn ang="f32">
                <a:pos x="f45" y="f49"/>
              </a:cxn>
              <a:cxn ang="f32">
                <a:pos x="f42" y="f43"/>
              </a:cxn>
              <a:cxn ang="f32">
                <a:pos x="f50" y="f48"/>
              </a:cxn>
              <a:cxn ang="f32">
                <a:pos x="f42" y="f44"/>
              </a:cxn>
            </a:cxnLst>
            <a:rect l="f41" t="f44" r="f42" b="f43"/>
            <a:pathLst>
              <a:path w="21600" h="21600">
                <a:moveTo>
                  <a:pt x="f79" y="f80"/>
                </a:moveTo>
                <a:arcTo wR="f10" hR="f10" stAng="f25" swAng="f34"/>
                <a:close/>
              </a:path>
            </a:pathLst>
          </a:custGeom>
          <a:solidFill>
            <a:srgbClr val="FFFFFF"/>
          </a:solidFill>
          <a:ln w="12600" cap="flat">
            <a:solidFill>
              <a:srgbClr val="BCBCBC"/>
            </a:solidFill>
            <a:prstDash val="solid"/>
            <a:miter/>
          </a:ln>
        </p:spPr>
        <p:txBody>
          <a:bodyPr vert="horz" wrap="square" lIns="90004" tIns="46798" rIns="90004" bIns="46798" anchor="ctr" anchorCtr="0" compatLnSpc="1">
            <a:no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IN" sz="2400" b="0" i="0" u="none" strike="noStrike" kern="1200" cap="none" spc="0" baseline="0">
              <a:solidFill>
                <a:srgbClr val="000000"/>
              </a:solidFill>
              <a:uFillTx/>
              <a:latin typeface="Times New Roman" pitchFamily="18"/>
              <a:ea typeface="Microsoft YaHei" pitchFamily="2"/>
              <a:cs typeface="Lucida Sans" pitchFamily="2"/>
            </a:endParaRPr>
          </a:p>
        </p:txBody>
      </p:sp>
      <p:pic>
        <p:nvPicPr>
          <p:cNvPr id="9" name="Picture 10" descr="A picture containing text, sign, watch&#10;&#10;Description automatically generated">
            <a:extLst>
              <a:ext uri="{FF2B5EF4-FFF2-40B4-BE49-F238E27FC236}">
                <a16:creationId xmlns:a16="http://schemas.microsoft.com/office/drawing/2014/main" id="{D3EAC155-9D7D-4454-AF3C-C9B1622F5B98}"/>
              </a:ext>
            </a:extLst>
          </p:cNvPr>
          <p:cNvPicPr>
            <a:picLocks noChangeAspect="1"/>
          </p:cNvPicPr>
          <p:nvPr/>
        </p:nvPicPr>
        <p:blipFill>
          <a:blip r:embed="rId4">
            <a:lum/>
            <a:alphaModFix/>
          </a:blip>
          <a:srcRect/>
          <a:stretch>
            <a:fillRect/>
          </a:stretch>
        </p:blipFill>
        <p:spPr>
          <a:xfrm>
            <a:off x="8381875" y="47521"/>
            <a:ext cx="731876" cy="714603"/>
          </a:xfrm>
          <a:prstGeom prst="rect">
            <a:avLst/>
          </a:prstGeom>
          <a:noFill/>
          <a:ln cap="flat">
            <a:noFill/>
          </a:ln>
        </p:spPr>
      </p:pic>
      <p:sp>
        <p:nvSpPr>
          <p:cNvPr id="11" name="TextBox 10">
            <a:extLst>
              <a:ext uri="{FF2B5EF4-FFF2-40B4-BE49-F238E27FC236}">
                <a16:creationId xmlns:a16="http://schemas.microsoft.com/office/drawing/2014/main" id="{E1F82A4A-2BD7-425D-9305-CF45EF880A29}"/>
              </a:ext>
            </a:extLst>
          </p:cNvPr>
          <p:cNvSpPr txBox="1"/>
          <p:nvPr/>
        </p:nvSpPr>
        <p:spPr>
          <a:xfrm>
            <a:off x="75414" y="784594"/>
            <a:ext cx="3478491" cy="584775"/>
          </a:xfrm>
          <a:prstGeom prst="rect">
            <a:avLst/>
          </a:prstGeom>
          <a:noFill/>
        </p:spPr>
        <p:txBody>
          <a:bodyPr wrap="square" rtlCol="0">
            <a:spAutoFit/>
          </a:bodyPr>
          <a:lstStyle/>
          <a:p>
            <a:r>
              <a:rPr lang="en-IN" sz="1600" b="1" u="sng" dirty="0"/>
              <a:t>K Nearest </a:t>
            </a:r>
            <a:r>
              <a:rPr lang="en-IN" sz="1600" b="1" u="sng" dirty="0" err="1"/>
              <a:t>Neighbors</a:t>
            </a:r>
            <a:r>
              <a:rPr lang="en-IN" sz="1600" b="1" u="sng" dirty="0"/>
              <a:t> Classifier:</a:t>
            </a:r>
          </a:p>
          <a:p>
            <a:endParaRPr lang="en-IN" sz="1600" b="1" u="sng" dirty="0"/>
          </a:p>
        </p:txBody>
      </p:sp>
      <p:sp>
        <p:nvSpPr>
          <p:cNvPr id="14" name="TextBox 13">
            <a:extLst>
              <a:ext uri="{FF2B5EF4-FFF2-40B4-BE49-F238E27FC236}">
                <a16:creationId xmlns:a16="http://schemas.microsoft.com/office/drawing/2014/main" id="{E6591941-61AA-4C73-B194-16C8C75B48C7}"/>
              </a:ext>
            </a:extLst>
          </p:cNvPr>
          <p:cNvSpPr txBox="1"/>
          <p:nvPr/>
        </p:nvSpPr>
        <p:spPr>
          <a:xfrm>
            <a:off x="75413" y="1281032"/>
            <a:ext cx="7428629" cy="338554"/>
          </a:xfrm>
          <a:prstGeom prst="rect">
            <a:avLst/>
          </a:prstGeom>
          <a:noFill/>
        </p:spPr>
        <p:txBody>
          <a:bodyPr wrap="square">
            <a:spAutoFit/>
          </a:bodyPr>
          <a:lstStyle/>
          <a:p>
            <a:pPr algn="just"/>
            <a:r>
              <a:rPr lang="en-IN" sz="1600" dirty="0">
                <a:solidFill>
                  <a:srgbClr val="000000"/>
                </a:solidFill>
                <a:latin typeface="inter-regular"/>
              </a:rPr>
              <a:t>Mutual information features</a:t>
            </a:r>
            <a:r>
              <a:rPr lang="en-IN" sz="1600" b="0" i="0" dirty="0">
                <a:solidFill>
                  <a:srgbClr val="000000"/>
                </a:solidFill>
                <a:effectLst/>
                <a:latin typeface="inter-regular"/>
              </a:rPr>
              <a:t>: </a:t>
            </a:r>
            <a:r>
              <a:rPr lang="en-IN" sz="1600" b="1" i="0" dirty="0">
                <a:solidFill>
                  <a:srgbClr val="000000"/>
                </a:solidFill>
                <a:effectLst/>
                <a:latin typeface="inter-regular"/>
              </a:rPr>
              <a:t>:   '</a:t>
            </a:r>
            <a:r>
              <a:rPr lang="en-IN" sz="1600" b="1" i="0" dirty="0" err="1">
                <a:solidFill>
                  <a:srgbClr val="000000"/>
                </a:solidFill>
                <a:effectLst/>
                <a:latin typeface="inter-regular"/>
              </a:rPr>
              <a:t>thal</a:t>
            </a:r>
            <a:r>
              <a:rPr lang="en-IN" sz="1600" b="1" i="0" dirty="0">
                <a:solidFill>
                  <a:srgbClr val="000000"/>
                </a:solidFill>
                <a:effectLst/>
                <a:latin typeface="inter-regular"/>
              </a:rPr>
              <a:t>’,   'cp’,   'ca’,   '</a:t>
            </a:r>
            <a:r>
              <a:rPr lang="en-IN" sz="1600" b="1" i="0" dirty="0" err="1">
                <a:solidFill>
                  <a:srgbClr val="000000"/>
                </a:solidFill>
                <a:effectLst/>
                <a:latin typeface="inter-regular"/>
              </a:rPr>
              <a:t>oldpeak</a:t>
            </a:r>
            <a:r>
              <a:rPr lang="en-IN" sz="1600" b="1" i="0" dirty="0">
                <a:solidFill>
                  <a:srgbClr val="000000"/>
                </a:solidFill>
                <a:effectLst/>
                <a:latin typeface="inter-regular"/>
              </a:rPr>
              <a:t>’,   'slope'</a:t>
            </a:r>
            <a:endParaRPr lang="en-IN" sz="1600" b="0" i="0" dirty="0">
              <a:solidFill>
                <a:srgbClr val="000000"/>
              </a:solidFill>
              <a:effectLst/>
              <a:latin typeface="inter-regular"/>
            </a:endParaRPr>
          </a:p>
        </p:txBody>
      </p:sp>
      <p:graphicFrame>
        <p:nvGraphicFramePr>
          <p:cNvPr id="10" name="Table 12">
            <a:extLst>
              <a:ext uri="{FF2B5EF4-FFF2-40B4-BE49-F238E27FC236}">
                <a16:creationId xmlns:a16="http://schemas.microsoft.com/office/drawing/2014/main" id="{80FBB806-2109-4F48-83CC-EC53BE33EA7F}"/>
              </a:ext>
            </a:extLst>
          </p:cNvPr>
          <p:cNvGraphicFramePr>
            <a:graphicFrameLocks noGrp="1"/>
          </p:cNvGraphicFramePr>
          <p:nvPr>
            <p:extLst>
              <p:ext uri="{D42A27DB-BD31-4B8C-83A1-F6EECF244321}">
                <p14:modId xmlns:p14="http://schemas.microsoft.com/office/powerpoint/2010/main" val="910673684"/>
              </p:ext>
            </p:extLst>
          </p:nvPr>
        </p:nvGraphicFramePr>
        <p:xfrm>
          <a:off x="919081" y="3269799"/>
          <a:ext cx="7006544" cy="2372360"/>
        </p:xfrm>
        <a:graphic>
          <a:graphicData uri="http://schemas.openxmlformats.org/drawingml/2006/table">
            <a:tbl>
              <a:tblPr firstRow="1" bandRow="1">
                <a:tableStyleId>{5C22544A-7EE6-4342-B048-85BDC9FD1C3A}</a:tableStyleId>
              </a:tblPr>
              <a:tblGrid>
                <a:gridCol w="2662847">
                  <a:extLst>
                    <a:ext uri="{9D8B030D-6E8A-4147-A177-3AD203B41FA5}">
                      <a16:colId xmlns:a16="http://schemas.microsoft.com/office/drawing/2014/main" val="1544629757"/>
                    </a:ext>
                  </a:extLst>
                </a:gridCol>
                <a:gridCol w="1233140">
                  <a:extLst>
                    <a:ext uri="{9D8B030D-6E8A-4147-A177-3AD203B41FA5}">
                      <a16:colId xmlns:a16="http://schemas.microsoft.com/office/drawing/2014/main" val="2942069285"/>
                    </a:ext>
                  </a:extLst>
                </a:gridCol>
                <a:gridCol w="1420653">
                  <a:extLst>
                    <a:ext uri="{9D8B030D-6E8A-4147-A177-3AD203B41FA5}">
                      <a16:colId xmlns:a16="http://schemas.microsoft.com/office/drawing/2014/main" val="1914153064"/>
                    </a:ext>
                  </a:extLst>
                </a:gridCol>
                <a:gridCol w="1689904">
                  <a:extLst>
                    <a:ext uri="{9D8B030D-6E8A-4147-A177-3AD203B41FA5}">
                      <a16:colId xmlns:a16="http://schemas.microsoft.com/office/drawing/2014/main" val="416246459"/>
                    </a:ext>
                  </a:extLst>
                </a:gridCol>
              </a:tblGrid>
              <a:tr h="370840">
                <a:tc>
                  <a:txBody>
                    <a:bodyPr/>
                    <a:lstStyle/>
                    <a:p>
                      <a:endParaRPr lang="en-IN" sz="1400" dirty="0"/>
                    </a:p>
                  </a:txBody>
                  <a:tcPr/>
                </a:tc>
                <a:tc>
                  <a:txBody>
                    <a:bodyPr/>
                    <a:lstStyle/>
                    <a:p>
                      <a:r>
                        <a:rPr lang="en-IN" sz="1400" dirty="0"/>
                        <a:t>Mutual Information</a:t>
                      </a:r>
                    </a:p>
                  </a:txBody>
                  <a:tcPr/>
                </a:tc>
                <a:tc>
                  <a:txBody>
                    <a:bodyPr/>
                    <a:lstStyle/>
                    <a:p>
                      <a:r>
                        <a:rPr lang="en-IN" sz="1400" dirty="0"/>
                        <a:t>SFS</a:t>
                      </a:r>
                    </a:p>
                  </a:txBody>
                  <a:tcPr/>
                </a:tc>
                <a:tc>
                  <a:txBody>
                    <a:bodyPr/>
                    <a:lstStyle/>
                    <a:p>
                      <a:r>
                        <a:rPr lang="en-IN" sz="1400" dirty="0"/>
                        <a:t>Genetic algorithm</a:t>
                      </a:r>
                    </a:p>
                  </a:txBody>
                  <a:tcPr/>
                </a:tc>
                <a:extLst>
                  <a:ext uri="{0D108BD9-81ED-4DB2-BD59-A6C34878D82A}">
                    <a16:rowId xmlns:a16="http://schemas.microsoft.com/office/drawing/2014/main" val="807902088"/>
                  </a:ext>
                </a:extLst>
              </a:tr>
              <a:tr h="370840">
                <a:tc>
                  <a:txBody>
                    <a:bodyPr/>
                    <a:lstStyle/>
                    <a:p>
                      <a:r>
                        <a:rPr lang="en-IN" sz="1400" dirty="0"/>
                        <a:t>Grid search</a:t>
                      </a:r>
                    </a:p>
                  </a:txBody>
                  <a:tcPr>
                    <a:noFill/>
                  </a:tcPr>
                </a:tc>
                <a:tc>
                  <a:txBody>
                    <a:bodyPr/>
                    <a:lstStyle/>
                    <a:p>
                      <a:r>
                        <a:rPr lang="en-IN" sz="1400" b="1" dirty="0"/>
                        <a:t>91.8033</a:t>
                      </a:r>
                    </a:p>
                  </a:txBody>
                  <a:tcPr>
                    <a:noFill/>
                  </a:tcPr>
                </a:tc>
                <a:tc>
                  <a:txBody>
                    <a:bodyPr/>
                    <a:lstStyle/>
                    <a:p>
                      <a:r>
                        <a:rPr lang="en-IN" sz="1400" b="0" dirty="0"/>
                        <a:t>80.3277</a:t>
                      </a:r>
                    </a:p>
                  </a:txBody>
                  <a:tcPr>
                    <a:noFill/>
                  </a:tcPr>
                </a:tc>
                <a:tc>
                  <a:txBody>
                    <a:bodyPr/>
                    <a:lstStyle/>
                    <a:p>
                      <a:r>
                        <a:rPr lang="en-IN" sz="1400" b="1" dirty="0"/>
                        <a:t>91.8233</a:t>
                      </a:r>
                    </a:p>
                  </a:txBody>
                  <a:tcPr>
                    <a:noFill/>
                  </a:tcPr>
                </a:tc>
                <a:extLst>
                  <a:ext uri="{0D108BD9-81ED-4DB2-BD59-A6C34878D82A}">
                    <a16:rowId xmlns:a16="http://schemas.microsoft.com/office/drawing/2014/main" val="2129566122"/>
                  </a:ext>
                </a:extLst>
              </a:tr>
              <a:tr h="370840">
                <a:tc>
                  <a:txBody>
                    <a:bodyPr/>
                    <a:lstStyle/>
                    <a:p>
                      <a:r>
                        <a:rPr lang="en-IN" sz="1400" dirty="0"/>
                        <a:t>Randomized search</a:t>
                      </a:r>
                    </a:p>
                  </a:txBody>
                  <a:tcPr>
                    <a:noFill/>
                  </a:tcPr>
                </a:tc>
                <a:tc>
                  <a:txBody>
                    <a:bodyPr/>
                    <a:lstStyle/>
                    <a:p>
                      <a:r>
                        <a:rPr lang="en-IN" sz="1400" b="1" dirty="0"/>
                        <a:t>91.8033</a:t>
                      </a:r>
                    </a:p>
                  </a:txBody>
                  <a:tcPr>
                    <a:noFill/>
                  </a:tcPr>
                </a:tc>
                <a:tc>
                  <a:txBody>
                    <a:bodyPr/>
                    <a:lstStyle/>
                    <a:p>
                      <a:r>
                        <a:rPr lang="en-IN" sz="1400" b="1" dirty="0"/>
                        <a:t>80.3279</a:t>
                      </a:r>
                    </a:p>
                  </a:txBody>
                  <a:tcPr>
                    <a:noFill/>
                  </a:tcPr>
                </a:tc>
                <a:tc>
                  <a:txBody>
                    <a:bodyPr/>
                    <a:lstStyle/>
                    <a:p>
                      <a:r>
                        <a:rPr lang="en-IN" sz="1400" b="0" dirty="0"/>
                        <a:t>90.1639</a:t>
                      </a:r>
                    </a:p>
                  </a:txBody>
                  <a:tcPr>
                    <a:noFill/>
                  </a:tcPr>
                </a:tc>
                <a:extLst>
                  <a:ext uri="{0D108BD9-81ED-4DB2-BD59-A6C34878D82A}">
                    <a16:rowId xmlns:a16="http://schemas.microsoft.com/office/drawing/2014/main" val="4059174602"/>
                  </a:ext>
                </a:extLst>
              </a:tr>
              <a:tr h="370840">
                <a:tc>
                  <a:txBody>
                    <a:bodyPr/>
                    <a:lstStyle/>
                    <a:p>
                      <a:r>
                        <a:rPr lang="en-IN" sz="1400" dirty="0"/>
                        <a:t>TPOT</a:t>
                      </a:r>
                    </a:p>
                  </a:txBody>
                  <a:tcPr>
                    <a:noFill/>
                  </a:tcPr>
                </a:tc>
                <a:tc>
                  <a:txBody>
                    <a:bodyPr/>
                    <a:lstStyle/>
                    <a:p>
                      <a:r>
                        <a:rPr lang="en-IN" sz="1400" b="0" dirty="0"/>
                        <a:t>90.1639</a:t>
                      </a:r>
                    </a:p>
                  </a:txBody>
                  <a:tcPr>
                    <a:noFill/>
                  </a:tcPr>
                </a:tc>
                <a:tc>
                  <a:txBody>
                    <a:bodyPr/>
                    <a:lstStyle/>
                    <a:p>
                      <a:r>
                        <a:rPr lang="en-IN" sz="1400" b="1" dirty="0"/>
                        <a:t>80.3279</a:t>
                      </a:r>
                    </a:p>
                  </a:txBody>
                  <a:tcPr>
                    <a:noFill/>
                  </a:tcPr>
                </a:tc>
                <a:tc>
                  <a:txBody>
                    <a:bodyPr/>
                    <a:lstStyle/>
                    <a:p>
                      <a:r>
                        <a:rPr lang="en-IN" sz="1400" b="0" dirty="0"/>
                        <a:t>90.1639</a:t>
                      </a:r>
                    </a:p>
                  </a:txBody>
                  <a:tcPr>
                    <a:noFill/>
                  </a:tcPr>
                </a:tc>
                <a:extLst>
                  <a:ext uri="{0D108BD9-81ED-4DB2-BD59-A6C34878D82A}">
                    <a16:rowId xmlns:a16="http://schemas.microsoft.com/office/drawing/2014/main" val="3539072419"/>
                  </a:ext>
                </a:extLst>
              </a:tr>
              <a:tr h="370840">
                <a:tc>
                  <a:txBody>
                    <a:bodyPr/>
                    <a:lstStyle/>
                    <a:p>
                      <a:r>
                        <a:rPr lang="en-IN" sz="1400" dirty="0"/>
                        <a:t>Bayesian Optimization</a:t>
                      </a:r>
                    </a:p>
                  </a:txBody>
                  <a:tcPr>
                    <a:noFill/>
                  </a:tcPr>
                </a:tc>
                <a:tc>
                  <a:txBody>
                    <a:bodyPr/>
                    <a:lstStyle/>
                    <a:p>
                      <a:r>
                        <a:rPr lang="en-IN" sz="1400" b="0" dirty="0"/>
                        <a:t>90.1639</a:t>
                      </a:r>
                    </a:p>
                  </a:txBody>
                  <a:tcPr>
                    <a:noFill/>
                  </a:tcPr>
                </a:tc>
                <a:tc>
                  <a:txBody>
                    <a:bodyPr/>
                    <a:lstStyle/>
                    <a:p>
                      <a:r>
                        <a:rPr lang="en-IN" sz="1400" b="0" dirty="0"/>
                        <a:t>78.6885</a:t>
                      </a:r>
                    </a:p>
                  </a:txBody>
                  <a:tcPr>
                    <a:noFill/>
                  </a:tcPr>
                </a:tc>
                <a:tc>
                  <a:txBody>
                    <a:bodyPr/>
                    <a:lstStyle/>
                    <a:p>
                      <a:r>
                        <a:rPr lang="en-IN" sz="1400" b="0" dirty="0"/>
                        <a:t>90.1639</a:t>
                      </a:r>
                    </a:p>
                  </a:txBody>
                  <a:tcPr>
                    <a:noFill/>
                  </a:tcPr>
                </a:tc>
                <a:extLst>
                  <a:ext uri="{0D108BD9-81ED-4DB2-BD59-A6C34878D82A}">
                    <a16:rowId xmlns:a16="http://schemas.microsoft.com/office/drawing/2014/main" val="2132698245"/>
                  </a:ext>
                </a:extLst>
              </a:tr>
              <a:tr h="370840">
                <a:tc>
                  <a:txBody>
                    <a:bodyPr/>
                    <a:lstStyle/>
                    <a:p>
                      <a:r>
                        <a:rPr lang="en-IN" sz="1400" dirty="0"/>
                        <a:t>hyperband</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83.6344</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78.6885</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83.6344</a:t>
                      </a:r>
                    </a:p>
                  </a:txBody>
                  <a:tcPr>
                    <a:noFill/>
                  </a:tcPr>
                </a:tc>
                <a:extLst>
                  <a:ext uri="{0D108BD9-81ED-4DB2-BD59-A6C34878D82A}">
                    <a16:rowId xmlns:a16="http://schemas.microsoft.com/office/drawing/2014/main" val="122737414"/>
                  </a:ext>
                </a:extLst>
              </a:tr>
            </a:tbl>
          </a:graphicData>
        </a:graphic>
      </p:graphicFrame>
      <p:sp>
        <p:nvSpPr>
          <p:cNvPr id="24" name="TextBox 23">
            <a:extLst>
              <a:ext uri="{FF2B5EF4-FFF2-40B4-BE49-F238E27FC236}">
                <a16:creationId xmlns:a16="http://schemas.microsoft.com/office/drawing/2014/main" id="{35FF1817-DBD8-4C03-A953-45A9C1699928}"/>
              </a:ext>
            </a:extLst>
          </p:cNvPr>
          <p:cNvSpPr txBox="1"/>
          <p:nvPr/>
        </p:nvSpPr>
        <p:spPr>
          <a:xfrm>
            <a:off x="75413" y="1813900"/>
            <a:ext cx="8149503" cy="338554"/>
          </a:xfrm>
          <a:prstGeom prst="rect">
            <a:avLst/>
          </a:prstGeom>
          <a:noFill/>
        </p:spPr>
        <p:txBody>
          <a:bodyPr wrap="square">
            <a:spAutoFit/>
          </a:bodyPr>
          <a:lstStyle/>
          <a:p>
            <a:pPr algn="just"/>
            <a:r>
              <a:rPr lang="en-IN" sz="1600" dirty="0">
                <a:solidFill>
                  <a:srgbClr val="000000"/>
                </a:solidFill>
                <a:latin typeface="inter-regular"/>
              </a:rPr>
              <a:t>SFS features</a:t>
            </a:r>
            <a:r>
              <a:rPr lang="en-IN" sz="1600" b="0" i="0" dirty="0">
                <a:solidFill>
                  <a:srgbClr val="000000"/>
                </a:solidFill>
                <a:effectLst/>
                <a:latin typeface="inter-regular"/>
              </a:rPr>
              <a:t>: </a:t>
            </a:r>
            <a:r>
              <a:rPr lang="en-IN" sz="1600" b="1" i="0" dirty="0">
                <a:solidFill>
                  <a:srgbClr val="000000"/>
                </a:solidFill>
                <a:effectLst/>
                <a:latin typeface="inter-regular"/>
              </a:rPr>
              <a:t>:  'age',   'sex',   'cp',   '</a:t>
            </a:r>
            <a:r>
              <a:rPr lang="en-IN" sz="1600" b="1" i="0" dirty="0" err="1">
                <a:solidFill>
                  <a:srgbClr val="000000"/>
                </a:solidFill>
                <a:effectLst/>
                <a:latin typeface="inter-regular"/>
              </a:rPr>
              <a:t>fbs</a:t>
            </a:r>
            <a:r>
              <a:rPr lang="en-IN" sz="1600" b="1" i="0" dirty="0">
                <a:solidFill>
                  <a:srgbClr val="000000"/>
                </a:solidFill>
                <a:effectLst/>
                <a:latin typeface="inter-regular"/>
              </a:rPr>
              <a:t>',   '</a:t>
            </a:r>
            <a:r>
              <a:rPr lang="en-IN" sz="1600" b="1" i="0" dirty="0" err="1">
                <a:solidFill>
                  <a:srgbClr val="000000"/>
                </a:solidFill>
                <a:effectLst/>
                <a:latin typeface="inter-regular"/>
              </a:rPr>
              <a:t>exang</a:t>
            </a:r>
            <a:r>
              <a:rPr lang="en-IN" sz="1600" b="1" i="0" dirty="0">
                <a:solidFill>
                  <a:srgbClr val="000000"/>
                </a:solidFill>
                <a:effectLst/>
                <a:latin typeface="inter-regular"/>
              </a:rPr>
              <a:t>',   'slope',   ca',   '</a:t>
            </a:r>
            <a:r>
              <a:rPr lang="en-IN" sz="1600" b="1" i="0" dirty="0" err="1">
                <a:solidFill>
                  <a:srgbClr val="000000"/>
                </a:solidFill>
                <a:effectLst/>
                <a:latin typeface="inter-regular"/>
              </a:rPr>
              <a:t>thal</a:t>
            </a:r>
            <a:r>
              <a:rPr lang="en-IN" sz="1600" b="1" i="0" dirty="0">
                <a:solidFill>
                  <a:srgbClr val="000000"/>
                </a:solidFill>
                <a:effectLst/>
                <a:latin typeface="inter-regular"/>
              </a:rPr>
              <a:t>'</a:t>
            </a:r>
            <a:endParaRPr lang="en-IN" sz="1600" b="0" i="0" dirty="0">
              <a:solidFill>
                <a:srgbClr val="000000"/>
              </a:solidFill>
              <a:effectLst/>
              <a:latin typeface="inter-regular"/>
            </a:endParaRPr>
          </a:p>
        </p:txBody>
      </p:sp>
      <p:sp>
        <p:nvSpPr>
          <p:cNvPr id="25" name="TextBox 24">
            <a:extLst>
              <a:ext uri="{FF2B5EF4-FFF2-40B4-BE49-F238E27FC236}">
                <a16:creationId xmlns:a16="http://schemas.microsoft.com/office/drawing/2014/main" id="{69290034-517E-44A3-A316-0FB48F26BFB1}"/>
              </a:ext>
            </a:extLst>
          </p:cNvPr>
          <p:cNvSpPr txBox="1"/>
          <p:nvPr/>
        </p:nvSpPr>
        <p:spPr>
          <a:xfrm>
            <a:off x="5867" y="2365154"/>
            <a:ext cx="7776471" cy="338554"/>
          </a:xfrm>
          <a:prstGeom prst="rect">
            <a:avLst/>
          </a:prstGeom>
          <a:noFill/>
        </p:spPr>
        <p:txBody>
          <a:bodyPr wrap="square">
            <a:spAutoFit/>
          </a:bodyPr>
          <a:lstStyle/>
          <a:p>
            <a:pPr algn="just"/>
            <a:r>
              <a:rPr lang="en-IN" sz="1600" dirty="0">
                <a:solidFill>
                  <a:srgbClr val="000000"/>
                </a:solidFill>
                <a:latin typeface="inter-regular"/>
              </a:rPr>
              <a:t> Genetic algorithm features</a:t>
            </a:r>
            <a:r>
              <a:rPr lang="en-IN" sz="1600" b="0" i="0" dirty="0">
                <a:solidFill>
                  <a:srgbClr val="000000"/>
                </a:solidFill>
                <a:effectLst/>
                <a:latin typeface="inter-regular"/>
              </a:rPr>
              <a:t>:   </a:t>
            </a:r>
            <a:r>
              <a:rPr lang="en-IN" sz="1600" b="1" i="0" dirty="0">
                <a:solidFill>
                  <a:srgbClr val="000000"/>
                </a:solidFill>
                <a:effectLst/>
                <a:latin typeface="inter-regular"/>
              </a:rPr>
              <a:t>'sex’,  'cp’,  '</a:t>
            </a:r>
            <a:r>
              <a:rPr lang="en-IN" sz="1600" b="1" i="0" dirty="0" err="1">
                <a:solidFill>
                  <a:srgbClr val="000000"/>
                </a:solidFill>
                <a:effectLst/>
                <a:latin typeface="inter-regular"/>
              </a:rPr>
              <a:t>fbs</a:t>
            </a:r>
            <a:r>
              <a:rPr lang="en-IN" sz="1600" b="1" i="0" dirty="0">
                <a:solidFill>
                  <a:srgbClr val="000000"/>
                </a:solidFill>
                <a:effectLst/>
                <a:latin typeface="inter-regular"/>
              </a:rPr>
              <a:t>’,  '</a:t>
            </a:r>
            <a:r>
              <a:rPr lang="en-IN" sz="1600" b="1" i="0" dirty="0" err="1">
                <a:solidFill>
                  <a:srgbClr val="000000"/>
                </a:solidFill>
                <a:effectLst/>
                <a:latin typeface="inter-regular"/>
              </a:rPr>
              <a:t>oldpeak</a:t>
            </a:r>
            <a:r>
              <a:rPr lang="en-IN" sz="1600" b="1" i="0" dirty="0">
                <a:solidFill>
                  <a:srgbClr val="000000"/>
                </a:solidFill>
                <a:effectLst/>
                <a:latin typeface="inter-regular"/>
              </a:rPr>
              <a:t>’,  'slope’,  'ca’,  '</a:t>
            </a:r>
            <a:r>
              <a:rPr lang="en-IN" sz="1600" b="1" i="0" dirty="0" err="1">
                <a:solidFill>
                  <a:srgbClr val="000000"/>
                </a:solidFill>
                <a:effectLst/>
                <a:latin typeface="inter-regular"/>
              </a:rPr>
              <a:t>thal</a:t>
            </a:r>
            <a:r>
              <a:rPr lang="en-IN" sz="1600" b="1" i="0" dirty="0">
                <a:solidFill>
                  <a:srgbClr val="000000"/>
                </a:solidFill>
                <a:effectLst/>
                <a:latin typeface="inter-regular"/>
              </a:rPr>
              <a:t>'</a:t>
            </a:r>
            <a:endParaRPr lang="en-IN" sz="1600" b="0" i="0" dirty="0">
              <a:solidFill>
                <a:srgbClr val="000000"/>
              </a:solidFill>
              <a:effectLst/>
              <a:latin typeface="inter-regular"/>
            </a:endParaRPr>
          </a:p>
        </p:txBody>
      </p:sp>
    </p:spTree>
    <p:extLst>
      <p:ext uri="{BB962C8B-B14F-4D97-AF65-F5344CB8AC3E}">
        <p14:creationId xmlns:p14="http://schemas.microsoft.com/office/powerpoint/2010/main" val="39722633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8D4669DB-FB9D-493D-B0D9-33EFC82790DE}"/>
              </a:ext>
            </a:extLst>
          </p:cNvPr>
          <p:cNvPicPr>
            <a:picLocks noChangeAspect="1"/>
          </p:cNvPicPr>
          <p:nvPr/>
        </p:nvPicPr>
        <p:blipFill>
          <a:blip r:embed="rId3">
            <a:lum/>
            <a:alphaModFix/>
          </a:blip>
          <a:srcRect/>
          <a:stretch>
            <a:fillRect/>
          </a:stretch>
        </p:blipFill>
        <p:spPr>
          <a:xfrm>
            <a:off x="0" y="6553084"/>
            <a:ext cx="9144000" cy="308161"/>
          </a:xfrm>
          <a:prstGeom prst="rect">
            <a:avLst/>
          </a:prstGeom>
          <a:noFill/>
          <a:ln cap="flat">
            <a:noFill/>
          </a:ln>
        </p:spPr>
      </p:pic>
      <p:sp>
        <p:nvSpPr>
          <p:cNvPr id="3" name="Text Box 4">
            <a:extLst>
              <a:ext uri="{FF2B5EF4-FFF2-40B4-BE49-F238E27FC236}">
                <a16:creationId xmlns:a16="http://schemas.microsoft.com/office/drawing/2014/main" id="{6F8CE000-001B-477B-AEB1-7B2DF82125E0}"/>
              </a:ext>
            </a:extLst>
          </p:cNvPr>
          <p:cNvSpPr/>
          <p:nvPr/>
        </p:nvSpPr>
        <p:spPr>
          <a:xfrm>
            <a:off x="2299322" y="6550203"/>
            <a:ext cx="4545363" cy="307082"/>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a:effectLst>
            <a:outerShdw dist="17819" dir="2700000" algn="tl">
              <a:srgbClr val="000000"/>
            </a:outerShdw>
          </a:effectLst>
        </p:spPr>
        <p:txBody>
          <a:bodyPr vert="horz" wrap="non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1400" b="1" i="0" u="none" strike="noStrike" kern="1200" cap="none" spc="0" baseline="0">
                <a:solidFill>
                  <a:srgbClr val="47FFD1"/>
                </a:solidFill>
                <a:uFillTx/>
                <a:latin typeface="Comic Sans MS" pitchFamily="66"/>
                <a:ea typeface="Microsoft YaHei" pitchFamily="2"/>
                <a:cs typeface="Lucida Sans" pitchFamily="2"/>
              </a:rPr>
              <a:t>Department of Computer Science and Engineering</a:t>
            </a:r>
          </a:p>
        </p:txBody>
      </p:sp>
      <p:pic>
        <p:nvPicPr>
          <p:cNvPr id="4" name="Picture 2">
            <a:extLst>
              <a:ext uri="{FF2B5EF4-FFF2-40B4-BE49-F238E27FC236}">
                <a16:creationId xmlns:a16="http://schemas.microsoft.com/office/drawing/2014/main" id="{EFEADD32-D603-4B11-8D98-E7FD48C6130F}"/>
              </a:ext>
            </a:extLst>
          </p:cNvPr>
          <p:cNvPicPr>
            <a:picLocks noChangeAspect="1"/>
          </p:cNvPicPr>
          <p:nvPr/>
        </p:nvPicPr>
        <p:blipFill>
          <a:blip r:embed="rId3">
            <a:lum/>
            <a:alphaModFix/>
          </a:blip>
          <a:srcRect/>
          <a:stretch>
            <a:fillRect/>
          </a:stretch>
        </p:blipFill>
        <p:spPr>
          <a:xfrm>
            <a:off x="0" y="0"/>
            <a:ext cx="9144000" cy="609484"/>
          </a:xfrm>
          <a:prstGeom prst="rect">
            <a:avLst/>
          </a:prstGeom>
          <a:noFill/>
          <a:ln cap="flat">
            <a:noFill/>
          </a:ln>
        </p:spPr>
      </p:pic>
      <p:sp>
        <p:nvSpPr>
          <p:cNvPr id="5" name="Rectangle: Rounded Corners 3">
            <a:extLst>
              <a:ext uri="{FF2B5EF4-FFF2-40B4-BE49-F238E27FC236}">
                <a16:creationId xmlns:a16="http://schemas.microsoft.com/office/drawing/2014/main" id="{6BBED2D9-BCDF-4E94-8182-A159447629CE}"/>
              </a:ext>
            </a:extLst>
          </p:cNvPr>
          <p:cNvSpPr/>
          <p:nvPr/>
        </p:nvSpPr>
        <p:spPr>
          <a:xfrm>
            <a:off x="8550362" y="6553084"/>
            <a:ext cx="593637" cy="306360"/>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0066"/>
          </a:solidFill>
          <a:ln w="12600" cap="flat">
            <a:solidFill>
              <a:srgbClr val="000000"/>
            </a:solidFill>
            <a:prstDash val="solid"/>
            <a:miter/>
          </a:ln>
        </p:spPr>
        <p:txBody>
          <a:bodyPr vert="horz" wrap="square" lIns="90004" tIns="46798" rIns="90004" bIns="46798" anchor="ctr" anchorCtr="1" compatLnSpc="1">
            <a:normAutofit fontScale="92500" lnSpcReduction="20000"/>
          </a:bodyPr>
          <a:lstStyle/>
          <a:p>
            <a:pPr marL="0" marR="0" lvl="0" indent="0" algn="ctr" defTabSz="914400" rtl="0" fontAlgn="auto" hangingPunct="1">
              <a:lnSpc>
                <a:spcPct val="8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AB8CC7BD-5D93-4C0A-AAD8-B765ACB170F4}" type="slidenum">
              <a:t>37</a:t>
            </a:fld>
            <a:endParaRPr lang="en-US" sz="1400" b="1" i="0" u="none" strike="noStrike" kern="1200" cap="none" spc="0" baseline="0">
              <a:solidFill>
                <a:srgbClr val="FFFFFF"/>
              </a:solidFill>
              <a:uFillTx/>
              <a:latin typeface="Comic Sans MS" pitchFamily="66"/>
              <a:ea typeface="Microsoft YaHei" pitchFamily="2"/>
              <a:cs typeface="Lucida Sans" pitchFamily="2"/>
            </a:endParaRPr>
          </a:p>
        </p:txBody>
      </p:sp>
      <p:sp>
        <p:nvSpPr>
          <p:cNvPr id="6" name="Date Placeholder 7">
            <a:extLst>
              <a:ext uri="{FF2B5EF4-FFF2-40B4-BE49-F238E27FC236}">
                <a16:creationId xmlns:a16="http://schemas.microsoft.com/office/drawing/2014/main" id="{D0C2D5F8-2A4E-45AD-9E19-29D2B63406A3}"/>
              </a:ext>
            </a:extLst>
          </p:cNvPr>
          <p:cNvSpPr/>
          <p:nvPr/>
        </p:nvSpPr>
        <p:spPr>
          <a:xfrm>
            <a:off x="0" y="6564239"/>
            <a:ext cx="1447915" cy="41291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norm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5E5B1732-3D3F-4E1A-AD91-1223FC4CF4BB}" type="datetime1">
              <a:rPr lang="en-US" sz="1400" b="1" i="0" u="none" strike="noStrike" kern="1200" cap="none" spc="0" baseline="0">
                <a:solidFill>
                  <a:srgbClr val="FF0066"/>
                </a:solidFill>
                <a:uFillTx/>
                <a:latin typeface="Arial Rounded MT Bold" pitchFamily="34"/>
                <a:ea typeface="Microsoft YaHei" pitchFamily="2"/>
                <a:cs typeface="Lucida Sans" pitchFamily="2"/>
              </a:rPr>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t>4/18/2023</a:t>
            </a:fld>
            <a:endParaRPr lang="en-US" sz="1400" b="1" i="0" u="none" strike="noStrike" kern="1200" cap="none" spc="0" baseline="0">
              <a:solidFill>
                <a:srgbClr val="FF0066"/>
              </a:solidFill>
              <a:uFillTx/>
              <a:latin typeface="Arial Rounded MT Bold" pitchFamily="34"/>
              <a:ea typeface="Microsoft YaHei" pitchFamily="2"/>
              <a:cs typeface="Lucida Sans" pitchFamily="2"/>
            </a:endParaRPr>
          </a:p>
        </p:txBody>
      </p:sp>
      <p:sp>
        <p:nvSpPr>
          <p:cNvPr id="7" name="TextBox 8">
            <a:extLst>
              <a:ext uri="{FF2B5EF4-FFF2-40B4-BE49-F238E27FC236}">
                <a16:creationId xmlns:a16="http://schemas.microsoft.com/office/drawing/2014/main" id="{9BE241AC-2867-401B-8952-98D39C4F5A63}"/>
              </a:ext>
            </a:extLst>
          </p:cNvPr>
          <p:cNvSpPr/>
          <p:nvPr/>
        </p:nvSpPr>
        <p:spPr>
          <a:xfrm>
            <a:off x="919081" y="0"/>
            <a:ext cx="7305836" cy="47483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500" b="1" i="0" u="none" strike="noStrike" kern="1200" cap="none" spc="0" baseline="0">
                <a:solidFill>
                  <a:srgbClr val="47FFD1"/>
                </a:solidFill>
                <a:uFillTx/>
                <a:latin typeface="Comic Sans MS" pitchFamily="66"/>
                <a:ea typeface="Microsoft YaHei" pitchFamily="2"/>
                <a:cs typeface="Lucida Sans" pitchFamily="2"/>
              </a:rPr>
              <a:t>Mepco Schlenk Engineering College </a:t>
            </a:r>
            <a:r>
              <a:rPr lang="en-US" sz="1800" b="1" i="0" u="none" strike="noStrike" kern="1200" cap="none" spc="0" baseline="0">
                <a:solidFill>
                  <a:srgbClr val="47FFD1"/>
                </a:solidFill>
                <a:uFillTx/>
                <a:latin typeface="Comic Sans MS" pitchFamily="66"/>
                <a:ea typeface="Microsoft YaHei" pitchFamily="2"/>
                <a:cs typeface="Lucida Sans" pitchFamily="2"/>
              </a:rPr>
              <a:t>(Autonomous)</a:t>
            </a:r>
          </a:p>
        </p:txBody>
      </p:sp>
      <p:sp>
        <p:nvSpPr>
          <p:cNvPr id="8" name="Oval 11">
            <a:extLst>
              <a:ext uri="{FF2B5EF4-FFF2-40B4-BE49-F238E27FC236}">
                <a16:creationId xmlns:a16="http://schemas.microsoft.com/office/drawing/2014/main" id="{E67FA03A-95C6-4908-B4C7-A0B37595DAFE}"/>
              </a:ext>
            </a:extLst>
          </p:cNvPr>
          <p:cNvSpPr/>
          <p:nvPr/>
        </p:nvSpPr>
        <p:spPr>
          <a:xfrm>
            <a:off x="8354881" y="20519"/>
            <a:ext cx="777962" cy="777962"/>
          </a:xfrm>
          <a:custGeom>
            <a:avLst/>
            <a:gdLst>
              <a:gd name="f0" fmla="val 10800000"/>
              <a:gd name="f1" fmla="val 5400000"/>
              <a:gd name="f2" fmla="val 180"/>
              <a:gd name="f3" fmla="val w"/>
              <a:gd name="f4" fmla="val h"/>
              <a:gd name="f5" fmla="val 0"/>
              <a:gd name="f6" fmla="val 21600"/>
              <a:gd name="f7" fmla="*/ 5419351 1 1725033"/>
              <a:gd name="f8" fmla="*/ 10800 10800 1"/>
              <a:gd name="f9" fmla="+- 0 0 360"/>
              <a:gd name="f10" fmla="val 10800"/>
              <a:gd name="f11" fmla="+- 0 0 0"/>
              <a:gd name="f12" fmla="*/ f3 1 21600"/>
              <a:gd name="f13" fmla="*/ f4 1 21600"/>
              <a:gd name="f14" fmla="*/ 0 f7 1"/>
              <a:gd name="f15" fmla="*/ f5 f0 1"/>
              <a:gd name="f16" fmla="*/ f9 f0 1"/>
              <a:gd name="f17" fmla="+- f6 0 f5"/>
              <a:gd name="f18" fmla="*/ f11 f0 1"/>
              <a:gd name="f19" fmla="*/ f14 1 f2"/>
              <a:gd name="f20" fmla="*/ f15 1 f2"/>
              <a:gd name="f21" fmla="*/ f16 1 f2"/>
              <a:gd name="f22" fmla="*/ f17 1 21600"/>
              <a:gd name="f23" fmla="*/ f18 1 f2"/>
              <a:gd name="f24" fmla="+- 0 0 f19"/>
              <a:gd name="f25" fmla="+- f20 0 f1"/>
              <a:gd name="f26" fmla="+- f21 0 f1"/>
              <a:gd name="f27" fmla="*/ 3163 f22 1"/>
              <a:gd name="f28" fmla="*/ 18437 f22 1"/>
              <a:gd name="f29" fmla="*/ 10800 f22 1"/>
              <a:gd name="f30" fmla="*/ 0 f22 1"/>
              <a:gd name="f31" fmla="*/ 21600 f22 1"/>
              <a:gd name="f32" fmla="+- f23 0 f1"/>
              <a:gd name="f33" fmla="*/ f24 f0 1"/>
              <a:gd name="f34" fmla="+- f26 0 f25"/>
              <a:gd name="f35" fmla="*/ f29 1 f22"/>
              <a:gd name="f36" fmla="*/ f30 1 f22"/>
              <a:gd name="f37" fmla="*/ f27 1 f22"/>
              <a:gd name="f38" fmla="*/ f28 1 f22"/>
              <a:gd name="f39" fmla="*/ f31 1 f22"/>
              <a:gd name="f40" fmla="*/ f33 1 f7"/>
              <a:gd name="f41" fmla="*/ f37 f12 1"/>
              <a:gd name="f42" fmla="*/ f38 f12 1"/>
              <a:gd name="f43" fmla="*/ f38 f13 1"/>
              <a:gd name="f44" fmla="*/ f37 f13 1"/>
              <a:gd name="f45" fmla="*/ f35 f12 1"/>
              <a:gd name="f46" fmla="*/ f36 f13 1"/>
              <a:gd name="f47" fmla="*/ f36 f12 1"/>
              <a:gd name="f48" fmla="*/ f35 f13 1"/>
              <a:gd name="f49" fmla="*/ f39 f13 1"/>
              <a:gd name="f50" fmla="*/ f39 f12 1"/>
              <a:gd name="f51" fmla="+- f40 0 f1"/>
              <a:gd name="f52" fmla="+- f51 f1 0"/>
              <a:gd name="f53" fmla="*/ f52 f7 1"/>
              <a:gd name="f54" fmla="*/ f53 1 f0"/>
              <a:gd name="f55" fmla="+- 0 0 f54"/>
              <a:gd name="f56" fmla="+- 0 0 f55"/>
              <a:gd name="f57" fmla="*/ f56 f0 1"/>
              <a:gd name="f58" fmla="*/ f57 1 f7"/>
              <a:gd name="f59" fmla="+- f58 0 f1"/>
              <a:gd name="f60" fmla="cos 1 f59"/>
              <a:gd name="f61" fmla="sin 1 f59"/>
              <a:gd name="f62" fmla="+- 0 0 f60"/>
              <a:gd name="f63" fmla="+- 0 0 f61"/>
              <a:gd name="f64" fmla="+- 0 0 f62"/>
              <a:gd name="f65" fmla="+- 0 0 f63"/>
              <a:gd name="f66" fmla="val f64"/>
              <a:gd name="f67" fmla="val f65"/>
              <a:gd name="f68" fmla="+- 0 0 f66"/>
              <a:gd name="f69" fmla="+- 0 0 f67"/>
              <a:gd name="f70" fmla="*/ 10800 f68 1"/>
              <a:gd name="f71" fmla="*/ 10800 f69 1"/>
              <a:gd name="f72" fmla="*/ f70 f70 1"/>
              <a:gd name="f73" fmla="*/ f71 f71 1"/>
              <a:gd name="f74" fmla="+- f72 f73 0"/>
              <a:gd name="f75" fmla="sqrt f74"/>
              <a:gd name="f76" fmla="*/ f8 1 f75"/>
              <a:gd name="f77" fmla="*/ f68 f76 1"/>
              <a:gd name="f78" fmla="*/ f69 f76 1"/>
              <a:gd name="f79" fmla="+- 10800 0 f77"/>
              <a:gd name="f80" fmla="+- 10800 0 f78"/>
            </a:gdLst>
            <a:ahLst/>
            <a:cxnLst>
              <a:cxn ang="3cd4">
                <a:pos x="hc" y="t"/>
              </a:cxn>
              <a:cxn ang="0">
                <a:pos x="r" y="vc"/>
              </a:cxn>
              <a:cxn ang="cd4">
                <a:pos x="hc" y="b"/>
              </a:cxn>
              <a:cxn ang="cd2">
                <a:pos x="l" y="vc"/>
              </a:cxn>
              <a:cxn ang="f32">
                <a:pos x="f45" y="f46"/>
              </a:cxn>
              <a:cxn ang="f32">
                <a:pos x="f41" y="f44"/>
              </a:cxn>
              <a:cxn ang="f32">
                <a:pos x="f47" y="f48"/>
              </a:cxn>
              <a:cxn ang="f32">
                <a:pos x="f41" y="f43"/>
              </a:cxn>
              <a:cxn ang="f32">
                <a:pos x="f45" y="f49"/>
              </a:cxn>
              <a:cxn ang="f32">
                <a:pos x="f42" y="f43"/>
              </a:cxn>
              <a:cxn ang="f32">
                <a:pos x="f50" y="f48"/>
              </a:cxn>
              <a:cxn ang="f32">
                <a:pos x="f42" y="f44"/>
              </a:cxn>
            </a:cxnLst>
            <a:rect l="f41" t="f44" r="f42" b="f43"/>
            <a:pathLst>
              <a:path w="21600" h="21600">
                <a:moveTo>
                  <a:pt x="f79" y="f80"/>
                </a:moveTo>
                <a:arcTo wR="f10" hR="f10" stAng="f25" swAng="f34"/>
                <a:close/>
              </a:path>
            </a:pathLst>
          </a:custGeom>
          <a:solidFill>
            <a:srgbClr val="FFFFFF"/>
          </a:solidFill>
          <a:ln w="12600" cap="flat">
            <a:solidFill>
              <a:srgbClr val="BCBCBC"/>
            </a:solidFill>
            <a:prstDash val="solid"/>
            <a:miter/>
          </a:ln>
        </p:spPr>
        <p:txBody>
          <a:bodyPr vert="horz" wrap="square" lIns="90004" tIns="46798" rIns="90004" bIns="46798" anchor="ctr" anchorCtr="0" compatLnSpc="1">
            <a:no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IN" sz="2400" b="0" i="0" u="none" strike="noStrike" kern="1200" cap="none" spc="0" baseline="0">
              <a:solidFill>
                <a:srgbClr val="000000"/>
              </a:solidFill>
              <a:uFillTx/>
              <a:latin typeface="Times New Roman" pitchFamily="18"/>
              <a:ea typeface="Microsoft YaHei" pitchFamily="2"/>
              <a:cs typeface="Lucida Sans" pitchFamily="2"/>
            </a:endParaRPr>
          </a:p>
        </p:txBody>
      </p:sp>
      <p:pic>
        <p:nvPicPr>
          <p:cNvPr id="9" name="Picture 10" descr="A picture containing text, sign, watch&#10;&#10;Description automatically generated">
            <a:extLst>
              <a:ext uri="{FF2B5EF4-FFF2-40B4-BE49-F238E27FC236}">
                <a16:creationId xmlns:a16="http://schemas.microsoft.com/office/drawing/2014/main" id="{D3EAC155-9D7D-4454-AF3C-C9B1622F5B98}"/>
              </a:ext>
            </a:extLst>
          </p:cNvPr>
          <p:cNvPicPr>
            <a:picLocks noChangeAspect="1"/>
          </p:cNvPicPr>
          <p:nvPr/>
        </p:nvPicPr>
        <p:blipFill>
          <a:blip r:embed="rId4">
            <a:lum/>
            <a:alphaModFix/>
          </a:blip>
          <a:srcRect/>
          <a:stretch>
            <a:fillRect/>
          </a:stretch>
        </p:blipFill>
        <p:spPr>
          <a:xfrm>
            <a:off x="8381875" y="47521"/>
            <a:ext cx="731876" cy="714603"/>
          </a:xfrm>
          <a:prstGeom prst="rect">
            <a:avLst/>
          </a:prstGeom>
          <a:noFill/>
          <a:ln cap="flat">
            <a:noFill/>
          </a:ln>
        </p:spPr>
      </p:pic>
      <p:graphicFrame>
        <p:nvGraphicFramePr>
          <p:cNvPr id="13" name="Table 14">
            <a:extLst>
              <a:ext uri="{FF2B5EF4-FFF2-40B4-BE49-F238E27FC236}">
                <a16:creationId xmlns:a16="http://schemas.microsoft.com/office/drawing/2014/main" id="{7A6D10B4-DCCE-4D26-A9BF-3AF78541DC9F}"/>
              </a:ext>
            </a:extLst>
          </p:cNvPr>
          <p:cNvGraphicFramePr>
            <a:graphicFrameLocks noGrp="1"/>
          </p:cNvGraphicFramePr>
          <p:nvPr>
            <p:extLst>
              <p:ext uri="{D42A27DB-BD31-4B8C-83A1-F6EECF244321}">
                <p14:modId xmlns:p14="http://schemas.microsoft.com/office/powerpoint/2010/main" val="2669237881"/>
              </p:ext>
            </p:extLst>
          </p:nvPr>
        </p:nvGraphicFramePr>
        <p:xfrm>
          <a:off x="636104" y="1685822"/>
          <a:ext cx="7914256" cy="3283743"/>
        </p:xfrm>
        <a:graphic>
          <a:graphicData uri="http://schemas.openxmlformats.org/drawingml/2006/table">
            <a:tbl>
              <a:tblPr firstRow="1" bandRow="1">
                <a:tableStyleId>{21E4AEA4-8DFA-4A89-87EB-49C32662AFE0}</a:tableStyleId>
              </a:tblPr>
              <a:tblGrid>
                <a:gridCol w="1978564">
                  <a:extLst>
                    <a:ext uri="{9D8B030D-6E8A-4147-A177-3AD203B41FA5}">
                      <a16:colId xmlns:a16="http://schemas.microsoft.com/office/drawing/2014/main" val="305883124"/>
                    </a:ext>
                  </a:extLst>
                </a:gridCol>
                <a:gridCol w="1828123">
                  <a:extLst>
                    <a:ext uri="{9D8B030D-6E8A-4147-A177-3AD203B41FA5}">
                      <a16:colId xmlns:a16="http://schemas.microsoft.com/office/drawing/2014/main" val="1918312988"/>
                    </a:ext>
                  </a:extLst>
                </a:gridCol>
                <a:gridCol w="2129005">
                  <a:extLst>
                    <a:ext uri="{9D8B030D-6E8A-4147-A177-3AD203B41FA5}">
                      <a16:colId xmlns:a16="http://schemas.microsoft.com/office/drawing/2014/main" val="1996019875"/>
                    </a:ext>
                  </a:extLst>
                </a:gridCol>
                <a:gridCol w="1978564">
                  <a:extLst>
                    <a:ext uri="{9D8B030D-6E8A-4147-A177-3AD203B41FA5}">
                      <a16:colId xmlns:a16="http://schemas.microsoft.com/office/drawing/2014/main" val="2205441391"/>
                    </a:ext>
                  </a:extLst>
                </a:gridCol>
              </a:tblGrid>
              <a:tr h="759204">
                <a:tc>
                  <a:txBody>
                    <a:bodyPr/>
                    <a:lstStyle/>
                    <a:p>
                      <a:pPr algn="ctr"/>
                      <a:r>
                        <a:rPr lang="en-IN" sz="1600" b="1" dirty="0">
                          <a:solidFill>
                            <a:schemeClr val="bg1"/>
                          </a:solidFill>
                        </a:rPr>
                        <a:t>Classifier</a:t>
                      </a:r>
                    </a:p>
                  </a:txBody>
                  <a:tcPr>
                    <a:solidFill>
                      <a:schemeClr val="accent1"/>
                    </a:solidFill>
                  </a:tcPr>
                </a:tc>
                <a:tc>
                  <a:txBody>
                    <a:bodyPr/>
                    <a:lstStyle/>
                    <a:p>
                      <a:pPr algn="ctr"/>
                      <a:r>
                        <a:rPr lang="en-IN" sz="1600" b="1" dirty="0">
                          <a:solidFill>
                            <a:schemeClr val="bg1"/>
                          </a:solidFill>
                        </a:rPr>
                        <a:t>Feature selection technique</a:t>
                      </a:r>
                    </a:p>
                  </a:txBody>
                  <a:tcPr>
                    <a:solidFill>
                      <a:schemeClr val="accent1"/>
                    </a:solidFill>
                  </a:tcPr>
                </a:tc>
                <a:tc>
                  <a:txBody>
                    <a:bodyPr/>
                    <a:lstStyle/>
                    <a:p>
                      <a:pPr algn="ctr"/>
                      <a:r>
                        <a:rPr lang="en-IN" sz="1600" b="1" dirty="0">
                          <a:solidFill>
                            <a:schemeClr val="bg1"/>
                          </a:solidFill>
                        </a:rPr>
                        <a:t>Hyperparameter tuning algorithm</a:t>
                      </a:r>
                    </a:p>
                  </a:txBody>
                  <a:tcPr>
                    <a:solidFill>
                      <a:schemeClr val="accent1"/>
                    </a:solidFill>
                  </a:tcPr>
                </a:tc>
                <a:tc>
                  <a:txBody>
                    <a:bodyPr/>
                    <a:lstStyle/>
                    <a:p>
                      <a:pPr algn="ctr"/>
                      <a:r>
                        <a:rPr lang="en-IN" sz="1600" b="1" dirty="0">
                          <a:solidFill>
                            <a:schemeClr val="bg1"/>
                          </a:solidFill>
                        </a:rPr>
                        <a:t>Accuracy</a:t>
                      </a:r>
                    </a:p>
                  </a:txBody>
                  <a:tcPr>
                    <a:solidFill>
                      <a:schemeClr val="accent1"/>
                    </a:solidFill>
                  </a:tcPr>
                </a:tc>
                <a:extLst>
                  <a:ext uri="{0D108BD9-81ED-4DB2-BD59-A6C34878D82A}">
                    <a16:rowId xmlns:a16="http://schemas.microsoft.com/office/drawing/2014/main" val="2632781610"/>
                  </a:ext>
                </a:extLst>
              </a:tr>
              <a:tr h="924339">
                <a:tc>
                  <a:txBody>
                    <a:bodyPr/>
                    <a:lstStyle/>
                    <a:p>
                      <a:r>
                        <a:rPr lang="en-IN" sz="1600" b="1" dirty="0">
                          <a:solidFill>
                            <a:schemeClr val="tx1"/>
                          </a:solidFill>
                        </a:rPr>
                        <a:t>Random forest</a:t>
                      </a:r>
                    </a:p>
                  </a:txBody>
                  <a:tcPr>
                    <a:noFill/>
                  </a:tcPr>
                </a:tc>
                <a:tc>
                  <a:txBody>
                    <a:bodyPr/>
                    <a:lstStyle/>
                    <a:p>
                      <a:r>
                        <a:rPr lang="en-IN" sz="1600" b="1" dirty="0">
                          <a:solidFill>
                            <a:schemeClr val="tx1"/>
                          </a:solidFill>
                        </a:rPr>
                        <a:t>Chi-square</a:t>
                      </a:r>
                    </a:p>
                  </a:txBody>
                  <a:tcPr>
                    <a:noFill/>
                  </a:tcPr>
                </a:tc>
                <a:tc>
                  <a:txBody>
                    <a:bodyPr/>
                    <a:lstStyle/>
                    <a:p>
                      <a:r>
                        <a:rPr lang="en-IN" sz="1600" b="1" dirty="0">
                          <a:solidFill>
                            <a:schemeClr val="tx1"/>
                          </a:solidFill>
                        </a:rPr>
                        <a:t>Grid search, Bayesian optimization</a:t>
                      </a:r>
                    </a:p>
                  </a:txBody>
                  <a:tcPr>
                    <a:noFill/>
                  </a:tcPr>
                </a:tc>
                <a:tc>
                  <a:txBody>
                    <a:bodyPr/>
                    <a:lstStyle/>
                    <a:p>
                      <a:r>
                        <a:rPr lang="en-IN" sz="1600" b="1" dirty="0">
                          <a:solidFill>
                            <a:schemeClr val="tx1"/>
                          </a:solidFill>
                        </a:rPr>
                        <a:t>95.0819</a:t>
                      </a:r>
                    </a:p>
                  </a:txBody>
                  <a:tcPr>
                    <a:noFill/>
                  </a:tcPr>
                </a:tc>
                <a:extLst>
                  <a:ext uri="{0D108BD9-81ED-4DB2-BD59-A6C34878D82A}">
                    <a16:rowId xmlns:a16="http://schemas.microsoft.com/office/drawing/2014/main" val="7546137"/>
                  </a:ext>
                </a:extLst>
              </a:tr>
              <a:tr h="836521">
                <a:tc>
                  <a:txBody>
                    <a:bodyPr/>
                    <a:lstStyle/>
                    <a:p>
                      <a:r>
                        <a:rPr lang="en-IN" sz="1600" b="1" dirty="0">
                          <a:solidFill>
                            <a:schemeClr val="tx1"/>
                          </a:solidFill>
                        </a:rPr>
                        <a:t>XGBoost</a:t>
                      </a:r>
                    </a:p>
                  </a:txBody>
                  <a:tcPr>
                    <a:noFill/>
                  </a:tcPr>
                </a:tc>
                <a:tc>
                  <a:txBody>
                    <a:bodyPr/>
                    <a:lstStyle/>
                    <a:p>
                      <a:r>
                        <a:rPr lang="en-IN" sz="1600" b="1" dirty="0">
                          <a:solidFill>
                            <a:schemeClr val="tx1"/>
                          </a:solidFill>
                        </a:rPr>
                        <a:t>Boruta feature selection</a:t>
                      </a:r>
                    </a:p>
                  </a:txBody>
                  <a:tcPr>
                    <a:noFill/>
                  </a:tcPr>
                </a:tc>
                <a:tc>
                  <a:txBody>
                    <a:bodyPr/>
                    <a:lstStyle/>
                    <a:p>
                      <a:r>
                        <a:rPr lang="en-IN" sz="1600" b="1" dirty="0">
                          <a:solidFill>
                            <a:schemeClr val="tx1"/>
                          </a:solidFill>
                        </a:rPr>
                        <a:t>Grid, random, TPOT</a:t>
                      </a:r>
                    </a:p>
                  </a:txBody>
                  <a:tcPr>
                    <a:noFill/>
                  </a:tcPr>
                </a:tc>
                <a:tc>
                  <a:txBody>
                    <a:bodyPr/>
                    <a:lstStyle/>
                    <a:p>
                      <a:r>
                        <a:rPr lang="en-IN" sz="1600" b="1" dirty="0">
                          <a:solidFill>
                            <a:schemeClr val="tx1"/>
                          </a:solidFill>
                        </a:rPr>
                        <a:t>93.4426</a:t>
                      </a:r>
                    </a:p>
                  </a:txBody>
                  <a:tcPr>
                    <a:noFill/>
                  </a:tcPr>
                </a:tc>
                <a:extLst>
                  <a:ext uri="{0D108BD9-81ED-4DB2-BD59-A6C34878D82A}">
                    <a16:rowId xmlns:a16="http://schemas.microsoft.com/office/drawing/2014/main" val="3259121501"/>
                  </a:ext>
                </a:extLst>
              </a:tr>
              <a:tr h="763679">
                <a:tc>
                  <a:txBody>
                    <a:bodyPr/>
                    <a:lstStyle/>
                    <a:p>
                      <a:r>
                        <a:rPr lang="en-IN" sz="1600" b="1" dirty="0">
                          <a:solidFill>
                            <a:schemeClr val="tx1"/>
                          </a:solidFill>
                        </a:rPr>
                        <a:t>KNN</a:t>
                      </a:r>
                    </a:p>
                  </a:txBody>
                  <a:tcPr>
                    <a:noFill/>
                  </a:tcPr>
                </a:tc>
                <a:tc>
                  <a:txBody>
                    <a:bodyPr/>
                    <a:lstStyle/>
                    <a:p>
                      <a:r>
                        <a:rPr lang="en-IN" sz="1600" b="1" dirty="0">
                          <a:solidFill>
                            <a:schemeClr val="tx1"/>
                          </a:solidFill>
                        </a:rPr>
                        <a:t>Genetic algorithm</a:t>
                      </a:r>
                    </a:p>
                  </a:txBody>
                  <a:tcPr>
                    <a:noFill/>
                  </a:tcPr>
                </a:tc>
                <a:tc>
                  <a:txBody>
                    <a:bodyPr/>
                    <a:lstStyle/>
                    <a:p>
                      <a:r>
                        <a:rPr lang="en-IN" sz="1600" b="1" dirty="0">
                          <a:solidFill>
                            <a:schemeClr val="tx1"/>
                          </a:solidFill>
                        </a:rPr>
                        <a:t>Grid search</a:t>
                      </a:r>
                    </a:p>
                  </a:txBody>
                  <a:tcPr>
                    <a:noFill/>
                  </a:tcPr>
                </a:tc>
                <a:tc>
                  <a:txBody>
                    <a:bodyPr/>
                    <a:lstStyle/>
                    <a:p>
                      <a:r>
                        <a:rPr lang="en-IN" sz="1600" b="1" dirty="0">
                          <a:solidFill>
                            <a:schemeClr val="tx1"/>
                          </a:solidFill>
                        </a:rPr>
                        <a:t>91.8233</a:t>
                      </a:r>
                    </a:p>
                  </a:txBody>
                  <a:tcPr>
                    <a:noFill/>
                  </a:tcPr>
                </a:tc>
                <a:extLst>
                  <a:ext uri="{0D108BD9-81ED-4DB2-BD59-A6C34878D82A}">
                    <a16:rowId xmlns:a16="http://schemas.microsoft.com/office/drawing/2014/main" val="60269859"/>
                  </a:ext>
                </a:extLst>
              </a:tr>
            </a:tbl>
          </a:graphicData>
        </a:graphic>
      </p:graphicFrame>
    </p:spTree>
    <p:extLst>
      <p:ext uri="{BB962C8B-B14F-4D97-AF65-F5344CB8AC3E}">
        <p14:creationId xmlns:p14="http://schemas.microsoft.com/office/powerpoint/2010/main" val="22728376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8D4669DB-FB9D-493D-B0D9-33EFC82790DE}"/>
              </a:ext>
            </a:extLst>
          </p:cNvPr>
          <p:cNvPicPr>
            <a:picLocks noChangeAspect="1"/>
          </p:cNvPicPr>
          <p:nvPr/>
        </p:nvPicPr>
        <p:blipFill>
          <a:blip r:embed="rId3">
            <a:lum/>
            <a:alphaModFix/>
          </a:blip>
          <a:srcRect/>
          <a:stretch>
            <a:fillRect/>
          </a:stretch>
        </p:blipFill>
        <p:spPr>
          <a:xfrm>
            <a:off x="0" y="6553084"/>
            <a:ext cx="9144000" cy="308161"/>
          </a:xfrm>
          <a:prstGeom prst="rect">
            <a:avLst/>
          </a:prstGeom>
          <a:noFill/>
          <a:ln cap="flat">
            <a:noFill/>
          </a:ln>
        </p:spPr>
      </p:pic>
      <p:sp>
        <p:nvSpPr>
          <p:cNvPr id="3" name="Text Box 4">
            <a:extLst>
              <a:ext uri="{FF2B5EF4-FFF2-40B4-BE49-F238E27FC236}">
                <a16:creationId xmlns:a16="http://schemas.microsoft.com/office/drawing/2014/main" id="{6F8CE000-001B-477B-AEB1-7B2DF82125E0}"/>
              </a:ext>
            </a:extLst>
          </p:cNvPr>
          <p:cNvSpPr/>
          <p:nvPr/>
        </p:nvSpPr>
        <p:spPr>
          <a:xfrm>
            <a:off x="2299322" y="6550203"/>
            <a:ext cx="4545363" cy="307082"/>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a:effectLst>
            <a:outerShdw dist="17819" dir="2700000" algn="tl">
              <a:srgbClr val="000000"/>
            </a:outerShdw>
          </a:effectLst>
        </p:spPr>
        <p:txBody>
          <a:bodyPr vert="horz" wrap="non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1400" b="1" i="0" u="none" strike="noStrike" kern="1200" cap="none" spc="0" baseline="0">
                <a:solidFill>
                  <a:srgbClr val="47FFD1"/>
                </a:solidFill>
                <a:uFillTx/>
                <a:latin typeface="Comic Sans MS" pitchFamily="66"/>
                <a:ea typeface="Microsoft YaHei" pitchFamily="2"/>
                <a:cs typeface="Lucida Sans" pitchFamily="2"/>
              </a:rPr>
              <a:t>Department of Computer Science and Engineering</a:t>
            </a:r>
          </a:p>
        </p:txBody>
      </p:sp>
      <p:pic>
        <p:nvPicPr>
          <p:cNvPr id="4" name="Picture 2">
            <a:extLst>
              <a:ext uri="{FF2B5EF4-FFF2-40B4-BE49-F238E27FC236}">
                <a16:creationId xmlns:a16="http://schemas.microsoft.com/office/drawing/2014/main" id="{EFEADD32-D603-4B11-8D98-E7FD48C6130F}"/>
              </a:ext>
            </a:extLst>
          </p:cNvPr>
          <p:cNvPicPr>
            <a:picLocks noChangeAspect="1"/>
          </p:cNvPicPr>
          <p:nvPr/>
        </p:nvPicPr>
        <p:blipFill>
          <a:blip r:embed="rId3">
            <a:lum/>
            <a:alphaModFix/>
          </a:blip>
          <a:srcRect/>
          <a:stretch>
            <a:fillRect/>
          </a:stretch>
        </p:blipFill>
        <p:spPr>
          <a:xfrm>
            <a:off x="0" y="0"/>
            <a:ext cx="9144000" cy="609484"/>
          </a:xfrm>
          <a:prstGeom prst="rect">
            <a:avLst/>
          </a:prstGeom>
          <a:noFill/>
          <a:ln cap="flat">
            <a:noFill/>
          </a:ln>
        </p:spPr>
      </p:pic>
      <p:sp>
        <p:nvSpPr>
          <p:cNvPr id="5" name="Rectangle: Rounded Corners 3">
            <a:extLst>
              <a:ext uri="{FF2B5EF4-FFF2-40B4-BE49-F238E27FC236}">
                <a16:creationId xmlns:a16="http://schemas.microsoft.com/office/drawing/2014/main" id="{6BBED2D9-BCDF-4E94-8182-A159447629CE}"/>
              </a:ext>
            </a:extLst>
          </p:cNvPr>
          <p:cNvSpPr/>
          <p:nvPr/>
        </p:nvSpPr>
        <p:spPr>
          <a:xfrm>
            <a:off x="8550362" y="6553084"/>
            <a:ext cx="593637" cy="306360"/>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0066"/>
          </a:solidFill>
          <a:ln w="12600" cap="flat">
            <a:solidFill>
              <a:srgbClr val="000000"/>
            </a:solidFill>
            <a:prstDash val="solid"/>
            <a:miter/>
          </a:ln>
        </p:spPr>
        <p:txBody>
          <a:bodyPr vert="horz" wrap="square" lIns="90004" tIns="46798" rIns="90004" bIns="46798" anchor="ctr" anchorCtr="1" compatLnSpc="1">
            <a:normAutofit fontScale="92500" lnSpcReduction="20000"/>
          </a:bodyPr>
          <a:lstStyle/>
          <a:p>
            <a:pPr marL="0" marR="0" lvl="0" indent="0" algn="ctr" defTabSz="914400" rtl="0" fontAlgn="auto" hangingPunct="1">
              <a:lnSpc>
                <a:spcPct val="8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AB8CC7BD-5D93-4C0A-AAD8-B765ACB170F4}" type="slidenum">
              <a:t>38</a:t>
            </a:fld>
            <a:endParaRPr lang="en-US" sz="1400" b="1" i="0" u="none" strike="noStrike" kern="1200" cap="none" spc="0" baseline="0">
              <a:solidFill>
                <a:srgbClr val="FFFFFF"/>
              </a:solidFill>
              <a:uFillTx/>
              <a:latin typeface="Comic Sans MS" pitchFamily="66"/>
              <a:ea typeface="Microsoft YaHei" pitchFamily="2"/>
              <a:cs typeface="Lucida Sans" pitchFamily="2"/>
            </a:endParaRPr>
          </a:p>
        </p:txBody>
      </p:sp>
      <p:sp>
        <p:nvSpPr>
          <p:cNvPr id="6" name="Date Placeholder 7">
            <a:extLst>
              <a:ext uri="{FF2B5EF4-FFF2-40B4-BE49-F238E27FC236}">
                <a16:creationId xmlns:a16="http://schemas.microsoft.com/office/drawing/2014/main" id="{D0C2D5F8-2A4E-45AD-9E19-29D2B63406A3}"/>
              </a:ext>
            </a:extLst>
          </p:cNvPr>
          <p:cNvSpPr/>
          <p:nvPr/>
        </p:nvSpPr>
        <p:spPr>
          <a:xfrm>
            <a:off x="0" y="6564239"/>
            <a:ext cx="1447915" cy="41291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norm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5E5B1732-3D3F-4E1A-AD91-1223FC4CF4BB}" type="datetime1">
              <a:rPr lang="en-US" sz="1400" b="1" i="0" u="none" strike="noStrike" kern="1200" cap="none" spc="0" baseline="0">
                <a:solidFill>
                  <a:srgbClr val="FF0066"/>
                </a:solidFill>
                <a:uFillTx/>
                <a:latin typeface="Arial Rounded MT Bold" pitchFamily="34"/>
                <a:ea typeface="Microsoft YaHei" pitchFamily="2"/>
                <a:cs typeface="Lucida Sans" pitchFamily="2"/>
              </a:rPr>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t>4/18/2023</a:t>
            </a:fld>
            <a:endParaRPr lang="en-US" sz="1400" b="1" i="0" u="none" strike="noStrike" kern="1200" cap="none" spc="0" baseline="0">
              <a:solidFill>
                <a:srgbClr val="FF0066"/>
              </a:solidFill>
              <a:uFillTx/>
              <a:latin typeface="Arial Rounded MT Bold" pitchFamily="34"/>
              <a:ea typeface="Microsoft YaHei" pitchFamily="2"/>
              <a:cs typeface="Lucida Sans" pitchFamily="2"/>
            </a:endParaRPr>
          </a:p>
        </p:txBody>
      </p:sp>
      <p:sp>
        <p:nvSpPr>
          <p:cNvPr id="7" name="TextBox 8">
            <a:extLst>
              <a:ext uri="{FF2B5EF4-FFF2-40B4-BE49-F238E27FC236}">
                <a16:creationId xmlns:a16="http://schemas.microsoft.com/office/drawing/2014/main" id="{9BE241AC-2867-401B-8952-98D39C4F5A63}"/>
              </a:ext>
            </a:extLst>
          </p:cNvPr>
          <p:cNvSpPr/>
          <p:nvPr/>
        </p:nvSpPr>
        <p:spPr>
          <a:xfrm>
            <a:off x="919081" y="0"/>
            <a:ext cx="7305836" cy="47483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500" b="1" i="0" u="none" strike="noStrike" kern="1200" cap="none" spc="0" baseline="0">
                <a:solidFill>
                  <a:srgbClr val="47FFD1"/>
                </a:solidFill>
                <a:uFillTx/>
                <a:latin typeface="Comic Sans MS" pitchFamily="66"/>
                <a:ea typeface="Microsoft YaHei" pitchFamily="2"/>
                <a:cs typeface="Lucida Sans" pitchFamily="2"/>
              </a:rPr>
              <a:t>Mepco Schlenk Engineering College </a:t>
            </a:r>
            <a:r>
              <a:rPr lang="en-US" sz="1800" b="1" i="0" u="none" strike="noStrike" kern="1200" cap="none" spc="0" baseline="0">
                <a:solidFill>
                  <a:srgbClr val="47FFD1"/>
                </a:solidFill>
                <a:uFillTx/>
                <a:latin typeface="Comic Sans MS" pitchFamily="66"/>
                <a:ea typeface="Microsoft YaHei" pitchFamily="2"/>
                <a:cs typeface="Lucida Sans" pitchFamily="2"/>
              </a:rPr>
              <a:t>(Autonomous)</a:t>
            </a:r>
          </a:p>
        </p:txBody>
      </p:sp>
      <p:sp>
        <p:nvSpPr>
          <p:cNvPr id="8" name="Oval 11">
            <a:extLst>
              <a:ext uri="{FF2B5EF4-FFF2-40B4-BE49-F238E27FC236}">
                <a16:creationId xmlns:a16="http://schemas.microsoft.com/office/drawing/2014/main" id="{E67FA03A-95C6-4908-B4C7-A0B37595DAFE}"/>
              </a:ext>
            </a:extLst>
          </p:cNvPr>
          <p:cNvSpPr/>
          <p:nvPr/>
        </p:nvSpPr>
        <p:spPr>
          <a:xfrm>
            <a:off x="8354881" y="20519"/>
            <a:ext cx="777962" cy="777962"/>
          </a:xfrm>
          <a:custGeom>
            <a:avLst/>
            <a:gdLst>
              <a:gd name="f0" fmla="val 10800000"/>
              <a:gd name="f1" fmla="val 5400000"/>
              <a:gd name="f2" fmla="val 180"/>
              <a:gd name="f3" fmla="val w"/>
              <a:gd name="f4" fmla="val h"/>
              <a:gd name="f5" fmla="val 0"/>
              <a:gd name="f6" fmla="val 21600"/>
              <a:gd name="f7" fmla="*/ 5419351 1 1725033"/>
              <a:gd name="f8" fmla="*/ 10800 10800 1"/>
              <a:gd name="f9" fmla="+- 0 0 360"/>
              <a:gd name="f10" fmla="val 10800"/>
              <a:gd name="f11" fmla="+- 0 0 0"/>
              <a:gd name="f12" fmla="*/ f3 1 21600"/>
              <a:gd name="f13" fmla="*/ f4 1 21600"/>
              <a:gd name="f14" fmla="*/ 0 f7 1"/>
              <a:gd name="f15" fmla="*/ f5 f0 1"/>
              <a:gd name="f16" fmla="*/ f9 f0 1"/>
              <a:gd name="f17" fmla="+- f6 0 f5"/>
              <a:gd name="f18" fmla="*/ f11 f0 1"/>
              <a:gd name="f19" fmla="*/ f14 1 f2"/>
              <a:gd name="f20" fmla="*/ f15 1 f2"/>
              <a:gd name="f21" fmla="*/ f16 1 f2"/>
              <a:gd name="f22" fmla="*/ f17 1 21600"/>
              <a:gd name="f23" fmla="*/ f18 1 f2"/>
              <a:gd name="f24" fmla="+- 0 0 f19"/>
              <a:gd name="f25" fmla="+- f20 0 f1"/>
              <a:gd name="f26" fmla="+- f21 0 f1"/>
              <a:gd name="f27" fmla="*/ 3163 f22 1"/>
              <a:gd name="f28" fmla="*/ 18437 f22 1"/>
              <a:gd name="f29" fmla="*/ 10800 f22 1"/>
              <a:gd name="f30" fmla="*/ 0 f22 1"/>
              <a:gd name="f31" fmla="*/ 21600 f22 1"/>
              <a:gd name="f32" fmla="+- f23 0 f1"/>
              <a:gd name="f33" fmla="*/ f24 f0 1"/>
              <a:gd name="f34" fmla="+- f26 0 f25"/>
              <a:gd name="f35" fmla="*/ f29 1 f22"/>
              <a:gd name="f36" fmla="*/ f30 1 f22"/>
              <a:gd name="f37" fmla="*/ f27 1 f22"/>
              <a:gd name="f38" fmla="*/ f28 1 f22"/>
              <a:gd name="f39" fmla="*/ f31 1 f22"/>
              <a:gd name="f40" fmla="*/ f33 1 f7"/>
              <a:gd name="f41" fmla="*/ f37 f12 1"/>
              <a:gd name="f42" fmla="*/ f38 f12 1"/>
              <a:gd name="f43" fmla="*/ f38 f13 1"/>
              <a:gd name="f44" fmla="*/ f37 f13 1"/>
              <a:gd name="f45" fmla="*/ f35 f12 1"/>
              <a:gd name="f46" fmla="*/ f36 f13 1"/>
              <a:gd name="f47" fmla="*/ f36 f12 1"/>
              <a:gd name="f48" fmla="*/ f35 f13 1"/>
              <a:gd name="f49" fmla="*/ f39 f13 1"/>
              <a:gd name="f50" fmla="*/ f39 f12 1"/>
              <a:gd name="f51" fmla="+- f40 0 f1"/>
              <a:gd name="f52" fmla="+- f51 f1 0"/>
              <a:gd name="f53" fmla="*/ f52 f7 1"/>
              <a:gd name="f54" fmla="*/ f53 1 f0"/>
              <a:gd name="f55" fmla="+- 0 0 f54"/>
              <a:gd name="f56" fmla="+- 0 0 f55"/>
              <a:gd name="f57" fmla="*/ f56 f0 1"/>
              <a:gd name="f58" fmla="*/ f57 1 f7"/>
              <a:gd name="f59" fmla="+- f58 0 f1"/>
              <a:gd name="f60" fmla="cos 1 f59"/>
              <a:gd name="f61" fmla="sin 1 f59"/>
              <a:gd name="f62" fmla="+- 0 0 f60"/>
              <a:gd name="f63" fmla="+- 0 0 f61"/>
              <a:gd name="f64" fmla="+- 0 0 f62"/>
              <a:gd name="f65" fmla="+- 0 0 f63"/>
              <a:gd name="f66" fmla="val f64"/>
              <a:gd name="f67" fmla="val f65"/>
              <a:gd name="f68" fmla="+- 0 0 f66"/>
              <a:gd name="f69" fmla="+- 0 0 f67"/>
              <a:gd name="f70" fmla="*/ 10800 f68 1"/>
              <a:gd name="f71" fmla="*/ 10800 f69 1"/>
              <a:gd name="f72" fmla="*/ f70 f70 1"/>
              <a:gd name="f73" fmla="*/ f71 f71 1"/>
              <a:gd name="f74" fmla="+- f72 f73 0"/>
              <a:gd name="f75" fmla="sqrt f74"/>
              <a:gd name="f76" fmla="*/ f8 1 f75"/>
              <a:gd name="f77" fmla="*/ f68 f76 1"/>
              <a:gd name="f78" fmla="*/ f69 f76 1"/>
              <a:gd name="f79" fmla="+- 10800 0 f77"/>
              <a:gd name="f80" fmla="+- 10800 0 f78"/>
            </a:gdLst>
            <a:ahLst/>
            <a:cxnLst>
              <a:cxn ang="3cd4">
                <a:pos x="hc" y="t"/>
              </a:cxn>
              <a:cxn ang="0">
                <a:pos x="r" y="vc"/>
              </a:cxn>
              <a:cxn ang="cd4">
                <a:pos x="hc" y="b"/>
              </a:cxn>
              <a:cxn ang="cd2">
                <a:pos x="l" y="vc"/>
              </a:cxn>
              <a:cxn ang="f32">
                <a:pos x="f45" y="f46"/>
              </a:cxn>
              <a:cxn ang="f32">
                <a:pos x="f41" y="f44"/>
              </a:cxn>
              <a:cxn ang="f32">
                <a:pos x="f47" y="f48"/>
              </a:cxn>
              <a:cxn ang="f32">
                <a:pos x="f41" y="f43"/>
              </a:cxn>
              <a:cxn ang="f32">
                <a:pos x="f45" y="f49"/>
              </a:cxn>
              <a:cxn ang="f32">
                <a:pos x="f42" y="f43"/>
              </a:cxn>
              <a:cxn ang="f32">
                <a:pos x="f50" y="f48"/>
              </a:cxn>
              <a:cxn ang="f32">
                <a:pos x="f42" y="f44"/>
              </a:cxn>
            </a:cxnLst>
            <a:rect l="f41" t="f44" r="f42" b="f43"/>
            <a:pathLst>
              <a:path w="21600" h="21600">
                <a:moveTo>
                  <a:pt x="f79" y="f80"/>
                </a:moveTo>
                <a:arcTo wR="f10" hR="f10" stAng="f25" swAng="f34"/>
                <a:close/>
              </a:path>
            </a:pathLst>
          </a:custGeom>
          <a:solidFill>
            <a:srgbClr val="FFFFFF"/>
          </a:solidFill>
          <a:ln w="12600" cap="flat">
            <a:solidFill>
              <a:srgbClr val="BCBCBC"/>
            </a:solidFill>
            <a:prstDash val="solid"/>
            <a:miter/>
          </a:ln>
        </p:spPr>
        <p:txBody>
          <a:bodyPr vert="horz" wrap="square" lIns="90004" tIns="46798" rIns="90004" bIns="46798" anchor="ctr" anchorCtr="0" compatLnSpc="1">
            <a:no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IN" sz="2400" b="0" i="0" u="none" strike="noStrike" kern="1200" cap="none" spc="0" baseline="0">
              <a:solidFill>
                <a:srgbClr val="000000"/>
              </a:solidFill>
              <a:uFillTx/>
              <a:latin typeface="Times New Roman" pitchFamily="18"/>
              <a:ea typeface="Microsoft YaHei" pitchFamily="2"/>
              <a:cs typeface="Lucida Sans" pitchFamily="2"/>
            </a:endParaRPr>
          </a:p>
        </p:txBody>
      </p:sp>
      <p:pic>
        <p:nvPicPr>
          <p:cNvPr id="9" name="Picture 10" descr="A picture containing text, sign, watch&#10;&#10;Description automatically generated">
            <a:extLst>
              <a:ext uri="{FF2B5EF4-FFF2-40B4-BE49-F238E27FC236}">
                <a16:creationId xmlns:a16="http://schemas.microsoft.com/office/drawing/2014/main" id="{D3EAC155-9D7D-4454-AF3C-C9B1622F5B98}"/>
              </a:ext>
            </a:extLst>
          </p:cNvPr>
          <p:cNvPicPr>
            <a:picLocks noChangeAspect="1"/>
          </p:cNvPicPr>
          <p:nvPr/>
        </p:nvPicPr>
        <p:blipFill>
          <a:blip r:embed="rId4">
            <a:lum/>
            <a:alphaModFix/>
          </a:blip>
          <a:srcRect/>
          <a:stretch>
            <a:fillRect/>
          </a:stretch>
        </p:blipFill>
        <p:spPr>
          <a:xfrm>
            <a:off x="8381875" y="47521"/>
            <a:ext cx="731876" cy="714603"/>
          </a:xfrm>
          <a:prstGeom prst="rect">
            <a:avLst/>
          </a:prstGeom>
          <a:noFill/>
          <a:ln cap="flat">
            <a:noFill/>
          </a:ln>
        </p:spPr>
      </p:pic>
      <p:graphicFrame>
        <p:nvGraphicFramePr>
          <p:cNvPr id="13" name="Table 14">
            <a:extLst>
              <a:ext uri="{FF2B5EF4-FFF2-40B4-BE49-F238E27FC236}">
                <a16:creationId xmlns:a16="http://schemas.microsoft.com/office/drawing/2014/main" id="{7A6D10B4-DCCE-4D26-A9BF-3AF78541DC9F}"/>
              </a:ext>
            </a:extLst>
          </p:cNvPr>
          <p:cNvGraphicFramePr>
            <a:graphicFrameLocks noGrp="1"/>
          </p:cNvGraphicFramePr>
          <p:nvPr>
            <p:extLst>
              <p:ext uri="{D42A27DB-BD31-4B8C-83A1-F6EECF244321}">
                <p14:modId xmlns:p14="http://schemas.microsoft.com/office/powerpoint/2010/main" val="3264240914"/>
              </p:ext>
            </p:extLst>
          </p:nvPr>
        </p:nvGraphicFramePr>
        <p:xfrm>
          <a:off x="301657" y="695227"/>
          <a:ext cx="8248705" cy="5821501"/>
        </p:xfrm>
        <a:graphic>
          <a:graphicData uri="http://schemas.openxmlformats.org/drawingml/2006/table">
            <a:tbl>
              <a:tblPr firstRow="1" bandRow="1">
                <a:tableStyleId>{21E4AEA4-8DFA-4A89-87EB-49C32662AFE0}</a:tableStyleId>
              </a:tblPr>
              <a:tblGrid>
                <a:gridCol w="1711812">
                  <a:extLst>
                    <a:ext uri="{9D8B030D-6E8A-4147-A177-3AD203B41FA5}">
                      <a16:colId xmlns:a16="http://schemas.microsoft.com/office/drawing/2014/main" val="305883124"/>
                    </a:ext>
                  </a:extLst>
                </a:gridCol>
                <a:gridCol w="1581654">
                  <a:extLst>
                    <a:ext uri="{9D8B030D-6E8A-4147-A177-3AD203B41FA5}">
                      <a16:colId xmlns:a16="http://schemas.microsoft.com/office/drawing/2014/main" val="1918312988"/>
                    </a:ext>
                  </a:extLst>
                </a:gridCol>
                <a:gridCol w="1581654">
                  <a:extLst>
                    <a:ext uri="{9D8B030D-6E8A-4147-A177-3AD203B41FA5}">
                      <a16:colId xmlns:a16="http://schemas.microsoft.com/office/drawing/2014/main" val="1123943232"/>
                    </a:ext>
                  </a:extLst>
                </a:gridCol>
                <a:gridCol w="3373585">
                  <a:extLst>
                    <a:ext uri="{9D8B030D-6E8A-4147-A177-3AD203B41FA5}">
                      <a16:colId xmlns:a16="http://schemas.microsoft.com/office/drawing/2014/main" val="1996019875"/>
                    </a:ext>
                  </a:extLst>
                </a:gridCol>
              </a:tblGrid>
              <a:tr h="521928">
                <a:tc>
                  <a:txBody>
                    <a:bodyPr/>
                    <a:lstStyle/>
                    <a:p>
                      <a:pPr algn="ctr"/>
                      <a:r>
                        <a:rPr lang="en-IN" sz="1600" b="1" dirty="0">
                          <a:solidFill>
                            <a:schemeClr val="bg1"/>
                          </a:solidFill>
                        </a:rPr>
                        <a:t>Classifier</a:t>
                      </a:r>
                    </a:p>
                  </a:txBody>
                  <a:tcPr>
                    <a:solidFill>
                      <a:schemeClr val="accent1"/>
                    </a:solidFill>
                  </a:tcPr>
                </a:tc>
                <a:tc>
                  <a:txBody>
                    <a:bodyPr/>
                    <a:lstStyle/>
                    <a:p>
                      <a:pPr algn="ctr"/>
                      <a:r>
                        <a:rPr lang="en-US" sz="1600" b="1" dirty="0">
                          <a:solidFill>
                            <a:schemeClr val="bg1"/>
                          </a:solidFill>
                        </a:rPr>
                        <a:t>Accuracy</a:t>
                      </a:r>
                      <a:endParaRPr lang="en-IN" sz="1600" b="1" dirty="0">
                        <a:solidFill>
                          <a:schemeClr val="bg1"/>
                        </a:solidFill>
                      </a:endParaRPr>
                    </a:p>
                  </a:txBody>
                  <a:tcPr>
                    <a:solidFill>
                      <a:schemeClr val="accent1"/>
                    </a:solidFill>
                  </a:tcPr>
                </a:tc>
                <a:tc>
                  <a:txBody>
                    <a:bodyPr/>
                    <a:lstStyle/>
                    <a:p>
                      <a:pPr algn="ctr"/>
                      <a:r>
                        <a:rPr lang="en-IN" sz="1600" b="1" dirty="0">
                          <a:solidFill>
                            <a:schemeClr val="bg1"/>
                          </a:solidFill>
                        </a:rPr>
                        <a:t>Recall</a:t>
                      </a:r>
                    </a:p>
                  </a:txBody>
                  <a:tcPr>
                    <a:solidFill>
                      <a:schemeClr val="accent1"/>
                    </a:solidFill>
                  </a:tcPr>
                </a:tc>
                <a:tc>
                  <a:txBody>
                    <a:bodyPr/>
                    <a:lstStyle/>
                    <a:p>
                      <a:pPr algn="ctr"/>
                      <a:endParaRPr lang="en-IN" sz="1600" b="1" dirty="0">
                        <a:solidFill>
                          <a:schemeClr val="bg1"/>
                        </a:solidFill>
                      </a:endParaRPr>
                    </a:p>
                  </a:txBody>
                  <a:tcPr>
                    <a:solidFill>
                      <a:schemeClr val="accent1"/>
                    </a:solidFill>
                  </a:tcPr>
                </a:tc>
                <a:extLst>
                  <a:ext uri="{0D108BD9-81ED-4DB2-BD59-A6C34878D82A}">
                    <a16:rowId xmlns:a16="http://schemas.microsoft.com/office/drawing/2014/main" val="2632781610"/>
                  </a:ext>
                </a:extLst>
              </a:tr>
              <a:tr h="1759416">
                <a:tc>
                  <a:txBody>
                    <a:bodyPr/>
                    <a:lstStyle/>
                    <a:p>
                      <a:r>
                        <a:rPr lang="en-IN" sz="1600" b="1" dirty="0">
                          <a:solidFill>
                            <a:schemeClr val="accent1"/>
                          </a:solidFill>
                        </a:rPr>
                        <a:t>Voting classifier</a:t>
                      </a:r>
                    </a:p>
                  </a:txBody>
                  <a:tcPr>
                    <a:noFill/>
                  </a:tcPr>
                </a:tc>
                <a:tc>
                  <a:txBody>
                    <a:bodyPr/>
                    <a:lstStyle/>
                    <a:p>
                      <a:pPr algn="ctr"/>
                      <a:r>
                        <a:rPr lang="en-US" sz="1600" b="1" dirty="0">
                          <a:solidFill>
                            <a:schemeClr val="tx1"/>
                          </a:solidFill>
                        </a:rPr>
                        <a:t>93.44%</a:t>
                      </a:r>
                      <a:endParaRPr lang="en-IN" sz="1600" b="1" dirty="0">
                        <a:solidFill>
                          <a:schemeClr val="tx1"/>
                        </a:solidFill>
                      </a:endParaRPr>
                    </a:p>
                  </a:txBody>
                  <a:tcPr>
                    <a:noFill/>
                  </a:tcPr>
                </a:tc>
                <a:tc>
                  <a:txBody>
                    <a:bodyPr/>
                    <a:lstStyle/>
                    <a:p>
                      <a:pPr algn="ctr"/>
                      <a:r>
                        <a:rPr lang="en-IN" sz="1600" b="1" dirty="0">
                          <a:solidFill>
                            <a:schemeClr val="tx1"/>
                          </a:solidFill>
                        </a:rPr>
                        <a:t>96.88%</a:t>
                      </a:r>
                    </a:p>
                  </a:txBody>
                  <a:tcPr>
                    <a:noFill/>
                  </a:tcPr>
                </a:tc>
                <a:tc>
                  <a:txBody>
                    <a:bodyPr/>
                    <a:lstStyle/>
                    <a:p>
                      <a:endParaRPr lang="en-IN" sz="1600" b="1" dirty="0">
                        <a:solidFill>
                          <a:schemeClr val="tx1"/>
                        </a:solidFill>
                      </a:endParaRPr>
                    </a:p>
                  </a:txBody>
                  <a:tcPr>
                    <a:noFill/>
                  </a:tcPr>
                </a:tc>
                <a:extLst>
                  <a:ext uri="{0D108BD9-81ED-4DB2-BD59-A6C34878D82A}">
                    <a16:rowId xmlns:a16="http://schemas.microsoft.com/office/drawing/2014/main" val="7546137"/>
                  </a:ext>
                </a:extLst>
              </a:tr>
              <a:tr h="1680873">
                <a:tc>
                  <a:txBody>
                    <a:bodyPr/>
                    <a:lstStyle/>
                    <a:p>
                      <a:r>
                        <a:rPr lang="en-IN" sz="1600" b="1" dirty="0">
                          <a:solidFill>
                            <a:schemeClr val="accent1"/>
                          </a:solidFill>
                        </a:rPr>
                        <a:t>Stacked Classifier</a:t>
                      </a:r>
                    </a:p>
                  </a:txBody>
                  <a:tcPr>
                    <a:noFill/>
                  </a:tcPr>
                </a:tc>
                <a:tc>
                  <a:txBody>
                    <a:bodyPr/>
                    <a:lstStyle/>
                    <a:p>
                      <a:pPr algn="ctr"/>
                      <a:r>
                        <a:rPr lang="en-IN" sz="1600" b="1" dirty="0">
                          <a:solidFill>
                            <a:schemeClr val="tx1"/>
                          </a:solidFill>
                        </a:rPr>
                        <a:t>91.80%</a:t>
                      </a:r>
                    </a:p>
                  </a:txBody>
                  <a:tcPr>
                    <a:noFill/>
                  </a:tcPr>
                </a:tc>
                <a:tc>
                  <a:txBody>
                    <a:bodyPr/>
                    <a:lstStyle/>
                    <a:p>
                      <a:pPr algn="ctr"/>
                      <a:r>
                        <a:rPr lang="en-IN" sz="1600" b="1" dirty="0">
                          <a:solidFill>
                            <a:schemeClr val="tx1"/>
                          </a:solidFill>
                        </a:rPr>
                        <a:t>87.55%</a:t>
                      </a:r>
                    </a:p>
                  </a:txBody>
                  <a:tcPr>
                    <a:noFill/>
                  </a:tcPr>
                </a:tc>
                <a:tc>
                  <a:txBody>
                    <a:bodyPr/>
                    <a:lstStyle/>
                    <a:p>
                      <a:endParaRPr lang="en-IN" sz="1600" b="1" dirty="0">
                        <a:solidFill>
                          <a:schemeClr val="tx1"/>
                        </a:solidFill>
                      </a:endParaRPr>
                    </a:p>
                  </a:txBody>
                  <a:tcPr>
                    <a:noFill/>
                  </a:tcPr>
                </a:tc>
                <a:extLst>
                  <a:ext uri="{0D108BD9-81ED-4DB2-BD59-A6C34878D82A}">
                    <a16:rowId xmlns:a16="http://schemas.microsoft.com/office/drawing/2014/main" val="3259121501"/>
                  </a:ext>
                </a:extLst>
              </a:tr>
              <a:tr h="1859284">
                <a:tc>
                  <a:txBody>
                    <a:bodyPr/>
                    <a:lstStyle/>
                    <a:p>
                      <a:r>
                        <a:rPr lang="en-US" sz="2000" b="1" dirty="0">
                          <a:solidFill>
                            <a:schemeClr val="accent1"/>
                          </a:solidFill>
                        </a:rPr>
                        <a:t>D</a:t>
                      </a:r>
                      <a:r>
                        <a:rPr lang="en-IN" sz="2000" b="1" dirty="0" err="1">
                          <a:solidFill>
                            <a:schemeClr val="accent1"/>
                          </a:solidFill>
                        </a:rPr>
                        <a:t>ecision</a:t>
                      </a:r>
                      <a:r>
                        <a:rPr lang="en-IN" sz="2000" b="1" dirty="0">
                          <a:solidFill>
                            <a:schemeClr val="accent1"/>
                          </a:solidFill>
                        </a:rPr>
                        <a:t> tree</a:t>
                      </a:r>
                    </a:p>
                  </a:txBody>
                  <a:tcPr>
                    <a:solidFill>
                      <a:srgbClr val="92D050"/>
                    </a:solidFill>
                  </a:tcPr>
                </a:tc>
                <a:tc>
                  <a:txBody>
                    <a:bodyPr/>
                    <a:lstStyle/>
                    <a:p>
                      <a:pPr algn="ctr"/>
                      <a:r>
                        <a:rPr lang="en-US" sz="2000" b="1" dirty="0">
                          <a:solidFill>
                            <a:schemeClr val="tx1"/>
                          </a:solidFill>
                        </a:rPr>
                        <a:t>98.36%</a:t>
                      </a:r>
                      <a:endParaRPr lang="en-IN" sz="2000" b="1" dirty="0">
                        <a:solidFill>
                          <a:schemeClr val="tx1"/>
                        </a:solidFill>
                      </a:endParaRPr>
                    </a:p>
                  </a:txBody>
                  <a:tcPr>
                    <a:solidFill>
                      <a:srgbClr val="92D050"/>
                    </a:solidFill>
                  </a:tcPr>
                </a:tc>
                <a:tc>
                  <a:txBody>
                    <a:bodyPr/>
                    <a:lstStyle/>
                    <a:p>
                      <a:pPr algn="ctr"/>
                      <a:r>
                        <a:rPr lang="en-IN" sz="2000" b="1" dirty="0">
                          <a:solidFill>
                            <a:schemeClr val="tx1"/>
                          </a:solidFill>
                        </a:rPr>
                        <a:t>96.88%</a:t>
                      </a:r>
                    </a:p>
                  </a:txBody>
                  <a:tcPr>
                    <a:solidFill>
                      <a:srgbClr val="92D050"/>
                    </a:solidFill>
                  </a:tcPr>
                </a:tc>
                <a:tc>
                  <a:txBody>
                    <a:bodyPr/>
                    <a:lstStyle/>
                    <a:p>
                      <a:endParaRPr lang="en-IN" sz="2000" b="1" dirty="0">
                        <a:solidFill>
                          <a:schemeClr val="tx1"/>
                        </a:solidFill>
                      </a:endParaRPr>
                    </a:p>
                  </a:txBody>
                  <a:tcPr>
                    <a:solidFill>
                      <a:srgbClr val="92D050"/>
                    </a:solidFill>
                  </a:tcPr>
                </a:tc>
                <a:extLst>
                  <a:ext uri="{0D108BD9-81ED-4DB2-BD59-A6C34878D82A}">
                    <a16:rowId xmlns:a16="http://schemas.microsoft.com/office/drawing/2014/main" val="60269859"/>
                  </a:ext>
                </a:extLst>
              </a:tr>
            </a:tbl>
          </a:graphicData>
        </a:graphic>
      </p:graphicFrame>
      <p:pic>
        <p:nvPicPr>
          <p:cNvPr id="11" name="Picture 10">
            <a:extLst>
              <a:ext uri="{FF2B5EF4-FFF2-40B4-BE49-F238E27FC236}">
                <a16:creationId xmlns:a16="http://schemas.microsoft.com/office/drawing/2014/main" id="{9B95B4C5-A5A9-47B1-8D6C-E58B560203D4}"/>
              </a:ext>
            </a:extLst>
          </p:cNvPr>
          <p:cNvPicPr>
            <a:picLocks noChangeAspect="1"/>
          </p:cNvPicPr>
          <p:nvPr/>
        </p:nvPicPr>
        <p:blipFill rotWithShape="1">
          <a:blip r:embed="rId5"/>
          <a:srcRect l="1" r="26542"/>
          <a:stretch/>
        </p:blipFill>
        <p:spPr>
          <a:xfrm>
            <a:off x="5981842" y="1284003"/>
            <a:ext cx="1725685" cy="1563845"/>
          </a:xfrm>
          <a:prstGeom prst="rect">
            <a:avLst/>
          </a:prstGeom>
        </p:spPr>
      </p:pic>
      <p:pic>
        <p:nvPicPr>
          <p:cNvPr id="14" name="Picture 13">
            <a:extLst>
              <a:ext uri="{FF2B5EF4-FFF2-40B4-BE49-F238E27FC236}">
                <a16:creationId xmlns:a16="http://schemas.microsoft.com/office/drawing/2014/main" id="{81E1C114-BCB7-4DFA-86E0-E65A3410E146}"/>
              </a:ext>
            </a:extLst>
          </p:cNvPr>
          <p:cNvPicPr>
            <a:picLocks noChangeAspect="1"/>
          </p:cNvPicPr>
          <p:nvPr/>
        </p:nvPicPr>
        <p:blipFill rotWithShape="1">
          <a:blip r:embed="rId6"/>
          <a:srcRect r="14209"/>
          <a:stretch/>
        </p:blipFill>
        <p:spPr>
          <a:xfrm>
            <a:off x="5994761" y="3049249"/>
            <a:ext cx="1857659" cy="1563845"/>
          </a:xfrm>
          <a:prstGeom prst="rect">
            <a:avLst/>
          </a:prstGeom>
        </p:spPr>
      </p:pic>
      <p:pic>
        <p:nvPicPr>
          <p:cNvPr id="16" name="Picture 15">
            <a:extLst>
              <a:ext uri="{FF2B5EF4-FFF2-40B4-BE49-F238E27FC236}">
                <a16:creationId xmlns:a16="http://schemas.microsoft.com/office/drawing/2014/main" id="{7381AFEB-DE2B-4949-AB90-7A29030D3DAE}"/>
              </a:ext>
            </a:extLst>
          </p:cNvPr>
          <p:cNvPicPr>
            <a:picLocks noChangeAspect="1"/>
          </p:cNvPicPr>
          <p:nvPr/>
        </p:nvPicPr>
        <p:blipFill>
          <a:blip r:embed="rId7"/>
          <a:stretch>
            <a:fillRect/>
          </a:stretch>
        </p:blipFill>
        <p:spPr>
          <a:xfrm>
            <a:off x="5994761" y="4729003"/>
            <a:ext cx="1857659" cy="1803022"/>
          </a:xfrm>
          <a:prstGeom prst="rect">
            <a:avLst/>
          </a:prstGeom>
        </p:spPr>
      </p:pic>
    </p:spTree>
    <p:extLst>
      <p:ext uri="{BB962C8B-B14F-4D97-AF65-F5344CB8AC3E}">
        <p14:creationId xmlns:p14="http://schemas.microsoft.com/office/powerpoint/2010/main" val="3824997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8D4669DB-FB9D-493D-B0D9-33EFC82790DE}"/>
              </a:ext>
            </a:extLst>
          </p:cNvPr>
          <p:cNvPicPr>
            <a:picLocks noChangeAspect="1"/>
          </p:cNvPicPr>
          <p:nvPr/>
        </p:nvPicPr>
        <p:blipFill>
          <a:blip r:embed="rId3">
            <a:lum/>
            <a:alphaModFix/>
          </a:blip>
          <a:srcRect/>
          <a:stretch>
            <a:fillRect/>
          </a:stretch>
        </p:blipFill>
        <p:spPr>
          <a:xfrm>
            <a:off x="0" y="6553084"/>
            <a:ext cx="9144000" cy="308161"/>
          </a:xfrm>
          <a:prstGeom prst="rect">
            <a:avLst/>
          </a:prstGeom>
          <a:noFill/>
          <a:ln cap="flat">
            <a:noFill/>
          </a:ln>
        </p:spPr>
      </p:pic>
      <p:sp>
        <p:nvSpPr>
          <p:cNvPr id="3" name="Text Box 4">
            <a:extLst>
              <a:ext uri="{FF2B5EF4-FFF2-40B4-BE49-F238E27FC236}">
                <a16:creationId xmlns:a16="http://schemas.microsoft.com/office/drawing/2014/main" id="{6F8CE000-001B-477B-AEB1-7B2DF82125E0}"/>
              </a:ext>
            </a:extLst>
          </p:cNvPr>
          <p:cNvSpPr/>
          <p:nvPr/>
        </p:nvSpPr>
        <p:spPr>
          <a:xfrm>
            <a:off x="2299322" y="6550203"/>
            <a:ext cx="4545363" cy="307082"/>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a:effectLst>
            <a:outerShdw dist="17819" dir="2700000" algn="tl">
              <a:srgbClr val="000000"/>
            </a:outerShdw>
          </a:effectLst>
        </p:spPr>
        <p:txBody>
          <a:bodyPr vert="horz" wrap="non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1400" b="1" i="0" u="none" strike="noStrike" kern="1200" cap="none" spc="0" baseline="0">
                <a:solidFill>
                  <a:srgbClr val="47FFD1"/>
                </a:solidFill>
                <a:uFillTx/>
                <a:latin typeface="Comic Sans MS" pitchFamily="66"/>
                <a:ea typeface="Microsoft YaHei" pitchFamily="2"/>
                <a:cs typeface="Lucida Sans" pitchFamily="2"/>
              </a:rPr>
              <a:t>Department of Computer Science and Engineering</a:t>
            </a:r>
          </a:p>
        </p:txBody>
      </p:sp>
      <p:pic>
        <p:nvPicPr>
          <p:cNvPr id="4" name="Picture 2">
            <a:extLst>
              <a:ext uri="{FF2B5EF4-FFF2-40B4-BE49-F238E27FC236}">
                <a16:creationId xmlns:a16="http://schemas.microsoft.com/office/drawing/2014/main" id="{EFEADD32-D603-4B11-8D98-E7FD48C6130F}"/>
              </a:ext>
            </a:extLst>
          </p:cNvPr>
          <p:cNvPicPr>
            <a:picLocks noChangeAspect="1"/>
          </p:cNvPicPr>
          <p:nvPr/>
        </p:nvPicPr>
        <p:blipFill>
          <a:blip r:embed="rId3">
            <a:lum/>
            <a:alphaModFix/>
          </a:blip>
          <a:srcRect/>
          <a:stretch>
            <a:fillRect/>
          </a:stretch>
        </p:blipFill>
        <p:spPr>
          <a:xfrm>
            <a:off x="0" y="0"/>
            <a:ext cx="9144000" cy="609484"/>
          </a:xfrm>
          <a:prstGeom prst="rect">
            <a:avLst/>
          </a:prstGeom>
          <a:noFill/>
          <a:ln cap="flat">
            <a:noFill/>
          </a:ln>
        </p:spPr>
      </p:pic>
      <p:sp>
        <p:nvSpPr>
          <p:cNvPr id="5" name="Rectangle: Rounded Corners 3">
            <a:extLst>
              <a:ext uri="{FF2B5EF4-FFF2-40B4-BE49-F238E27FC236}">
                <a16:creationId xmlns:a16="http://schemas.microsoft.com/office/drawing/2014/main" id="{6BBED2D9-BCDF-4E94-8182-A159447629CE}"/>
              </a:ext>
            </a:extLst>
          </p:cNvPr>
          <p:cNvSpPr/>
          <p:nvPr/>
        </p:nvSpPr>
        <p:spPr>
          <a:xfrm>
            <a:off x="8550362" y="6553084"/>
            <a:ext cx="593637" cy="306360"/>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0066"/>
          </a:solidFill>
          <a:ln w="12600" cap="flat">
            <a:solidFill>
              <a:srgbClr val="000000"/>
            </a:solidFill>
            <a:prstDash val="solid"/>
            <a:miter/>
          </a:ln>
        </p:spPr>
        <p:txBody>
          <a:bodyPr vert="horz" wrap="square" lIns="90004" tIns="46798" rIns="90004" bIns="46798" anchor="ctr" anchorCtr="1" compatLnSpc="1">
            <a:normAutofit fontScale="92500" lnSpcReduction="20000"/>
          </a:bodyPr>
          <a:lstStyle/>
          <a:p>
            <a:pPr marL="0" marR="0" lvl="0" indent="0" algn="ctr" defTabSz="914400" rtl="0" fontAlgn="auto" hangingPunct="1">
              <a:lnSpc>
                <a:spcPct val="8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AB8CC7BD-5D93-4C0A-AAD8-B765ACB170F4}" type="slidenum">
              <a:t>39</a:t>
            </a:fld>
            <a:endParaRPr lang="en-US" sz="1400" b="1" i="0" u="none" strike="noStrike" kern="1200" cap="none" spc="0" baseline="0">
              <a:solidFill>
                <a:srgbClr val="FFFFFF"/>
              </a:solidFill>
              <a:uFillTx/>
              <a:latin typeface="Comic Sans MS" pitchFamily="66"/>
              <a:ea typeface="Microsoft YaHei" pitchFamily="2"/>
              <a:cs typeface="Lucida Sans" pitchFamily="2"/>
            </a:endParaRPr>
          </a:p>
        </p:txBody>
      </p:sp>
      <p:sp>
        <p:nvSpPr>
          <p:cNvPr id="6" name="Date Placeholder 7">
            <a:extLst>
              <a:ext uri="{FF2B5EF4-FFF2-40B4-BE49-F238E27FC236}">
                <a16:creationId xmlns:a16="http://schemas.microsoft.com/office/drawing/2014/main" id="{D0C2D5F8-2A4E-45AD-9E19-29D2B63406A3}"/>
              </a:ext>
            </a:extLst>
          </p:cNvPr>
          <p:cNvSpPr/>
          <p:nvPr/>
        </p:nvSpPr>
        <p:spPr>
          <a:xfrm>
            <a:off x="0" y="6564239"/>
            <a:ext cx="1447915" cy="41291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norm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5E5B1732-3D3F-4E1A-AD91-1223FC4CF4BB}" type="datetime1">
              <a:rPr lang="en-US" sz="1400" b="1" i="0" u="none" strike="noStrike" kern="1200" cap="none" spc="0" baseline="0">
                <a:solidFill>
                  <a:srgbClr val="FF0066"/>
                </a:solidFill>
                <a:uFillTx/>
                <a:latin typeface="Arial Rounded MT Bold" pitchFamily="34"/>
                <a:ea typeface="Microsoft YaHei" pitchFamily="2"/>
                <a:cs typeface="Lucida Sans" pitchFamily="2"/>
              </a:rPr>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t>4/18/2023</a:t>
            </a:fld>
            <a:endParaRPr lang="en-US" sz="1400" b="1" i="0" u="none" strike="noStrike" kern="1200" cap="none" spc="0" baseline="0">
              <a:solidFill>
                <a:srgbClr val="FF0066"/>
              </a:solidFill>
              <a:uFillTx/>
              <a:latin typeface="Arial Rounded MT Bold" pitchFamily="34"/>
              <a:ea typeface="Microsoft YaHei" pitchFamily="2"/>
              <a:cs typeface="Lucida Sans" pitchFamily="2"/>
            </a:endParaRPr>
          </a:p>
        </p:txBody>
      </p:sp>
      <p:sp>
        <p:nvSpPr>
          <p:cNvPr id="7" name="TextBox 8">
            <a:extLst>
              <a:ext uri="{FF2B5EF4-FFF2-40B4-BE49-F238E27FC236}">
                <a16:creationId xmlns:a16="http://schemas.microsoft.com/office/drawing/2014/main" id="{9BE241AC-2867-401B-8952-98D39C4F5A63}"/>
              </a:ext>
            </a:extLst>
          </p:cNvPr>
          <p:cNvSpPr/>
          <p:nvPr/>
        </p:nvSpPr>
        <p:spPr>
          <a:xfrm>
            <a:off x="919081" y="0"/>
            <a:ext cx="7305836" cy="47483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500" b="1" i="0" u="none" strike="noStrike" kern="1200" cap="none" spc="0" baseline="0">
                <a:solidFill>
                  <a:srgbClr val="47FFD1"/>
                </a:solidFill>
                <a:uFillTx/>
                <a:latin typeface="Comic Sans MS" pitchFamily="66"/>
                <a:ea typeface="Microsoft YaHei" pitchFamily="2"/>
                <a:cs typeface="Lucida Sans" pitchFamily="2"/>
              </a:rPr>
              <a:t>Mepco Schlenk Engineering College </a:t>
            </a:r>
            <a:r>
              <a:rPr lang="en-US" sz="1800" b="1" i="0" u="none" strike="noStrike" kern="1200" cap="none" spc="0" baseline="0">
                <a:solidFill>
                  <a:srgbClr val="47FFD1"/>
                </a:solidFill>
                <a:uFillTx/>
                <a:latin typeface="Comic Sans MS" pitchFamily="66"/>
                <a:ea typeface="Microsoft YaHei" pitchFamily="2"/>
                <a:cs typeface="Lucida Sans" pitchFamily="2"/>
              </a:rPr>
              <a:t>(Autonomous)</a:t>
            </a:r>
          </a:p>
        </p:txBody>
      </p:sp>
      <p:sp>
        <p:nvSpPr>
          <p:cNvPr id="8" name="Oval 11">
            <a:extLst>
              <a:ext uri="{FF2B5EF4-FFF2-40B4-BE49-F238E27FC236}">
                <a16:creationId xmlns:a16="http://schemas.microsoft.com/office/drawing/2014/main" id="{E67FA03A-95C6-4908-B4C7-A0B37595DAFE}"/>
              </a:ext>
            </a:extLst>
          </p:cNvPr>
          <p:cNvSpPr/>
          <p:nvPr/>
        </p:nvSpPr>
        <p:spPr>
          <a:xfrm>
            <a:off x="8354881" y="20519"/>
            <a:ext cx="777962" cy="777962"/>
          </a:xfrm>
          <a:custGeom>
            <a:avLst/>
            <a:gdLst>
              <a:gd name="f0" fmla="val 10800000"/>
              <a:gd name="f1" fmla="val 5400000"/>
              <a:gd name="f2" fmla="val 180"/>
              <a:gd name="f3" fmla="val w"/>
              <a:gd name="f4" fmla="val h"/>
              <a:gd name="f5" fmla="val 0"/>
              <a:gd name="f6" fmla="val 21600"/>
              <a:gd name="f7" fmla="*/ 5419351 1 1725033"/>
              <a:gd name="f8" fmla="*/ 10800 10800 1"/>
              <a:gd name="f9" fmla="+- 0 0 360"/>
              <a:gd name="f10" fmla="val 10800"/>
              <a:gd name="f11" fmla="+- 0 0 0"/>
              <a:gd name="f12" fmla="*/ f3 1 21600"/>
              <a:gd name="f13" fmla="*/ f4 1 21600"/>
              <a:gd name="f14" fmla="*/ 0 f7 1"/>
              <a:gd name="f15" fmla="*/ f5 f0 1"/>
              <a:gd name="f16" fmla="*/ f9 f0 1"/>
              <a:gd name="f17" fmla="+- f6 0 f5"/>
              <a:gd name="f18" fmla="*/ f11 f0 1"/>
              <a:gd name="f19" fmla="*/ f14 1 f2"/>
              <a:gd name="f20" fmla="*/ f15 1 f2"/>
              <a:gd name="f21" fmla="*/ f16 1 f2"/>
              <a:gd name="f22" fmla="*/ f17 1 21600"/>
              <a:gd name="f23" fmla="*/ f18 1 f2"/>
              <a:gd name="f24" fmla="+- 0 0 f19"/>
              <a:gd name="f25" fmla="+- f20 0 f1"/>
              <a:gd name="f26" fmla="+- f21 0 f1"/>
              <a:gd name="f27" fmla="*/ 3163 f22 1"/>
              <a:gd name="f28" fmla="*/ 18437 f22 1"/>
              <a:gd name="f29" fmla="*/ 10800 f22 1"/>
              <a:gd name="f30" fmla="*/ 0 f22 1"/>
              <a:gd name="f31" fmla="*/ 21600 f22 1"/>
              <a:gd name="f32" fmla="+- f23 0 f1"/>
              <a:gd name="f33" fmla="*/ f24 f0 1"/>
              <a:gd name="f34" fmla="+- f26 0 f25"/>
              <a:gd name="f35" fmla="*/ f29 1 f22"/>
              <a:gd name="f36" fmla="*/ f30 1 f22"/>
              <a:gd name="f37" fmla="*/ f27 1 f22"/>
              <a:gd name="f38" fmla="*/ f28 1 f22"/>
              <a:gd name="f39" fmla="*/ f31 1 f22"/>
              <a:gd name="f40" fmla="*/ f33 1 f7"/>
              <a:gd name="f41" fmla="*/ f37 f12 1"/>
              <a:gd name="f42" fmla="*/ f38 f12 1"/>
              <a:gd name="f43" fmla="*/ f38 f13 1"/>
              <a:gd name="f44" fmla="*/ f37 f13 1"/>
              <a:gd name="f45" fmla="*/ f35 f12 1"/>
              <a:gd name="f46" fmla="*/ f36 f13 1"/>
              <a:gd name="f47" fmla="*/ f36 f12 1"/>
              <a:gd name="f48" fmla="*/ f35 f13 1"/>
              <a:gd name="f49" fmla="*/ f39 f13 1"/>
              <a:gd name="f50" fmla="*/ f39 f12 1"/>
              <a:gd name="f51" fmla="+- f40 0 f1"/>
              <a:gd name="f52" fmla="+- f51 f1 0"/>
              <a:gd name="f53" fmla="*/ f52 f7 1"/>
              <a:gd name="f54" fmla="*/ f53 1 f0"/>
              <a:gd name="f55" fmla="+- 0 0 f54"/>
              <a:gd name="f56" fmla="+- 0 0 f55"/>
              <a:gd name="f57" fmla="*/ f56 f0 1"/>
              <a:gd name="f58" fmla="*/ f57 1 f7"/>
              <a:gd name="f59" fmla="+- f58 0 f1"/>
              <a:gd name="f60" fmla="cos 1 f59"/>
              <a:gd name="f61" fmla="sin 1 f59"/>
              <a:gd name="f62" fmla="+- 0 0 f60"/>
              <a:gd name="f63" fmla="+- 0 0 f61"/>
              <a:gd name="f64" fmla="+- 0 0 f62"/>
              <a:gd name="f65" fmla="+- 0 0 f63"/>
              <a:gd name="f66" fmla="val f64"/>
              <a:gd name="f67" fmla="val f65"/>
              <a:gd name="f68" fmla="+- 0 0 f66"/>
              <a:gd name="f69" fmla="+- 0 0 f67"/>
              <a:gd name="f70" fmla="*/ 10800 f68 1"/>
              <a:gd name="f71" fmla="*/ 10800 f69 1"/>
              <a:gd name="f72" fmla="*/ f70 f70 1"/>
              <a:gd name="f73" fmla="*/ f71 f71 1"/>
              <a:gd name="f74" fmla="+- f72 f73 0"/>
              <a:gd name="f75" fmla="sqrt f74"/>
              <a:gd name="f76" fmla="*/ f8 1 f75"/>
              <a:gd name="f77" fmla="*/ f68 f76 1"/>
              <a:gd name="f78" fmla="*/ f69 f76 1"/>
              <a:gd name="f79" fmla="+- 10800 0 f77"/>
              <a:gd name="f80" fmla="+- 10800 0 f78"/>
            </a:gdLst>
            <a:ahLst/>
            <a:cxnLst>
              <a:cxn ang="3cd4">
                <a:pos x="hc" y="t"/>
              </a:cxn>
              <a:cxn ang="0">
                <a:pos x="r" y="vc"/>
              </a:cxn>
              <a:cxn ang="cd4">
                <a:pos x="hc" y="b"/>
              </a:cxn>
              <a:cxn ang="cd2">
                <a:pos x="l" y="vc"/>
              </a:cxn>
              <a:cxn ang="f32">
                <a:pos x="f45" y="f46"/>
              </a:cxn>
              <a:cxn ang="f32">
                <a:pos x="f41" y="f44"/>
              </a:cxn>
              <a:cxn ang="f32">
                <a:pos x="f47" y="f48"/>
              </a:cxn>
              <a:cxn ang="f32">
                <a:pos x="f41" y="f43"/>
              </a:cxn>
              <a:cxn ang="f32">
                <a:pos x="f45" y="f49"/>
              </a:cxn>
              <a:cxn ang="f32">
                <a:pos x="f42" y="f43"/>
              </a:cxn>
              <a:cxn ang="f32">
                <a:pos x="f50" y="f48"/>
              </a:cxn>
              <a:cxn ang="f32">
                <a:pos x="f42" y="f44"/>
              </a:cxn>
            </a:cxnLst>
            <a:rect l="f41" t="f44" r="f42" b="f43"/>
            <a:pathLst>
              <a:path w="21600" h="21600">
                <a:moveTo>
                  <a:pt x="f79" y="f80"/>
                </a:moveTo>
                <a:arcTo wR="f10" hR="f10" stAng="f25" swAng="f34"/>
                <a:close/>
              </a:path>
            </a:pathLst>
          </a:custGeom>
          <a:solidFill>
            <a:srgbClr val="FFFFFF"/>
          </a:solidFill>
          <a:ln w="12600" cap="flat">
            <a:solidFill>
              <a:srgbClr val="BCBCBC"/>
            </a:solidFill>
            <a:prstDash val="solid"/>
            <a:miter/>
          </a:ln>
        </p:spPr>
        <p:txBody>
          <a:bodyPr vert="horz" wrap="square" lIns="90004" tIns="46798" rIns="90004" bIns="46798" anchor="ctr" anchorCtr="0" compatLnSpc="1">
            <a:no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IN" sz="2400" b="0" i="0" u="none" strike="noStrike" kern="1200" cap="none" spc="0" baseline="0">
              <a:solidFill>
                <a:srgbClr val="000000"/>
              </a:solidFill>
              <a:uFillTx/>
              <a:latin typeface="Times New Roman" pitchFamily="18"/>
              <a:ea typeface="Microsoft YaHei" pitchFamily="2"/>
              <a:cs typeface="Lucida Sans" pitchFamily="2"/>
            </a:endParaRPr>
          </a:p>
        </p:txBody>
      </p:sp>
      <p:pic>
        <p:nvPicPr>
          <p:cNvPr id="9" name="Picture 10" descr="A picture containing text, sign, watch&#10;&#10;Description automatically generated">
            <a:extLst>
              <a:ext uri="{FF2B5EF4-FFF2-40B4-BE49-F238E27FC236}">
                <a16:creationId xmlns:a16="http://schemas.microsoft.com/office/drawing/2014/main" id="{D3EAC155-9D7D-4454-AF3C-C9B1622F5B98}"/>
              </a:ext>
            </a:extLst>
          </p:cNvPr>
          <p:cNvPicPr>
            <a:picLocks noChangeAspect="1"/>
          </p:cNvPicPr>
          <p:nvPr/>
        </p:nvPicPr>
        <p:blipFill>
          <a:blip r:embed="rId4">
            <a:lum/>
            <a:alphaModFix/>
          </a:blip>
          <a:srcRect/>
          <a:stretch>
            <a:fillRect/>
          </a:stretch>
        </p:blipFill>
        <p:spPr>
          <a:xfrm>
            <a:off x="8381875" y="47521"/>
            <a:ext cx="731876" cy="714603"/>
          </a:xfrm>
          <a:prstGeom prst="rect">
            <a:avLst/>
          </a:prstGeom>
          <a:noFill/>
          <a:ln cap="flat">
            <a:noFill/>
          </a:ln>
        </p:spPr>
      </p:pic>
      <p:graphicFrame>
        <p:nvGraphicFramePr>
          <p:cNvPr id="15" name="Chart 14">
            <a:extLst>
              <a:ext uri="{FF2B5EF4-FFF2-40B4-BE49-F238E27FC236}">
                <a16:creationId xmlns:a16="http://schemas.microsoft.com/office/drawing/2014/main" id="{4E7C5160-1EE4-44A4-8CFA-FBCDF82AC7ED}"/>
              </a:ext>
            </a:extLst>
          </p:cNvPr>
          <p:cNvGraphicFramePr/>
          <p:nvPr>
            <p:extLst>
              <p:ext uri="{D42A27DB-BD31-4B8C-83A1-F6EECF244321}">
                <p14:modId xmlns:p14="http://schemas.microsoft.com/office/powerpoint/2010/main" val="2379048693"/>
              </p:ext>
            </p:extLst>
          </p:nvPr>
        </p:nvGraphicFramePr>
        <p:xfrm>
          <a:off x="1544948" y="3429000"/>
          <a:ext cx="5770252" cy="3005294"/>
        </p:xfrm>
        <a:graphic>
          <a:graphicData uri="http://schemas.openxmlformats.org/drawingml/2006/chart">
            <c:chart xmlns:c="http://schemas.openxmlformats.org/drawingml/2006/chart" xmlns:r="http://schemas.openxmlformats.org/officeDocument/2006/relationships" r:id="rId5"/>
          </a:graphicData>
        </a:graphic>
      </p:graphicFrame>
      <p:sp>
        <p:nvSpPr>
          <p:cNvPr id="10" name="TextBox 9">
            <a:extLst>
              <a:ext uri="{FF2B5EF4-FFF2-40B4-BE49-F238E27FC236}">
                <a16:creationId xmlns:a16="http://schemas.microsoft.com/office/drawing/2014/main" id="{120B8318-3020-478F-A522-B99F482BBDF3}"/>
              </a:ext>
            </a:extLst>
          </p:cNvPr>
          <p:cNvSpPr txBox="1"/>
          <p:nvPr/>
        </p:nvSpPr>
        <p:spPr>
          <a:xfrm>
            <a:off x="567055" y="1142079"/>
            <a:ext cx="7814820" cy="1754326"/>
          </a:xfrm>
          <a:prstGeom prst="rect">
            <a:avLst/>
          </a:prstGeom>
          <a:noFill/>
        </p:spPr>
        <p:txBody>
          <a:bodyPr wrap="square" rtlCol="0">
            <a:spAutoFit/>
          </a:bodyPr>
          <a:lstStyle/>
          <a:p>
            <a:r>
              <a:rPr lang="en-IN" dirty="0"/>
              <a:t>Our base paper achieved maximum accuracy of 97.52% using Sequential Forward Selection with Random Forest Classifier and Hyperparameter optimization using TPOT classifier.</a:t>
            </a:r>
          </a:p>
          <a:p>
            <a:endParaRPr lang="en-IN" dirty="0"/>
          </a:p>
          <a:p>
            <a:r>
              <a:rPr lang="en-IN" dirty="0"/>
              <a:t>Our proposed model achieved accuracy of 98.36% when </a:t>
            </a:r>
            <a:r>
              <a:rPr lang="en-IN" dirty="0" err="1"/>
              <a:t>ensembling</a:t>
            </a:r>
            <a:r>
              <a:rPr lang="en-IN" dirty="0"/>
              <a:t> Random Forest, XGBoost and KNN using decision tree.</a:t>
            </a:r>
          </a:p>
        </p:txBody>
      </p:sp>
    </p:spTree>
    <p:extLst>
      <p:ext uri="{BB962C8B-B14F-4D97-AF65-F5344CB8AC3E}">
        <p14:creationId xmlns:p14="http://schemas.microsoft.com/office/powerpoint/2010/main" val="24414280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8D4669DB-FB9D-493D-B0D9-33EFC82790DE}"/>
              </a:ext>
            </a:extLst>
          </p:cNvPr>
          <p:cNvPicPr>
            <a:picLocks noChangeAspect="1"/>
          </p:cNvPicPr>
          <p:nvPr/>
        </p:nvPicPr>
        <p:blipFill>
          <a:blip r:embed="rId3">
            <a:lum/>
            <a:alphaModFix/>
          </a:blip>
          <a:srcRect/>
          <a:stretch>
            <a:fillRect/>
          </a:stretch>
        </p:blipFill>
        <p:spPr>
          <a:xfrm>
            <a:off x="0" y="6553084"/>
            <a:ext cx="9144000" cy="308161"/>
          </a:xfrm>
          <a:prstGeom prst="rect">
            <a:avLst/>
          </a:prstGeom>
          <a:noFill/>
          <a:ln cap="flat">
            <a:noFill/>
          </a:ln>
        </p:spPr>
      </p:pic>
      <p:sp>
        <p:nvSpPr>
          <p:cNvPr id="3" name="Text Box 4">
            <a:extLst>
              <a:ext uri="{FF2B5EF4-FFF2-40B4-BE49-F238E27FC236}">
                <a16:creationId xmlns:a16="http://schemas.microsoft.com/office/drawing/2014/main" id="{6F8CE000-001B-477B-AEB1-7B2DF82125E0}"/>
              </a:ext>
            </a:extLst>
          </p:cNvPr>
          <p:cNvSpPr/>
          <p:nvPr/>
        </p:nvSpPr>
        <p:spPr>
          <a:xfrm>
            <a:off x="2299322" y="6550203"/>
            <a:ext cx="4545363" cy="307082"/>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a:effectLst>
            <a:outerShdw dist="17819" dir="2700000" algn="tl">
              <a:srgbClr val="000000"/>
            </a:outerShdw>
          </a:effectLst>
        </p:spPr>
        <p:txBody>
          <a:bodyPr vert="horz" wrap="non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1400" b="1" i="0" u="none" strike="noStrike" kern="1200" cap="none" spc="0" baseline="0">
                <a:solidFill>
                  <a:srgbClr val="47FFD1"/>
                </a:solidFill>
                <a:uFillTx/>
                <a:latin typeface="Comic Sans MS" pitchFamily="66"/>
                <a:ea typeface="Microsoft YaHei" pitchFamily="2"/>
                <a:cs typeface="Lucida Sans" pitchFamily="2"/>
              </a:rPr>
              <a:t>Department of Computer Science and Engineering</a:t>
            </a:r>
          </a:p>
        </p:txBody>
      </p:sp>
      <p:pic>
        <p:nvPicPr>
          <p:cNvPr id="4" name="Picture 2">
            <a:extLst>
              <a:ext uri="{FF2B5EF4-FFF2-40B4-BE49-F238E27FC236}">
                <a16:creationId xmlns:a16="http://schemas.microsoft.com/office/drawing/2014/main" id="{EFEADD32-D603-4B11-8D98-E7FD48C6130F}"/>
              </a:ext>
            </a:extLst>
          </p:cNvPr>
          <p:cNvPicPr>
            <a:picLocks noChangeAspect="1"/>
          </p:cNvPicPr>
          <p:nvPr/>
        </p:nvPicPr>
        <p:blipFill>
          <a:blip r:embed="rId3">
            <a:lum/>
            <a:alphaModFix/>
          </a:blip>
          <a:srcRect/>
          <a:stretch>
            <a:fillRect/>
          </a:stretch>
        </p:blipFill>
        <p:spPr>
          <a:xfrm>
            <a:off x="0" y="0"/>
            <a:ext cx="9144000" cy="609484"/>
          </a:xfrm>
          <a:prstGeom prst="rect">
            <a:avLst/>
          </a:prstGeom>
          <a:noFill/>
          <a:ln cap="flat">
            <a:noFill/>
          </a:ln>
        </p:spPr>
      </p:pic>
      <p:sp>
        <p:nvSpPr>
          <p:cNvPr id="5" name="Rectangle: Rounded Corners 3">
            <a:extLst>
              <a:ext uri="{FF2B5EF4-FFF2-40B4-BE49-F238E27FC236}">
                <a16:creationId xmlns:a16="http://schemas.microsoft.com/office/drawing/2014/main" id="{6BBED2D9-BCDF-4E94-8182-A159447629CE}"/>
              </a:ext>
            </a:extLst>
          </p:cNvPr>
          <p:cNvSpPr/>
          <p:nvPr/>
        </p:nvSpPr>
        <p:spPr>
          <a:xfrm>
            <a:off x="8550362" y="6553084"/>
            <a:ext cx="593637" cy="306360"/>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0066"/>
          </a:solidFill>
          <a:ln w="12600" cap="flat">
            <a:solidFill>
              <a:srgbClr val="000000"/>
            </a:solidFill>
            <a:prstDash val="solid"/>
            <a:miter/>
          </a:ln>
        </p:spPr>
        <p:txBody>
          <a:bodyPr vert="horz" wrap="square" lIns="90004" tIns="46798" rIns="90004" bIns="46798" anchor="ctr" anchorCtr="1" compatLnSpc="1">
            <a:normAutofit fontScale="92500" lnSpcReduction="20000"/>
          </a:bodyPr>
          <a:lstStyle/>
          <a:p>
            <a:pPr marL="0" marR="0" lvl="0" indent="0" algn="ctr" defTabSz="914400" rtl="0" fontAlgn="auto" hangingPunct="1">
              <a:lnSpc>
                <a:spcPct val="8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AB8CC7BD-5D93-4C0A-AAD8-B765ACB170F4}" type="slidenum">
              <a:t>40</a:t>
            </a:fld>
            <a:endParaRPr lang="en-US" sz="1400" b="1" i="0" u="none" strike="noStrike" kern="1200" cap="none" spc="0" baseline="0">
              <a:solidFill>
                <a:srgbClr val="FFFFFF"/>
              </a:solidFill>
              <a:uFillTx/>
              <a:latin typeface="Comic Sans MS" pitchFamily="66"/>
              <a:ea typeface="Microsoft YaHei" pitchFamily="2"/>
              <a:cs typeface="Lucida Sans" pitchFamily="2"/>
            </a:endParaRPr>
          </a:p>
        </p:txBody>
      </p:sp>
      <p:sp>
        <p:nvSpPr>
          <p:cNvPr id="6" name="Date Placeholder 7">
            <a:extLst>
              <a:ext uri="{FF2B5EF4-FFF2-40B4-BE49-F238E27FC236}">
                <a16:creationId xmlns:a16="http://schemas.microsoft.com/office/drawing/2014/main" id="{D0C2D5F8-2A4E-45AD-9E19-29D2B63406A3}"/>
              </a:ext>
            </a:extLst>
          </p:cNvPr>
          <p:cNvSpPr/>
          <p:nvPr/>
        </p:nvSpPr>
        <p:spPr>
          <a:xfrm>
            <a:off x="0" y="6564239"/>
            <a:ext cx="1447915" cy="41291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norm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5E5B1732-3D3F-4E1A-AD91-1223FC4CF4BB}" type="datetime1">
              <a:rPr lang="en-US" sz="1400" b="1" i="0" u="none" strike="noStrike" kern="1200" cap="none" spc="0" baseline="0">
                <a:solidFill>
                  <a:srgbClr val="FF0066"/>
                </a:solidFill>
                <a:uFillTx/>
                <a:latin typeface="Arial Rounded MT Bold" pitchFamily="34"/>
                <a:ea typeface="Microsoft YaHei" pitchFamily="2"/>
                <a:cs typeface="Lucida Sans" pitchFamily="2"/>
              </a:rPr>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t>4/18/2023</a:t>
            </a:fld>
            <a:endParaRPr lang="en-US" sz="1400" b="1" i="0" u="none" strike="noStrike" kern="1200" cap="none" spc="0" baseline="0">
              <a:solidFill>
                <a:srgbClr val="FF0066"/>
              </a:solidFill>
              <a:uFillTx/>
              <a:latin typeface="Arial Rounded MT Bold" pitchFamily="34"/>
              <a:ea typeface="Microsoft YaHei" pitchFamily="2"/>
              <a:cs typeface="Lucida Sans" pitchFamily="2"/>
            </a:endParaRPr>
          </a:p>
        </p:txBody>
      </p:sp>
      <p:sp>
        <p:nvSpPr>
          <p:cNvPr id="7" name="TextBox 8">
            <a:extLst>
              <a:ext uri="{FF2B5EF4-FFF2-40B4-BE49-F238E27FC236}">
                <a16:creationId xmlns:a16="http://schemas.microsoft.com/office/drawing/2014/main" id="{9BE241AC-2867-401B-8952-98D39C4F5A63}"/>
              </a:ext>
            </a:extLst>
          </p:cNvPr>
          <p:cNvSpPr/>
          <p:nvPr/>
        </p:nvSpPr>
        <p:spPr>
          <a:xfrm>
            <a:off x="919081" y="0"/>
            <a:ext cx="7305836" cy="47483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500" b="1" i="0" u="none" strike="noStrike" kern="1200" cap="none" spc="0" baseline="0">
                <a:solidFill>
                  <a:srgbClr val="47FFD1"/>
                </a:solidFill>
                <a:uFillTx/>
                <a:latin typeface="Comic Sans MS" pitchFamily="66"/>
                <a:ea typeface="Microsoft YaHei" pitchFamily="2"/>
                <a:cs typeface="Lucida Sans" pitchFamily="2"/>
              </a:rPr>
              <a:t>Mepco Schlenk Engineering College </a:t>
            </a:r>
            <a:r>
              <a:rPr lang="en-US" sz="1800" b="1" i="0" u="none" strike="noStrike" kern="1200" cap="none" spc="0" baseline="0">
                <a:solidFill>
                  <a:srgbClr val="47FFD1"/>
                </a:solidFill>
                <a:uFillTx/>
                <a:latin typeface="Comic Sans MS" pitchFamily="66"/>
                <a:ea typeface="Microsoft YaHei" pitchFamily="2"/>
                <a:cs typeface="Lucida Sans" pitchFamily="2"/>
              </a:rPr>
              <a:t>(Autonomous)</a:t>
            </a:r>
          </a:p>
        </p:txBody>
      </p:sp>
      <p:sp>
        <p:nvSpPr>
          <p:cNvPr id="8" name="Oval 11">
            <a:extLst>
              <a:ext uri="{FF2B5EF4-FFF2-40B4-BE49-F238E27FC236}">
                <a16:creationId xmlns:a16="http://schemas.microsoft.com/office/drawing/2014/main" id="{E67FA03A-95C6-4908-B4C7-A0B37595DAFE}"/>
              </a:ext>
            </a:extLst>
          </p:cNvPr>
          <p:cNvSpPr/>
          <p:nvPr/>
        </p:nvSpPr>
        <p:spPr>
          <a:xfrm>
            <a:off x="8354881" y="20519"/>
            <a:ext cx="777962" cy="777962"/>
          </a:xfrm>
          <a:custGeom>
            <a:avLst/>
            <a:gdLst>
              <a:gd name="f0" fmla="val 10800000"/>
              <a:gd name="f1" fmla="val 5400000"/>
              <a:gd name="f2" fmla="val 180"/>
              <a:gd name="f3" fmla="val w"/>
              <a:gd name="f4" fmla="val h"/>
              <a:gd name="f5" fmla="val 0"/>
              <a:gd name="f6" fmla="val 21600"/>
              <a:gd name="f7" fmla="*/ 5419351 1 1725033"/>
              <a:gd name="f8" fmla="*/ 10800 10800 1"/>
              <a:gd name="f9" fmla="+- 0 0 360"/>
              <a:gd name="f10" fmla="val 10800"/>
              <a:gd name="f11" fmla="+- 0 0 0"/>
              <a:gd name="f12" fmla="*/ f3 1 21600"/>
              <a:gd name="f13" fmla="*/ f4 1 21600"/>
              <a:gd name="f14" fmla="*/ 0 f7 1"/>
              <a:gd name="f15" fmla="*/ f5 f0 1"/>
              <a:gd name="f16" fmla="*/ f9 f0 1"/>
              <a:gd name="f17" fmla="+- f6 0 f5"/>
              <a:gd name="f18" fmla="*/ f11 f0 1"/>
              <a:gd name="f19" fmla="*/ f14 1 f2"/>
              <a:gd name="f20" fmla="*/ f15 1 f2"/>
              <a:gd name="f21" fmla="*/ f16 1 f2"/>
              <a:gd name="f22" fmla="*/ f17 1 21600"/>
              <a:gd name="f23" fmla="*/ f18 1 f2"/>
              <a:gd name="f24" fmla="+- 0 0 f19"/>
              <a:gd name="f25" fmla="+- f20 0 f1"/>
              <a:gd name="f26" fmla="+- f21 0 f1"/>
              <a:gd name="f27" fmla="*/ 3163 f22 1"/>
              <a:gd name="f28" fmla="*/ 18437 f22 1"/>
              <a:gd name="f29" fmla="*/ 10800 f22 1"/>
              <a:gd name="f30" fmla="*/ 0 f22 1"/>
              <a:gd name="f31" fmla="*/ 21600 f22 1"/>
              <a:gd name="f32" fmla="+- f23 0 f1"/>
              <a:gd name="f33" fmla="*/ f24 f0 1"/>
              <a:gd name="f34" fmla="+- f26 0 f25"/>
              <a:gd name="f35" fmla="*/ f29 1 f22"/>
              <a:gd name="f36" fmla="*/ f30 1 f22"/>
              <a:gd name="f37" fmla="*/ f27 1 f22"/>
              <a:gd name="f38" fmla="*/ f28 1 f22"/>
              <a:gd name="f39" fmla="*/ f31 1 f22"/>
              <a:gd name="f40" fmla="*/ f33 1 f7"/>
              <a:gd name="f41" fmla="*/ f37 f12 1"/>
              <a:gd name="f42" fmla="*/ f38 f12 1"/>
              <a:gd name="f43" fmla="*/ f38 f13 1"/>
              <a:gd name="f44" fmla="*/ f37 f13 1"/>
              <a:gd name="f45" fmla="*/ f35 f12 1"/>
              <a:gd name="f46" fmla="*/ f36 f13 1"/>
              <a:gd name="f47" fmla="*/ f36 f12 1"/>
              <a:gd name="f48" fmla="*/ f35 f13 1"/>
              <a:gd name="f49" fmla="*/ f39 f13 1"/>
              <a:gd name="f50" fmla="*/ f39 f12 1"/>
              <a:gd name="f51" fmla="+- f40 0 f1"/>
              <a:gd name="f52" fmla="+- f51 f1 0"/>
              <a:gd name="f53" fmla="*/ f52 f7 1"/>
              <a:gd name="f54" fmla="*/ f53 1 f0"/>
              <a:gd name="f55" fmla="+- 0 0 f54"/>
              <a:gd name="f56" fmla="+- 0 0 f55"/>
              <a:gd name="f57" fmla="*/ f56 f0 1"/>
              <a:gd name="f58" fmla="*/ f57 1 f7"/>
              <a:gd name="f59" fmla="+- f58 0 f1"/>
              <a:gd name="f60" fmla="cos 1 f59"/>
              <a:gd name="f61" fmla="sin 1 f59"/>
              <a:gd name="f62" fmla="+- 0 0 f60"/>
              <a:gd name="f63" fmla="+- 0 0 f61"/>
              <a:gd name="f64" fmla="+- 0 0 f62"/>
              <a:gd name="f65" fmla="+- 0 0 f63"/>
              <a:gd name="f66" fmla="val f64"/>
              <a:gd name="f67" fmla="val f65"/>
              <a:gd name="f68" fmla="+- 0 0 f66"/>
              <a:gd name="f69" fmla="+- 0 0 f67"/>
              <a:gd name="f70" fmla="*/ 10800 f68 1"/>
              <a:gd name="f71" fmla="*/ 10800 f69 1"/>
              <a:gd name="f72" fmla="*/ f70 f70 1"/>
              <a:gd name="f73" fmla="*/ f71 f71 1"/>
              <a:gd name="f74" fmla="+- f72 f73 0"/>
              <a:gd name="f75" fmla="sqrt f74"/>
              <a:gd name="f76" fmla="*/ f8 1 f75"/>
              <a:gd name="f77" fmla="*/ f68 f76 1"/>
              <a:gd name="f78" fmla="*/ f69 f76 1"/>
              <a:gd name="f79" fmla="+- 10800 0 f77"/>
              <a:gd name="f80" fmla="+- 10800 0 f78"/>
            </a:gdLst>
            <a:ahLst/>
            <a:cxnLst>
              <a:cxn ang="3cd4">
                <a:pos x="hc" y="t"/>
              </a:cxn>
              <a:cxn ang="0">
                <a:pos x="r" y="vc"/>
              </a:cxn>
              <a:cxn ang="cd4">
                <a:pos x="hc" y="b"/>
              </a:cxn>
              <a:cxn ang="cd2">
                <a:pos x="l" y="vc"/>
              </a:cxn>
              <a:cxn ang="f32">
                <a:pos x="f45" y="f46"/>
              </a:cxn>
              <a:cxn ang="f32">
                <a:pos x="f41" y="f44"/>
              </a:cxn>
              <a:cxn ang="f32">
                <a:pos x="f47" y="f48"/>
              </a:cxn>
              <a:cxn ang="f32">
                <a:pos x="f41" y="f43"/>
              </a:cxn>
              <a:cxn ang="f32">
                <a:pos x="f45" y="f49"/>
              </a:cxn>
              <a:cxn ang="f32">
                <a:pos x="f42" y="f43"/>
              </a:cxn>
              <a:cxn ang="f32">
                <a:pos x="f50" y="f48"/>
              </a:cxn>
              <a:cxn ang="f32">
                <a:pos x="f42" y="f44"/>
              </a:cxn>
            </a:cxnLst>
            <a:rect l="f41" t="f44" r="f42" b="f43"/>
            <a:pathLst>
              <a:path w="21600" h="21600">
                <a:moveTo>
                  <a:pt x="f79" y="f80"/>
                </a:moveTo>
                <a:arcTo wR="f10" hR="f10" stAng="f25" swAng="f34"/>
                <a:close/>
              </a:path>
            </a:pathLst>
          </a:custGeom>
          <a:solidFill>
            <a:srgbClr val="FFFFFF"/>
          </a:solidFill>
          <a:ln w="12600" cap="flat">
            <a:solidFill>
              <a:srgbClr val="BCBCBC"/>
            </a:solidFill>
            <a:prstDash val="solid"/>
            <a:miter/>
          </a:ln>
        </p:spPr>
        <p:txBody>
          <a:bodyPr vert="horz" wrap="square" lIns="90004" tIns="46798" rIns="90004" bIns="46798" anchor="ctr" anchorCtr="0" compatLnSpc="1">
            <a:no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IN" sz="2400" b="0" i="0" u="none" strike="noStrike" kern="1200" cap="none" spc="0" baseline="0">
              <a:solidFill>
                <a:srgbClr val="000000"/>
              </a:solidFill>
              <a:uFillTx/>
              <a:latin typeface="Times New Roman" pitchFamily="18"/>
              <a:ea typeface="Microsoft YaHei" pitchFamily="2"/>
              <a:cs typeface="Lucida Sans" pitchFamily="2"/>
            </a:endParaRPr>
          </a:p>
        </p:txBody>
      </p:sp>
      <p:pic>
        <p:nvPicPr>
          <p:cNvPr id="9" name="Picture 10" descr="A picture containing text, sign, watch&#10;&#10;Description automatically generated">
            <a:extLst>
              <a:ext uri="{FF2B5EF4-FFF2-40B4-BE49-F238E27FC236}">
                <a16:creationId xmlns:a16="http://schemas.microsoft.com/office/drawing/2014/main" id="{D3EAC155-9D7D-4454-AF3C-C9B1622F5B98}"/>
              </a:ext>
            </a:extLst>
          </p:cNvPr>
          <p:cNvPicPr>
            <a:picLocks noChangeAspect="1"/>
          </p:cNvPicPr>
          <p:nvPr/>
        </p:nvPicPr>
        <p:blipFill>
          <a:blip r:embed="rId4">
            <a:lum/>
            <a:alphaModFix/>
          </a:blip>
          <a:srcRect/>
          <a:stretch>
            <a:fillRect/>
          </a:stretch>
        </p:blipFill>
        <p:spPr>
          <a:xfrm>
            <a:off x="8381875" y="47521"/>
            <a:ext cx="731876" cy="714603"/>
          </a:xfrm>
          <a:prstGeom prst="rect">
            <a:avLst/>
          </a:prstGeom>
          <a:noFill/>
          <a:ln cap="flat">
            <a:noFill/>
          </a:ln>
        </p:spPr>
      </p:pic>
      <p:graphicFrame>
        <p:nvGraphicFramePr>
          <p:cNvPr id="13" name="Table 14">
            <a:extLst>
              <a:ext uri="{FF2B5EF4-FFF2-40B4-BE49-F238E27FC236}">
                <a16:creationId xmlns:a16="http://schemas.microsoft.com/office/drawing/2014/main" id="{7A6D10B4-DCCE-4D26-A9BF-3AF78541DC9F}"/>
              </a:ext>
            </a:extLst>
          </p:cNvPr>
          <p:cNvGraphicFramePr>
            <a:graphicFrameLocks noGrp="1"/>
          </p:cNvGraphicFramePr>
          <p:nvPr>
            <p:extLst>
              <p:ext uri="{D42A27DB-BD31-4B8C-83A1-F6EECF244321}">
                <p14:modId xmlns:p14="http://schemas.microsoft.com/office/powerpoint/2010/main" val="3046468109"/>
              </p:ext>
            </p:extLst>
          </p:nvPr>
        </p:nvGraphicFramePr>
        <p:xfrm>
          <a:off x="740003" y="2106978"/>
          <a:ext cx="7663992" cy="2967789"/>
        </p:xfrm>
        <a:graphic>
          <a:graphicData uri="http://schemas.openxmlformats.org/drawingml/2006/table">
            <a:tbl>
              <a:tblPr firstRow="1" bandRow="1">
                <a:tableStyleId>{21E4AEA4-8DFA-4A89-87EB-49C32662AFE0}</a:tableStyleId>
              </a:tblPr>
              <a:tblGrid>
                <a:gridCol w="3983436">
                  <a:extLst>
                    <a:ext uri="{9D8B030D-6E8A-4147-A177-3AD203B41FA5}">
                      <a16:colId xmlns:a16="http://schemas.microsoft.com/office/drawing/2014/main" val="305883124"/>
                    </a:ext>
                  </a:extLst>
                </a:gridCol>
                <a:gridCol w="3680556">
                  <a:extLst>
                    <a:ext uri="{9D8B030D-6E8A-4147-A177-3AD203B41FA5}">
                      <a16:colId xmlns:a16="http://schemas.microsoft.com/office/drawing/2014/main" val="1918312988"/>
                    </a:ext>
                  </a:extLst>
                </a:gridCol>
              </a:tblGrid>
              <a:tr h="521928">
                <a:tc>
                  <a:txBody>
                    <a:bodyPr/>
                    <a:lstStyle/>
                    <a:p>
                      <a:pPr algn="ctr"/>
                      <a:r>
                        <a:rPr lang="en-IN" sz="1600" b="1" dirty="0">
                          <a:solidFill>
                            <a:schemeClr val="bg1"/>
                          </a:solidFill>
                        </a:rPr>
                        <a:t>Metrics</a:t>
                      </a:r>
                    </a:p>
                  </a:txBody>
                  <a:tcPr>
                    <a:solidFill>
                      <a:schemeClr val="accent1"/>
                    </a:solidFill>
                  </a:tcPr>
                </a:tc>
                <a:tc>
                  <a:txBody>
                    <a:bodyPr/>
                    <a:lstStyle/>
                    <a:p>
                      <a:pPr algn="ctr"/>
                      <a:r>
                        <a:rPr lang="en-IN" sz="1600" b="1" dirty="0">
                          <a:solidFill>
                            <a:schemeClr val="bg1"/>
                          </a:solidFill>
                        </a:rPr>
                        <a:t>Formula</a:t>
                      </a:r>
                    </a:p>
                  </a:txBody>
                  <a:tcPr>
                    <a:solidFill>
                      <a:schemeClr val="accent1"/>
                    </a:solidFill>
                  </a:tcPr>
                </a:tc>
                <a:extLst>
                  <a:ext uri="{0D108BD9-81ED-4DB2-BD59-A6C34878D82A}">
                    <a16:rowId xmlns:a16="http://schemas.microsoft.com/office/drawing/2014/main" val="2632781610"/>
                  </a:ext>
                </a:extLst>
              </a:tr>
              <a:tr h="583365">
                <a:tc>
                  <a:txBody>
                    <a:bodyPr/>
                    <a:lstStyle/>
                    <a:p>
                      <a:r>
                        <a:rPr lang="en-IN" sz="1800" b="1" dirty="0">
                          <a:solidFill>
                            <a:schemeClr val="tx1"/>
                          </a:solidFill>
                        </a:rPr>
                        <a:t>Accuracy</a:t>
                      </a:r>
                    </a:p>
                  </a:txBody>
                  <a:tcPr>
                    <a:noFill/>
                  </a:tcPr>
                </a:tc>
                <a:tc>
                  <a:txBody>
                    <a:bodyPr/>
                    <a:lstStyle/>
                    <a:p>
                      <a:pPr algn="ctr"/>
                      <a:r>
                        <a:rPr lang="en-IN" sz="1800" b="1" dirty="0">
                          <a:solidFill>
                            <a:schemeClr val="tx1"/>
                          </a:solidFill>
                        </a:rPr>
                        <a:t>(TP + TN) / (TP + TN + FP + FN)</a:t>
                      </a:r>
                    </a:p>
                  </a:txBody>
                  <a:tcPr>
                    <a:noFill/>
                  </a:tcPr>
                </a:tc>
                <a:extLst>
                  <a:ext uri="{0D108BD9-81ED-4DB2-BD59-A6C34878D82A}">
                    <a16:rowId xmlns:a16="http://schemas.microsoft.com/office/drawing/2014/main" val="60269859"/>
                  </a:ext>
                </a:extLst>
              </a:tr>
              <a:tr h="611208">
                <a:tc>
                  <a:txBody>
                    <a:bodyPr/>
                    <a:lstStyle/>
                    <a:p>
                      <a:r>
                        <a:rPr lang="en-IN" sz="1800" b="1" dirty="0">
                          <a:solidFill>
                            <a:schemeClr val="tx1"/>
                          </a:solidFill>
                        </a:rPr>
                        <a:t>Recall</a:t>
                      </a:r>
                    </a:p>
                  </a:txBody>
                  <a:tcPr>
                    <a:noFill/>
                  </a:tcPr>
                </a:tc>
                <a:tc>
                  <a:txBody>
                    <a:bodyPr/>
                    <a:lstStyle/>
                    <a:p>
                      <a:pPr algn="ctr"/>
                      <a:r>
                        <a:rPr lang="en-IN" sz="1800" b="1" i="0" kern="1200" dirty="0">
                          <a:solidFill>
                            <a:schemeClr val="dk1"/>
                          </a:solidFill>
                          <a:effectLst/>
                          <a:latin typeface="+mn-lt"/>
                          <a:ea typeface="+mn-ea"/>
                          <a:cs typeface="+mn-cs"/>
                        </a:rPr>
                        <a:t>TP / (TP + FN)</a:t>
                      </a:r>
                      <a:endParaRPr lang="en-IN" sz="1800" b="1" dirty="0">
                        <a:solidFill>
                          <a:schemeClr val="tx1"/>
                        </a:solidFill>
                      </a:endParaRPr>
                    </a:p>
                  </a:txBody>
                  <a:tcPr>
                    <a:noFill/>
                  </a:tcPr>
                </a:tc>
                <a:extLst>
                  <a:ext uri="{0D108BD9-81ED-4DB2-BD59-A6C34878D82A}">
                    <a16:rowId xmlns:a16="http://schemas.microsoft.com/office/drawing/2014/main" val="76048116"/>
                  </a:ext>
                </a:extLst>
              </a:tr>
              <a:tr h="611208">
                <a:tc>
                  <a:txBody>
                    <a:bodyPr/>
                    <a:lstStyle/>
                    <a:p>
                      <a:r>
                        <a:rPr lang="en-IN" sz="1800" b="1" dirty="0">
                          <a:solidFill>
                            <a:schemeClr val="tx1"/>
                          </a:solidFill>
                        </a:rPr>
                        <a:t>Precision</a:t>
                      </a:r>
                    </a:p>
                  </a:txBody>
                  <a:tcPr>
                    <a:noFill/>
                  </a:tcPr>
                </a:tc>
                <a:tc>
                  <a:txBody>
                    <a:bodyPr/>
                    <a:lstStyle/>
                    <a:p>
                      <a:pPr algn="ctr"/>
                      <a:r>
                        <a:rPr lang="en-IN" sz="1800" b="0" i="0" kern="1200" dirty="0">
                          <a:solidFill>
                            <a:schemeClr val="dk1"/>
                          </a:solidFill>
                          <a:effectLst/>
                          <a:latin typeface="+mn-lt"/>
                          <a:ea typeface="+mn-ea"/>
                          <a:cs typeface="+mn-cs"/>
                        </a:rPr>
                        <a:t> </a:t>
                      </a:r>
                      <a:r>
                        <a:rPr lang="en-IN" sz="1800" b="1" i="0" kern="1200" dirty="0">
                          <a:solidFill>
                            <a:schemeClr val="dk1"/>
                          </a:solidFill>
                          <a:effectLst/>
                          <a:latin typeface="+mn-lt"/>
                          <a:ea typeface="+mn-ea"/>
                          <a:cs typeface="+mn-cs"/>
                        </a:rPr>
                        <a:t>TP / (TP + FP)</a:t>
                      </a:r>
                      <a:endParaRPr lang="en-IN" sz="1800" b="1" dirty="0">
                        <a:solidFill>
                          <a:schemeClr val="tx1"/>
                        </a:solidFill>
                      </a:endParaRPr>
                    </a:p>
                  </a:txBody>
                  <a:tcPr>
                    <a:noFill/>
                  </a:tcPr>
                </a:tc>
                <a:extLst>
                  <a:ext uri="{0D108BD9-81ED-4DB2-BD59-A6C34878D82A}">
                    <a16:rowId xmlns:a16="http://schemas.microsoft.com/office/drawing/2014/main" val="781765094"/>
                  </a:ext>
                </a:extLst>
              </a:tr>
              <a:tr h="611208">
                <a:tc>
                  <a:txBody>
                    <a:bodyPr/>
                    <a:lstStyle/>
                    <a:p>
                      <a:r>
                        <a:rPr lang="en-IN" sz="1800" b="1" dirty="0">
                          <a:solidFill>
                            <a:schemeClr val="tx1"/>
                          </a:solidFill>
                        </a:rPr>
                        <a:t>F1 Score</a:t>
                      </a:r>
                    </a:p>
                  </a:txBody>
                  <a:tcPr>
                    <a:noFill/>
                  </a:tcPr>
                </a:tc>
                <a:tc>
                  <a:txBody>
                    <a:bodyPr/>
                    <a:lstStyle/>
                    <a:p>
                      <a:pPr algn="ctr"/>
                      <a:r>
                        <a:rPr lang="en-IN" sz="1800" b="1" dirty="0">
                          <a:solidFill>
                            <a:schemeClr val="tx1"/>
                          </a:solidFill>
                        </a:rPr>
                        <a:t>2 (Precision * Recall) / (Precision  + Recall) </a:t>
                      </a:r>
                    </a:p>
                  </a:txBody>
                  <a:tcPr>
                    <a:noFill/>
                  </a:tcPr>
                </a:tc>
                <a:extLst>
                  <a:ext uri="{0D108BD9-81ED-4DB2-BD59-A6C34878D82A}">
                    <a16:rowId xmlns:a16="http://schemas.microsoft.com/office/drawing/2014/main" val="1773668304"/>
                  </a:ext>
                </a:extLst>
              </a:tr>
            </a:tbl>
          </a:graphicData>
        </a:graphic>
      </p:graphicFrame>
    </p:spTree>
    <p:extLst>
      <p:ext uri="{BB962C8B-B14F-4D97-AF65-F5344CB8AC3E}">
        <p14:creationId xmlns:p14="http://schemas.microsoft.com/office/powerpoint/2010/main" val="31679670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8D4669DB-FB9D-493D-B0D9-33EFC82790DE}"/>
              </a:ext>
            </a:extLst>
          </p:cNvPr>
          <p:cNvPicPr>
            <a:picLocks noChangeAspect="1"/>
          </p:cNvPicPr>
          <p:nvPr/>
        </p:nvPicPr>
        <p:blipFill>
          <a:blip r:embed="rId3">
            <a:lum/>
            <a:alphaModFix/>
          </a:blip>
          <a:srcRect/>
          <a:stretch>
            <a:fillRect/>
          </a:stretch>
        </p:blipFill>
        <p:spPr>
          <a:xfrm>
            <a:off x="0" y="6553084"/>
            <a:ext cx="9144000" cy="308161"/>
          </a:xfrm>
          <a:prstGeom prst="rect">
            <a:avLst/>
          </a:prstGeom>
          <a:noFill/>
          <a:ln cap="flat">
            <a:noFill/>
          </a:ln>
        </p:spPr>
      </p:pic>
      <p:sp>
        <p:nvSpPr>
          <p:cNvPr id="3" name="Text Box 4">
            <a:extLst>
              <a:ext uri="{FF2B5EF4-FFF2-40B4-BE49-F238E27FC236}">
                <a16:creationId xmlns:a16="http://schemas.microsoft.com/office/drawing/2014/main" id="{6F8CE000-001B-477B-AEB1-7B2DF82125E0}"/>
              </a:ext>
            </a:extLst>
          </p:cNvPr>
          <p:cNvSpPr/>
          <p:nvPr/>
        </p:nvSpPr>
        <p:spPr>
          <a:xfrm>
            <a:off x="2299322" y="6550203"/>
            <a:ext cx="4545363" cy="307082"/>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a:effectLst>
            <a:outerShdw dist="17819" dir="2700000" algn="tl">
              <a:srgbClr val="000000"/>
            </a:outerShdw>
          </a:effectLst>
        </p:spPr>
        <p:txBody>
          <a:bodyPr vert="horz" wrap="non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1400" b="1" i="0" u="none" strike="noStrike" kern="1200" cap="none" spc="0" baseline="0">
                <a:solidFill>
                  <a:srgbClr val="47FFD1"/>
                </a:solidFill>
                <a:uFillTx/>
                <a:latin typeface="Comic Sans MS" pitchFamily="66"/>
                <a:ea typeface="Microsoft YaHei" pitchFamily="2"/>
                <a:cs typeface="Lucida Sans" pitchFamily="2"/>
              </a:rPr>
              <a:t>Department of Computer Science and Engineering</a:t>
            </a:r>
          </a:p>
        </p:txBody>
      </p:sp>
      <p:pic>
        <p:nvPicPr>
          <p:cNvPr id="4" name="Picture 2">
            <a:extLst>
              <a:ext uri="{FF2B5EF4-FFF2-40B4-BE49-F238E27FC236}">
                <a16:creationId xmlns:a16="http://schemas.microsoft.com/office/drawing/2014/main" id="{EFEADD32-D603-4B11-8D98-E7FD48C6130F}"/>
              </a:ext>
            </a:extLst>
          </p:cNvPr>
          <p:cNvPicPr>
            <a:picLocks noChangeAspect="1"/>
          </p:cNvPicPr>
          <p:nvPr/>
        </p:nvPicPr>
        <p:blipFill>
          <a:blip r:embed="rId3">
            <a:lum/>
            <a:alphaModFix/>
          </a:blip>
          <a:srcRect/>
          <a:stretch>
            <a:fillRect/>
          </a:stretch>
        </p:blipFill>
        <p:spPr>
          <a:xfrm>
            <a:off x="0" y="0"/>
            <a:ext cx="9144000" cy="609484"/>
          </a:xfrm>
          <a:prstGeom prst="rect">
            <a:avLst/>
          </a:prstGeom>
          <a:noFill/>
          <a:ln cap="flat">
            <a:noFill/>
          </a:ln>
        </p:spPr>
      </p:pic>
      <p:sp>
        <p:nvSpPr>
          <p:cNvPr id="5" name="Rectangle: Rounded Corners 3">
            <a:extLst>
              <a:ext uri="{FF2B5EF4-FFF2-40B4-BE49-F238E27FC236}">
                <a16:creationId xmlns:a16="http://schemas.microsoft.com/office/drawing/2014/main" id="{6BBED2D9-BCDF-4E94-8182-A159447629CE}"/>
              </a:ext>
            </a:extLst>
          </p:cNvPr>
          <p:cNvSpPr/>
          <p:nvPr/>
        </p:nvSpPr>
        <p:spPr>
          <a:xfrm>
            <a:off x="8550362" y="6553084"/>
            <a:ext cx="593637" cy="306360"/>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0066"/>
          </a:solidFill>
          <a:ln w="12600" cap="flat">
            <a:solidFill>
              <a:srgbClr val="000000"/>
            </a:solidFill>
            <a:prstDash val="solid"/>
            <a:miter/>
          </a:ln>
        </p:spPr>
        <p:txBody>
          <a:bodyPr vert="horz" wrap="square" lIns="90004" tIns="46798" rIns="90004" bIns="46798" anchor="ctr" anchorCtr="1" compatLnSpc="1">
            <a:normAutofit fontScale="92500" lnSpcReduction="20000"/>
          </a:bodyPr>
          <a:lstStyle/>
          <a:p>
            <a:pPr marL="0" marR="0" lvl="0" indent="0" algn="ctr" defTabSz="914400" rtl="0" fontAlgn="auto" hangingPunct="1">
              <a:lnSpc>
                <a:spcPct val="8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AB8CC7BD-5D93-4C0A-AAD8-B765ACB170F4}" type="slidenum">
              <a:t>41</a:t>
            </a:fld>
            <a:endParaRPr lang="en-US" sz="1400" b="1" i="0" u="none" strike="noStrike" kern="1200" cap="none" spc="0" baseline="0">
              <a:solidFill>
                <a:srgbClr val="FFFFFF"/>
              </a:solidFill>
              <a:uFillTx/>
              <a:latin typeface="Comic Sans MS" pitchFamily="66"/>
              <a:ea typeface="Microsoft YaHei" pitchFamily="2"/>
              <a:cs typeface="Lucida Sans" pitchFamily="2"/>
            </a:endParaRPr>
          </a:p>
        </p:txBody>
      </p:sp>
      <p:sp>
        <p:nvSpPr>
          <p:cNvPr id="6" name="Date Placeholder 7">
            <a:extLst>
              <a:ext uri="{FF2B5EF4-FFF2-40B4-BE49-F238E27FC236}">
                <a16:creationId xmlns:a16="http://schemas.microsoft.com/office/drawing/2014/main" id="{D0C2D5F8-2A4E-45AD-9E19-29D2B63406A3}"/>
              </a:ext>
            </a:extLst>
          </p:cNvPr>
          <p:cNvSpPr/>
          <p:nvPr/>
        </p:nvSpPr>
        <p:spPr>
          <a:xfrm>
            <a:off x="0" y="6564239"/>
            <a:ext cx="1447915" cy="41291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norm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5E5B1732-3D3F-4E1A-AD91-1223FC4CF4BB}" type="datetime1">
              <a:rPr lang="en-US" sz="1400" b="1" i="0" u="none" strike="noStrike" kern="1200" cap="none" spc="0" baseline="0">
                <a:solidFill>
                  <a:srgbClr val="FF0066"/>
                </a:solidFill>
                <a:uFillTx/>
                <a:latin typeface="Arial Rounded MT Bold" pitchFamily="34"/>
                <a:ea typeface="Microsoft YaHei" pitchFamily="2"/>
                <a:cs typeface="Lucida Sans" pitchFamily="2"/>
              </a:rPr>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t>4/18/2023</a:t>
            </a:fld>
            <a:endParaRPr lang="en-US" sz="1400" b="1" i="0" u="none" strike="noStrike" kern="1200" cap="none" spc="0" baseline="0">
              <a:solidFill>
                <a:srgbClr val="FF0066"/>
              </a:solidFill>
              <a:uFillTx/>
              <a:latin typeface="Arial Rounded MT Bold" pitchFamily="34"/>
              <a:ea typeface="Microsoft YaHei" pitchFamily="2"/>
              <a:cs typeface="Lucida Sans" pitchFamily="2"/>
            </a:endParaRPr>
          </a:p>
        </p:txBody>
      </p:sp>
      <p:sp>
        <p:nvSpPr>
          <p:cNvPr id="7" name="TextBox 8">
            <a:extLst>
              <a:ext uri="{FF2B5EF4-FFF2-40B4-BE49-F238E27FC236}">
                <a16:creationId xmlns:a16="http://schemas.microsoft.com/office/drawing/2014/main" id="{9BE241AC-2867-401B-8952-98D39C4F5A63}"/>
              </a:ext>
            </a:extLst>
          </p:cNvPr>
          <p:cNvSpPr/>
          <p:nvPr/>
        </p:nvSpPr>
        <p:spPr>
          <a:xfrm>
            <a:off x="919081" y="0"/>
            <a:ext cx="7305836" cy="47483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500" b="1" i="0" u="none" strike="noStrike" kern="1200" cap="none" spc="0" baseline="0">
                <a:solidFill>
                  <a:srgbClr val="47FFD1"/>
                </a:solidFill>
                <a:uFillTx/>
                <a:latin typeface="Comic Sans MS" pitchFamily="66"/>
                <a:ea typeface="Microsoft YaHei" pitchFamily="2"/>
                <a:cs typeface="Lucida Sans" pitchFamily="2"/>
              </a:rPr>
              <a:t>Mepco Schlenk Engineering College </a:t>
            </a:r>
            <a:r>
              <a:rPr lang="en-US" sz="1800" b="1" i="0" u="none" strike="noStrike" kern="1200" cap="none" spc="0" baseline="0">
                <a:solidFill>
                  <a:srgbClr val="47FFD1"/>
                </a:solidFill>
                <a:uFillTx/>
                <a:latin typeface="Comic Sans MS" pitchFamily="66"/>
                <a:ea typeface="Microsoft YaHei" pitchFamily="2"/>
                <a:cs typeface="Lucida Sans" pitchFamily="2"/>
              </a:rPr>
              <a:t>(Autonomous)</a:t>
            </a:r>
          </a:p>
        </p:txBody>
      </p:sp>
      <p:sp>
        <p:nvSpPr>
          <p:cNvPr id="8" name="Oval 11">
            <a:extLst>
              <a:ext uri="{FF2B5EF4-FFF2-40B4-BE49-F238E27FC236}">
                <a16:creationId xmlns:a16="http://schemas.microsoft.com/office/drawing/2014/main" id="{E67FA03A-95C6-4908-B4C7-A0B37595DAFE}"/>
              </a:ext>
            </a:extLst>
          </p:cNvPr>
          <p:cNvSpPr/>
          <p:nvPr/>
        </p:nvSpPr>
        <p:spPr>
          <a:xfrm>
            <a:off x="8354881" y="20519"/>
            <a:ext cx="777962" cy="777962"/>
          </a:xfrm>
          <a:custGeom>
            <a:avLst/>
            <a:gdLst>
              <a:gd name="f0" fmla="val 10800000"/>
              <a:gd name="f1" fmla="val 5400000"/>
              <a:gd name="f2" fmla="val 180"/>
              <a:gd name="f3" fmla="val w"/>
              <a:gd name="f4" fmla="val h"/>
              <a:gd name="f5" fmla="val 0"/>
              <a:gd name="f6" fmla="val 21600"/>
              <a:gd name="f7" fmla="*/ 5419351 1 1725033"/>
              <a:gd name="f8" fmla="*/ 10800 10800 1"/>
              <a:gd name="f9" fmla="+- 0 0 360"/>
              <a:gd name="f10" fmla="val 10800"/>
              <a:gd name="f11" fmla="+- 0 0 0"/>
              <a:gd name="f12" fmla="*/ f3 1 21600"/>
              <a:gd name="f13" fmla="*/ f4 1 21600"/>
              <a:gd name="f14" fmla="*/ 0 f7 1"/>
              <a:gd name="f15" fmla="*/ f5 f0 1"/>
              <a:gd name="f16" fmla="*/ f9 f0 1"/>
              <a:gd name="f17" fmla="+- f6 0 f5"/>
              <a:gd name="f18" fmla="*/ f11 f0 1"/>
              <a:gd name="f19" fmla="*/ f14 1 f2"/>
              <a:gd name="f20" fmla="*/ f15 1 f2"/>
              <a:gd name="f21" fmla="*/ f16 1 f2"/>
              <a:gd name="f22" fmla="*/ f17 1 21600"/>
              <a:gd name="f23" fmla="*/ f18 1 f2"/>
              <a:gd name="f24" fmla="+- 0 0 f19"/>
              <a:gd name="f25" fmla="+- f20 0 f1"/>
              <a:gd name="f26" fmla="+- f21 0 f1"/>
              <a:gd name="f27" fmla="*/ 3163 f22 1"/>
              <a:gd name="f28" fmla="*/ 18437 f22 1"/>
              <a:gd name="f29" fmla="*/ 10800 f22 1"/>
              <a:gd name="f30" fmla="*/ 0 f22 1"/>
              <a:gd name="f31" fmla="*/ 21600 f22 1"/>
              <a:gd name="f32" fmla="+- f23 0 f1"/>
              <a:gd name="f33" fmla="*/ f24 f0 1"/>
              <a:gd name="f34" fmla="+- f26 0 f25"/>
              <a:gd name="f35" fmla="*/ f29 1 f22"/>
              <a:gd name="f36" fmla="*/ f30 1 f22"/>
              <a:gd name="f37" fmla="*/ f27 1 f22"/>
              <a:gd name="f38" fmla="*/ f28 1 f22"/>
              <a:gd name="f39" fmla="*/ f31 1 f22"/>
              <a:gd name="f40" fmla="*/ f33 1 f7"/>
              <a:gd name="f41" fmla="*/ f37 f12 1"/>
              <a:gd name="f42" fmla="*/ f38 f12 1"/>
              <a:gd name="f43" fmla="*/ f38 f13 1"/>
              <a:gd name="f44" fmla="*/ f37 f13 1"/>
              <a:gd name="f45" fmla="*/ f35 f12 1"/>
              <a:gd name="f46" fmla="*/ f36 f13 1"/>
              <a:gd name="f47" fmla="*/ f36 f12 1"/>
              <a:gd name="f48" fmla="*/ f35 f13 1"/>
              <a:gd name="f49" fmla="*/ f39 f13 1"/>
              <a:gd name="f50" fmla="*/ f39 f12 1"/>
              <a:gd name="f51" fmla="+- f40 0 f1"/>
              <a:gd name="f52" fmla="+- f51 f1 0"/>
              <a:gd name="f53" fmla="*/ f52 f7 1"/>
              <a:gd name="f54" fmla="*/ f53 1 f0"/>
              <a:gd name="f55" fmla="+- 0 0 f54"/>
              <a:gd name="f56" fmla="+- 0 0 f55"/>
              <a:gd name="f57" fmla="*/ f56 f0 1"/>
              <a:gd name="f58" fmla="*/ f57 1 f7"/>
              <a:gd name="f59" fmla="+- f58 0 f1"/>
              <a:gd name="f60" fmla="cos 1 f59"/>
              <a:gd name="f61" fmla="sin 1 f59"/>
              <a:gd name="f62" fmla="+- 0 0 f60"/>
              <a:gd name="f63" fmla="+- 0 0 f61"/>
              <a:gd name="f64" fmla="+- 0 0 f62"/>
              <a:gd name="f65" fmla="+- 0 0 f63"/>
              <a:gd name="f66" fmla="val f64"/>
              <a:gd name="f67" fmla="val f65"/>
              <a:gd name="f68" fmla="+- 0 0 f66"/>
              <a:gd name="f69" fmla="+- 0 0 f67"/>
              <a:gd name="f70" fmla="*/ 10800 f68 1"/>
              <a:gd name="f71" fmla="*/ 10800 f69 1"/>
              <a:gd name="f72" fmla="*/ f70 f70 1"/>
              <a:gd name="f73" fmla="*/ f71 f71 1"/>
              <a:gd name="f74" fmla="+- f72 f73 0"/>
              <a:gd name="f75" fmla="sqrt f74"/>
              <a:gd name="f76" fmla="*/ f8 1 f75"/>
              <a:gd name="f77" fmla="*/ f68 f76 1"/>
              <a:gd name="f78" fmla="*/ f69 f76 1"/>
              <a:gd name="f79" fmla="+- 10800 0 f77"/>
              <a:gd name="f80" fmla="+- 10800 0 f78"/>
            </a:gdLst>
            <a:ahLst/>
            <a:cxnLst>
              <a:cxn ang="3cd4">
                <a:pos x="hc" y="t"/>
              </a:cxn>
              <a:cxn ang="0">
                <a:pos x="r" y="vc"/>
              </a:cxn>
              <a:cxn ang="cd4">
                <a:pos x="hc" y="b"/>
              </a:cxn>
              <a:cxn ang="cd2">
                <a:pos x="l" y="vc"/>
              </a:cxn>
              <a:cxn ang="f32">
                <a:pos x="f45" y="f46"/>
              </a:cxn>
              <a:cxn ang="f32">
                <a:pos x="f41" y="f44"/>
              </a:cxn>
              <a:cxn ang="f32">
                <a:pos x="f47" y="f48"/>
              </a:cxn>
              <a:cxn ang="f32">
                <a:pos x="f41" y="f43"/>
              </a:cxn>
              <a:cxn ang="f32">
                <a:pos x="f45" y="f49"/>
              </a:cxn>
              <a:cxn ang="f32">
                <a:pos x="f42" y="f43"/>
              </a:cxn>
              <a:cxn ang="f32">
                <a:pos x="f50" y="f48"/>
              </a:cxn>
              <a:cxn ang="f32">
                <a:pos x="f42" y="f44"/>
              </a:cxn>
            </a:cxnLst>
            <a:rect l="f41" t="f44" r="f42" b="f43"/>
            <a:pathLst>
              <a:path w="21600" h="21600">
                <a:moveTo>
                  <a:pt x="f79" y="f80"/>
                </a:moveTo>
                <a:arcTo wR="f10" hR="f10" stAng="f25" swAng="f34"/>
                <a:close/>
              </a:path>
            </a:pathLst>
          </a:custGeom>
          <a:solidFill>
            <a:srgbClr val="FFFFFF"/>
          </a:solidFill>
          <a:ln w="12600" cap="flat">
            <a:solidFill>
              <a:srgbClr val="BCBCBC"/>
            </a:solidFill>
            <a:prstDash val="solid"/>
            <a:miter/>
          </a:ln>
        </p:spPr>
        <p:txBody>
          <a:bodyPr vert="horz" wrap="square" lIns="90004" tIns="46798" rIns="90004" bIns="46798" anchor="ctr" anchorCtr="0" compatLnSpc="1">
            <a:no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IN" sz="2400" b="0" i="0" u="none" strike="noStrike" kern="1200" cap="none" spc="0" baseline="0">
              <a:solidFill>
                <a:srgbClr val="000000"/>
              </a:solidFill>
              <a:uFillTx/>
              <a:latin typeface="Times New Roman" pitchFamily="18"/>
              <a:ea typeface="Microsoft YaHei" pitchFamily="2"/>
              <a:cs typeface="Lucida Sans" pitchFamily="2"/>
            </a:endParaRPr>
          </a:p>
        </p:txBody>
      </p:sp>
      <p:pic>
        <p:nvPicPr>
          <p:cNvPr id="9" name="Picture 10" descr="A picture containing text, sign, watch&#10;&#10;Description automatically generated">
            <a:extLst>
              <a:ext uri="{FF2B5EF4-FFF2-40B4-BE49-F238E27FC236}">
                <a16:creationId xmlns:a16="http://schemas.microsoft.com/office/drawing/2014/main" id="{D3EAC155-9D7D-4454-AF3C-C9B1622F5B98}"/>
              </a:ext>
            </a:extLst>
          </p:cNvPr>
          <p:cNvPicPr>
            <a:picLocks noChangeAspect="1"/>
          </p:cNvPicPr>
          <p:nvPr/>
        </p:nvPicPr>
        <p:blipFill>
          <a:blip r:embed="rId4">
            <a:lum/>
            <a:alphaModFix/>
          </a:blip>
          <a:srcRect/>
          <a:stretch>
            <a:fillRect/>
          </a:stretch>
        </p:blipFill>
        <p:spPr>
          <a:xfrm>
            <a:off x="8381875" y="47521"/>
            <a:ext cx="731876" cy="714603"/>
          </a:xfrm>
          <a:prstGeom prst="rect">
            <a:avLst/>
          </a:prstGeom>
          <a:noFill/>
          <a:ln cap="flat">
            <a:noFill/>
          </a:ln>
        </p:spPr>
      </p:pic>
      <p:sp>
        <p:nvSpPr>
          <p:cNvPr id="10" name="TextBox 9">
            <a:extLst>
              <a:ext uri="{FF2B5EF4-FFF2-40B4-BE49-F238E27FC236}">
                <a16:creationId xmlns:a16="http://schemas.microsoft.com/office/drawing/2014/main" id="{79640BE4-7543-4A6F-9901-16FD013E91F0}"/>
              </a:ext>
            </a:extLst>
          </p:cNvPr>
          <p:cNvSpPr txBox="1"/>
          <p:nvPr/>
        </p:nvSpPr>
        <p:spPr>
          <a:xfrm>
            <a:off x="182891" y="963017"/>
            <a:ext cx="8778216" cy="5501763"/>
          </a:xfrm>
          <a:prstGeom prst="rect">
            <a:avLst/>
          </a:prstGeom>
          <a:noFill/>
        </p:spPr>
        <p:txBody>
          <a:bodyPr wrap="square" rtlCol="0">
            <a:spAutoFit/>
          </a:bodyPr>
          <a:lstStyle/>
          <a:p>
            <a:pPr algn="just"/>
            <a:r>
              <a:rPr lang="en-IN" b="1" u="sng" dirty="0"/>
              <a:t>Social impacts :</a:t>
            </a:r>
          </a:p>
          <a:p>
            <a:pPr algn="just">
              <a:lnSpc>
                <a:spcPct val="150000"/>
              </a:lnSpc>
              <a:buFont typeface="+mj-lt"/>
              <a:buAutoNum type="arabicPeriod"/>
            </a:pPr>
            <a:r>
              <a:rPr lang="en-IN" sz="1600" b="1" i="0" dirty="0">
                <a:effectLst/>
              </a:rPr>
              <a:t> Early detection and prevention: </a:t>
            </a:r>
            <a:r>
              <a:rPr lang="en-IN" sz="1600" b="0" i="0" dirty="0">
                <a:effectLst/>
              </a:rPr>
              <a:t>By using heart disease prediction models, individuals at high risk of developing heart disease can be identified early, allowing for appropriate interventions and preventive measures. </a:t>
            </a:r>
          </a:p>
          <a:p>
            <a:pPr algn="just">
              <a:lnSpc>
                <a:spcPct val="150000"/>
              </a:lnSpc>
            </a:pPr>
            <a:endParaRPr lang="en-IN" sz="1600" b="0" i="0" dirty="0">
              <a:effectLst/>
            </a:endParaRPr>
          </a:p>
          <a:p>
            <a:pPr algn="just">
              <a:lnSpc>
                <a:spcPct val="150000"/>
              </a:lnSpc>
              <a:buFont typeface="+mj-lt"/>
              <a:buAutoNum type="arabicPeriod"/>
            </a:pPr>
            <a:r>
              <a:rPr lang="en-IN" sz="1600" b="1" i="0" dirty="0">
                <a:effectLst/>
              </a:rPr>
              <a:t>Improved access to healthcare: </a:t>
            </a:r>
            <a:r>
              <a:rPr lang="en-IN" sz="1600" b="0" i="0" dirty="0">
                <a:effectLst/>
              </a:rPr>
              <a:t>Heart disease prediction models can be used to target at-risk populations and ensure that they have access to appropriate healthcare services. </a:t>
            </a:r>
          </a:p>
          <a:p>
            <a:pPr algn="just">
              <a:lnSpc>
                <a:spcPct val="150000"/>
              </a:lnSpc>
              <a:buFont typeface="+mj-lt"/>
              <a:buAutoNum type="arabicPeriod"/>
            </a:pPr>
            <a:endParaRPr lang="en-IN" sz="1600" dirty="0"/>
          </a:p>
          <a:p>
            <a:pPr algn="just">
              <a:lnSpc>
                <a:spcPct val="150000"/>
              </a:lnSpc>
              <a:buFont typeface="+mj-lt"/>
              <a:buAutoNum type="arabicPeriod"/>
            </a:pPr>
            <a:r>
              <a:rPr lang="en-IN" sz="1600" b="1" i="0" dirty="0">
                <a:effectLst/>
              </a:rPr>
              <a:t>Increased awareness and education: </a:t>
            </a:r>
            <a:r>
              <a:rPr lang="en-IN" sz="1600" b="0" i="0" dirty="0">
                <a:effectLst/>
              </a:rPr>
              <a:t>The use of heart disease prediction models can increase public awareness of heart disease risk factors and encourage individuals to adopt healthier lifestyles. </a:t>
            </a:r>
          </a:p>
          <a:p>
            <a:pPr algn="just">
              <a:lnSpc>
                <a:spcPct val="150000"/>
              </a:lnSpc>
              <a:buFont typeface="+mj-lt"/>
              <a:buAutoNum type="arabicPeriod"/>
            </a:pPr>
            <a:endParaRPr lang="en-IN" sz="1600" dirty="0"/>
          </a:p>
          <a:p>
            <a:pPr algn="just">
              <a:lnSpc>
                <a:spcPct val="150000"/>
              </a:lnSpc>
              <a:buFont typeface="+mj-lt"/>
              <a:buAutoNum type="arabicPeriod"/>
            </a:pPr>
            <a:r>
              <a:rPr lang="en-IN" sz="1600" b="1" i="0" dirty="0">
                <a:effectLst/>
              </a:rPr>
              <a:t> Reduced healthcare costs: </a:t>
            </a:r>
            <a:r>
              <a:rPr lang="en-IN" sz="1600" b="0" i="0" dirty="0">
                <a:effectLst/>
              </a:rPr>
              <a:t>Early detection and prevention of heart disease can help to reduce healthcare costs by avoiding costly interventions such as surgery, hospitalizations, and medications. </a:t>
            </a:r>
          </a:p>
          <a:p>
            <a:pPr algn="just">
              <a:lnSpc>
                <a:spcPct val="150000"/>
              </a:lnSpc>
              <a:buFont typeface="+mj-lt"/>
              <a:buAutoNum type="arabicPeriod"/>
            </a:pPr>
            <a:endParaRPr lang="en-IN" sz="1600" b="0" i="0" dirty="0">
              <a:effectLst/>
            </a:endParaRPr>
          </a:p>
          <a:p>
            <a:pPr algn="just">
              <a:lnSpc>
                <a:spcPct val="150000"/>
              </a:lnSpc>
              <a:buFont typeface="+mj-lt"/>
              <a:buAutoNum type="arabicPeriod"/>
            </a:pPr>
            <a:endParaRPr lang="en-IN" sz="1600" dirty="0"/>
          </a:p>
        </p:txBody>
      </p:sp>
    </p:spTree>
    <p:extLst>
      <p:ext uri="{BB962C8B-B14F-4D97-AF65-F5344CB8AC3E}">
        <p14:creationId xmlns:p14="http://schemas.microsoft.com/office/powerpoint/2010/main" val="36585741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8D4669DB-FB9D-493D-B0D9-33EFC82790DE}"/>
              </a:ext>
            </a:extLst>
          </p:cNvPr>
          <p:cNvPicPr>
            <a:picLocks noChangeAspect="1"/>
          </p:cNvPicPr>
          <p:nvPr/>
        </p:nvPicPr>
        <p:blipFill>
          <a:blip r:embed="rId3">
            <a:lum/>
            <a:alphaModFix/>
          </a:blip>
          <a:srcRect/>
          <a:stretch>
            <a:fillRect/>
          </a:stretch>
        </p:blipFill>
        <p:spPr>
          <a:xfrm>
            <a:off x="0" y="6553084"/>
            <a:ext cx="9144000" cy="308161"/>
          </a:xfrm>
          <a:prstGeom prst="rect">
            <a:avLst/>
          </a:prstGeom>
          <a:noFill/>
          <a:ln cap="flat">
            <a:noFill/>
          </a:ln>
        </p:spPr>
      </p:pic>
      <p:sp>
        <p:nvSpPr>
          <p:cNvPr id="3" name="Text Box 4">
            <a:extLst>
              <a:ext uri="{FF2B5EF4-FFF2-40B4-BE49-F238E27FC236}">
                <a16:creationId xmlns:a16="http://schemas.microsoft.com/office/drawing/2014/main" id="{6F8CE000-001B-477B-AEB1-7B2DF82125E0}"/>
              </a:ext>
            </a:extLst>
          </p:cNvPr>
          <p:cNvSpPr/>
          <p:nvPr/>
        </p:nvSpPr>
        <p:spPr>
          <a:xfrm>
            <a:off x="2299322" y="6550203"/>
            <a:ext cx="4545363" cy="307082"/>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a:effectLst>
            <a:outerShdw dist="17819" dir="2700000" algn="tl">
              <a:srgbClr val="000000"/>
            </a:outerShdw>
          </a:effectLst>
        </p:spPr>
        <p:txBody>
          <a:bodyPr vert="horz" wrap="non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1400" b="1" i="0" u="none" strike="noStrike" kern="1200" cap="none" spc="0" baseline="0">
                <a:solidFill>
                  <a:srgbClr val="47FFD1"/>
                </a:solidFill>
                <a:uFillTx/>
                <a:latin typeface="Comic Sans MS" pitchFamily="66"/>
                <a:ea typeface="Microsoft YaHei" pitchFamily="2"/>
                <a:cs typeface="Lucida Sans" pitchFamily="2"/>
              </a:rPr>
              <a:t>Department of Computer Science and Engineering</a:t>
            </a:r>
          </a:p>
        </p:txBody>
      </p:sp>
      <p:pic>
        <p:nvPicPr>
          <p:cNvPr id="4" name="Picture 2">
            <a:extLst>
              <a:ext uri="{FF2B5EF4-FFF2-40B4-BE49-F238E27FC236}">
                <a16:creationId xmlns:a16="http://schemas.microsoft.com/office/drawing/2014/main" id="{EFEADD32-D603-4B11-8D98-E7FD48C6130F}"/>
              </a:ext>
            </a:extLst>
          </p:cNvPr>
          <p:cNvPicPr>
            <a:picLocks noChangeAspect="1"/>
          </p:cNvPicPr>
          <p:nvPr/>
        </p:nvPicPr>
        <p:blipFill>
          <a:blip r:embed="rId3">
            <a:lum/>
            <a:alphaModFix/>
          </a:blip>
          <a:srcRect/>
          <a:stretch>
            <a:fillRect/>
          </a:stretch>
        </p:blipFill>
        <p:spPr>
          <a:xfrm>
            <a:off x="0" y="0"/>
            <a:ext cx="9144000" cy="609484"/>
          </a:xfrm>
          <a:prstGeom prst="rect">
            <a:avLst/>
          </a:prstGeom>
          <a:noFill/>
          <a:ln cap="flat">
            <a:noFill/>
          </a:ln>
        </p:spPr>
      </p:pic>
      <p:sp>
        <p:nvSpPr>
          <p:cNvPr id="5" name="Rectangle: Rounded Corners 3">
            <a:extLst>
              <a:ext uri="{FF2B5EF4-FFF2-40B4-BE49-F238E27FC236}">
                <a16:creationId xmlns:a16="http://schemas.microsoft.com/office/drawing/2014/main" id="{6BBED2D9-BCDF-4E94-8182-A159447629CE}"/>
              </a:ext>
            </a:extLst>
          </p:cNvPr>
          <p:cNvSpPr/>
          <p:nvPr/>
        </p:nvSpPr>
        <p:spPr>
          <a:xfrm>
            <a:off x="8550362" y="6553084"/>
            <a:ext cx="593637" cy="306360"/>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0066"/>
          </a:solidFill>
          <a:ln w="12600" cap="flat">
            <a:solidFill>
              <a:srgbClr val="000000"/>
            </a:solidFill>
            <a:prstDash val="solid"/>
            <a:miter/>
          </a:ln>
        </p:spPr>
        <p:txBody>
          <a:bodyPr vert="horz" wrap="square" lIns="90004" tIns="46798" rIns="90004" bIns="46798" anchor="ctr" anchorCtr="1" compatLnSpc="1">
            <a:normAutofit fontScale="92500" lnSpcReduction="20000"/>
          </a:bodyPr>
          <a:lstStyle/>
          <a:p>
            <a:pPr marL="0" marR="0" lvl="0" indent="0" algn="ctr" defTabSz="914400" rtl="0" fontAlgn="auto" hangingPunct="1">
              <a:lnSpc>
                <a:spcPct val="8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AB8CC7BD-5D93-4C0A-AAD8-B765ACB170F4}" type="slidenum">
              <a:t>42</a:t>
            </a:fld>
            <a:endParaRPr lang="en-US" sz="1400" b="1" i="0" u="none" strike="noStrike" kern="1200" cap="none" spc="0" baseline="0">
              <a:solidFill>
                <a:srgbClr val="FFFFFF"/>
              </a:solidFill>
              <a:uFillTx/>
              <a:latin typeface="Comic Sans MS" pitchFamily="66"/>
              <a:ea typeface="Microsoft YaHei" pitchFamily="2"/>
              <a:cs typeface="Lucida Sans" pitchFamily="2"/>
            </a:endParaRPr>
          </a:p>
        </p:txBody>
      </p:sp>
      <p:sp>
        <p:nvSpPr>
          <p:cNvPr id="6" name="Date Placeholder 7">
            <a:extLst>
              <a:ext uri="{FF2B5EF4-FFF2-40B4-BE49-F238E27FC236}">
                <a16:creationId xmlns:a16="http://schemas.microsoft.com/office/drawing/2014/main" id="{D0C2D5F8-2A4E-45AD-9E19-29D2B63406A3}"/>
              </a:ext>
            </a:extLst>
          </p:cNvPr>
          <p:cNvSpPr/>
          <p:nvPr/>
        </p:nvSpPr>
        <p:spPr>
          <a:xfrm>
            <a:off x="0" y="6564239"/>
            <a:ext cx="1447915" cy="41291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norm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5E5B1732-3D3F-4E1A-AD91-1223FC4CF4BB}" type="datetime1">
              <a:rPr lang="en-US" sz="1400" b="1" i="0" u="none" strike="noStrike" kern="1200" cap="none" spc="0" baseline="0">
                <a:solidFill>
                  <a:srgbClr val="FF0066"/>
                </a:solidFill>
                <a:uFillTx/>
                <a:latin typeface="Arial Rounded MT Bold" pitchFamily="34"/>
                <a:ea typeface="Microsoft YaHei" pitchFamily="2"/>
                <a:cs typeface="Lucida Sans" pitchFamily="2"/>
              </a:rPr>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t>4/18/2023</a:t>
            </a:fld>
            <a:endParaRPr lang="en-US" sz="1400" b="1" i="0" u="none" strike="noStrike" kern="1200" cap="none" spc="0" baseline="0">
              <a:solidFill>
                <a:srgbClr val="FF0066"/>
              </a:solidFill>
              <a:uFillTx/>
              <a:latin typeface="Arial Rounded MT Bold" pitchFamily="34"/>
              <a:ea typeface="Microsoft YaHei" pitchFamily="2"/>
              <a:cs typeface="Lucida Sans" pitchFamily="2"/>
            </a:endParaRPr>
          </a:p>
        </p:txBody>
      </p:sp>
      <p:sp>
        <p:nvSpPr>
          <p:cNvPr id="7" name="TextBox 8">
            <a:extLst>
              <a:ext uri="{FF2B5EF4-FFF2-40B4-BE49-F238E27FC236}">
                <a16:creationId xmlns:a16="http://schemas.microsoft.com/office/drawing/2014/main" id="{9BE241AC-2867-401B-8952-98D39C4F5A63}"/>
              </a:ext>
            </a:extLst>
          </p:cNvPr>
          <p:cNvSpPr/>
          <p:nvPr/>
        </p:nvSpPr>
        <p:spPr>
          <a:xfrm>
            <a:off x="919081" y="0"/>
            <a:ext cx="7305836" cy="47483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500" b="1" i="0" u="none" strike="noStrike" kern="1200" cap="none" spc="0" baseline="0">
                <a:solidFill>
                  <a:srgbClr val="47FFD1"/>
                </a:solidFill>
                <a:uFillTx/>
                <a:latin typeface="Comic Sans MS" pitchFamily="66"/>
                <a:ea typeface="Microsoft YaHei" pitchFamily="2"/>
                <a:cs typeface="Lucida Sans" pitchFamily="2"/>
              </a:rPr>
              <a:t>Mepco Schlenk Engineering College </a:t>
            </a:r>
            <a:r>
              <a:rPr lang="en-US" sz="1800" b="1" i="0" u="none" strike="noStrike" kern="1200" cap="none" spc="0" baseline="0">
                <a:solidFill>
                  <a:srgbClr val="47FFD1"/>
                </a:solidFill>
                <a:uFillTx/>
                <a:latin typeface="Comic Sans MS" pitchFamily="66"/>
                <a:ea typeface="Microsoft YaHei" pitchFamily="2"/>
                <a:cs typeface="Lucida Sans" pitchFamily="2"/>
              </a:rPr>
              <a:t>(Autonomous)</a:t>
            </a:r>
          </a:p>
        </p:txBody>
      </p:sp>
      <p:sp>
        <p:nvSpPr>
          <p:cNvPr id="8" name="Oval 11">
            <a:extLst>
              <a:ext uri="{FF2B5EF4-FFF2-40B4-BE49-F238E27FC236}">
                <a16:creationId xmlns:a16="http://schemas.microsoft.com/office/drawing/2014/main" id="{E67FA03A-95C6-4908-B4C7-A0B37595DAFE}"/>
              </a:ext>
            </a:extLst>
          </p:cNvPr>
          <p:cNvSpPr/>
          <p:nvPr/>
        </p:nvSpPr>
        <p:spPr>
          <a:xfrm>
            <a:off x="8354881" y="20519"/>
            <a:ext cx="777962" cy="777962"/>
          </a:xfrm>
          <a:custGeom>
            <a:avLst/>
            <a:gdLst>
              <a:gd name="f0" fmla="val 10800000"/>
              <a:gd name="f1" fmla="val 5400000"/>
              <a:gd name="f2" fmla="val 180"/>
              <a:gd name="f3" fmla="val w"/>
              <a:gd name="f4" fmla="val h"/>
              <a:gd name="f5" fmla="val 0"/>
              <a:gd name="f6" fmla="val 21600"/>
              <a:gd name="f7" fmla="*/ 5419351 1 1725033"/>
              <a:gd name="f8" fmla="*/ 10800 10800 1"/>
              <a:gd name="f9" fmla="+- 0 0 360"/>
              <a:gd name="f10" fmla="val 10800"/>
              <a:gd name="f11" fmla="+- 0 0 0"/>
              <a:gd name="f12" fmla="*/ f3 1 21600"/>
              <a:gd name="f13" fmla="*/ f4 1 21600"/>
              <a:gd name="f14" fmla="*/ 0 f7 1"/>
              <a:gd name="f15" fmla="*/ f5 f0 1"/>
              <a:gd name="f16" fmla="*/ f9 f0 1"/>
              <a:gd name="f17" fmla="+- f6 0 f5"/>
              <a:gd name="f18" fmla="*/ f11 f0 1"/>
              <a:gd name="f19" fmla="*/ f14 1 f2"/>
              <a:gd name="f20" fmla="*/ f15 1 f2"/>
              <a:gd name="f21" fmla="*/ f16 1 f2"/>
              <a:gd name="f22" fmla="*/ f17 1 21600"/>
              <a:gd name="f23" fmla="*/ f18 1 f2"/>
              <a:gd name="f24" fmla="+- 0 0 f19"/>
              <a:gd name="f25" fmla="+- f20 0 f1"/>
              <a:gd name="f26" fmla="+- f21 0 f1"/>
              <a:gd name="f27" fmla="*/ 3163 f22 1"/>
              <a:gd name="f28" fmla="*/ 18437 f22 1"/>
              <a:gd name="f29" fmla="*/ 10800 f22 1"/>
              <a:gd name="f30" fmla="*/ 0 f22 1"/>
              <a:gd name="f31" fmla="*/ 21600 f22 1"/>
              <a:gd name="f32" fmla="+- f23 0 f1"/>
              <a:gd name="f33" fmla="*/ f24 f0 1"/>
              <a:gd name="f34" fmla="+- f26 0 f25"/>
              <a:gd name="f35" fmla="*/ f29 1 f22"/>
              <a:gd name="f36" fmla="*/ f30 1 f22"/>
              <a:gd name="f37" fmla="*/ f27 1 f22"/>
              <a:gd name="f38" fmla="*/ f28 1 f22"/>
              <a:gd name="f39" fmla="*/ f31 1 f22"/>
              <a:gd name="f40" fmla="*/ f33 1 f7"/>
              <a:gd name="f41" fmla="*/ f37 f12 1"/>
              <a:gd name="f42" fmla="*/ f38 f12 1"/>
              <a:gd name="f43" fmla="*/ f38 f13 1"/>
              <a:gd name="f44" fmla="*/ f37 f13 1"/>
              <a:gd name="f45" fmla="*/ f35 f12 1"/>
              <a:gd name="f46" fmla="*/ f36 f13 1"/>
              <a:gd name="f47" fmla="*/ f36 f12 1"/>
              <a:gd name="f48" fmla="*/ f35 f13 1"/>
              <a:gd name="f49" fmla="*/ f39 f13 1"/>
              <a:gd name="f50" fmla="*/ f39 f12 1"/>
              <a:gd name="f51" fmla="+- f40 0 f1"/>
              <a:gd name="f52" fmla="+- f51 f1 0"/>
              <a:gd name="f53" fmla="*/ f52 f7 1"/>
              <a:gd name="f54" fmla="*/ f53 1 f0"/>
              <a:gd name="f55" fmla="+- 0 0 f54"/>
              <a:gd name="f56" fmla="+- 0 0 f55"/>
              <a:gd name="f57" fmla="*/ f56 f0 1"/>
              <a:gd name="f58" fmla="*/ f57 1 f7"/>
              <a:gd name="f59" fmla="+- f58 0 f1"/>
              <a:gd name="f60" fmla="cos 1 f59"/>
              <a:gd name="f61" fmla="sin 1 f59"/>
              <a:gd name="f62" fmla="+- 0 0 f60"/>
              <a:gd name="f63" fmla="+- 0 0 f61"/>
              <a:gd name="f64" fmla="+- 0 0 f62"/>
              <a:gd name="f65" fmla="+- 0 0 f63"/>
              <a:gd name="f66" fmla="val f64"/>
              <a:gd name="f67" fmla="val f65"/>
              <a:gd name="f68" fmla="+- 0 0 f66"/>
              <a:gd name="f69" fmla="+- 0 0 f67"/>
              <a:gd name="f70" fmla="*/ 10800 f68 1"/>
              <a:gd name="f71" fmla="*/ 10800 f69 1"/>
              <a:gd name="f72" fmla="*/ f70 f70 1"/>
              <a:gd name="f73" fmla="*/ f71 f71 1"/>
              <a:gd name="f74" fmla="+- f72 f73 0"/>
              <a:gd name="f75" fmla="sqrt f74"/>
              <a:gd name="f76" fmla="*/ f8 1 f75"/>
              <a:gd name="f77" fmla="*/ f68 f76 1"/>
              <a:gd name="f78" fmla="*/ f69 f76 1"/>
              <a:gd name="f79" fmla="+- 10800 0 f77"/>
              <a:gd name="f80" fmla="+- 10800 0 f78"/>
            </a:gdLst>
            <a:ahLst/>
            <a:cxnLst>
              <a:cxn ang="3cd4">
                <a:pos x="hc" y="t"/>
              </a:cxn>
              <a:cxn ang="0">
                <a:pos x="r" y="vc"/>
              </a:cxn>
              <a:cxn ang="cd4">
                <a:pos x="hc" y="b"/>
              </a:cxn>
              <a:cxn ang="cd2">
                <a:pos x="l" y="vc"/>
              </a:cxn>
              <a:cxn ang="f32">
                <a:pos x="f45" y="f46"/>
              </a:cxn>
              <a:cxn ang="f32">
                <a:pos x="f41" y="f44"/>
              </a:cxn>
              <a:cxn ang="f32">
                <a:pos x="f47" y="f48"/>
              </a:cxn>
              <a:cxn ang="f32">
                <a:pos x="f41" y="f43"/>
              </a:cxn>
              <a:cxn ang="f32">
                <a:pos x="f45" y="f49"/>
              </a:cxn>
              <a:cxn ang="f32">
                <a:pos x="f42" y="f43"/>
              </a:cxn>
              <a:cxn ang="f32">
                <a:pos x="f50" y="f48"/>
              </a:cxn>
              <a:cxn ang="f32">
                <a:pos x="f42" y="f44"/>
              </a:cxn>
            </a:cxnLst>
            <a:rect l="f41" t="f44" r="f42" b="f43"/>
            <a:pathLst>
              <a:path w="21600" h="21600">
                <a:moveTo>
                  <a:pt x="f79" y="f80"/>
                </a:moveTo>
                <a:arcTo wR="f10" hR="f10" stAng="f25" swAng="f34"/>
                <a:close/>
              </a:path>
            </a:pathLst>
          </a:custGeom>
          <a:solidFill>
            <a:srgbClr val="FFFFFF"/>
          </a:solidFill>
          <a:ln w="12600" cap="flat">
            <a:solidFill>
              <a:srgbClr val="BCBCBC"/>
            </a:solidFill>
            <a:prstDash val="solid"/>
            <a:miter/>
          </a:ln>
        </p:spPr>
        <p:txBody>
          <a:bodyPr vert="horz" wrap="square" lIns="90004" tIns="46798" rIns="90004" bIns="46798" anchor="ctr" anchorCtr="0" compatLnSpc="1">
            <a:no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IN" sz="2400" b="0" i="0" u="none" strike="noStrike" kern="1200" cap="none" spc="0" baseline="0">
              <a:solidFill>
                <a:srgbClr val="000000"/>
              </a:solidFill>
              <a:uFillTx/>
              <a:latin typeface="Times New Roman" pitchFamily="18"/>
              <a:ea typeface="Microsoft YaHei" pitchFamily="2"/>
              <a:cs typeface="Lucida Sans" pitchFamily="2"/>
            </a:endParaRPr>
          </a:p>
        </p:txBody>
      </p:sp>
      <p:pic>
        <p:nvPicPr>
          <p:cNvPr id="9" name="Picture 10" descr="A picture containing text, sign, watch&#10;&#10;Description automatically generated">
            <a:extLst>
              <a:ext uri="{FF2B5EF4-FFF2-40B4-BE49-F238E27FC236}">
                <a16:creationId xmlns:a16="http://schemas.microsoft.com/office/drawing/2014/main" id="{D3EAC155-9D7D-4454-AF3C-C9B1622F5B98}"/>
              </a:ext>
            </a:extLst>
          </p:cNvPr>
          <p:cNvPicPr>
            <a:picLocks noChangeAspect="1"/>
          </p:cNvPicPr>
          <p:nvPr/>
        </p:nvPicPr>
        <p:blipFill>
          <a:blip r:embed="rId4">
            <a:lum/>
            <a:alphaModFix/>
          </a:blip>
          <a:srcRect/>
          <a:stretch>
            <a:fillRect/>
          </a:stretch>
        </p:blipFill>
        <p:spPr>
          <a:xfrm>
            <a:off x="8381875" y="47521"/>
            <a:ext cx="731876" cy="714603"/>
          </a:xfrm>
          <a:prstGeom prst="rect">
            <a:avLst/>
          </a:prstGeom>
          <a:noFill/>
          <a:ln cap="flat">
            <a:noFill/>
          </a:ln>
        </p:spPr>
      </p:pic>
      <p:sp>
        <p:nvSpPr>
          <p:cNvPr id="12" name="TextBox 11">
            <a:extLst>
              <a:ext uri="{FF2B5EF4-FFF2-40B4-BE49-F238E27FC236}">
                <a16:creationId xmlns:a16="http://schemas.microsoft.com/office/drawing/2014/main" id="{040FED38-3EEA-4C0F-94E9-117E458C7D84}"/>
              </a:ext>
            </a:extLst>
          </p:cNvPr>
          <p:cNvSpPr txBox="1"/>
          <p:nvPr/>
        </p:nvSpPr>
        <p:spPr>
          <a:xfrm>
            <a:off x="234081" y="924423"/>
            <a:ext cx="8415672" cy="5270930"/>
          </a:xfrm>
          <a:prstGeom prst="rect">
            <a:avLst/>
          </a:prstGeom>
          <a:noFill/>
        </p:spPr>
        <p:txBody>
          <a:bodyPr wrap="square">
            <a:spAutoFit/>
          </a:bodyPr>
          <a:lstStyle/>
          <a:p>
            <a:pPr algn="l">
              <a:lnSpc>
                <a:spcPct val="150000"/>
              </a:lnSpc>
            </a:pPr>
            <a:r>
              <a:rPr lang="en-IN" b="1" i="0" u="sng" dirty="0">
                <a:effectLst/>
              </a:rPr>
              <a:t>Economical </a:t>
            </a:r>
            <a:r>
              <a:rPr lang="en-IN" b="1" u="sng" dirty="0"/>
              <a:t>aspects</a:t>
            </a:r>
            <a:r>
              <a:rPr lang="en-IN" b="1" i="0" u="sng" dirty="0">
                <a:effectLst/>
              </a:rPr>
              <a:t>:</a:t>
            </a:r>
          </a:p>
          <a:p>
            <a:pPr algn="l">
              <a:lnSpc>
                <a:spcPct val="150000"/>
              </a:lnSpc>
              <a:buFont typeface="+mj-lt"/>
              <a:buAutoNum type="arabicPeriod"/>
            </a:pPr>
            <a:r>
              <a:rPr lang="en-IN" sz="1600" b="1" i="0" dirty="0">
                <a:effectLst/>
              </a:rPr>
              <a:t>Cost savings: </a:t>
            </a:r>
            <a:r>
              <a:rPr lang="en-IN" sz="1600" b="0" i="0" dirty="0">
                <a:effectLst/>
              </a:rPr>
              <a:t>Early detection and intervention may also reduce the need for ongoing medical treatment, leading to long-term cost savings.</a:t>
            </a:r>
          </a:p>
          <a:p>
            <a:pPr algn="l">
              <a:lnSpc>
                <a:spcPct val="150000"/>
              </a:lnSpc>
              <a:buFont typeface="+mj-lt"/>
              <a:buAutoNum type="arabicPeriod"/>
            </a:pPr>
            <a:endParaRPr lang="en-IN" sz="1600" b="0" i="0" dirty="0">
              <a:effectLst/>
            </a:endParaRPr>
          </a:p>
          <a:p>
            <a:pPr algn="l">
              <a:lnSpc>
                <a:spcPct val="150000"/>
              </a:lnSpc>
              <a:buFont typeface="+mj-lt"/>
              <a:buAutoNum type="arabicPeriod"/>
            </a:pPr>
            <a:r>
              <a:rPr lang="en-IN" sz="1600" b="1" i="0" dirty="0">
                <a:effectLst/>
              </a:rPr>
              <a:t>Return on investment (ROI): </a:t>
            </a:r>
            <a:r>
              <a:rPr lang="en-IN" sz="1600" b="0" i="0" dirty="0">
                <a:effectLst/>
              </a:rPr>
              <a:t>The ROI of a heart disease prediction system can be measured by the amount of money saved through reduced healthcare costs and improved health outcomes, as well as the potential for increased revenue through improved patient outcomes and satisfaction.</a:t>
            </a:r>
          </a:p>
          <a:p>
            <a:pPr algn="l">
              <a:lnSpc>
                <a:spcPct val="150000"/>
              </a:lnSpc>
              <a:buFont typeface="+mj-lt"/>
              <a:buAutoNum type="arabicPeriod"/>
            </a:pPr>
            <a:endParaRPr lang="en-IN" sz="1600" b="0" i="0" dirty="0">
              <a:effectLst/>
            </a:endParaRPr>
          </a:p>
          <a:p>
            <a:pPr algn="l">
              <a:lnSpc>
                <a:spcPct val="150000"/>
              </a:lnSpc>
              <a:buFont typeface="+mj-lt"/>
              <a:buAutoNum type="arabicPeriod"/>
            </a:pPr>
            <a:r>
              <a:rPr lang="en-IN" sz="1600" b="1" i="0" dirty="0">
                <a:effectLst/>
              </a:rPr>
              <a:t>Accessibility: </a:t>
            </a:r>
            <a:r>
              <a:rPr lang="en-IN" sz="1600" b="0" i="0" dirty="0">
                <a:effectLst/>
              </a:rPr>
              <a:t>The cost of the heart disease prediction system should be considered in the context of accessibility for patients. A system that is too expensive may not be accessible to low-income or uninsured patients, limiting its impact on population health.</a:t>
            </a:r>
          </a:p>
          <a:p>
            <a:pPr algn="l">
              <a:lnSpc>
                <a:spcPct val="150000"/>
              </a:lnSpc>
              <a:buFont typeface="+mj-lt"/>
              <a:buAutoNum type="arabicPeriod"/>
            </a:pPr>
            <a:endParaRPr lang="en-IN" sz="1600" b="0" i="0" dirty="0">
              <a:effectLst/>
            </a:endParaRPr>
          </a:p>
          <a:p>
            <a:pPr algn="l">
              <a:lnSpc>
                <a:spcPct val="150000"/>
              </a:lnSpc>
              <a:buFont typeface="+mj-lt"/>
              <a:buAutoNum type="arabicPeriod"/>
            </a:pPr>
            <a:r>
              <a:rPr lang="en-IN" sz="1600" b="1" i="0" dirty="0">
                <a:effectLst/>
              </a:rPr>
              <a:t>Data privacy and security: </a:t>
            </a:r>
            <a:r>
              <a:rPr lang="en-IN" sz="1600" b="0" i="0" dirty="0">
                <a:effectLst/>
              </a:rPr>
              <a:t>The cost of ensuring data privacy and security must also be considered in the development and implementation of a heart disease prediction system. </a:t>
            </a:r>
          </a:p>
        </p:txBody>
      </p:sp>
    </p:spTree>
    <p:extLst>
      <p:ext uri="{BB962C8B-B14F-4D97-AF65-F5344CB8AC3E}">
        <p14:creationId xmlns:p14="http://schemas.microsoft.com/office/powerpoint/2010/main" val="11439449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a:extLst>
              <a:ext uri="{FF2B5EF4-FFF2-40B4-BE49-F238E27FC236}">
                <a16:creationId xmlns:a16="http://schemas.microsoft.com/office/drawing/2014/main" id="{BE7A8330-E4CB-4F06-AF3D-78EE7FBABC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 Box 4">
            <a:extLst>
              <a:ext uri="{FF2B5EF4-FFF2-40B4-BE49-F238E27FC236}">
                <a16:creationId xmlns:a16="http://schemas.microsoft.com/office/drawing/2014/main" id="{F4A11A03-1EE7-46BA-8B1E-07E5382C441D}"/>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36868" name="Picture 2">
            <a:extLst>
              <a:ext uri="{FF2B5EF4-FFF2-40B4-BE49-F238E27FC236}">
                <a16:creationId xmlns:a16="http://schemas.microsoft.com/office/drawing/2014/main" id="{A4104424-5FCD-4DB8-9BC4-375CD291B9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B427FDA7-43DD-4DA4-893B-C5CB6018355A}"/>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fld id="{841F66B6-980C-43F1-92A2-E9BCCE6784FD}" type="slidenum">
              <a:rPr lang="en-US" altLang="en-US" sz="1600" b="1">
                <a:solidFill>
                  <a:srgbClr val="FFFFFF"/>
                </a:solidFill>
                <a:latin typeface="Comic Sans MS" panose="030F0702030302020204" pitchFamily="66" charset="0"/>
              </a:rPr>
              <a:pPr algn="ctr" eaLnBrk="1" hangingPunct="1">
                <a:spcBef>
                  <a:spcPct val="0"/>
                </a:spcBef>
                <a:buFontTx/>
                <a:buNone/>
              </a:pPr>
              <a:t>43</a:t>
            </a:fld>
            <a:endParaRPr lang="en-US" altLang="en-US" sz="1600" b="1">
              <a:solidFill>
                <a:srgbClr val="FFFFFF"/>
              </a:solidFill>
              <a:latin typeface="Comic Sans MS" panose="030F0702030302020204" pitchFamily="66" charset="0"/>
            </a:endParaRPr>
          </a:p>
        </p:txBody>
      </p:sp>
      <p:sp>
        <p:nvSpPr>
          <p:cNvPr id="36870" name="Date Placeholder 7">
            <a:extLst>
              <a:ext uri="{FF2B5EF4-FFF2-40B4-BE49-F238E27FC236}">
                <a16:creationId xmlns:a16="http://schemas.microsoft.com/office/drawing/2014/main" id="{9EB8C82D-DEFC-4801-AA53-88AF7815FDE4}"/>
              </a:ext>
            </a:extLst>
          </p:cNvPr>
          <p:cNvSpPr>
            <a:spLocks noGrp="1"/>
          </p:cNvSpPr>
          <p:nvPr>
            <p:ph type="dt" sz="quarter" idx="10"/>
          </p:nvPr>
        </p:nvSpPr>
        <p:spPr>
          <a:xfrm>
            <a:off x="0" y="6564313"/>
            <a:ext cx="1752600" cy="412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80F0D9B-2FCB-4E51-9DE4-DEB44FC39F6E}" type="datetime3">
              <a:rPr lang="en-US" altLang="en-US" sz="1400" b="1" smtClean="0">
                <a:solidFill>
                  <a:srgbClr val="FF0066"/>
                </a:solidFill>
                <a:latin typeface="Arial Rounded MT Bold" panose="020F0704030504030204" pitchFamily="34" charset="0"/>
              </a:rPr>
              <a:pPr>
                <a:spcBef>
                  <a:spcPct val="0"/>
                </a:spcBef>
                <a:buFontTx/>
                <a:buNone/>
              </a:pPr>
              <a:t>18 April 2023</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F91DF1A8-F08B-4BFE-B4BC-1E8E2A31B81A}"/>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2" name="Oval 11">
            <a:extLst>
              <a:ext uri="{FF2B5EF4-FFF2-40B4-BE49-F238E27FC236}">
                <a16:creationId xmlns:a16="http://schemas.microsoft.com/office/drawing/2014/main" id="{29A766E0-309D-4A26-812C-8B210FB54A5E}"/>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36873" name="Picture 10" descr="A picture containing text, sign, watch&#10;&#10;Description automatically generated">
            <a:extLst>
              <a:ext uri="{FF2B5EF4-FFF2-40B4-BE49-F238E27FC236}">
                <a16:creationId xmlns:a16="http://schemas.microsoft.com/office/drawing/2014/main" id="{D7A2222C-D3FA-44A1-96FC-6B6E73C0CC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9F902A73-9630-4D7C-9D53-7DF705F9CC47}"/>
              </a:ext>
            </a:extLst>
          </p:cNvPr>
          <p:cNvSpPr txBox="1"/>
          <p:nvPr/>
        </p:nvSpPr>
        <p:spPr>
          <a:xfrm>
            <a:off x="304800" y="1219200"/>
            <a:ext cx="8534400" cy="1200329"/>
          </a:xfrm>
          <a:prstGeom prst="rect">
            <a:avLst/>
          </a:prstGeom>
          <a:noFill/>
        </p:spPr>
        <p:txBody>
          <a:bodyPr>
            <a:spAutoFit/>
          </a:bodyPr>
          <a:lstStyle/>
          <a:p>
            <a:pPr algn="just">
              <a:defRPr/>
            </a:pPr>
            <a:r>
              <a:rPr lang="en-US" b="1"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pPr algn="just">
              <a:defRPr/>
            </a:pPr>
            <a:r>
              <a:rPr lang="en-IN" dirty="0"/>
              <a:t>				</a:t>
            </a:r>
          </a:p>
          <a:p>
            <a:pPr algn="just">
              <a:defRPr/>
            </a:pPr>
            <a:r>
              <a:rPr lang="en-IN" dirty="0"/>
              <a:t>				</a:t>
            </a:r>
          </a:p>
          <a:p>
            <a:pPr algn="just">
              <a:defRPr/>
            </a:pPr>
            <a:endParaRPr lang="en-US"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541DE200-DA0B-4403-9CD7-0C99F7DC631F}"/>
              </a:ext>
            </a:extLst>
          </p:cNvPr>
          <p:cNvSpPr txBox="1"/>
          <p:nvPr/>
        </p:nvSpPr>
        <p:spPr>
          <a:xfrm>
            <a:off x="609600" y="1219200"/>
            <a:ext cx="8107017" cy="1754326"/>
          </a:xfrm>
          <a:prstGeom prst="rect">
            <a:avLst/>
          </a:prstGeom>
          <a:noFill/>
        </p:spPr>
        <p:txBody>
          <a:bodyPr wrap="square" rtlCol="0">
            <a:spAutoFit/>
          </a:bodyPr>
          <a:lstStyle/>
          <a:p>
            <a:r>
              <a:rPr lang="en-IN" b="1" dirty="0"/>
              <a:t>Works completed :</a:t>
            </a:r>
          </a:p>
          <a:p>
            <a:r>
              <a:rPr lang="en-IN" dirty="0"/>
              <a:t>	Different feature selection techniques have been tested with various classification models.</a:t>
            </a:r>
          </a:p>
          <a:p>
            <a:r>
              <a:rPr lang="en-IN" dirty="0"/>
              <a:t>	Various hyperparameter tuning techniques have been applied to those classification models.</a:t>
            </a:r>
          </a:p>
          <a:p>
            <a:endParaRPr lang="en-IN" dirty="0"/>
          </a:p>
        </p:txBody>
      </p:sp>
    </p:spTree>
    <p:extLst>
      <p:ext uri="{BB962C8B-B14F-4D97-AF65-F5344CB8AC3E}">
        <p14:creationId xmlns:p14="http://schemas.microsoft.com/office/powerpoint/2010/main" val="38853199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page6">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165329C0-5298-4DEA-BD65-3216CD47A599}"/>
              </a:ext>
            </a:extLst>
          </p:cNvPr>
          <p:cNvPicPr>
            <a:picLocks noChangeAspect="1"/>
          </p:cNvPicPr>
          <p:nvPr/>
        </p:nvPicPr>
        <p:blipFill>
          <a:blip r:embed="rId3">
            <a:lum/>
            <a:alphaModFix/>
          </a:blip>
          <a:srcRect/>
          <a:stretch>
            <a:fillRect/>
          </a:stretch>
        </p:blipFill>
        <p:spPr>
          <a:xfrm>
            <a:off x="0" y="6553084"/>
            <a:ext cx="9144000" cy="308161"/>
          </a:xfrm>
          <a:prstGeom prst="rect">
            <a:avLst/>
          </a:prstGeom>
          <a:noFill/>
          <a:ln cap="flat">
            <a:noFill/>
          </a:ln>
        </p:spPr>
      </p:pic>
      <p:sp>
        <p:nvSpPr>
          <p:cNvPr id="3" name="Text Box 4">
            <a:extLst>
              <a:ext uri="{FF2B5EF4-FFF2-40B4-BE49-F238E27FC236}">
                <a16:creationId xmlns:a16="http://schemas.microsoft.com/office/drawing/2014/main" id="{A3DA3B4D-317D-422C-87D2-A74497E22ACF}"/>
              </a:ext>
            </a:extLst>
          </p:cNvPr>
          <p:cNvSpPr/>
          <p:nvPr/>
        </p:nvSpPr>
        <p:spPr>
          <a:xfrm>
            <a:off x="2299322" y="6550203"/>
            <a:ext cx="4545363" cy="307082"/>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a:effectLst>
            <a:outerShdw dist="17819" dir="2700000" algn="tl">
              <a:srgbClr val="000000"/>
            </a:outerShdw>
          </a:effectLst>
        </p:spPr>
        <p:txBody>
          <a:bodyPr vert="horz" wrap="non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1400" b="1" i="0" u="none" strike="noStrike" kern="1200" cap="none" spc="0" baseline="0">
                <a:solidFill>
                  <a:srgbClr val="47FFD1"/>
                </a:solidFill>
                <a:uFillTx/>
                <a:latin typeface="Comic Sans MS" pitchFamily="66"/>
                <a:ea typeface="Microsoft YaHei" pitchFamily="2"/>
                <a:cs typeface="Lucida Sans" pitchFamily="2"/>
              </a:rPr>
              <a:t>Department of Computer Science and Engineering</a:t>
            </a:r>
          </a:p>
        </p:txBody>
      </p:sp>
      <p:pic>
        <p:nvPicPr>
          <p:cNvPr id="4" name="Picture 2">
            <a:extLst>
              <a:ext uri="{FF2B5EF4-FFF2-40B4-BE49-F238E27FC236}">
                <a16:creationId xmlns:a16="http://schemas.microsoft.com/office/drawing/2014/main" id="{95584F79-7446-4C2A-BDB0-0A9B34CCAF1C}"/>
              </a:ext>
            </a:extLst>
          </p:cNvPr>
          <p:cNvPicPr>
            <a:picLocks noChangeAspect="1"/>
          </p:cNvPicPr>
          <p:nvPr/>
        </p:nvPicPr>
        <p:blipFill>
          <a:blip r:embed="rId3">
            <a:lum/>
            <a:alphaModFix/>
          </a:blip>
          <a:srcRect/>
          <a:stretch>
            <a:fillRect/>
          </a:stretch>
        </p:blipFill>
        <p:spPr>
          <a:xfrm>
            <a:off x="0" y="0"/>
            <a:ext cx="9144000" cy="609484"/>
          </a:xfrm>
          <a:prstGeom prst="rect">
            <a:avLst/>
          </a:prstGeom>
          <a:noFill/>
          <a:ln cap="flat">
            <a:noFill/>
          </a:ln>
        </p:spPr>
      </p:pic>
      <p:sp>
        <p:nvSpPr>
          <p:cNvPr id="5" name="Rectangle: Rounded Corners 3">
            <a:extLst>
              <a:ext uri="{FF2B5EF4-FFF2-40B4-BE49-F238E27FC236}">
                <a16:creationId xmlns:a16="http://schemas.microsoft.com/office/drawing/2014/main" id="{B51FA171-A535-4ED7-ACB7-8074F00664E9}"/>
              </a:ext>
            </a:extLst>
          </p:cNvPr>
          <p:cNvSpPr/>
          <p:nvPr/>
        </p:nvSpPr>
        <p:spPr>
          <a:xfrm>
            <a:off x="8550362" y="6553084"/>
            <a:ext cx="593637" cy="306360"/>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0066"/>
          </a:solidFill>
          <a:ln w="12600" cap="flat">
            <a:solidFill>
              <a:srgbClr val="000000"/>
            </a:solidFill>
            <a:prstDash val="solid"/>
            <a:miter/>
          </a:ln>
        </p:spPr>
        <p:txBody>
          <a:bodyPr vert="horz" wrap="square" lIns="90004" tIns="46798" rIns="90004" bIns="46798" anchor="ctr" anchorCtr="1" compatLnSpc="1">
            <a:normAutofit/>
          </a:bodyPr>
          <a:lstStyle/>
          <a:p>
            <a:pPr marL="0" marR="0" lvl="0" indent="0" algn="ctr" defTabSz="914400" rtl="0" fontAlgn="auto" hangingPunct="1">
              <a:lnSpc>
                <a:spcPct val="8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US" sz="1400" b="1" i="0" u="none" strike="noStrike" kern="1200" cap="none" spc="0" baseline="0">
              <a:solidFill>
                <a:srgbClr val="FFFFFF"/>
              </a:solidFill>
              <a:uFillTx/>
              <a:latin typeface="Comic Sans MS" pitchFamily="66"/>
              <a:ea typeface="Microsoft YaHei" pitchFamily="2"/>
              <a:cs typeface="Lucida Sans" pitchFamily="2"/>
            </a:endParaRPr>
          </a:p>
        </p:txBody>
      </p:sp>
      <p:sp>
        <p:nvSpPr>
          <p:cNvPr id="6" name="Date Placeholder 7">
            <a:extLst>
              <a:ext uri="{FF2B5EF4-FFF2-40B4-BE49-F238E27FC236}">
                <a16:creationId xmlns:a16="http://schemas.microsoft.com/office/drawing/2014/main" id="{9AEFD986-4A2D-4802-8CB0-ED6DB9DD3E33}"/>
              </a:ext>
            </a:extLst>
          </p:cNvPr>
          <p:cNvSpPr/>
          <p:nvPr/>
        </p:nvSpPr>
        <p:spPr>
          <a:xfrm>
            <a:off x="0" y="6564239"/>
            <a:ext cx="1447915" cy="41291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norm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5D102380-1EF7-4C9E-B305-E69CB1E97C4B}" type="datetime1">
              <a:rPr lang="en-US" sz="1400" b="1" i="0" u="none" strike="noStrike" kern="1200" cap="none" spc="0" baseline="0">
                <a:solidFill>
                  <a:srgbClr val="FF0066"/>
                </a:solidFill>
                <a:uFillTx/>
                <a:latin typeface="Arial Rounded MT Bold" pitchFamily="34"/>
                <a:ea typeface="Microsoft YaHei" pitchFamily="2"/>
                <a:cs typeface="Lucida Sans" pitchFamily="2"/>
              </a:rPr>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t>4/18/2023</a:t>
            </a:fld>
            <a:endParaRPr lang="en-US" sz="1400" b="1" i="0" u="none" strike="noStrike" kern="1200" cap="none" spc="0" baseline="0" dirty="0">
              <a:solidFill>
                <a:srgbClr val="FF0066"/>
              </a:solidFill>
              <a:uFillTx/>
              <a:latin typeface="Arial Rounded MT Bold" pitchFamily="34"/>
              <a:ea typeface="Microsoft YaHei" pitchFamily="2"/>
              <a:cs typeface="Lucida Sans" pitchFamily="2"/>
            </a:endParaRPr>
          </a:p>
        </p:txBody>
      </p:sp>
      <p:sp>
        <p:nvSpPr>
          <p:cNvPr id="7" name="TextBox 8">
            <a:extLst>
              <a:ext uri="{FF2B5EF4-FFF2-40B4-BE49-F238E27FC236}">
                <a16:creationId xmlns:a16="http://schemas.microsoft.com/office/drawing/2014/main" id="{6F784555-4285-412F-A2AF-751FFC6809EF}"/>
              </a:ext>
            </a:extLst>
          </p:cNvPr>
          <p:cNvSpPr/>
          <p:nvPr/>
        </p:nvSpPr>
        <p:spPr>
          <a:xfrm>
            <a:off x="919081" y="0"/>
            <a:ext cx="7305836" cy="47483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500" b="1" i="0" u="none" strike="noStrike" kern="1200" cap="none" spc="0" baseline="0">
                <a:solidFill>
                  <a:srgbClr val="47FFD1"/>
                </a:solidFill>
                <a:uFillTx/>
                <a:latin typeface="Comic Sans MS" pitchFamily="66"/>
                <a:ea typeface="Microsoft YaHei" pitchFamily="2"/>
                <a:cs typeface="Lucida Sans" pitchFamily="2"/>
              </a:rPr>
              <a:t>Mepco Schlenk Engineering College </a:t>
            </a:r>
            <a:r>
              <a:rPr lang="en-US" sz="1800" b="1" i="0" u="none" strike="noStrike" kern="1200" cap="none" spc="0" baseline="0">
                <a:solidFill>
                  <a:srgbClr val="47FFD1"/>
                </a:solidFill>
                <a:uFillTx/>
                <a:latin typeface="Comic Sans MS" pitchFamily="66"/>
                <a:ea typeface="Microsoft YaHei" pitchFamily="2"/>
                <a:cs typeface="Lucida Sans" pitchFamily="2"/>
              </a:rPr>
              <a:t>(Autonomous)</a:t>
            </a:r>
          </a:p>
        </p:txBody>
      </p:sp>
      <p:sp>
        <p:nvSpPr>
          <p:cNvPr id="8" name="Oval 11">
            <a:extLst>
              <a:ext uri="{FF2B5EF4-FFF2-40B4-BE49-F238E27FC236}">
                <a16:creationId xmlns:a16="http://schemas.microsoft.com/office/drawing/2014/main" id="{7E4F8D0F-4EAD-4F3B-8C1A-04D76006E517}"/>
              </a:ext>
            </a:extLst>
          </p:cNvPr>
          <p:cNvSpPr/>
          <p:nvPr/>
        </p:nvSpPr>
        <p:spPr>
          <a:xfrm>
            <a:off x="8354881" y="20519"/>
            <a:ext cx="777962" cy="777962"/>
          </a:xfrm>
          <a:custGeom>
            <a:avLst/>
            <a:gdLst>
              <a:gd name="f0" fmla="val 10800000"/>
              <a:gd name="f1" fmla="val 5400000"/>
              <a:gd name="f2" fmla="val 180"/>
              <a:gd name="f3" fmla="val w"/>
              <a:gd name="f4" fmla="val h"/>
              <a:gd name="f5" fmla="val 0"/>
              <a:gd name="f6" fmla="val 21600"/>
              <a:gd name="f7" fmla="*/ 5419351 1 1725033"/>
              <a:gd name="f8" fmla="*/ 10800 10800 1"/>
              <a:gd name="f9" fmla="+- 0 0 360"/>
              <a:gd name="f10" fmla="val 10800"/>
              <a:gd name="f11" fmla="+- 0 0 0"/>
              <a:gd name="f12" fmla="*/ f3 1 21600"/>
              <a:gd name="f13" fmla="*/ f4 1 21600"/>
              <a:gd name="f14" fmla="*/ 0 f7 1"/>
              <a:gd name="f15" fmla="*/ f5 f0 1"/>
              <a:gd name="f16" fmla="*/ f9 f0 1"/>
              <a:gd name="f17" fmla="+- f6 0 f5"/>
              <a:gd name="f18" fmla="*/ f11 f0 1"/>
              <a:gd name="f19" fmla="*/ f14 1 f2"/>
              <a:gd name="f20" fmla="*/ f15 1 f2"/>
              <a:gd name="f21" fmla="*/ f16 1 f2"/>
              <a:gd name="f22" fmla="*/ f17 1 21600"/>
              <a:gd name="f23" fmla="*/ f18 1 f2"/>
              <a:gd name="f24" fmla="+- 0 0 f19"/>
              <a:gd name="f25" fmla="+- f20 0 f1"/>
              <a:gd name="f26" fmla="+- f21 0 f1"/>
              <a:gd name="f27" fmla="*/ 3163 f22 1"/>
              <a:gd name="f28" fmla="*/ 18437 f22 1"/>
              <a:gd name="f29" fmla="*/ 10800 f22 1"/>
              <a:gd name="f30" fmla="*/ 0 f22 1"/>
              <a:gd name="f31" fmla="*/ 21600 f22 1"/>
              <a:gd name="f32" fmla="+- f23 0 f1"/>
              <a:gd name="f33" fmla="*/ f24 f0 1"/>
              <a:gd name="f34" fmla="+- f26 0 f25"/>
              <a:gd name="f35" fmla="*/ f29 1 f22"/>
              <a:gd name="f36" fmla="*/ f30 1 f22"/>
              <a:gd name="f37" fmla="*/ f27 1 f22"/>
              <a:gd name="f38" fmla="*/ f28 1 f22"/>
              <a:gd name="f39" fmla="*/ f31 1 f22"/>
              <a:gd name="f40" fmla="*/ f33 1 f7"/>
              <a:gd name="f41" fmla="*/ f37 f12 1"/>
              <a:gd name="f42" fmla="*/ f38 f12 1"/>
              <a:gd name="f43" fmla="*/ f38 f13 1"/>
              <a:gd name="f44" fmla="*/ f37 f13 1"/>
              <a:gd name="f45" fmla="*/ f35 f12 1"/>
              <a:gd name="f46" fmla="*/ f36 f13 1"/>
              <a:gd name="f47" fmla="*/ f36 f12 1"/>
              <a:gd name="f48" fmla="*/ f35 f13 1"/>
              <a:gd name="f49" fmla="*/ f39 f13 1"/>
              <a:gd name="f50" fmla="*/ f39 f12 1"/>
              <a:gd name="f51" fmla="+- f40 0 f1"/>
              <a:gd name="f52" fmla="+- f51 f1 0"/>
              <a:gd name="f53" fmla="*/ f52 f7 1"/>
              <a:gd name="f54" fmla="*/ f53 1 f0"/>
              <a:gd name="f55" fmla="+- 0 0 f54"/>
              <a:gd name="f56" fmla="+- 0 0 f55"/>
              <a:gd name="f57" fmla="*/ f56 f0 1"/>
              <a:gd name="f58" fmla="*/ f57 1 f7"/>
              <a:gd name="f59" fmla="+- f58 0 f1"/>
              <a:gd name="f60" fmla="cos 1 f59"/>
              <a:gd name="f61" fmla="sin 1 f59"/>
              <a:gd name="f62" fmla="+- 0 0 f60"/>
              <a:gd name="f63" fmla="+- 0 0 f61"/>
              <a:gd name="f64" fmla="+- 0 0 f62"/>
              <a:gd name="f65" fmla="+- 0 0 f63"/>
              <a:gd name="f66" fmla="val f64"/>
              <a:gd name="f67" fmla="val f65"/>
              <a:gd name="f68" fmla="+- 0 0 f66"/>
              <a:gd name="f69" fmla="+- 0 0 f67"/>
              <a:gd name="f70" fmla="*/ 10800 f68 1"/>
              <a:gd name="f71" fmla="*/ 10800 f69 1"/>
              <a:gd name="f72" fmla="*/ f70 f70 1"/>
              <a:gd name="f73" fmla="*/ f71 f71 1"/>
              <a:gd name="f74" fmla="+- f72 f73 0"/>
              <a:gd name="f75" fmla="sqrt f74"/>
              <a:gd name="f76" fmla="*/ f8 1 f75"/>
              <a:gd name="f77" fmla="*/ f68 f76 1"/>
              <a:gd name="f78" fmla="*/ f69 f76 1"/>
              <a:gd name="f79" fmla="+- 10800 0 f77"/>
              <a:gd name="f80" fmla="+- 10800 0 f78"/>
            </a:gdLst>
            <a:ahLst/>
            <a:cxnLst>
              <a:cxn ang="3cd4">
                <a:pos x="hc" y="t"/>
              </a:cxn>
              <a:cxn ang="0">
                <a:pos x="r" y="vc"/>
              </a:cxn>
              <a:cxn ang="cd4">
                <a:pos x="hc" y="b"/>
              </a:cxn>
              <a:cxn ang="cd2">
                <a:pos x="l" y="vc"/>
              </a:cxn>
              <a:cxn ang="f32">
                <a:pos x="f45" y="f46"/>
              </a:cxn>
              <a:cxn ang="f32">
                <a:pos x="f41" y="f44"/>
              </a:cxn>
              <a:cxn ang="f32">
                <a:pos x="f47" y="f48"/>
              </a:cxn>
              <a:cxn ang="f32">
                <a:pos x="f41" y="f43"/>
              </a:cxn>
              <a:cxn ang="f32">
                <a:pos x="f45" y="f49"/>
              </a:cxn>
              <a:cxn ang="f32">
                <a:pos x="f42" y="f43"/>
              </a:cxn>
              <a:cxn ang="f32">
                <a:pos x="f50" y="f48"/>
              </a:cxn>
              <a:cxn ang="f32">
                <a:pos x="f42" y="f44"/>
              </a:cxn>
            </a:cxnLst>
            <a:rect l="f41" t="f44" r="f42" b="f43"/>
            <a:pathLst>
              <a:path w="21600" h="21600">
                <a:moveTo>
                  <a:pt x="f79" y="f80"/>
                </a:moveTo>
                <a:arcTo wR="f10" hR="f10" stAng="f25" swAng="f34"/>
                <a:close/>
              </a:path>
            </a:pathLst>
          </a:custGeom>
          <a:solidFill>
            <a:srgbClr val="FFFFFF"/>
          </a:solidFill>
          <a:ln w="12600" cap="flat">
            <a:solidFill>
              <a:srgbClr val="BCBCBC"/>
            </a:solidFill>
            <a:prstDash val="solid"/>
            <a:miter/>
          </a:ln>
        </p:spPr>
        <p:txBody>
          <a:bodyPr vert="horz" wrap="square" lIns="90004" tIns="46798" rIns="90004" bIns="46798" anchor="ctr" anchorCtr="0" compatLnSpc="1">
            <a:no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IN" sz="2400" b="0" i="0" u="none" strike="noStrike" kern="1200" cap="none" spc="0" baseline="0">
              <a:solidFill>
                <a:srgbClr val="000000"/>
              </a:solidFill>
              <a:uFillTx/>
              <a:latin typeface="Times New Roman" pitchFamily="18"/>
              <a:ea typeface="Microsoft YaHei" pitchFamily="2"/>
              <a:cs typeface="Lucida Sans" pitchFamily="2"/>
            </a:endParaRPr>
          </a:p>
        </p:txBody>
      </p:sp>
      <p:pic>
        <p:nvPicPr>
          <p:cNvPr id="9" name="Picture 10" descr="A picture containing text, sign, watch&#10;&#10;Description automatically generated">
            <a:extLst>
              <a:ext uri="{FF2B5EF4-FFF2-40B4-BE49-F238E27FC236}">
                <a16:creationId xmlns:a16="http://schemas.microsoft.com/office/drawing/2014/main" id="{28D2D9FC-5904-47F9-9C25-B255B82C2E19}"/>
              </a:ext>
            </a:extLst>
          </p:cNvPr>
          <p:cNvPicPr>
            <a:picLocks noChangeAspect="1"/>
          </p:cNvPicPr>
          <p:nvPr/>
        </p:nvPicPr>
        <p:blipFill>
          <a:blip r:embed="rId4">
            <a:lum/>
            <a:alphaModFix/>
          </a:blip>
          <a:srcRect/>
          <a:stretch>
            <a:fillRect/>
          </a:stretch>
        </p:blipFill>
        <p:spPr>
          <a:xfrm>
            <a:off x="8377924" y="52198"/>
            <a:ext cx="731876" cy="714603"/>
          </a:xfrm>
          <a:prstGeom prst="rect">
            <a:avLst/>
          </a:prstGeom>
          <a:noFill/>
          <a:ln cap="flat">
            <a:noFill/>
          </a:ln>
        </p:spPr>
      </p:pic>
      <p:sp>
        <p:nvSpPr>
          <p:cNvPr id="11" name="TextBox 10">
            <a:extLst>
              <a:ext uri="{FF2B5EF4-FFF2-40B4-BE49-F238E27FC236}">
                <a16:creationId xmlns:a16="http://schemas.microsoft.com/office/drawing/2014/main" id="{69DC2B31-50DF-4B80-94CF-65EE8ACA609F}"/>
              </a:ext>
            </a:extLst>
          </p:cNvPr>
          <p:cNvSpPr txBox="1"/>
          <p:nvPr/>
        </p:nvSpPr>
        <p:spPr>
          <a:xfrm>
            <a:off x="723956" y="798481"/>
            <a:ext cx="7653967" cy="5139869"/>
          </a:xfrm>
          <a:prstGeom prst="rect">
            <a:avLst/>
          </a:prstGeom>
          <a:noFill/>
        </p:spPr>
        <p:txBody>
          <a:bodyPr wrap="square" rtlCol="0">
            <a:spAutoFit/>
          </a:bodyPr>
          <a:lstStyle/>
          <a:p>
            <a:r>
              <a:rPr lang="en-US" sz="2000" b="1" dirty="0">
                <a:latin typeface="Verdana" panose="020B0604030504040204" pitchFamily="34" charset="0"/>
                <a:ea typeface="Verdana" panose="020B0604030504040204" pitchFamily="34" charset="0"/>
              </a:rPr>
              <a:t>References</a:t>
            </a:r>
          </a:p>
          <a:p>
            <a:endParaRPr lang="en-US" sz="2000" b="1" dirty="0">
              <a:latin typeface="Verdana" panose="020B0604030504040204" pitchFamily="34" charset="0"/>
              <a:ea typeface="Verdana" panose="020B0604030504040204" pitchFamily="34" charset="0"/>
            </a:endParaRPr>
          </a:p>
          <a:p>
            <a:r>
              <a:rPr lang="en-US" sz="1200" dirty="0">
                <a:latin typeface="Verdana" panose="020B0604030504040204" pitchFamily="34" charset="0"/>
                <a:ea typeface="Verdana" panose="020B0604030504040204" pitchFamily="34" charset="0"/>
              </a:rPr>
              <a:t>[1] Wu. Jia, </a:t>
            </a:r>
            <a:r>
              <a:rPr lang="en-US" sz="1200" dirty="0" err="1">
                <a:latin typeface="Verdana" panose="020B0604030504040204" pitchFamily="34" charset="0"/>
                <a:ea typeface="Verdana" panose="020B0604030504040204" pitchFamily="34" charset="0"/>
              </a:rPr>
              <a:t>Xiu</a:t>
            </a:r>
            <a:r>
              <a:rPr lang="en-US" sz="1200" dirty="0">
                <a:latin typeface="Verdana" panose="020B0604030504040204" pitchFamily="34" charset="0"/>
                <a:ea typeface="Verdana" panose="020B0604030504040204" pitchFamily="34" charset="0"/>
              </a:rPr>
              <a:t>-Yun Chen, Hao Zhang, Li-Dong </a:t>
            </a:r>
            <a:r>
              <a:rPr lang="en-US" sz="1200" dirty="0" err="1">
                <a:latin typeface="Verdana" panose="020B0604030504040204" pitchFamily="34" charset="0"/>
                <a:ea typeface="Verdana" panose="020B0604030504040204" pitchFamily="34" charset="0"/>
              </a:rPr>
              <a:t>Xiong</a:t>
            </a:r>
            <a:r>
              <a:rPr lang="en-US" sz="1200" dirty="0">
                <a:latin typeface="Verdana" panose="020B0604030504040204" pitchFamily="34" charset="0"/>
                <a:ea typeface="Verdana" panose="020B0604030504040204" pitchFamily="34" charset="0"/>
              </a:rPr>
              <a:t>, Hang Lei, Si-Hao Deng, Hyperparameter optimization for machine learning models based on Bayesian optimization, J. Electron. Sci. Technol. 17 (1) (2019). </a:t>
            </a:r>
          </a:p>
          <a:p>
            <a:endParaRPr lang="en-US" sz="1200" dirty="0">
              <a:latin typeface="Verdana" panose="020B0604030504040204" pitchFamily="34" charset="0"/>
              <a:ea typeface="Verdana" panose="020B0604030504040204" pitchFamily="34" charset="0"/>
            </a:endParaRPr>
          </a:p>
          <a:p>
            <a:r>
              <a:rPr lang="en-US" sz="1200" dirty="0">
                <a:latin typeface="Verdana" panose="020B0604030504040204" pitchFamily="34" charset="0"/>
                <a:ea typeface="Verdana" panose="020B0604030504040204" pitchFamily="34" charset="0"/>
              </a:rPr>
              <a:t>[2] </a:t>
            </a:r>
            <a:r>
              <a:rPr lang="en-US" sz="1200" dirty="0" err="1">
                <a:latin typeface="Verdana" panose="020B0604030504040204" pitchFamily="34" charset="0"/>
                <a:ea typeface="Verdana" panose="020B0604030504040204" pitchFamily="34" charset="0"/>
              </a:rPr>
              <a:t>Debabrata</a:t>
            </a:r>
            <a:r>
              <a:rPr lang="en-US" sz="1200" dirty="0">
                <a:latin typeface="Verdana" panose="020B0604030504040204" pitchFamily="34" charset="0"/>
                <a:ea typeface="Verdana" panose="020B0604030504040204" pitchFamily="34" charset="0"/>
              </a:rPr>
              <a:t> Swain, </a:t>
            </a:r>
            <a:r>
              <a:rPr lang="en-US" sz="1200" dirty="0" err="1">
                <a:latin typeface="Verdana" panose="020B0604030504040204" pitchFamily="34" charset="0"/>
                <a:ea typeface="Verdana" panose="020B0604030504040204" pitchFamily="34" charset="0"/>
              </a:rPr>
              <a:t>Preeti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Ballal</a:t>
            </a:r>
            <a:r>
              <a:rPr lang="en-US" sz="1200" dirty="0">
                <a:latin typeface="Verdana" panose="020B0604030504040204" pitchFamily="34" charset="0"/>
                <a:ea typeface="Verdana" panose="020B0604030504040204" pitchFamily="34" charset="0"/>
              </a:rPr>
              <a:t>, Vishal </a:t>
            </a:r>
            <a:r>
              <a:rPr lang="en-US" sz="1200" dirty="0" err="1">
                <a:latin typeface="Verdana" panose="020B0604030504040204" pitchFamily="34" charset="0"/>
                <a:ea typeface="Verdana" panose="020B0604030504040204" pitchFamily="34" charset="0"/>
              </a:rPr>
              <a:t>Dolase</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Banchhanidhi</a:t>
            </a:r>
            <a:r>
              <a:rPr lang="en-US" sz="1200" dirty="0">
                <a:latin typeface="Verdana" panose="020B0604030504040204" pitchFamily="34" charset="0"/>
                <a:ea typeface="Verdana" panose="020B0604030504040204" pitchFamily="34" charset="0"/>
              </a:rPr>
              <a:t> Dash, </a:t>
            </a:r>
            <a:r>
              <a:rPr lang="en-US" sz="1200" dirty="0" err="1">
                <a:latin typeface="Verdana" panose="020B0604030504040204" pitchFamily="34" charset="0"/>
                <a:ea typeface="Verdana" panose="020B0604030504040204" pitchFamily="34" charset="0"/>
              </a:rPr>
              <a:t>Jayasri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Santhappan</a:t>
            </a:r>
            <a:r>
              <a:rPr lang="en-US" sz="1200" dirty="0">
                <a:latin typeface="Verdana" panose="020B0604030504040204" pitchFamily="34" charset="0"/>
                <a:ea typeface="Verdana" panose="020B0604030504040204" pitchFamily="34" charset="0"/>
              </a:rPr>
              <a:t>, An efficient heart disease prediction system using machine learning. Advances in Intelligent Systems and Computing, Springer Nature Singapore Pvt Ltd, 2020.</a:t>
            </a:r>
          </a:p>
          <a:p>
            <a:endParaRPr lang="en-US" sz="1200" dirty="0">
              <a:latin typeface="Verdana" panose="020B0604030504040204" pitchFamily="34" charset="0"/>
              <a:ea typeface="Verdana" panose="020B0604030504040204" pitchFamily="34" charset="0"/>
            </a:endParaRPr>
          </a:p>
          <a:p>
            <a:r>
              <a:rPr lang="en-US" sz="1200" dirty="0">
                <a:latin typeface="Verdana" panose="020B0604030504040204" pitchFamily="34" charset="0"/>
                <a:ea typeface="Verdana" panose="020B0604030504040204" pitchFamily="34" charset="0"/>
              </a:rPr>
              <a:t>[3] R. Das, I. </a:t>
            </a:r>
            <a:r>
              <a:rPr lang="en-US" sz="1200" dirty="0" err="1">
                <a:latin typeface="Verdana" panose="020B0604030504040204" pitchFamily="34" charset="0"/>
                <a:ea typeface="Verdana" panose="020B0604030504040204" pitchFamily="34" charset="0"/>
              </a:rPr>
              <a:t>Turkoglu</a:t>
            </a:r>
            <a:r>
              <a:rPr lang="en-US" sz="1200" dirty="0">
                <a:latin typeface="Verdana" panose="020B0604030504040204" pitchFamily="34" charset="0"/>
                <a:ea typeface="Verdana" panose="020B0604030504040204" pitchFamily="34" charset="0"/>
              </a:rPr>
              <a:t>, A. </a:t>
            </a:r>
            <a:r>
              <a:rPr lang="en-US" sz="1200" dirty="0" err="1">
                <a:latin typeface="Verdana" panose="020B0604030504040204" pitchFamily="34" charset="0"/>
                <a:ea typeface="Verdana" panose="020B0604030504040204" pitchFamily="34" charset="0"/>
              </a:rPr>
              <a:t>Sengur</a:t>
            </a:r>
            <a:r>
              <a:rPr lang="en-US" sz="1200" dirty="0">
                <a:latin typeface="Verdana" panose="020B0604030504040204" pitchFamily="34" charset="0"/>
                <a:ea typeface="Verdana" panose="020B0604030504040204" pitchFamily="34" charset="0"/>
              </a:rPr>
              <a:t>, Effective diagnosis of heart disease through neural networks ensembles, Expert Syst. Appl. 36 (4) (2009) 7675–7680. </a:t>
            </a:r>
          </a:p>
          <a:p>
            <a:endParaRPr lang="en-US" sz="1200" dirty="0">
              <a:latin typeface="Verdana" panose="020B0604030504040204" pitchFamily="34" charset="0"/>
              <a:ea typeface="Verdana" panose="020B0604030504040204" pitchFamily="34" charset="0"/>
            </a:endParaRPr>
          </a:p>
          <a:p>
            <a:r>
              <a:rPr lang="en-US" sz="1200" dirty="0">
                <a:latin typeface="Verdana" panose="020B0604030504040204" pitchFamily="34" charset="0"/>
                <a:ea typeface="Verdana" panose="020B0604030504040204" pitchFamily="34" charset="0"/>
              </a:rPr>
              <a:t>[4] </a:t>
            </a:r>
            <a:r>
              <a:rPr lang="en-US" sz="1200" dirty="0" err="1">
                <a:latin typeface="Verdana" panose="020B0604030504040204" pitchFamily="34" charset="0"/>
                <a:ea typeface="Verdana" panose="020B0604030504040204" pitchFamily="34" charset="0"/>
              </a:rPr>
              <a:t>Youness</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Khourdifi</a:t>
            </a:r>
            <a:r>
              <a:rPr lang="en-US" sz="1200" dirty="0">
                <a:latin typeface="Verdana" panose="020B0604030504040204" pitchFamily="34" charset="0"/>
                <a:ea typeface="Verdana" panose="020B0604030504040204" pitchFamily="34" charset="0"/>
              </a:rPr>
              <a:t>, Mohamed </a:t>
            </a:r>
            <a:r>
              <a:rPr lang="en-US" sz="1200" dirty="0" err="1">
                <a:latin typeface="Verdana" panose="020B0604030504040204" pitchFamily="34" charset="0"/>
                <a:ea typeface="Verdana" panose="020B0604030504040204" pitchFamily="34" charset="0"/>
              </a:rPr>
              <a:t>Bahaj</a:t>
            </a:r>
            <a:r>
              <a:rPr lang="en-US" sz="1200" dirty="0">
                <a:latin typeface="Verdana" panose="020B0604030504040204" pitchFamily="34" charset="0"/>
                <a:ea typeface="Verdana" panose="020B0604030504040204" pitchFamily="34" charset="0"/>
              </a:rPr>
              <a:t>, Heart disease prediction and classification using machine learning algorithms optimized by particle swarm optimization and ant colony optimization, Int. J. </a:t>
            </a:r>
            <a:r>
              <a:rPr lang="en-US" sz="1200" dirty="0" err="1">
                <a:latin typeface="Verdana" panose="020B0604030504040204" pitchFamily="34" charset="0"/>
                <a:ea typeface="Verdana" panose="020B0604030504040204" pitchFamily="34" charset="0"/>
              </a:rPr>
              <a:t>Intell</a:t>
            </a:r>
            <a:r>
              <a:rPr lang="en-US" sz="1200" dirty="0">
                <a:latin typeface="Verdana" panose="020B0604030504040204" pitchFamily="34" charset="0"/>
                <a:ea typeface="Verdana" panose="020B0604030504040204" pitchFamily="34" charset="0"/>
              </a:rPr>
              <a:t>. Eng. Syst. 12 (1) (2018) 242–252. </a:t>
            </a:r>
          </a:p>
          <a:p>
            <a:endParaRPr lang="en-US" sz="1200" dirty="0">
              <a:latin typeface="Verdana" panose="020B0604030504040204" pitchFamily="34" charset="0"/>
              <a:ea typeface="Verdana" panose="020B0604030504040204" pitchFamily="34" charset="0"/>
            </a:endParaRPr>
          </a:p>
          <a:p>
            <a:r>
              <a:rPr lang="en-US" sz="1200" dirty="0">
                <a:latin typeface="Verdana" panose="020B0604030504040204" pitchFamily="34" charset="0"/>
                <a:ea typeface="Verdana" panose="020B0604030504040204" pitchFamily="34" charset="0"/>
              </a:rPr>
              <a:t>[5] </a:t>
            </a:r>
            <a:r>
              <a:rPr lang="en-US" sz="1200" dirty="0" err="1">
                <a:latin typeface="Verdana" panose="020B0604030504040204" pitchFamily="34" charset="0"/>
                <a:ea typeface="Verdana" panose="020B0604030504040204" pitchFamily="34" charset="0"/>
              </a:rPr>
              <a:t>Roohallah</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Alizadehsani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Jafar</a:t>
            </a:r>
            <a:r>
              <a:rPr lang="en-US" sz="1200" dirty="0">
                <a:latin typeface="Verdana" panose="020B0604030504040204" pitchFamily="34" charset="0"/>
                <a:ea typeface="Verdana" panose="020B0604030504040204" pitchFamily="34" charset="0"/>
              </a:rPr>
              <a:t> Habibi, Mohammad </a:t>
            </a:r>
            <a:r>
              <a:rPr lang="en-US" sz="1200" dirty="0" err="1">
                <a:latin typeface="Verdana" panose="020B0604030504040204" pitchFamily="34" charset="0"/>
                <a:ea typeface="Verdana" panose="020B0604030504040204" pitchFamily="34" charset="0"/>
              </a:rPr>
              <a:t>Javad</a:t>
            </a:r>
            <a:r>
              <a:rPr lang="en-US" sz="1200" dirty="0">
                <a:latin typeface="Verdana" panose="020B0604030504040204" pitchFamily="34" charset="0"/>
                <a:ea typeface="Verdana" panose="020B0604030504040204" pitchFamily="34" charset="0"/>
              </a:rPr>
              <a:t> Hosseini, </a:t>
            </a:r>
            <a:r>
              <a:rPr lang="en-US" sz="1200" dirty="0" err="1">
                <a:latin typeface="Verdana" panose="020B0604030504040204" pitchFamily="34" charset="0"/>
                <a:ea typeface="Verdana" panose="020B0604030504040204" pitchFamily="34" charset="0"/>
              </a:rPr>
              <a:t>Hoda</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Mashayekhi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Reihane</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Boghrati</a:t>
            </a:r>
            <a:r>
              <a:rPr lang="en-US" sz="1200" dirty="0">
                <a:latin typeface="Verdana" panose="020B0604030504040204" pitchFamily="34" charset="0"/>
                <a:ea typeface="Verdana" panose="020B0604030504040204" pitchFamily="34" charset="0"/>
              </a:rPr>
              <a:t>, Asma </a:t>
            </a:r>
            <a:r>
              <a:rPr lang="en-US" sz="1200" dirty="0" err="1">
                <a:latin typeface="Verdana" panose="020B0604030504040204" pitchFamily="34" charset="0"/>
                <a:ea typeface="Verdana" panose="020B0604030504040204" pitchFamily="34" charset="0"/>
              </a:rPr>
              <a:t>Ghandeharioun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Behdad</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Bahadorian</a:t>
            </a:r>
            <a:r>
              <a:rPr lang="en-US" sz="1200" dirty="0">
                <a:latin typeface="Verdana" panose="020B0604030504040204" pitchFamily="34" charset="0"/>
                <a:ea typeface="Verdana" panose="020B0604030504040204" pitchFamily="34" charset="0"/>
              </a:rPr>
              <a:t>, Zahra Alizadeh Sani, A data mining approach for diagnosis of coronary artery disease, </a:t>
            </a:r>
            <a:r>
              <a:rPr lang="en-US" sz="1200" dirty="0" err="1">
                <a:latin typeface="Verdana" panose="020B0604030504040204" pitchFamily="34" charset="0"/>
                <a:ea typeface="Verdana" panose="020B0604030504040204" pitchFamily="34" charset="0"/>
              </a:rPr>
              <a:t>Comput</a:t>
            </a:r>
            <a:r>
              <a:rPr lang="en-US" sz="1200" dirty="0">
                <a:latin typeface="Verdana" panose="020B0604030504040204" pitchFamily="34" charset="0"/>
                <a:ea typeface="Verdana" panose="020B0604030504040204" pitchFamily="34" charset="0"/>
              </a:rPr>
              <a:t>. Methods Programs Biomed. 111 (1) (2013) 52–61, https://doi.org/10.1016/j.cmpb.2013.03.004. </a:t>
            </a:r>
          </a:p>
          <a:p>
            <a:endParaRPr lang="en-US" sz="1200" dirty="0">
              <a:latin typeface="Verdana" panose="020B0604030504040204" pitchFamily="34" charset="0"/>
              <a:ea typeface="Verdana" panose="020B0604030504040204" pitchFamily="34" charset="0"/>
            </a:endParaRPr>
          </a:p>
          <a:p>
            <a:r>
              <a:rPr lang="en-US" sz="1200" dirty="0">
                <a:latin typeface="Verdana" panose="020B0604030504040204" pitchFamily="34" charset="0"/>
                <a:ea typeface="Verdana" panose="020B0604030504040204" pitchFamily="34" charset="0"/>
              </a:rPr>
              <a:t>[6] R.S. Olson, J.H. Moore, TPOT: A Tree-Based Pipeline Optimization Tool for Automating Machine Learning, in: F. </a:t>
            </a:r>
            <a:r>
              <a:rPr lang="en-US" sz="1200" dirty="0" err="1">
                <a:latin typeface="Verdana" panose="020B0604030504040204" pitchFamily="34" charset="0"/>
                <a:ea typeface="Verdana" panose="020B0604030504040204" pitchFamily="34" charset="0"/>
              </a:rPr>
              <a:t>Hutter</a:t>
            </a:r>
            <a:r>
              <a:rPr lang="en-US" sz="1200" dirty="0">
                <a:latin typeface="Verdana" panose="020B0604030504040204" pitchFamily="34" charset="0"/>
                <a:ea typeface="Verdana" panose="020B0604030504040204" pitchFamily="34" charset="0"/>
              </a:rPr>
              <a:t>, L. </a:t>
            </a:r>
            <a:r>
              <a:rPr lang="en-US" sz="1200" dirty="0" err="1">
                <a:latin typeface="Verdana" panose="020B0604030504040204" pitchFamily="34" charset="0"/>
                <a:ea typeface="Verdana" panose="020B0604030504040204" pitchFamily="34" charset="0"/>
              </a:rPr>
              <a:t>Kotthoff</a:t>
            </a:r>
            <a:r>
              <a:rPr lang="en-US" sz="1200" dirty="0">
                <a:latin typeface="Verdana" panose="020B0604030504040204" pitchFamily="34" charset="0"/>
                <a:ea typeface="Verdana" panose="020B0604030504040204" pitchFamily="34" charset="0"/>
              </a:rPr>
              <a:t>, J. </a:t>
            </a:r>
            <a:r>
              <a:rPr lang="en-US" sz="1200" dirty="0" err="1">
                <a:latin typeface="Verdana" panose="020B0604030504040204" pitchFamily="34" charset="0"/>
                <a:ea typeface="Verdana" panose="020B0604030504040204" pitchFamily="34" charset="0"/>
              </a:rPr>
              <a:t>Vanschoren</a:t>
            </a:r>
            <a:r>
              <a:rPr lang="en-US" sz="1200" dirty="0">
                <a:latin typeface="Verdana" panose="020B0604030504040204" pitchFamily="34" charset="0"/>
                <a:ea typeface="Verdana" panose="020B0604030504040204" pitchFamily="34" charset="0"/>
              </a:rPr>
              <a:t> (Eds.), Automated Machine Learning. The Springer Series on Challenges in Machine Learning, Springer, Cham, 2019, https://doi.org/10.1007/978-3-030-05318-5_8.</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165329C0-5298-4DEA-BD65-3216CD47A599}"/>
              </a:ext>
            </a:extLst>
          </p:cNvPr>
          <p:cNvPicPr>
            <a:picLocks noChangeAspect="1"/>
          </p:cNvPicPr>
          <p:nvPr/>
        </p:nvPicPr>
        <p:blipFill>
          <a:blip r:embed="rId3">
            <a:lum/>
            <a:alphaModFix/>
          </a:blip>
          <a:srcRect/>
          <a:stretch>
            <a:fillRect/>
          </a:stretch>
        </p:blipFill>
        <p:spPr>
          <a:xfrm>
            <a:off x="0" y="6553084"/>
            <a:ext cx="9144000" cy="308161"/>
          </a:xfrm>
          <a:prstGeom prst="rect">
            <a:avLst/>
          </a:prstGeom>
          <a:noFill/>
          <a:ln cap="flat">
            <a:noFill/>
          </a:ln>
        </p:spPr>
      </p:pic>
      <p:sp>
        <p:nvSpPr>
          <p:cNvPr id="3" name="Text Box 4">
            <a:extLst>
              <a:ext uri="{FF2B5EF4-FFF2-40B4-BE49-F238E27FC236}">
                <a16:creationId xmlns:a16="http://schemas.microsoft.com/office/drawing/2014/main" id="{A3DA3B4D-317D-422C-87D2-A74497E22ACF}"/>
              </a:ext>
            </a:extLst>
          </p:cNvPr>
          <p:cNvSpPr/>
          <p:nvPr/>
        </p:nvSpPr>
        <p:spPr>
          <a:xfrm>
            <a:off x="2299322" y="6550203"/>
            <a:ext cx="4545363" cy="307082"/>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a:effectLst>
            <a:outerShdw dist="17819" dir="2700000" algn="tl">
              <a:srgbClr val="000000"/>
            </a:outerShdw>
          </a:effectLst>
        </p:spPr>
        <p:txBody>
          <a:bodyPr vert="horz" wrap="non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1400" b="1" i="0" u="none" strike="noStrike" kern="1200" cap="none" spc="0" baseline="0">
                <a:solidFill>
                  <a:srgbClr val="47FFD1"/>
                </a:solidFill>
                <a:uFillTx/>
                <a:latin typeface="Comic Sans MS" pitchFamily="66"/>
                <a:ea typeface="Microsoft YaHei" pitchFamily="2"/>
                <a:cs typeface="Lucida Sans" pitchFamily="2"/>
              </a:rPr>
              <a:t>Department of Computer Science and Engineering</a:t>
            </a:r>
          </a:p>
        </p:txBody>
      </p:sp>
      <p:pic>
        <p:nvPicPr>
          <p:cNvPr id="4" name="Picture 2">
            <a:extLst>
              <a:ext uri="{FF2B5EF4-FFF2-40B4-BE49-F238E27FC236}">
                <a16:creationId xmlns:a16="http://schemas.microsoft.com/office/drawing/2014/main" id="{95584F79-7446-4C2A-BDB0-0A9B34CCAF1C}"/>
              </a:ext>
            </a:extLst>
          </p:cNvPr>
          <p:cNvPicPr>
            <a:picLocks noChangeAspect="1"/>
          </p:cNvPicPr>
          <p:nvPr/>
        </p:nvPicPr>
        <p:blipFill>
          <a:blip r:embed="rId3">
            <a:lum/>
            <a:alphaModFix/>
          </a:blip>
          <a:srcRect/>
          <a:stretch>
            <a:fillRect/>
          </a:stretch>
        </p:blipFill>
        <p:spPr>
          <a:xfrm>
            <a:off x="0" y="0"/>
            <a:ext cx="9144000" cy="609484"/>
          </a:xfrm>
          <a:prstGeom prst="rect">
            <a:avLst/>
          </a:prstGeom>
          <a:noFill/>
          <a:ln cap="flat">
            <a:noFill/>
          </a:ln>
        </p:spPr>
      </p:pic>
      <p:sp>
        <p:nvSpPr>
          <p:cNvPr id="5" name="Rectangle: Rounded Corners 3">
            <a:extLst>
              <a:ext uri="{FF2B5EF4-FFF2-40B4-BE49-F238E27FC236}">
                <a16:creationId xmlns:a16="http://schemas.microsoft.com/office/drawing/2014/main" id="{B51FA171-A535-4ED7-ACB7-8074F00664E9}"/>
              </a:ext>
            </a:extLst>
          </p:cNvPr>
          <p:cNvSpPr/>
          <p:nvPr/>
        </p:nvSpPr>
        <p:spPr>
          <a:xfrm>
            <a:off x="8550362" y="6553084"/>
            <a:ext cx="593637" cy="306360"/>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0066"/>
          </a:solidFill>
          <a:ln w="12600" cap="flat">
            <a:solidFill>
              <a:srgbClr val="000000"/>
            </a:solidFill>
            <a:prstDash val="solid"/>
            <a:miter/>
          </a:ln>
        </p:spPr>
        <p:txBody>
          <a:bodyPr vert="horz" wrap="square" lIns="90004" tIns="46798" rIns="90004" bIns="46798" anchor="ctr" anchorCtr="1" compatLnSpc="1">
            <a:normAutofit/>
          </a:bodyPr>
          <a:lstStyle/>
          <a:p>
            <a:pPr marL="0" marR="0" lvl="0" indent="0" algn="ctr" defTabSz="914400" rtl="0" fontAlgn="auto" hangingPunct="1">
              <a:lnSpc>
                <a:spcPct val="8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US" sz="1400" b="1" i="0" u="none" strike="noStrike" kern="1200" cap="none" spc="0" baseline="0">
              <a:solidFill>
                <a:srgbClr val="FFFFFF"/>
              </a:solidFill>
              <a:uFillTx/>
              <a:latin typeface="Comic Sans MS" pitchFamily="66"/>
              <a:ea typeface="Microsoft YaHei" pitchFamily="2"/>
              <a:cs typeface="Lucida Sans" pitchFamily="2"/>
            </a:endParaRPr>
          </a:p>
        </p:txBody>
      </p:sp>
      <p:sp>
        <p:nvSpPr>
          <p:cNvPr id="6" name="Date Placeholder 7">
            <a:extLst>
              <a:ext uri="{FF2B5EF4-FFF2-40B4-BE49-F238E27FC236}">
                <a16:creationId xmlns:a16="http://schemas.microsoft.com/office/drawing/2014/main" id="{9AEFD986-4A2D-4802-8CB0-ED6DB9DD3E33}"/>
              </a:ext>
            </a:extLst>
          </p:cNvPr>
          <p:cNvSpPr/>
          <p:nvPr/>
        </p:nvSpPr>
        <p:spPr>
          <a:xfrm>
            <a:off x="0" y="6564239"/>
            <a:ext cx="1447915" cy="41291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norm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fld id="{5D102380-1EF7-4C9E-B305-E69CB1E97C4B}" type="datetime1">
              <a:rPr lang="en-US" sz="1400" b="1" i="0" u="none" strike="noStrike" kern="1200" cap="none" spc="0" baseline="0">
                <a:solidFill>
                  <a:srgbClr val="FF0066"/>
                </a:solidFill>
                <a:uFillTx/>
                <a:latin typeface="Arial Rounded MT Bold" pitchFamily="34"/>
                <a:ea typeface="Microsoft YaHei" pitchFamily="2"/>
                <a:cs typeface="Lucida Sans" pitchFamily="2"/>
              </a:rPr>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t>4/18/2023</a:t>
            </a:fld>
            <a:endParaRPr lang="en-US" sz="1400" b="1" i="0" u="none" strike="noStrike" kern="1200" cap="none" spc="0" baseline="0" dirty="0">
              <a:solidFill>
                <a:srgbClr val="FF0066"/>
              </a:solidFill>
              <a:uFillTx/>
              <a:latin typeface="Arial Rounded MT Bold" pitchFamily="34"/>
              <a:ea typeface="Microsoft YaHei" pitchFamily="2"/>
              <a:cs typeface="Lucida Sans" pitchFamily="2"/>
            </a:endParaRPr>
          </a:p>
        </p:txBody>
      </p:sp>
      <p:sp>
        <p:nvSpPr>
          <p:cNvPr id="7" name="TextBox 8">
            <a:extLst>
              <a:ext uri="{FF2B5EF4-FFF2-40B4-BE49-F238E27FC236}">
                <a16:creationId xmlns:a16="http://schemas.microsoft.com/office/drawing/2014/main" id="{6F784555-4285-412F-A2AF-751FFC6809EF}"/>
              </a:ext>
            </a:extLst>
          </p:cNvPr>
          <p:cNvSpPr/>
          <p:nvPr/>
        </p:nvSpPr>
        <p:spPr>
          <a:xfrm>
            <a:off x="919081" y="0"/>
            <a:ext cx="7305836" cy="47483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0" compatLnSpc="1">
            <a:spAutoFit/>
          </a:bodyPr>
          <a:lstStyle/>
          <a:p>
            <a:pPr marL="0" marR="0" lvl="0" indent="0" algn="l" defTabSz="914400" rtl="0" fontAlgn="auto" hangingPunct="1">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500" b="1" i="0" u="none" strike="noStrike" kern="1200" cap="none" spc="0" baseline="0">
                <a:solidFill>
                  <a:srgbClr val="47FFD1"/>
                </a:solidFill>
                <a:uFillTx/>
                <a:latin typeface="Comic Sans MS" pitchFamily="66"/>
                <a:ea typeface="Microsoft YaHei" pitchFamily="2"/>
                <a:cs typeface="Lucida Sans" pitchFamily="2"/>
              </a:rPr>
              <a:t>Mepco Schlenk Engineering College </a:t>
            </a:r>
            <a:r>
              <a:rPr lang="en-US" sz="1800" b="1" i="0" u="none" strike="noStrike" kern="1200" cap="none" spc="0" baseline="0">
                <a:solidFill>
                  <a:srgbClr val="47FFD1"/>
                </a:solidFill>
                <a:uFillTx/>
                <a:latin typeface="Comic Sans MS" pitchFamily="66"/>
                <a:ea typeface="Microsoft YaHei" pitchFamily="2"/>
                <a:cs typeface="Lucida Sans" pitchFamily="2"/>
              </a:rPr>
              <a:t>(Autonomous)</a:t>
            </a:r>
          </a:p>
        </p:txBody>
      </p:sp>
      <p:sp>
        <p:nvSpPr>
          <p:cNvPr id="8" name="Oval 11">
            <a:extLst>
              <a:ext uri="{FF2B5EF4-FFF2-40B4-BE49-F238E27FC236}">
                <a16:creationId xmlns:a16="http://schemas.microsoft.com/office/drawing/2014/main" id="{7E4F8D0F-4EAD-4F3B-8C1A-04D76006E517}"/>
              </a:ext>
            </a:extLst>
          </p:cNvPr>
          <p:cNvSpPr/>
          <p:nvPr/>
        </p:nvSpPr>
        <p:spPr>
          <a:xfrm>
            <a:off x="8354881" y="20519"/>
            <a:ext cx="777962" cy="777962"/>
          </a:xfrm>
          <a:custGeom>
            <a:avLst/>
            <a:gdLst>
              <a:gd name="f0" fmla="val 10800000"/>
              <a:gd name="f1" fmla="val 5400000"/>
              <a:gd name="f2" fmla="val 180"/>
              <a:gd name="f3" fmla="val w"/>
              <a:gd name="f4" fmla="val h"/>
              <a:gd name="f5" fmla="val 0"/>
              <a:gd name="f6" fmla="val 21600"/>
              <a:gd name="f7" fmla="*/ 5419351 1 1725033"/>
              <a:gd name="f8" fmla="*/ 10800 10800 1"/>
              <a:gd name="f9" fmla="+- 0 0 360"/>
              <a:gd name="f10" fmla="val 10800"/>
              <a:gd name="f11" fmla="+- 0 0 0"/>
              <a:gd name="f12" fmla="*/ f3 1 21600"/>
              <a:gd name="f13" fmla="*/ f4 1 21600"/>
              <a:gd name="f14" fmla="*/ 0 f7 1"/>
              <a:gd name="f15" fmla="*/ f5 f0 1"/>
              <a:gd name="f16" fmla="*/ f9 f0 1"/>
              <a:gd name="f17" fmla="+- f6 0 f5"/>
              <a:gd name="f18" fmla="*/ f11 f0 1"/>
              <a:gd name="f19" fmla="*/ f14 1 f2"/>
              <a:gd name="f20" fmla="*/ f15 1 f2"/>
              <a:gd name="f21" fmla="*/ f16 1 f2"/>
              <a:gd name="f22" fmla="*/ f17 1 21600"/>
              <a:gd name="f23" fmla="*/ f18 1 f2"/>
              <a:gd name="f24" fmla="+- 0 0 f19"/>
              <a:gd name="f25" fmla="+- f20 0 f1"/>
              <a:gd name="f26" fmla="+- f21 0 f1"/>
              <a:gd name="f27" fmla="*/ 3163 f22 1"/>
              <a:gd name="f28" fmla="*/ 18437 f22 1"/>
              <a:gd name="f29" fmla="*/ 10800 f22 1"/>
              <a:gd name="f30" fmla="*/ 0 f22 1"/>
              <a:gd name="f31" fmla="*/ 21600 f22 1"/>
              <a:gd name="f32" fmla="+- f23 0 f1"/>
              <a:gd name="f33" fmla="*/ f24 f0 1"/>
              <a:gd name="f34" fmla="+- f26 0 f25"/>
              <a:gd name="f35" fmla="*/ f29 1 f22"/>
              <a:gd name="f36" fmla="*/ f30 1 f22"/>
              <a:gd name="f37" fmla="*/ f27 1 f22"/>
              <a:gd name="f38" fmla="*/ f28 1 f22"/>
              <a:gd name="f39" fmla="*/ f31 1 f22"/>
              <a:gd name="f40" fmla="*/ f33 1 f7"/>
              <a:gd name="f41" fmla="*/ f37 f12 1"/>
              <a:gd name="f42" fmla="*/ f38 f12 1"/>
              <a:gd name="f43" fmla="*/ f38 f13 1"/>
              <a:gd name="f44" fmla="*/ f37 f13 1"/>
              <a:gd name="f45" fmla="*/ f35 f12 1"/>
              <a:gd name="f46" fmla="*/ f36 f13 1"/>
              <a:gd name="f47" fmla="*/ f36 f12 1"/>
              <a:gd name="f48" fmla="*/ f35 f13 1"/>
              <a:gd name="f49" fmla="*/ f39 f13 1"/>
              <a:gd name="f50" fmla="*/ f39 f12 1"/>
              <a:gd name="f51" fmla="+- f40 0 f1"/>
              <a:gd name="f52" fmla="+- f51 f1 0"/>
              <a:gd name="f53" fmla="*/ f52 f7 1"/>
              <a:gd name="f54" fmla="*/ f53 1 f0"/>
              <a:gd name="f55" fmla="+- 0 0 f54"/>
              <a:gd name="f56" fmla="+- 0 0 f55"/>
              <a:gd name="f57" fmla="*/ f56 f0 1"/>
              <a:gd name="f58" fmla="*/ f57 1 f7"/>
              <a:gd name="f59" fmla="+- f58 0 f1"/>
              <a:gd name="f60" fmla="cos 1 f59"/>
              <a:gd name="f61" fmla="sin 1 f59"/>
              <a:gd name="f62" fmla="+- 0 0 f60"/>
              <a:gd name="f63" fmla="+- 0 0 f61"/>
              <a:gd name="f64" fmla="+- 0 0 f62"/>
              <a:gd name="f65" fmla="+- 0 0 f63"/>
              <a:gd name="f66" fmla="val f64"/>
              <a:gd name="f67" fmla="val f65"/>
              <a:gd name="f68" fmla="+- 0 0 f66"/>
              <a:gd name="f69" fmla="+- 0 0 f67"/>
              <a:gd name="f70" fmla="*/ 10800 f68 1"/>
              <a:gd name="f71" fmla="*/ 10800 f69 1"/>
              <a:gd name="f72" fmla="*/ f70 f70 1"/>
              <a:gd name="f73" fmla="*/ f71 f71 1"/>
              <a:gd name="f74" fmla="+- f72 f73 0"/>
              <a:gd name="f75" fmla="sqrt f74"/>
              <a:gd name="f76" fmla="*/ f8 1 f75"/>
              <a:gd name="f77" fmla="*/ f68 f76 1"/>
              <a:gd name="f78" fmla="*/ f69 f76 1"/>
              <a:gd name="f79" fmla="+- 10800 0 f77"/>
              <a:gd name="f80" fmla="+- 10800 0 f78"/>
            </a:gdLst>
            <a:ahLst/>
            <a:cxnLst>
              <a:cxn ang="3cd4">
                <a:pos x="hc" y="t"/>
              </a:cxn>
              <a:cxn ang="0">
                <a:pos x="r" y="vc"/>
              </a:cxn>
              <a:cxn ang="cd4">
                <a:pos x="hc" y="b"/>
              </a:cxn>
              <a:cxn ang="cd2">
                <a:pos x="l" y="vc"/>
              </a:cxn>
              <a:cxn ang="f32">
                <a:pos x="f45" y="f46"/>
              </a:cxn>
              <a:cxn ang="f32">
                <a:pos x="f41" y="f44"/>
              </a:cxn>
              <a:cxn ang="f32">
                <a:pos x="f47" y="f48"/>
              </a:cxn>
              <a:cxn ang="f32">
                <a:pos x="f41" y="f43"/>
              </a:cxn>
              <a:cxn ang="f32">
                <a:pos x="f45" y="f49"/>
              </a:cxn>
              <a:cxn ang="f32">
                <a:pos x="f42" y="f43"/>
              </a:cxn>
              <a:cxn ang="f32">
                <a:pos x="f50" y="f48"/>
              </a:cxn>
              <a:cxn ang="f32">
                <a:pos x="f42" y="f44"/>
              </a:cxn>
            </a:cxnLst>
            <a:rect l="f41" t="f44" r="f42" b="f43"/>
            <a:pathLst>
              <a:path w="21600" h="21600">
                <a:moveTo>
                  <a:pt x="f79" y="f80"/>
                </a:moveTo>
                <a:arcTo wR="f10" hR="f10" stAng="f25" swAng="f34"/>
                <a:close/>
              </a:path>
            </a:pathLst>
          </a:custGeom>
          <a:solidFill>
            <a:srgbClr val="FFFFFF"/>
          </a:solidFill>
          <a:ln w="12600" cap="flat">
            <a:solidFill>
              <a:srgbClr val="BCBCBC"/>
            </a:solidFill>
            <a:prstDash val="solid"/>
            <a:miter/>
          </a:ln>
        </p:spPr>
        <p:txBody>
          <a:bodyPr vert="horz" wrap="square" lIns="90004" tIns="46798" rIns="90004" bIns="46798" anchor="ctr" anchorCtr="0" compatLnSpc="1">
            <a:noAutofit/>
          </a:bodyPr>
          <a:lstStyle/>
          <a:p>
            <a:pPr marL="0" marR="0" lvl="0" indent="0" algn="l"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IN" sz="2400" b="0" i="0" u="none" strike="noStrike" kern="1200" cap="none" spc="0" baseline="0">
              <a:solidFill>
                <a:srgbClr val="000000"/>
              </a:solidFill>
              <a:uFillTx/>
              <a:latin typeface="Times New Roman" pitchFamily="18"/>
              <a:ea typeface="Microsoft YaHei" pitchFamily="2"/>
              <a:cs typeface="Lucida Sans" pitchFamily="2"/>
            </a:endParaRPr>
          </a:p>
        </p:txBody>
      </p:sp>
      <p:pic>
        <p:nvPicPr>
          <p:cNvPr id="9" name="Picture 10" descr="A picture containing text, sign, watch&#10;&#10;Description automatically generated">
            <a:extLst>
              <a:ext uri="{FF2B5EF4-FFF2-40B4-BE49-F238E27FC236}">
                <a16:creationId xmlns:a16="http://schemas.microsoft.com/office/drawing/2014/main" id="{28D2D9FC-5904-47F9-9C25-B255B82C2E19}"/>
              </a:ext>
            </a:extLst>
          </p:cNvPr>
          <p:cNvPicPr>
            <a:picLocks noChangeAspect="1"/>
          </p:cNvPicPr>
          <p:nvPr/>
        </p:nvPicPr>
        <p:blipFill>
          <a:blip r:embed="rId4">
            <a:lum/>
            <a:alphaModFix/>
          </a:blip>
          <a:srcRect/>
          <a:stretch>
            <a:fillRect/>
          </a:stretch>
        </p:blipFill>
        <p:spPr>
          <a:xfrm>
            <a:off x="8377924" y="52198"/>
            <a:ext cx="731876" cy="714603"/>
          </a:xfrm>
          <a:prstGeom prst="rect">
            <a:avLst/>
          </a:prstGeom>
          <a:noFill/>
          <a:ln cap="flat">
            <a:noFill/>
          </a:ln>
        </p:spPr>
      </p:pic>
      <p:sp>
        <p:nvSpPr>
          <p:cNvPr id="10" name="TextBox 1">
            <a:extLst>
              <a:ext uri="{FF2B5EF4-FFF2-40B4-BE49-F238E27FC236}">
                <a16:creationId xmlns:a16="http://schemas.microsoft.com/office/drawing/2014/main" id="{C18B667C-4989-4081-9E42-945DB50C4C05}"/>
              </a:ext>
            </a:extLst>
          </p:cNvPr>
          <p:cNvSpPr/>
          <p:nvPr/>
        </p:nvSpPr>
        <p:spPr>
          <a:xfrm>
            <a:off x="457200" y="2978283"/>
            <a:ext cx="8093162" cy="398879"/>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cap="flat">
            <a:noFill/>
            <a:prstDash val="solid"/>
          </a:ln>
        </p:spPr>
        <p:txBody>
          <a:bodyPr vert="horz" wrap="square" lIns="90004" tIns="46798" rIns="90004" bIns="46798" anchor="t" anchorCtr="1" compatLnSpc="1">
            <a:spAutoFit/>
          </a:bodyPr>
          <a:lstStyle/>
          <a:p>
            <a:pPr marL="0" marR="0" lvl="0" indent="0" algn="ctr" defTabSz="914400" rtl="0" fontAlgn="auto" hangingPunct="0">
              <a:lnSpc>
                <a:spcPct val="100000"/>
              </a:lnSpc>
              <a:spcBef>
                <a:spcPts val="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000" b="1" i="0" u="none" strike="noStrike" kern="1200" cap="none" spc="0" baseline="0">
                <a:solidFill>
                  <a:srgbClr val="000000"/>
                </a:solidFill>
                <a:uFillTx/>
                <a:latin typeface="Verdana" pitchFamily="34"/>
                <a:ea typeface="Verdana" pitchFamily="34"/>
                <a:cs typeface="Verdana" pitchFamily="34"/>
              </a:rPr>
              <a:t>THANK YOU</a:t>
            </a:r>
          </a:p>
        </p:txBody>
      </p:sp>
    </p:spTree>
    <p:extLst>
      <p:ext uri="{BB962C8B-B14F-4D97-AF65-F5344CB8AC3E}">
        <p14:creationId xmlns:p14="http://schemas.microsoft.com/office/powerpoint/2010/main" val="3453513832"/>
      </p:ext>
    </p:extLst>
  </p:cSld>
  <p:clrMapOvr>
    <a:masterClrMapping/>
  </p:clrMapOvr>
</p:sld>
</file>

<file path=ppt/theme/theme1.xml><?xml version="1.0" encoding="utf-8"?>
<a:theme xmlns:a="http://schemas.openxmlformats.org/drawingml/2006/main" name="Defaul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itle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5087</TotalTime>
  <Words>5945</Words>
  <Application>Microsoft Office PowerPoint</Application>
  <PresentationFormat>On-screen Show (4:3)</PresentationFormat>
  <Paragraphs>876</Paragraphs>
  <Slides>45</Slides>
  <Notes>45</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45</vt:i4>
      </vt:variant>
    </vt:vector>
  </HeadingPairs>
  <TitlesOfParts>
    <vt:vector size="61" baseType="lpstr">
      <vt:lpstr>Arial</vt:lpstr>
      <vt:lpstr>Arial Rounded MT Bold</vt:lpstr>
      <vt:lpstr>Calibri</vt:lpstr>
      <vt:lpstr>Calibri (Body)</vt:lpstr>
      <vt:lpstr>Cambria Math</vt:lpstr>
      <vt:lpstr>Comic Sans MS</vt:lpstr>
      <vt:lpstr>Inter</vt:lpstr>
      <vt:lpstr>inter-regular</vt:lpstr>
      <vt:lpstr>Open Sans</vt:lpstr>
      <vt:lpstr>PT Serif</vt:lpstr>
      <vt:lpstr>Söhne</vt:lpstr>
      <vt:lpstr>source-serif-pro</vt:lpstr>
      <vt:lpstr>Times New Roman</vt:lpstr>
      <vt:lpstr>Verdana</vt:lpstr>
      <vt:lpstr>Default</vt:lpstr>
      <vt:lpstr>Title1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Kaushik Balaji.M.S</dc:creator>
  <cp:lastModifiedBy>H A R I H A R A N</cp:lastModifiedBy>
  <cp:revision>155</cp:revision>
  <dcterms:created xsi:type="dcterms:W3CDTF">2022-08-16T14:09:07Z</dcterms:created>
  <dcterms:modified xsi:type="dcterms:W3CDTF">2023-04-18T14:53:55Z</dcterms:modified>
</cp:coreProperties>
</file>